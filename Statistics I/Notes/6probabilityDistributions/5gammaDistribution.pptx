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notesMasterIdLst>
    <p:notesMasterId r:id="rId15"/>
  </p:notesMasterIdLst>
  <p:sldIdLst>
    <p:sldId id="256" r:id="rId2"/>
    <p:sldId id="257" r:id="rId3"/>
    <p:sldId id="264" r:id="rId4"/>
    <p:sldId id="258" r:id="rId5"/>
    <p:sldId id="259" r:id="rId6"/>
    <p:sldId id="260" r:id="rId7"/>
    <p:sldId id="261" r:id="rId8"/>
    <p:sldId id="262" r:id="rId9"/>
    <p:sldId id="266" r:id="rId10"/>
    <p:sldId id="267" r:id="rId11"/>
    <p:sldId id="263" r:id="rId12"/>
    <p:sldId id="268"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747" autoAdjust="0"/>
    <p:restoredTop sz="94660"/>
  </p:normalViewPr>
  <p:slideViewPr>
    <p:cSldViewPr snapToGrid="0">
      <p:cViewPr>
        <p:scale>
          <a:sx n="70" d="100"/>
          <a:sy n="70" d="100"/>
        </p:scale>
        <p:origin x="592"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1260B-C811-4542-BB02-D0CD15CA7F67}" type="datetimeFigureOut">
              <a:rPr lang="en-US" smtClean="0"/>
              <a:t>7/23/2024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C181FE-C6E9-491B-A871-A52078FE6EF7}" type="slidenum">
              <a:rPr lang="en-US" smtClean="0"/>
              <a:t>‹#›</a:t>
            </a:fld>
            <a:endParaRPr lang="en-US"/>
          </a:p>
        </p:txBody>
      </p:sp>
    </p:spTree>
    <p:extLst>
      <p:ext uri="{BB962C8B-B14F-4D97-AF65-F5344CB8AC3E}">
        <p14:creationId xmlns:p14="http://schemas.microsoft.com/office/powerpoint/2010/main" val="2719097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7B7AAF1B-DEA9-460E-B9EE-E1B28DE7B2D2}" type="datetime1">
              <a:rPr lang="en-US" smtClean="0"/>
              <a:t>7/23/2024</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r>
              <a:rPr lang="en-US"/>
              <a:t>Copy Right: Santosh Chhatkuli</a:t>
            </a:r>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E37777-818D-4810-AC3A-63891E818E6B}" type="datetime1">
              <a:rPr lang="en-US" smtClean="0"/>
              <a:t>7/23/2024</a:t>
            </a:fld>
            <a:endParaRPr lang="en-US" dirty="0"/>
          </a:p>
        </p:txBody>
      </p:sp>
      <p:sp>
        <p:nvSpPr>
          <p:cNvPr id="8" name="Footer Placeholder 7"/>
          <p:cNvSpPr>
            <a:spLocks noGrp="1"/>
          </p:cNvSpPr>
          <p:nvPr>
            <p:ph type="ftr" sz="quarter" idx="11"/>
          </p:nvPr>
        </p:nvSpPr>
        <p:spPr/>
        <p:txBody>
          <a:bodyPr/>
          <a:lstStyle/>
          <a:p>
            <a:r>
              <a:rPr lang="en-US"/>
              <a:t>Copy Right: Santosh Chhatkuli</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4339E5F7-005C-4725-9540-B76BCBDF71FA}" type="datetime1">
              <a:rPr lang="en-US" smtClean="0"/>
              <a:t>7/23/2024</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r>
              <a:rPr lang="en-US"/>
              <a:t>Copy Right: Santosh Chhatkuli</a:t>
            </a:r>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dirty="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12F8C1B-F51C-4016-84AA-FFD0249FC4DE}" type="datetime1">
              <a:rPr lang="en-US" smtClean="0"/>
              <a:t>7/23/2024</a:t>
            </a:fld>
            <a:endParaRPr lang="en-US" dirty="0"/>
          </a:p>
        </p:txBody>
      </p:sp>
      <p:sp>
        <p:nvSpPr>
          <p:cNvPr id="6" name="Footer Placeholder 5"/>
          <p:cNvSpPr>
            <a:spLocks noGrp="1"/>
          </p:cNvSpPr>
          <p:nvPr>
            <p:ph type="ftr" sz="quarter" idx="11"/>
          </p:nvPr>
        </p:nvSpPr>
        <p:spPr/>
        <p:txBody>
          <a:bodyPr/>
          <a:lstStyle/>
          <a:p>
            <a:r>
              <a:rPr lang="en-US"/>
              <a:t>Copy Right: Santosh Chhatkuli</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6CEF21-668E-4703-BA49-647AF617D0BF}" type="datetime1">
              <a:rPr lang="en-US" smtClean="0"/>
              <a:t>7/23/2024</a:t>
            </a:fld>
            <a:endParaRPr lang="en-US" dirty="0"/>
          </a:p>
        </p:txBody>
      </p:sp>
      <p:sp>
        <p:nvSpPr>
          <p:cNvPr id="8" name="Footer Placeholder 7"/>
          <p:cNvSpPr>
            <a:spLocks noGrp="1"/>
          </p:cNvSpPr>
          <p:nvPr>
            <p:ph type="ftr" sz="quarter" idx="11"/>
          </p:nvPr>
        </p:nvSpPr>
        <p:spPr/>
        <p:txBody>
          <a:bodyPr/>
          <a:lstStyle/>
          <a:p>
            <a:r>
              <a:rPr lang="en-US"/>
              <a:t>Copy Right: Santosh Chhatkuli</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AFC622-FC84-4B96-A0AE-27A2084BAB00}" type="datetime1">
              <a:rPr lang="en-US" smtClean="0"/>
              <a:t>7/23/2024</a:t>
            </a:fld>
            <a:endParaRPr lang="en-US" dirty="0"/>
          </a:p>
        </p:txBody>
      </p:sp>
      <p:sp>
        <p:nvSpPr>
          <p:cNvPr id="4" name="Footer Placeholder 3"/>
          <p:cNvSpPr>
            <a:spLocks noGrp="1"/>
          </p:cNvSpPr>
          <p:nvPr>
            <p:ph type="ftr" sz="quarter" idx="11"/>
          </p:nvPr>
        </p:nvSpPr>
        <p:spPr/>
        <p:txBody>
          <a:bodyPr/>
          <a:lstStyle/>
          <a:p>
            <a:r>
              <a:rPr lang="en-US"/>
              <a:t>Copy Right: Santosh Chhatkuli</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02F2ED-4EA4-4159-AAD1-CDF25FCD2842}" type="datetime1">
              <a:rPr lang="en-US" smtClean="0"/>
              <a:t>7/23/2024</a:t>
            </a:fld>
            <a:endParaRPr lang="en-US" dirty="0"/>
          </a:p>
        </p:txBody>
      </p:sp>
      <p:sp>
        <p:nvSpPr>
          <p:cNvPr id="3" name="Footer Placeholder 2"/>
          <p:cNvSpPr>
            <a:spLocks noGrp="1"/>
          </p:cNvSpPr>
          <p:nvPr>
            <p:ph type="ftr" sz="quarter" idx="11"/>
          </p:nvPr>
        </p:nvSpPr>
        <p:spPr/>
        <p:txBody>
          <a:bodyPr/>
          <a:lstStyle/>
          <a:p>
            <a:r>
              <a:rPr lang="en-US"/>
              <a:t>Copy Right: Santosh Chhatkuli</a:t>
            </a: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A43D595-00E4-492F-BA5A-0B365241CA62}" type="datetime1">
              <a:rPr lang="en-US" smtClean="0"/>
              <a:t>7/23/2024</a:t>
            </a:fld>
            <a:endParaRPr lang="en-US" dirty="0"/>
          </a:p>
        </p:txBody>
      </p:sp>
      <p:sp>
        <p:nvSpPr>
          <p:cNvPr id="9" name="Footer Placeholder 8"/>
          <p:cNvSpPr>
            <a:spLocks noGrp="1"/>
          </p:cNvSpPr>
          <p:nvPr>
            <p:ph type="ftr" sz="quarter" idx="11"/>
          </p:nvPr>
        </p:nvSpPr>
        <p:spPr/>
        <p:txBody>
          <a:bodyPr/>
          <a:lstStyle>
            <a:lvl1pPr algn="r">
              <a:defRPr/>
            </a:lvl1pPr>
          </a:lstStyle>
          <a:p>
            <a:r>
              <a:rPr lang="en-US"/>
              <a:t>Copy Right: Santosh Chhatkuli</a:t>
            </a:r>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861CB942-45D5-4A70-A171-8C3A90B1F533}" type="datetime1">
              <a:rPr lang="en-US" smtClean="0"/>
              <a:t>7/23/2024</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r>
              <a:rPr lang="en-US"/>
              <a:t>Copy Right: Santosh Chhatkuli</a:t>
            </a:r>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1623F1-2C14-4B3A-BF63-423FD0D09906}" type="datetime1">
              <a:rPr lang="en-US" smtClean="0"/>
              <a:t>7/23/2024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6B346-7F43-40B2-BD10-E18045DB21B1}" type="datetime1">
              <a:rPr lang="en-US" smtClean="0"/>
              <a:t>7/23/2024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87BECC48-0445-4135-86E2-372DD7B585B9}" type="datetime1">
              <a:rPr lang="en-US" smtClean="0"/>
              <a:t>7/23/2024</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r>
              <a:rPr lang="en-US"/>
              <a:t>Copy Right: Santosh Chhatkuli</a:t>
            </a:r>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6A71E-B0C4-4FF6-BC7C-796A924AB38D}"/>
              </a:ext>
            </a:extLst>
          </p:cNvPr>
          <p:cNvSpPr>
            <a:spLocks noGrp="1"/>
          </p:cNvSpPr>
          <p:nvPr>
            <p:ph type="ctrTitle"/>
          </p:nvPr>
        </p:nvSpPr>
        <p:spPr/>
        <p:txBody>
          <a:bodyPr/>
          <a:lstStyle/>
          <a:p>
            <a:r>
              <a:rPr lang="en-US" dirty="0"/>
              <a:t>Gamma distribution</a:t>
            </a:r>
          </a:p>
        </p:txBody>
      </p:sp>
      <p:sp>
        <p:nvSpPr>
          <p:cNvPr id="3" name="Subtitle 2">
            <a:extLst>
              <a:ext uri="{FF2B5EF4-FFF2-40B4-BE49-F238E27FC236}">
                <a16:creationId xmlns:a16="http://schemas.microsoft.com/office/drawing/2014/main" id="{457AC855-D105-416A-A691-63ABB32C3A6C}"/>
              </a:ext>
            </a:extLst>
          </p:cNvPr>
          <p:cNvSpPr>
            <a:spLocks noGrp="1"/>
          </p:cNvSpPr>
          <p:nvPr>
            <p:ph type="subTitle" idx="1"/>
          </p:nvPr>
        </p:nvSpPr>
        <p:spPr/>
        <p:txBody>
          <a:bodyPr/>
          <a:lstStyle/>
          <a:p>
            <a:r>
              <a:rPr lang="en-US" dirty="0"/>
              <a:t>Instructor: Santosh Chhatkuli</a:t>
            </a:r>
          </a:p>
        </p:txBody>
      </p:sp>
      <p:sp>
        <p:nvSpPr>
          <p:cNvPr id="4" name="Footer Placeholder 3">
            <a:extLst>
              <a:ext uri="{FF2B5EF4-FFF2-40B4-BE49-F238E27FC236}">
                <a16:creationId xmlns:a16="http://schemas.microsoft.com/office/drawing/2014/main" id="{220BF6F4-77AD-9A2D-55BF-4E670E62D6C0}"/>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241012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FF02C-C044-4276-BF93-DB254AE01AC9}"/>
              </a:ext>
            </a:extLst>
          </p:cNvPr>
          <p:cNvSpPr>
            <a:spLocks noGrp="1"/>
          </p:cNvSpPr>
          <p:nvPr>
            <p:ph type="title"/>
          </p:nvPr>
        </p:nvSpPr>
        <p:spPr>
          <a:xfrm>
            <a:off x="773502" y="490769"/>
            <a:ext cx="10058400" cy="332191"/>
          </a:xfrm>
        </p:spPr>
        <p:txBody>
          <a:bodyPr>
            <a:normAutofit fontScale="90000"/>
          </a:bodyPr>
          <a:lstStyle/>
          <a:p>
            <a:r>
              <a:rPr lang="en-US" sz="2400" b="1" dirty="0"/>
              <a:t>Introduction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5805A5F-B091-41A9-844F-32B921D092DF}"/>
                  </a:ext>
                </a:extLst>
              </p:cNvPr>
              <p:cNvSpPr>
                <a:spLocks noGrp="1"/>
              </p:cNvSpPr>
              <p:nvPr>
                <p:ph idx="1"/>
              </p:nvPr>
            </p:nvSpPr>
            <p:spPr>
              <a:xfrm>
                <a:off x="773502" y="1069675"/>
                <a:ext cx="10742762" cy="4965365"/>
              </a:xfrm>
            </p:spPr>
            <p:txBody>
              <a:bodyPr>
                <a:normAutofit/>
              </a:bodyPr>
              <a:lstStyle/>
              <a:p>
                <a:r>
                  <a:rPr lang="en-US" sz="2200" dirty="0"/>
                  <a:t>The gamma distribution is another widely used continuous probability distribution.</a:t>
                </a:r>
              </a:p>
              <a:p>
                <a:r>
                  <a:rPr lang="en-US" sz="2200" dirty="0"/>
                  <a:t>The exponential distribution predicts the wait time until the “next” event. The Gamma distribution, on the other hand, model the times that elapses before  </a:t>
                </a:r>
                <a14:m>
                  <m:oMath xmlns:m="http://schemas.openxmlformats.org/officeDocument/2006/math">
                    <m:r>
                      <a:rPr lang="en-US" sz="2200">
                        <a:latin typeface="Cambria Math" panose="02040503050406030204" pitchFamily="18" charset="0"/>
                        <a:ea typeface="Cambria Math" panose="02040503050406030204" pitchFamily="18" charset="0"/>
                      </a:rPr>
                      <m:t>'</m:t>
                    </m:r>
                    <m:r>
                      <a:rPr lang="en-US" sz="2200" i="1" smtClean="0">
                        <a:latin typeface="Cambria Math" panose="02040503050406030204" pitchFamily="18" charset="0"/>
                        <a:ea typeface="Cambria Math" panose="02040503050406030204" pitchFamily="18" charset="0"/>
                      </a:rPr>
                      <m:t>𝛼</m:t>
                    </m:r>
                    <m:r>
                      <a:rPr lang="en-US" sz="2200" b="0" i="1" smtClean="0">
                        <a:latin typeface="Cambria Math" panose="02040503050406030204" pitchFamily="18" charset="0"/>
                        <a:ea typeface="Cambria Math" panose="02040503050406030204" pitchFamily="18" charset="0"/>
                      </a:rPr>
                      <m:t>′</m:t>
                    </m:r>
                  </m:oMath>
                </a14:m>
                <a:r>
                  <a:rPr lang="en-US" sz="2200" dirty="0"/>
                  <a:t> occurrences of a randomly-occurring event. The Gamma distribution is a generalization of the exponential distribution.</a:t>
                </a:r>
              </a:p>
              <a:p>
                <a:r>
                  <a:rPr lang="en-US" sz="2200" dirty="0"/>
                  <a:t>Gamma distribution occur frequently in models used in engineering (such as time to failure of equipment and load levels for telecommunications services), meteorology (rainfall), and business (insurance claims and loan defaults) for which the variables are always positive and the results are skewed (unbalanced). It is also used to model wait times, service times etc.</a:t>
                </a:r>
              </a:p>
              <a:p>
                <a:r>
                  <a:rPr lang="en-US" sz="2200" dirty="0"/>
                  <a:t>The gamma, exponential and Poisson distributions all model different characteristics of a Poisson process.</a:t>
                </a:r>
                <a:r>
                  <a:rPr lang="en-US" sz="2200" dirty="0">
                    <a:latin typeface="+mj-lt"/>
                  </a:rPr>
                  <a:t> </a:t>
                </a:r>
              </a:p>
              <a:p>
                <a:endParaRPr lang="en-US" sz="2000" dirty="0"/>
              </a:p>
            </p:txBody>
          </p:sp>
        </mc:Choice>
        <mc:Fallback>
          <p:sp>
            <p:nvSpPr>
              <p:cNvPr id="3" name="Content Placeholder 2">
                <a:extLst>
                  <a:ext uri="{FF2B5EF4-FFF2-40B4-BE49-F238E27FC236}">
                    <a16:creationId xmlns:a16="http://schemas.microsoft.com/office/drawing/2014/main" id="{D5805A5F-B091-41A9-844F-32B921D092DF}"/>
                  </a:ext>
                </a:extLst>
              </p:cNvPr>
              <p:cNvSpPr>
                <a:spLocks noGrp="1" noRot="1" noChangeAspect="1" noMove="1" noResize="1" noEditPoints="1" noAdjustHandles="1" noChangeArrowheads="1" noChangeShapeType="1" noTextEdit="1"/>
              </p:cNvSpPr>
              <p:nvPr>
                <p:ph idx="1"/>
              </p:nvPr>
            </p:nvSpPr>
            <p:spPr>
              <a:xfrm>
                <a:off x="773502" y="1069675"/>
                <a:ext cx="10742762" cy="4965365"/>
              </a:xfrm>
              <a:blipFill>
                <a:blip r:embed="rId2"/>
                <a:stretch>
                  <a:fillRect l="-681" t="-736" r="-113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4D85F496-C168-0534-F913-A6023B827395}"/>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4008371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18E73-4A08-46BA-BEF4-1016599F4878}"/>
              </a:ext>
            </a:extLst>
          </p:cNvPr>
          <p:cNvSpPr>
            <a:spLocks noGrp="1"/>
          </p:cNvSpPr>
          <p:nvPr>
            <p:ph type="title"/>
          </p:nvPr>
        </p:nvSpPr>
        <p:spPr>
          <a:xfrm>
            <a:off x="799381" y="613732"/>
            <a:ext cx="10058400" cy="418455"/>
          </a:xfrm>
        </p:spPr>
        <p:txBody>
          <a:bodyPr>
            <a:normAutofit fontScale="90000"/>
          </a:bodyPr>
          <a:lstStyle/>
          <a:p>
            <a:r>
              <a:rPr lang="en-US" sz="2400" b="1" dirty="0"/>
              <a:t>Uses</a:t>
            </a:r>
          </a:p>
        </p:txBody>
      </p:sp>
      <p:sp>
        <p:nvSpPr>
          <p:cNvPr id="3" name="Content Placeholder 2">
            <a:extLst>
              <a:ext uri="{FF2B5EF4-FFF2-40B4-BE49-F238E27FC236}">
                <a16:creationId xmlns:a16="http://schemas.microsoft.com/office/drawing/2014/main" id="{506F2A91-3A6A-40D1-965B-FF7040A49CD4}"/>
              </a:ext>
            </a:extLst>
          </p:cNvPr>
          <p:cNvSpPr>
            <a:spLocks noGrp="1"/>
          </p:cNvSpPr>
          <p:nvPr>
            <p:ph idx="1"/>
          </p:nvPr>
        </p:nvSpPr>
        <p:spPr>
          <a:xfrm>
            <a:off x="799381" y="1187116"/>
            <a:ext cx="10325819" cy="4847924"/>
          </a:xfrm>
        </p:spPr>
        <p:txBody>
          <a:bodyPr/>
          <a:lstStyle/>
          <a:p>
            <a:pPr marL="0" indent="0">
              <a:buNone/>
            </a:pPr>
            <a:r>
              <a:rPr lang="en-US" sz="2400" dirty="0"/>
              <a:t>The gamma distribution can be used a range of disciplines including queuing models, climatology, and financial services. Examples of events that may be modelled by gamma distribution include:</a:t>
            </a:r>
          </a:p>
          <a:p>
            <a:pPr marL="465138" indent="-288925"/>
            <a:r>
              <a:rPr lang="en-US" sz="2400" dirty="0"/>
              <a:t>The amount of rainfall accumulated in a reservoir</a:t>
            </a:r>
          </a:p>
          <a:p>
            <a:pPr marL="465138" indent="-288925"/>
            <a:r>
              <a:rPr lang="en-US" sz="2400" dirty="0"/>
              <a:t>The size of loan defaults </a:t>
            </a:r>
          </a:p>
          <a:p>
            <a:pPr marL="465138" indent="-288925"/>
            <a:r>
              <a:rPr lang="en-US" sz="2400" dirty="0"/>
              <a:t>The aggregate insurance claims or different patterns of insurance claims</a:t>
            </a:r>
          </a:p>
          <a:p>
            <a:pPr marL="465138" indent="-288925"/>
            <a:r>
              <a:rPr lang="en-US" sz="2400" dirty="0"/>
              <a:t>The flow of items through manufacturing and distribution processes</a:t>
            </a:r>
          </a:p>
          <a:p>
            <a:pPr marL="465138" indent="-288925"/>
            <a:r>
              <a:rPr lang="en-US" sz="2400" dirty="0"/>
              <a:t>The load on web servers</a:t>
            </a:r>
          </a:p>
          <a:p>
            <a:endParaRPr lang="en-US" dirty="0"/>
          </a:p>
        </p:txBody>
      </p:sp>
      <p:sp>
        <p:nvSpPr>
          <p:cNvPr id="4" name="Footer Placeholder 3">
            <a:extLst>
              <a:ext uri="{FF2B5EF4-FFF2-40B4-BE49-F238E27FC236}">
                <a16:creationId xmlns:a16="http://schemas.microsoft.com/office/drawing/2014/main" id="{6E41C9D8-CDDF-167E-8169-94F052322C92}"/>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622159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952D0-B311-40C3-83CD-717C5033F779}"/>
              </a:ext>
            </a:extLst>
          </p:cNvPr>
          <p:cNvSpPr>
            <a:spLocks noGrp="1"/>
          </p:cNvSpPr>
          <p:nvPr>
            <p:ph type="title"/>
          </p:nvPr>
        </p:nvSpPr>
        <p:spPr>
          <a:xfrm>
            <a:off x="738996" y="600793"/>
            <a:ext cx="10058400" cy="444334"/>
          </a:xfrm>
        </p:spPr>
        <p:txBody>
          <a:bodyPr>
            <a:normAutofit/>
          </a:bodyPr>
          <a:lstStyle/>
          <a:p>
            <a:r>
              <a:rPr lang="en-US" sz="2400" b="1" dirty="0"/>
              <a:t>Probability density function of Gamma distribution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1EDFBD1-E395-401D-8EDE-DC599F9DA11E}"/>
                  </a:ext>
                </a:extLst>
              </p:cNvPr>
              <p:cNvSpPr>
                <a:spLocks noGrp="1"/>
              </p:cNvSpPr>
              <p:nvPr>
                <p:ph idx="1"/>
              </p:nvPr>
            </p:nvSpPr>
            <p:spPr>
              <a:xfrm>
                <a:off x="738996" y="1224951"/>
                <a:ext cx="10854906" cy="4917057"/>
              </a:xfrm>
            </p:spPr>
            <p:txBody>
              <a:bodyPr>
                <a:normAutofit fontScale="85000" lnSpcReduction="20000"/>
              </a:bodyPr>
              <a:lstStyle/>
              <a:p>
                <a:pPr marL="0" indent="0">
                  <a:buNone/>
                </a:pPr>
                <a:r>
                  <a:rPr lang="en-US" dirty="0"/>
                  <a:t>A continuous random variable X is said to follow Gamma distribution with parameter  </a:t>
                </a:r>
                <a:r>
                  <a:rPr lang="el-GR" dirty="0"/>
                  <a:t>α</a:t>
                </a:r>
                <a:r>
                  <a:rPr lang="en-US" dirty="0"/>
                  <a:t> &gt; 0 and  </a:t>
                </a:r>
                <a:r>
                  <a:rPr lang="el-GR" dirty="0"/>
                  <a:t>λ</a:t>
                </a:r>
                <a:r>
                  <a:rPr lang="en-US" dirty="0"/>
                  <a:t> &gt; 0 if its probability density function is given by, </a:t>
                </a:r>
              </a:p>
              <a:p>
                <a:pPr marL="0" indent="0">
                  <a:buNone/>
                </a:pPr>
                <a:r>
                  <a:rPr lang="en-US" dirty="0"/>
                  <a:t>	</a:t>
                </a:r>
              </a:p>
              <a:p>
                <a:pPr marL="0" indent="0">
                  <a:buNone/>
                </a:pPr>
                <a:endParaRPr lang="en-US" dirty="0"/>
              </a:p>
              <a:p>
                <a:pPr marL="0" indent="0">
                  <a:buNone/>
                </a:pPr>
                <a:endParaRPr lang="en-US" dirty="0"/>
              </a:p>
              <a:p>
                <a:pPr marL="0" indent="0">
                  <a:buNone/>
                </a:pPr>
                <a:r>
                  <a:rPr lang="en-US" dirty="0"/>
                  <a:t>Where,  </a:t>
                </a:r>
              </a:p>
              <a:p>
                <a:pPr marL="1371600" indent="-457200">
                  <a:buNone/>
                </a:pPr>
                <a:r>
                  <a:rPr lang="en-US" dirty="0"/>
                  <a:t>X = Elapsed time before </a:t>
                </a:r>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baseline="30000" dirty="0"/>
                  <a:t>th</a:t>
                </a:r>
                <a:r>
                  <a:rPr lang="en-US" dirty="0"/>
                  <a:t>  events </a:t>
                </a:r>
              </a:p>
              <a:p>
                <a:pPr marL="1262063" indent="-347663">
                  <a:buNone/>
                </a:pPr>
                <a14:m>
                  <m:oMath xmlns:m="http://schemas.openxmlformats.org/officeDocument/2006/math">
                    <m:r>
                      <a:rPr lang="el-GR" i="1" dirty="0" smtClean="0">
                        <a:latin typeface="Cambria Math" panose="02040503050406030204" pitchFamily="18" charset="0"/>
                      </a:rPr>
                      <m:t>𝛼</m:t>
                    </m:r>
                  </m:oMath>
                </a14:m>
                <a:r>
                  <a:rPr lang="en-US" dirty="0"/>
                  <a:t> = A shape parameter. It specifies the no. of events we are modelling. The value of </a:t>
                </a:r>
                <a14:m>
                  <m:oMath xmlns:m="http://schemas.openxmlformats.org/officeDocument/2006/math">
                    <m:r>
                      <a:rPr lang="el-GR" i="1" dirty="0">
                        <a:latin typeface="Cambria Math" panose="02040503050406030204" pitchFamily="18" charset="0"/>
                      </a:rPr>
                      <m:t>𝛼</m:t>
                    </m:r>
                    <m:r>
                      <a:rPr lang="el-GR" i="1" dirty="0">
                        <a:latin typeface="Cambria Math" panose="02040503050406030204" pitchFamily="18" charset="0"/>
                      </a:rPr>
                      <m:t> </m:t>
                    </m:r>
                  </m:oMath>
                </a14:m>
                <a:r>
                  <a:rPr lang="en-US" dirty="0"/>
                  <a:t>determines the basic shape of the density curve. For very large shape value, the G.D. approaches to N.D. </a:t>
                </a:r>
              </a:p>
              <a:p>
                <a:pPr marL="1262063" indent="-347663">
                  <a:buNone/>
                </a:pPr>
                <a14:m>
                  <m:oMath xmlns:m="http://schemas.openxmlformats.org/officeDocument/2006/math">
                    <m:r>
                      <a:rPr lang="en-US" i="1" dirty="0" smtClean="0">
                        <a:latin typeface="Cambria Math" panose="02040503050406030204" pitchFamily="18" charset="0"/>
                      </a:rPr>
                      <m:t>𝜆</m:t>
                    </m:r>
                  </m:oMath>
                </a14:m>
                <a:r>
                  <a:rPr lang="en-US" dirty="0"/>
                  <a:t> = A scale (or rate) parameter.</a:t>
                </a:r>
              </a:p>
              <a:p>
                <a:pPr marL="0" indent="0">
                  <a:buNone/>
                </a:pPr>
                <a:r>
                  <a:rPr lang="en-US" dirty="0"/>
                  <a:t>Both </a:t>
                </a:r>
                <a:r>
                  <a:rPr lang="el-GR" dirty="0"/>
                  <a:t>α</a:t>
                </a:r>
                <a:r>
                  <a:rPr lang="en-US" dirty="0"/>
                  <a:t> and </a:t>
                </a:r>
                <a:r>
                  <a:rPr lang="el-GR" dirty="0"/>
                  <a:t>λ</a:t>
                </a:r>
                <a:r>
                  <a:rPr lang="en-US" dirty="0"/>
                  <a:t> are positive real numbers. Hence, Gamma distribution is the two parameter family continuous probability distribution.</a:t>
                </a:r>
              </a:p>
              <a:p>
                <a:pPr marL="0" indent="0">
                  <a:buNone/>
                </a:pPr>
                <a:r>
                  <a:rPr lang="en-US" dirty="0"/>
                  <a:t>We can think </a:t>
                </a:r>
                <a14:m>
                  <m:oMath xmlns:m="http://schemas.openxmlformats.org/officeDocument/2006/math">
                    <m:r>
                      <a:rPr lang="el-GR" i="1" dirty="0" smtClean="0">
                        <a:latin typeface="Cambria Math" panose="02040503050406030204" pitchFamily="18" charset="0"/>
                      </a:rPr>
                      <m:t>𝛼</m:t>
                    </m:r>
                  </m:oMath>
                </a14:m>
                <a:r>
                  <a:rPr lang="en-US" dirty="0"/>
                  <a:t> as number of events we are waiting for and </a:t>
                </a:r>
                <a14:m>
                  <m:oMath xmlns:m="http://schemas.openxmlformats.org/officeDocument/2006/math">
                    <m:r>
                      <a:rPr lang="el-GR" i="1" dirty="0" smtClean="0">
                        <a:latin typeface="Cambria Math" panose="02040503050406030204" pitchFamily="18" charset="0"/>
                      </a:rPr>
                      <m:t>𝜆</m:t>
                    </m:r>
                  </m:oMath>
                </a14:m>
                <a:r>
                  <a:rPr lang="en-US" dirty="0"/>
                  <a:t> as average number of occurrences per unit time and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f>
                      <m:fPr>
                        <m:type m:val="skw"/>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𝜆</m:t>
                        </m:r>
                      </m:den>
                    </m:f>
                    <m:r>
                      <a:rPr lang="en-US" b="0" i="0" smtClean="0">
                        <a:latin typeface="Cambria Math" panose="02040503050406030204" pitchFamily="18" charset="0"/>
                        <a:ea typeface="Cambria Math" panose="02040503050406030204" pitchFamily="18" charset="0"/>
                      </a:rPr>
                      <m:t>  </m:t>
                    </m:r>
                  </m:oMath>
                </a14:m>
                <a:r>
                  <a:rPr lang="en-US" dirty="0"/>
                  <a:t>as the average time between the occurrences (reciprocal of scale parameter) or as expected time before next event. </a:t>
                </a:r>
              </a:p>
              <a:p>
                <a:pPr marL="0" indent="0">
                  <a:buNone/>
                </a:pPr>
                <a:r>
                  <a:rPr lang="en-US" b="1" dirty="0"/>
                  <a:t>Example</a:t>
                </a:r>
                <a:r>
                  <a:rPr lang="en-US" dirty="0"/>
                  <a:t>: Users visit a certain internet site at the average rate of 12 hits per minutes. Every sixth visitor receives some promotion that comes in a form of a flashing banner. The time between consecutive promotions has gamma distribution with parameter </a:t>
                </a:r>
                <a:r>
                  <a:rPr lang="el-GR" dirty="0"/>
                  <a:t>α</a:t>
                </a:r>
                <a:r>
                  <a:rPr lang="en-US" dirty="0"/>
                  <a:t> = 6 and </a:t>
                </a:r>
                <a:r>
                  <a:rPr lang="el-GR" dirty="0"/>
                  <a:t>λ</a:t>
                </a:r>
                <a:r>
                  <a:rPr lang="en-US" dirty="0"/>
                  <a:t> = 12.</a:t>
                </a:r>
              </a:p>
            </p:txBody>
          </p:sp>
        </mc:Choice>
        <mc:Fallback>
          <p:sp>
            <p:nvSpPr>
              <p:cNvPr id="3" name="Content Placeholder 2">
                <a:extLst>
                  <a:ext uri="{FF2B5EF4-FFF2-40B4-BE49-F238E27FC236}">
                    <a16:creationId xmlns:a16="http://schemas.microsoft.com/office/drawing/2014/main" id="{31EDFBD1-E395-401D-8EDE-DC599F9DA11E}"/>
                  </a:ext>
                </a:extLst>
              </p:cNvPr>
              <p:cNvSpPr>
                <a:spLocks noGrp="1" noRot="1" noChangeAspect="1" noMove="1" noResize="1" noEditPoints="1" noAdjustHandles="1" noChangeArrowheads="1" noChangeShapeType="1" noTextEdit="1"/>
              </p:cNvSpPr>
              <p:nvPr>
                <p:ph idx="1"/>
              </p:nvPr>
            </p:nvSpPr>
            <p:spPr>
              <a:xfrm>
                <a:off x="738996" y="1224951"/>
                <a:ext cx="10854906" cy="4917057"/>
              </a:xfrm>
              <a:blipFill>
                <a:blip r:embed="rId2"/>
                <a:stretch>
                  <a:fillRect l="-225" t="-1115" r="-56"/>
                </a:stretch>
              </a:blipFill>
            </p:spPr>
            <p:txBody>
              <a:bodyPr/>
              <a:lstStyle/>
              <a:p>
                <a:r>
                  <a:rPr lang="en-US">
                    <a:noFill/>
                  </a:rPr>
                  <a:t> </a:t>
                </a:r>
              </a:p>
            </p:txBody>
          </p:sp>
        </mc:Fallback>
      </mc:AlternateContent>
      <p:pic>
        <p:nvPicPr>
          <p:cNvPr id="33" name="Picture 32">
            <a:extLst>
              <a:ext uri="{FF2B5EF4-FFF2-40B4-BE49-F238E27FC236}">
                <a16:creationId xmlns:a16="http://schemas.microsoft.com/office/drawing/2014/main" id="{27D3762E-9BA3-4B54-BA6B-6D89C84735BC}"/>
              </a:ext>
            </a:extLst>
          </p:cNvPr>
          <p:cNvPicPr>
            <a:picLocks noChangeAspect="1"/>
          </p:cNvPicPr>
          <p:nvPr/>
        </p:nvPicPr>
        <p:blipFill>
          <a:blip r:embed="rId3"/>
          <a:stretch>
            <a:fillRect/>
          </a:stretch>
        </p:blipFill>
        <p:spPr>
          <a:xfrm>
            <a:off x="1776455" y="2026166"/>
            <a:ext cx="3571921" cy="752580"/>
          </a:xfrm>
          <a:prstGeom prst="rect">
            <a:avLst/>
          </a:prstGeom>
        </p:spPr>
      </p:pic>
      <p:sp>
        <p:nvSpPr>
          <p:cNvPr id="4" name="Footer Placeholder 3">
            <a:extLst>
              <a:ext uri="{FF2B5EF4-FFF2-40B4-BE49-F238E27FC236}">
                <a16:creationId xmlns:a16="http://schemas.microsoft.com/office/drawing/2014/main" id="{80209869-BE25-8B15-4D45-E83A5AB1B435}"/>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361774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7334-8CF0-4692-AB40-38B158A3C541}"/>
              </a:ext>
            </a:extLst>
          </p:cNvPr>
          <p:cNvSpPr>
            <a:spLocks noGrp="1"/>
          </p:cNvSpPr>
          <p:nvPr>
            <p:ph type="title"/>
          </p:nvPr>
        </p:nvSpPr>
        <p:spPr>
          <a:xfrm>
            <a:off x="707366" y="482142"/>
            <a:ext cx="10058400" cy="340817"/>
          </a:xfrm>
        </p:spPr>
        <p:txBody>
          <a:bodyPr>
            <a:normAutofit fontScale="90000"/>
          </a:bodyPr>
          <a:lstStyle/>
          <a:p>
            <a:r>
              <a:rPr lang="en-US" sz="2400" b="1" dirty="0"/>
              <a:t>Gamma function</a:t>
            </a:r>
          </a:p>
        </p:txBody>
      </p:sp>
      <p:sp>
        <p:nvSpPr>
          <p:cNvPr id="3" name="Content Placeholder 2">
            <a:extLst>
              <a:ext uri="{FF2B5EF4-FFF2-40B4-BE49-F238E27FC236}">
                <a16:creationId xmlns:a16="http://schemas.microsoft.com/office/drawing/2014/main" id="{2007E2E3-22C3-4E51-B70D-4634815D9BBD}"/>
              </a:ext>
            </a:extLst>
          </p:cNvPr>
          <p:cNvSpPr>
            <a:spLocks noGrp="1"/>
          </p:cNvSpPr>
          <p:nvPr>
            <p:ph idx="1"/>
          </p:nvPr>
        </p:nvSpPr>
        <p:spPr>
          <a:xfrm>
            <a:off x="707366" y="948906"/>
            <a:ext cx="10886536" cy="5256543"/>
          </a:xfrm>
        </p:spPr>
        <p:txBody>
          <a:bodyPr/>
          <a:lstStyle/>
          <a:p>
            <a:pPr marL="0" indent="0">
              <a:buNone/>
            </a:pPr>
            <a:r>
              <a:rPr lang="en-US" dirty="0"/>
              <a:t>The gamma function is given by,	</a:t>
            </a:r>
          </a:p>
        </p:txBody>
      </p:sp>
      <p:pic>
        <p:nvPicPr>
          <p:cNvPr id="4" name="Picture 3">
            <a:extLst>
              <a:ext uri="{FF2B5EF4-FFF2-40B4-BE49-F238E27FC236}">
                <a16:creationId xmlns:a16="http://schemas.microsoft.com/office/drawing/2014/main" id="{0D4236AB-27C6-479B-A359-7C6EA8387156}"/>
              </a:ext>
            </a:extLst>
          </p:cNvPr>
          <p:cNvPicPr>
            <a:picLocks noChangeAspect="1"/>
          </p:cNvPicPr>
          <p:nvPr/>
        </p:nvPicPr>
        <p:blipFill>
          <a:blip r:embed="rId2"/>
          <a:stretch>
            <a:fillRect/>
          </a:stretch>
        </p:blipFill>
        <p:spPr>
          <a:xfrm>
            <a:off x="1380226" y="1427283"/>
            <a:ext cx="2587925" cy="538949"/>
          </a:xfrm>
          <a:prstGeom prst="rect">
            <a:avLst/>
          </a:prstGeom>
        </p:spPr>
      </p:pic>
      <p:pic>
        <p:nvPicPr>
          <p:cNvPr id="5" name="Picture 4">
            <a:extLst>
              <a:ext uri="{FF2B5EF4-FFF2-40B4-BE49-F238E27FC236}">
                <a16:creationId xmlns:a16="http://schemas.microsoft.com/office/drawing/2014/main" id="{58C24247-58CE-4BB9-8526-803472841BF8}"/>
              </a:ext>
            </a:extLst>
          </p:cNvPr>
          <p:cNvPicPr>
            <a:picLocks noChangeAspect="1"/>
          </p:cNvPicPr>
          <p:nvPr/>
        </p:nvPicPr>
        <p:blipFill>
          <a:blip r:embed="rId3"/>
          <a:stretch>
            <a:fillRect/>
          </a:stretch>
        </p:blipFill>
        <p:spPr>
          <a:xfrm>
            <a:off x="1035170" y="2092179"/>
            <a:ext cx="7811590" cy="4239217"/>
          </a:xfrm>
          <a:prstGeom prst="rect">
            <a:avLst/>
          </a:prstGeom>
        </p:spPr>
      </p:pic>
      <p:sp>
        <p:nvSpPr>
          <p:cNvPr id="6" name="Footer Placeholder 5">
            <a:extLst>
              <a:ext uri="{FF2B5EF4-FFF2-40B4-BE49-F238E27FC236}">
                <a16:creationId xmlns:a16="http://schemas.microsoft.com/office/drawing/2014/main" id="{212CC517-B0CA-4C21-E5AD-34455918C880}"/>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665705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C3B46-37CA-4224-A02E-CF1D38C0FED9}"/>
              </a:ext>
            </a:extLst>
          </p:cNvPr>
          <p:cNvSpPr>
            <a:spLocks noGrp="1"/>
          </p:cNvSpPr>
          <p:nvPr>
            <p:ph type="title"/>
          </p:nvPr>
        </p:nvSpPr>
        <p:spPr>
          <a:xfrm>
            <a:off x="738996" y="464890"/>
            <a:ext cx="10058400" cy="358070"/>
          </a:xfrm>
        </p:spPr>
        <p:txBody>
          <a:bodyPr>
            <a:normAutofit fontScale="90000"/>
          </a:bodyPr>
          <a:lstStyle/>
          <a:p>
            <a:r>
              <a:rPr lang="en-US" sz="2400" b="1" dirty="0"/>
              <a:t>Shape of the Gamma distribution</a:t>
            </a:r>
          </a:p>
        </p:txBody>
      </p:sp>
      <p:sp>
        <p:nvSpPr>
          <p:cNvPr id="3" name="Content Placeholder 2">
            <a:extLst>
              <a:ext uri="{FF2B5EF4-FFF2-40B4-BE49-F238E27FC236}">
                <a16:creationId xmlns:a16="http://schemas.microsoft.com/office/drawing/2014/main" id="{068EE123-4BA3-4FA5-B752-655FD132161E}"/>
              </a:ext>
            </a:extLst>
          </p:cNvPr>
          <p:cNvSpPr>
            <a:spLocks noGrp="1"/>
          </p:cNvSpPr>
          <p:nvPr>
            <p:ph idx="1"/>
          </p:nvPr>
        </p:nvSpPr>
        <p:spPr>
          <a:xfrm>
            <a:off x="738996" y="928255"/>
            <a:ext cx="10820400" cy="5106785"/>
          </a:xfrm>
        </p:spPr>
        <p:txBody>
          <a:bodyPr/>
          <a:lstStyle/>
          <a:p>
            <a:pPr marL="0" indent="0">
              <a:buNone/>
            </a:pPr>
            <a:r>
              <a:rPr lang="en-US" dirty="0"/>
              <a:t>The parameters </a:t>
            </a:r>
            <a:r>
              <a:rPr lang="el-GR" dirty="0"/>
              <a:t>α</a:t>
            </a:r>
            <a:r>
              <a:rPr lang="en-US" dirty="0"/>
              <a:t> and </a:t>
            </a:r>
            <a:r>
              <a:rPr lang="el-GR" dirty="0"/>
              <a:t>λ</a:t>
            </a:r>
            <a:r>
              <a:rPr lang="en-US" dirty="0"/>
              <a:t> define the shape of the graph. The change in </a:t>
            </a:r>
            <a:r>
              <a:rPr lang="el-GR" dirty="0"/>
              <a:t>λ</a:t>
            </a:r>
            <a:r>
              <a:rPr lang="en-US" dirty="0"/>
              <a:t> will have more effect on the shape the distribution than change in </a:t>
            </a:r>
            <a:r>
              <a:rPr lang="el-GR" dirty="0"/>
              <a:t>α</a:t>
            </a:r>
            <a:r>
              <a:rPr lang="en-US" dirty="0"/>
              <a:t> </a:t>
            </a:r>
            <a:r>
              <a:rPr lang="en-US" dirty="0">
                <a:latin typeface="Calibri" panose="020F0502020204030204" pitchFamily="34" charset="0"/>
                <a:cs typeface="Calibri" panose="020F0502020204030204" pitchFamily="34" charset="0"/>
              </a:rPr>
              <a:t>(</a:t>
            </a:r>
            <a:r>
              <a:rPr lang="en-US" dirty="0">
                <a:latin typeface="+mj-lt"/>
                <a:cs typeface="Calibri" panose="020F0502020204030204" pitchFamily="34" charset="0"/>
              </a:rPr>
              <a:t>the parameter λ </a:t>
            </a:r>
            <a:r>
              <a:rPr lang="en-US" b="0" i="0" dirty="0">
                <a:solidFill>
                  <a:srgbClr val="333333"/>
                </a:solidFill>
                <a:effectLst/>
                <a:latin typeface="+mj-lt"/>
                <a:cs typeface="Calibri" panose="020F0502020204030204" pitchFamily="34" charset="0"/>
              </a:rPr>
              <a:t>has the effect of stretching or compressing the range of the Gamma distribution)</a:t>
            </a:r>
          </a:p>
          <a:p>
            <a:pPr marL="0" indent="0">
              <a:buNone/>
            </a:pPr>
            <a:endParaRPr lang="en-US" dirty="0"/>
          </a:p>
        </p:txBody>
      </p:sp>
      <p:pic>
        <p:nvPicPr>
          <p:cNvPr id="4" name="Picture 3">
            <a:extLst>
              <a:ext uri="{FF2B5EF4-FFF2-40B4-BE49-F238E27FC236}">
                <a16:creationId xmlns:a16="http://schemas.microsoft.com/office/drawing/2014/main" id="{315C4F56-D71B-4E01-87A8-A8228C76AF81}"/>
              </a:ext>
            </a:extLst>
          </p:cNvPr>
          <p:cNvPicPr>
            <a:picLocks noChangeAspect="1"/>
          </p:cNvPicPr>
          <p:nvPr/>
        </p:nvPicPr>
        <p:blipFill>
          <a:blip r:embed="rId2"/>
          <a:stretch>
            <a:fillRect/>
          </a:stretch>
        </p:blipFill>
        <p:spPr>
          <a:xfrm>
            <a:off x="1553140" y="1967344"/>
            <a:ext cx="6676460" cy="4067695"/>
          </a:xfrm>
          <a:prstGeom prst="rect">
            <a:avLst/>
          </a:prstGeom>
        </p:spPr>
      </p:pic>
      <p:sp>
        <p:nvSpPr>
          <p:cNvPr id="5" name="Footer Placeholder 4">
            <a:extLst>
              <a:ext uri="{FF2B5EF4-FFF2-40B4-BE49-F238E27FC236}">
                <a16:creationId xmlns:a16="http://schemas.microsoft.com/office/drawing/2014/main" id="{129C9E70-0984-D5DA-0757-3C1156426E22}"/>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562183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2F1D9-AEC4-4B62-9C3E-2FBF765B4D21}"/>
              </a:ext>
            </a:extLst>
          </p:cNvPr>
          <p:cNvSpPr>
            <a:spLocks noGrp="1"/>
          </p:cNvSpPr>
          <p:nvPr>
            <p:ph type="title"/>
          </p:nvPr>
        </p:nvSpPr>
        <p:spPr>
          <a:xfrm>
            <a:off x="738996" y="609419"/>
            <a:ext cx="10058400" cy="427081"/>
          </a:xfrm>
        </p:spPr>
        <p:txBody>
          <a:bodyPr>
            <a:normAutofit/>
          </a:bodyPr>
          <a:lstStyle/>
          <a:p>
            <a:r>
              <a:rPr lang="en-US" sz="2400" b="1" dirty="0"/>
              <a:t>Special case of Gamma distribution</a:t>
            </a:r>
          </a:p>
        </p:txBody>
      </p:sp>
      <p:sp>
        <p:nvSpPr>
          <p:cNvPr id="3" name="Content Placeholder 2">
            <a:extLst>
              <a:ext uri="{FF2B5EF4-FFF2-40B4-BE49-F238E27FC236}">
                <a16:creationId xmlns:a16="http://schemas.microsoft.com/office/drawing/2014/main" id="{381888C3-48BB-4FB2-B48E-A3EA7DF75AA0}"/>
              </a:ext>
            </a:extLst>
          </p:cNvPr>
          <p:cNvSpPr>
            <a:spLocks noGrp="1"/>
          </p:cNvSpPr>
          <p:nvPr>
            <p:ph idx="1"/>
          </p:nvPr>
        </p:nvSpPr>
        <p:spPr>
          <a:xfrm>
            <a:off x="738997" y="1388853"/>
            <a:ext cx="10811774" cy="4646187"/>
          </a:xfrm>
        </p:spPr>
        <p:txBody>
          <a:bodyPr/>
          <a:lstStyle/>
          <a:p>
            <a:pPr marL="342900" indent="-342900">
              <a:buAutoNum type="arabicPeriod"/>
            </a:pPr>
            <a:r>
              <a:rPr lang="en-US" dirty="0"/>
              <a:t>When </a:t>
            </a:r>
            <a:r>
              <a:rPr lang="el-GR" dirty="0"/>
              <a:t>α</a:t>
            </a:r>
            <a:r>
              <a:rPr lang="en-US" dirty="0"/>
              <a:t> =1, the gamma distribution becomes exponential distribution. Thus Gamma (1, </a:t>
            </a:r>
            <a:r>
              <a:rPr lang="el-GR" dirty="0"/>
              <a:t>λ</a:t>
            </a:r>
            <a:r>
              <a:rPr lang="en-US" dirty="0"/>
              <a:t> ) = Exponential ( </a:t>
            </a:r>
            <a:r>
              <a:rPr lang="el-GR" dirty="0"/>
              <a:t>λ</a:t>
            </a:r>
            <a:r>
              <a:rPr lang="en-US" dirty="0"/>
              <a:t>). More generally, if we sum n independent exponential distribution (</a:t>
            </a:r>
            <a:r>
              <a:rPr lang="el-GR" dirty="0"/>
              <a:t>λ</a:t>
            </a:r>
            <a:r>
              <a:rPr lang="en-US" dirty="0"/>
              <a:t> ) random variables, then we will get a gamma distribution ( n, </a:t>
            </a:r>
            <a:r>
              <a:rPr lang="el-GR" dirty="0"/>
              <a:t>λ</a:t>
            </a:r>
            <a:r>
              <a:rPr lang="en-US" dirty="0"/>
              <a:t>)</a:t>
            </a:r>
          </a:p>
          <a:p>
            <a:pPr marL="342900" indent="-342900">
              <a:buAutoNum type="arabicPeriod"/>
            </a:pPr>
            <a:r>
              <a:rPr lang="en-US" dirty="0"/>
              <a:t>Chi-square distribution is another probability distribution as a special case of Gamma distribution. When </a:t>
            </a:r>
            <a:r>
              <a:rPr lang="el-GR" dirty="0"/>
              <a:t>λ</a:t>
            </a:r>
            <a:r>
              <a:rPr lang="en-US" dirty="0"/>
              <a:t> = ½, then gamma distribution converges to chi-square distribution with 2</a:t>
            </a:r>
            <a:r>
              <a:rPr lang="el-GR" dirty="0"/>
              <a:t>α</a:t>
            </a:r>
            <a:r>
              <a:rPr lang="en-US" dirty="0"/>
              <a:t> degrees of freedom. Thus Gamma ( </a:t>
            </a:r>
            <a:r>
              <a:rPr lang="el-GR" dirty="0"/>
              <a:t>α</a:t>
            </a:r>
            <a:r>
              <a:rPr lang="en-US" dirty="0"/>
              <a:t>, </a:t>
            </a:r>
            <a:r>
              <a:rPr lang="el-GR" dirty="0"/>
              <a:t>λ</a:t>
            </a:r>
            <a:r>
              <a:rPr lang="en-US" dirty="0"/>
              <a:t> = ½) = Chi-square (2 </a:t>
            </a:r>
            <a:r>
              <a:rPr lang="el-GR" dirty="0"/>
              <a:t>α</a:t>
            </a:r>
            <a:r>
              <a:rPr lang="en-US" dirty="0"/>
              <a:t>)</a:t>
            </a:r>
          </a:p>
          <a:p>
            <a:pPr marL="342900" indent="-342900">
              <a:buAutoNum type="arabicPeriod"/>
            </a:pPr>
            <a:r>
              <a:rPr lang="en-GB" dirty="0"/>
              <a:t>When λ = 1, then the gamma distribution is called standard gamma distribution which has the pdf of,</a:t>
            </a:r>
            <a:endParaRPr lang="en-US" dirty="0"/>
          </a:p>
          <a:p>
            <a:pPr marL="0" indent="0">
              <a:buNone/>
            </a:pPr>
            <a:r>
              <a:rPr lang="en-US" dirty="0"/>
              <a:t>	</a:t>
            </a:r>
          </a:p>
          <a:p>
            <a:pPr marL="0" indent="0">
              <a:buNone/>
            </a:pPr>
            <a:endParaRPr lang="en-US" dirty="0"/>
          </a:p>
        </p:txBody>
      </p:sp>
      <p:pic>
        <p:nvPicPr>
          <p:cNvPr id="26" name="Picture 25">
            <a:extLst>
              <a:ext uri="{FF2B5EF4-FFF2-40B4-BE49-F238E27FC236}">
                <a16:creationId xmlns:a16="http://schemas.microsoft.com/office/drawing/2014/main" id="{CD2389B1-94AC-46D7-94E5-818546F847E2}"/>
              </a:ext>
            </a:extLst>
          </p:cNvPr>
          <p:cNvPicPr>
            <a:picLocks noChangeAspect="1"/>
          </p:cNvPicPr>
          <p:nvPr/>
        </p:nvPicPr>
        <p:blipFill>
          <a:blip r:embed="rId2"/>
          <a:stretch>
            <a:fillRect/>
          </a:stretch>
        </p:blipFill>
        <p:spPr>
          <a:xfrm>
            <a:off x="1778475" y="4042049"/>
            <a:ext cx="2648320" cy="809738"/>
          </a:xfrm>
          <a:prstGeom prst="rect">
            <a:avLst/>
          </a:prstGeom>
        </p:spPr>
      </p:pic>
      <p:sp>
        <p:nvSpPr>
          <p:cNvPr id="4" name="Footer Placeholder 3">
            <a:extLst>
              <a:ext uri="{FF2B5EF4-FFF2-40B4-BE49-F238E27FC236}">
                <a16:creationId xmlns:a16="http://schemas.microsoft.com/office/drawing/2014/main" id="{12EB7289-D0D3-3766-0C9D-1F0D861E2B70}"/>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609511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5EE8C-E4F0-4623-BA04-34B3548A6851}"/>
              </a:ext>
            </a:extLst>
          </p:cNvPr>
          <p:cNvSpPr>
            <a:spLocks noGrp="1"/>
          </p:cNvSpPr>
          <p:nvPr>
            <p:ph type="title"/>
          </p:nvPr>
        </p:nvSpPr>
        <p:spPr>
          <a:xfrm>
            <a:off x="799381" y="643925"/>
            <a:ext cx="10058400" cy="323564"/>
          </a:xfrm>
        </p:spPr>
        <p:txBody>
          <a:bodyPr>
            <a:normAutofit fontScale="90000"/>
          </a:bodyPr>
          <a:lstStyle/>
          <a:p>
            <a:r>
              <a:rPr lang="en-US" sz="2400" b="1" dirty="0"/>
              <a:t>Another form of Gamma distribution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8A6D170-2EF6-4AC7-896E-FB58B4C12E90}"/>
                  </a:ext>
                </a:extLst>
              </p:cNvPr>
              <p:cNvSpPr>
                <a:spLocks noGrp="1"/>
              </p:cNvSpPr>
              <p:nvPr>
                <p:ph idx="1"/>
              </p:nvPr>
            </p:nvSpPr>
            <p:spPr>
              <a:xfrm>
                <a:off x="799381" y="1233577"/>
                <a:ext cx="10656498" cy="4749704"/>
              </a:xfrm>
            </p:spPr>
            <p:txBody>
              <a:bodyPr/>
              <a:lstStyle/>
              <a:p>
                <a:pPr marL="0" indent="0">
                  <a:buNone/>
                </a:pPr>
                <a:r>
                  <a:rPr lang="en-US" dirty="0"/>
                  <a:t>In some formula, the reciprocal of </a:t>
                </a:r>
                <a14:m>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 </m:t>
                    </m:r>
                  </m:oMath>
                </a14:m>
                <a:r>
                  <a:rPr lang="en-US" dirty="0"/>
                  <a:t>is used. Then the alternative form of probability density function of gamma distribution is given by,</a:t>
                </a:r>
              </a:p>
              <a:p>
                <a:pPr marL="0" indent="0">
                  <a:buNone/>
                </a:pPr>
                <a:endParaRPr lang="en-US" dirty="0"/>
              </a:p>
              <a:p>
                <a:pPr marL="0" indent="0">
                  <a:buNone/>
                </a:pPr>
                <a:r>
                  <a:rPr lang="en-US" dirty="0"/>
                  <a:t>	</a:t>
                </a:r>
              </a:p>
            </p:txBody>
          </p:sp>
        </mc:Choice>
        <mc:Fallback>
          <p:sp>
            <p:nvSpPr>
              <p:cNvPr id="3" name="Content Placeholder 2">
                <a:extLst>
                  <a:ext uri="{FF2B5EF4-FFF2-40B4-BE49-F238E27FC236}">
                    <a16:creationId xmlns:a16="http://schemas.microsoft.com/office/drawing/2014/main" id="{78A6D170-2EF6-4AC7-896E-FB58B4C12E90}"/>
                  </a:ext>
                </a:extLst>
              </p:cNvPr>
              <p:cNvSpPr>
                <a:spLocks noGrp="1" noRot="1" noChangeAspect="1" noMove="1" noResize="1" noEditPoints="1" noAdjustHandles="1" noChangeArrowheads="1" noChangeShapeType="1" noTextEdit="1"/>
              </p:cNvSpPr>
              <p:nvPr>
                <p:ph idx="1"/>
              </p:nvPr>
            </p:nvSpPr>
            <p:spPr>
              <a:xfrm>
                <a:off x="799381" y="1233577"/>
                <a:ext cx="10656498" cy="4749704"/>
              </a:xfrm>
              <a:blipFill>
                <a:blip r:embed="rId2"/>
                <a:stretch>
                  <a:fillRect l="-458" t="-64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7636408A-2E66-4AE2-9BBE-1D1947297529}"/>
              </a:ext>
            </a:extLst>
          </p:cNvPr>
          <p:cNvPicPr>
            <a:picLocks noChangeAspect="1"/>
          </p:cNvPicPr>
          <p:nvPr/>
        </p:nvPicPr>
        <p:blipFill>
          <a:blip r:embed="rId3"/>
          <a:stretch>
            <a:fillRect/>
          </a:stretch>
        </p:blipFill>
        <p:spPr>
          <a:xfrm>
            <a:off x="1925168" y="2087592"/>
            <a:ext cx="4170832" cy="1003079"/>
          </a:xfrm>
          <a:prstGeom prst="rect">
            <a:avLst/>
          </a:prstGeom>
        </p:spPr>
      </p:pic>
      <p:sp>
        <p:nvSpPr>
          <p:cNvPr id="5" name="Footer Placeholder 4">
            <a:extLst>
              <a:ext uri="{FF2B5EF4-FFF2-40B4-BE49-F238E27FC236}">
                <a16:creationId xmlns:a16="http://schemas.microsoft.com/office/drawing/2014/main" id="{4AAB3DCE-B19E-34A3-8D42-7B7213BC667C}"/>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442539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074E9-3B4E-4527-A2B7-AC0B85F752D7}"/>
              </a:ext>
            </a:extLst>
          </p:cNvPr>
          <p:cNvSpPr>
            <a:spLocks noGrp="1"/>
          </p:cNvSpPr>
          <p:nvPr>
            <p:ph type="title"/>
          </p:nvPr>
        </p:nvSpPr>
        <p:spPr>
          <a:xfrm>
            <a:off x="759126" y="642594"/>
            <a:ext cx="10058400" cy="363247"/>
          </a:xfrm>
        </p:spPr>
        <p:txBody>
          <a:bodyPr>
            <a:normAutofit fontScale="90000"/>
          </a:bodyPr>
          <a:lstStyle/>
          <a:p>
            <a:r>
              <a:rPr lang="en-US" sz="2400" b="1" dirty="0"/>
              <a:t>Mean of Gamma distribution</a:t>
            </a:r>
          </a:p>
        </p:txBody>
      </p:sp>
      <p:pic>
        <p:nvPicPr>
          <p:cNvPr id="5" name="Content Placeholder 4">
            <a:extLst>
              <a:ext uri="{FF2B5EF4-FFF2-40B4-BE49-F238E27FC236}">
                <a16:creationId xmlns:a16="http://schemas.microsoft.com/office/drawing/2014/main" id="{1243381E-DA4A-4499-9DB2-4FC4EEF65B28}"/>
              </a:ext>
            </a:extLst>
          </p:cNvPr>
          <p:cNvPicPr>
            <a:picLocks noGrp="1" noChangeAspect="1"/>
          </p:cNvPicPr>
          <p:nvPr>
            <p:ph sz="half" idx="1"/>
          </p:nvPr>
        </p:nvPicPr>
        <p:blipFill>
          <a:blip r:embed="rId2"/>
          <a:stretch>
            <a:fillRect/>
          </a:stretch>
        </p:blipFill>
        <p:spPr>
          <a:xfrm>
            <a:off x="759126" y="1276709"/>
            <a:ext cx="5581290" cy="4597879"/>
          </a:xfrm>
          <a:prstGeom prst="rect">
            <a:avLst/>
          </a:prstGeom>
        </p:spPr>
      </p:pic>
      <p:pic>
        <p:nvPicPr>
          <p:cNvPr id="6" name="Content Placeholder 5">
            <a:extLst>
              <a:ext uri="{FF2B5EF4-FFF2-40B4-BE49-F238E27FC236}">
                <a16:creationId xmlns:a16="http://schemas.microsoft.com/office/drawing/2014/main" id="{CE96078B-82F8-48D9-97B5-938F990CD8F6}"/>
              </a:ext>
            </a:extLst>
          </p:cNvPr>
          <p:cNvPicPr>
            <a:picLocks noGrp="1" noChangeAspect="1"/>
          </p:cNvPicPr>
          <p:nvPr>
            <p:ph sz="half" idx="2"/>
          </p:nvPr>
        </p:nvPicPr>
        <p:blipFill>
          <a:blip r:embed="rId3"/>
          <a:stretch>
            <a:fillRect/>
          </a:stretch>
        </p:blipFill>
        <p:spPr>
          <a:xfrm>
            <a:off x="6633713" y="1276710"/>
            <a:ext cx="5106838" cy="4597878"/>
          </a:xfrm>
          <a:prstGeom prst="rect">
            <a:avLst/>
          </a:prstGeom>
        </p:spPr>
      </p:pic>
      <p:sp>
        <p:nvSpPr>
          <p:cNvPr id="3" name="Footer Placeholder 2">
            <a:extLst>
              <a:ext uri="{FF2B5EF4-FFF2-40B4-BE49-F238E27FC236}">
                <a16:creationId xmlns:a16="http://schemas.microsoft.com/office/drawing/2014/main" id="{9FBA5F9F-A2C7-F59D-F8E5-D87247D94763}"/>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282120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97653-7241-4545-B9E4-714C1984A377}"/>
              </a:ext>
            </a:extLst>
          </p:cNvPr>
          <p:cNvSpPr>
            <a:spLocks noGrp="1"/>
          </p:cNvSpPr>
          <p:nvPr>
            <p:ph type="title"/>
          </p:nvPr>
        </p:nvSpPr>
        <p:spPr>
          <a:xfrm>
            <a:off x="603849" y="642594"/>
            <a:ext cx="10058400" cy="363246"/>
          </a:xfrm>
        </p:spPr>
        <p:txBody>
          <a:bodyPr>
            <a:normAutofit fontScale="90000"/>
          </a:bodyPr>
          <a:lstStyle/>
          <a:p>
            <a:r>
              <a:rPr lang="en-US" sz="2400" b="1" dirty="0"/>
              <a:t>Variance of Gamma distribution</a:t>
            </a:r>
          </a:p>
        </p:txBody>
      </p:sp>
      <p:pic>
        <p:nvPicPr>
          <p:cNvPr id="5" name="Content Placeholder 4">
            <a:extLst>
              <a:ext uri="{FF2B5EF4-FFF2-40B4-BE49-F238E27FC236}">
                <a16:creationId xmlns:a16="http://schemas.microsoft.com/office/drawing/2014/main" id="{5FCA919A-1D5F-4324-9533-A05A31DCFB71}"/>
              </a:ext>
            </a:extLst>
          </p:cNvPr>
          <p:cNvPicPr>
            <a:picLocks noGrp="1" noChangeAspect="1"/>
          </p:cNvPicPr>
          <p:nvPr>
            <p:ph sz="half" idx="1"/>
          </p:nvPr>
        </p:nvPicPr>
        <p:blipFill>
          <a:blip r:embed="rId2"/>
          <a:stretch>
            <a:fillRect/>
          </a:stretch>
        </p:blipFill>
        <p:spPr>
          <a:xfrm>
            <a:off x="690114" y="1380226"/>
            <a:ext cx="4979166" cy="3536831"/>
          </a:xfrm>
          <a:prstGeom prst="rect">
            <a:avLst/>
          </a:prstGeom>
        </p:spPr>
      </p:pic>
      <p:pic>
        <p:nvPicPr>
          <p:cNvPr id="6" name="Content Placeholder 5">
            <a:extLst>
              <a:ext uri="{FF2B5EF4-FFF2-40B4-BE49-F238E27FC236}">
                <a16:creationId xmlns:a16="http://schemas.microsoft.com/office/drawing/2014/main" id="{FECD63E1-7B53-4FC2-A85F-B037D0E29738}"/>
              </a:ext>
            </a:extLst>
          </p:cNvPr>
          <p:cNvPicPr>
            <a:picLocks noGrp="1" noChangeAspect="1"/>
          </p:cNvPicPr>
          <p:nvPr>
            <p:ph sz="half" idx="2"/>
          </p:nvPr>
        </p:nvPicPr>
        <p:blipFill>
          <a:blip r:embed="rId3"/>
          <a:stretch>
            <a:fillRect/>
          </a:stretch>
        </p:blipFill>
        <p:spPr>
          <a:xfrm>
            <a:off x="6096000" y="1293813"/>
            <a:ext cx="5558286" cy="4762500"/>
          </a:xfrm>
          <a:prstGeom prst="rect">
            <a:avLst/>
          </a:prstGeom>
        </p:spPr>
      </p:pic>
      <p:sp>
        <p:nvSpPr>
          <p:cNvPr id="3" name="Footer Placeholder 2">
            <a:extLst>
              <a:ext uri="{FF2B5EF4-FFF2-40B4-BE49-F238E27FC236}">
                <a16:creationId xmlns:a16="http://schemas.microsoft.com/office/drawing/2014/main" id="{58BEC13F-7866-AF2B-3CE0-73BFA37F4EB7}"/>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4114967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8F112-7600-4166-BD7B-0A3A1247CB2E}"/>
              </a:ext>
            </a:extLst>
          </p:cNvPr>
          <p:cNvSpPr>
            <a:spLocks noGrp="1"/>
          </p:cNvSpPr>
          <p:nvPr>
            <p:ph type="title"/>
          </p:nvPr>
        </p:nvSpPr>
        <p:spPr>
          <a:xfrm>
            <a:off x="747622" y="643925"/>
            <a:ext cx="10058400" cy="451630"/>
          </a:xfrm>
        </p:spPr>
        <p:txBody>
          <a:bodyPr>
            <a:normAutofit/>
          </a:bodyPr>
          <a:lstStyle/>
          <a:p>
            <a:r>
              <a:rPr lang="en-US" sz="2400" b="1" dirty="0"/>
              <a:t>Cummulative distribution function of Gamma distribution</a:t>
            </a:r>
          </a:p>
        </p:txBody>
      </p:sp>
      <p:pic>
        <p:nvPicPr>
          <p:cNvPr id="4" name="Content Placeholder 3">
            <a:extLst>
              <a:ext uri="{FF2B5EF4-FFF2-40B4-BE49-F238E27FC236}">
                <a16:creationId xmlns:a16="http://schemas.microsoft.com/office/drawing/2014/main" id="{6FA7F7F1-BA98-403C-88ED-DE182BC57034}"/>
              </a:ext>
            </a:extLst>
          </p:cNvPr>
          <p:cNvPicPr>
            <a:picLocks noGrp="1" noChangeAspect="1"/>
          </p:cNvPicPr>
          <p:nvPr>
            <p:ph idx="1"/>
          </p:nvPr>
        </p:nvPicPr>
        <p:blipFill>
          <a:blip r:embed="rId2"/>
          <a:stretch>
            <a:fillRect/>
          </a:stretch>
        </p:blipFill>
        <p:spPr>
          <a:xfrm>
            <a:off x="1703842" y="1651478"/>
            <a:ext cx="4696958" cy="2722114"/>
          </a:xfrm>
          <a:prstGeom prst="rect">
            <a:avLst/>
          </a:prstGeom>
        </p:spPr>
      </p:pic>
      <p:sp>
        <p:nvSpPr>
          <p:cNvPr id="3" name="Footer Placeholder 2">
            <a:extLst>
              <a:ext uri="{FF2B5EF4-FFF2-40B4-BE49-F238E27FC236}">
                <a16:creationId xmlns:a16="http://schemas.microsoft.com/office/drawing/2014/main" id="{95348A08-4A7C-86C7-94E9-A16B1DAC1D64}"/>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883835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F5984-A2A4-4ADE-A171-293E5CA6F7D4}"/>
              </a:ext>
            </a:extLst>
          </p:cNvPr>
          <p:cNvSpPr>
            <a:spLocks noGrp="1"/>
          </p:cNvSpPr>
          <p:nvPr>
            <p:ph type="title"/>
          </p:nvPr>
        </p:nvSpPr>
        <p:spPr>
          <a:xfrm>
            <a:off x="747623" y="635298"/>
            <a:ext cx="10058400" cy="375323"/>
          </a:xfrm>
        </p:spPr>
        <p:txBody>
          <a:bodyPr>
            <a:normAutofit fontScale="90000"/>
          </a:bodyPr>
          <a:lstStyle/>
          <a:p>
            <a:r>
              <a:rPr lang="en-US" sz="2400" b="1" dirty="0"/>
              <a:t>Numerical 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D4C807E-EE0E-42D6-A588-8F499C307885}"/>
                  </a:ext>
                </a:extLst>
              </p:cNvPr>
              <p:cNvSpPr>
                <a:spLocks noGrp="1"/>
              </p:cNvSpPr>
              <p:nvPr>
                <p:ph idx="1"/>
              </p:nvPr>
            </p:nvSpPr>
            <p:spPr>
              <a:xfrm>
                <a:off x="747623" y="1319842"/>
                <a:ext cx="10377577" cy="4715198"/>
              </a:xfrm>
            </p:spPr>
            <p:txBody>
              <a:bodyPr/>
              <a:lstStyle/>
              <a:p>
                <a:pPr marL="0" indent="0">
                  <a:buNone/>
                </a:pPr>
                <a:r>
                  <a:rPr lang="en-US" b="1" dirty="0"/>
                  <a:t>Problem</a:t>
                </a:r>
                <a:r>
                  <a:rPr lang="en-US" dirty="0"/>
                  <a:t>: Engineers designing the next generation of space shuttles plan to include two fuel pumps—one active, the other in reserve. If the primary pump malfunctions, the second is automatically brought on line. Suppose a typical mission is expected to require that fuel be pumped for at most 50 hours. According to the manufacturer's specifications, pumps are expected to fail once every 100 hours. What are the chances that such a fuel pump system would not remain functioning for the full 50 hours?</a:t>
                </a:r>
              </a:p>
              <a:p>
                <a:pPr marL="0" indent="0">
                  <a:buNone/>
                </a:pPr>
                <a:r>
                  <a:rPr lang="en-US" b="1" dirty="0"/>
                  <a:t>Solution</a:t>
                </a:r>
                <a:r>
                  <a:rPr lang="en-US" dirty="0"/>
                  <a:t>:</a:t>
                </a:r>
              </a:p>
              <a:p>
                <a:pPr marL="0" indent="0">
                  <a:buNone/>
                </a:pPr>
                <a:r>
                  <a:rPr lang="en-US" dirty="0"/>
                  <a:t>let X denote the time elapsed until the second pump breaks down. The number of events we are waiting for is </a:t>
                </a:r>
                <a14:m>
                  <m:oMath xmlns:m="http://schemas.openxmlformats.org/officeDocument/2006/math">
                    <m:r>
                      <a:rPr lang="en-US" i="1" dirty="0" smtClean="0">
                        <a:latin typeface="Cambria Math" panose="02040503050406030204" pitchFamily="18" charset="0"/>
                      </a:rPr>
                      <m:t>𝛼</m:t>
                    </m:r>
                  </m:oMath>
                </a14:m>
                <a:r>
                  <a:rPr lang="en-US" dirty="0"/>
                  <a:t> = 2, and mean waiting time until the first failure is 100 hours </a:t>
                </a:r>
              </a:p>
              <a:p>
                <a:pPr marL="0" indent="0">
                  <a:buNone/>
                </a:pPr>
                <a:r>
                  <a:rPr lang="en-US" dirty="0"/>
                  <a:t>Thus, </a:t>
                </a:r>
              </a:p>
              <a:p>
                <a:pPr marL="0" indent="0">
                  <a:buNone/>
                </a:pPr>
                <a:r>
                  <a:rPr lang="en-US" dirty="0"/>
                  <a:t>	</a:t>
                </a:r>
                <a14:m>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i="1" smtClean="0">
                            <a:latin typeface="Cambria Math" panose="02040503050406030204" pitchFamily="18" charset="0"/>
                            <a:ea typeface="Cambria Math" panose="02040503050406030204" pitchFamily="18" charset="0"/>
                          </a:rPr>
                          <m:t>𝜆</m:t>
                        </m:r>
                      </m:den>
                    </m:f>
                  </m:oMath>
                </a14:m>
                <a:r>
                  <a:rPr lang="en-US" dirty="0"/>
                  <a:t> = 100 hours = Average time between first pump failure and second pump failure</a:t>
                </a:r>
              </a:p>
              <a:p>
                <a:pPr marL="0" indent="0">
                  <a:buNone/>
                </a:pPr>
                <a:r>
                  <a:rPr lang="en-US" sz="2400" dirty="0">
                    <a:ea typeface="Cambria Math" panose="02040503050406030204" pitchFamily="18" charset="0"/>
                  </a:rPr>
                  <a:t>	</a:t>
                </a:r>
                <a14:m>
                  <m:oMath xmlns:m="http://schemas.openxmlformats.org/officeDocument/2006/math">
                    <m:r>
                      <a:rPr lang="en-US" sz="2400" i="1" smtClean="0">
                        <a:latin typeface="Cambria Math" panose="02040503050406030204" pitchFamily="18" charset="0"/>
                        <a:ea typeface="Cambria Math" panose="02040503050406030204" pitchFamily="18" charset="0"/>
                      </a:rPr>
                      <m:t>𝜆</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100</m:t>
                        </m:r>
                      </m:den>
                    </m:f>
                    <m:r>
                      <a:rPr lang="en-US" sz="2400" b="0" i="1" smtClean="0">
                        <a:latin typeface="Cambria Math" panose="02040503050406030204" pitchFamily="18" charset="0"/>
                        <a:ea typeface="Cambria Math" panose="02040503050406030204" pitchFamily="18" charset="0"/>
                      </a:rPr>
                      <m:t>=0.01 </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h𝑜𝑢𝑟</m:t>
                        </m:r>
                      </m:e>
                      <m:sup>
                        <m:r>
                          <a:rPr lang="en-US" sz="2400" b="0" i="1" smtClean="0">
                            <a:latin typeface="Cambria Math" panose="02040503050406030204" pitchFamily="18" charset="0"/>
                            <a:ea typeface="Cambria Math" panose="02040503050406030204" pitchFamily="18" charset="0"/>
                          </a:rPr>
                          <m:t>−1</m:t>
                        </m:r>
                      </m:sup>
                    </m:sSup>
                  </m:oMath>
                </a14:m>
                <a:endParaRPr lang="en-US" sz="2400" dirty="0"/>
              </a:p>
              <a:p>
                <a:pPr marL="0" indent="0">
                  <a:buNone/>
                </a:pPr>
                <a:r>
                  <a:rPr lang="en-US" dirty="0"/>
                  <a:t>	</a:t>
                </a:r>
              </a:p>
            </p:txBody>
          </p:sp>
        </mc:Choice>
        <mc:Fallback>
          <p:sp>
            <p:nvSpPr>
              <p:cNvPr id="3" name="Content Placeholder 2">
                <a:extLst>
                  <a:ext uri="{FF2B5EF4-FFF2-40B4-BE49-F238E27FC236}">
                    <a16:creationId xmlns:a16="http://schemas.microsoft.com/office/drawing/2014/main" id="{DD4C807E-EE0E-42D6-A588-8F499C307885}"/>
                  </a:ext>
                </a:extLst>
              </p:cNvPr>
              <p:cNvSpPr>
                <a:spLocks noGrp="1" noRot="1" noChangeAspect="1" noMove="1" noResize="1" noEditPoints="1" noAdjustHandles="1" noChangeArrowheads="1" noChangeShapeType="1" noTextEdit="1"/>
              </p:cNvSpPr>
              <p:nvPr>
                <p:ph idx="1"/>
              </p:nvPr>
            </p:nvSpPr>
            <p:spPr>
              <a:xfrm>
                <a:off x="747623" y="1319842"/>
                <a:ext cx="10377577" cy="4715198"/>
              </a:xfrm>
              <a:blipFill>
                <a:blip r:embed="rId2"/>
                <a:stretch>
                  <a:fillRect l="-529" t="-776" r="-41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1ECA2A56-CFFA-4FF9-87BF-7FAA1F63F7BF}"/>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098941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0F4F540-416C-44FD-95BF-B590C4D1060A}"/>
              </a:ext>
            </a:extLst>
          </p:cNvPr>
          <p:cNvPicPr>
            <a:picLocks noGrp="1" noChangeAspect="1"/>
          </p:cNvPicPr>
          <p:nvPr>
            <p:ph sz="half" idx="1"/>
          </p:nvPr>
        </p:nvPicPr>
        <p:blipFill>
          <a:blip r:embed="rId2"/>
          <a:stretch>
            <a:fillRect/>
          </a:stretch>
        </p:blipFill>
        <p:spPr>
          <a:xfrm>
            <a:off x="700528" y="750499"/>
            <a:ext cx="4811751" cy="5281472"/>
          </a:xfrm>
          <a:prstGeom prst="rect">
            <a:avLst/>
          </a:prstGeom>
        </p:spPr>
      </p:pic>
      <p:pic>
        <p:nvPicPr>
          <p:cNvPr id="9" name="Content Placeholder 8">
            <a:extLst>
              <a:ext uri="{FF2B5EF4-FFF2-40B4-BE49-F238E27FC236}">
                <a16:creationId xmlns:a16="http://schemas.microsoft.com/office/drawing/2014/main" id="{165B5A64-7BB9-49AC-9331-B42E556AF825}"/>
              </a:ext>
            </a:extLst>
          </p:cNvPr>
          <p:cNvPicPr>
            <a:picLocks noGrp="1" noChangeAspect="1"/>
          </p:cNvPicPr>
          <p:nvPr>
            <p:ph sz="half" idx="2"/>
          </p:nvPr>
        </p:nvPicPr>
        <p:blipFill>
          <a:blip r:embed="rId3"/>
          <a:stretch>
            <a:fillRect/>
          </a:stretch>
        </p:blipFill>
        <p:spPr>
          <a:xfrm>
            <a:off x="5702060" y="750499"/>
            <a:ext cx="5978106" cy="5281472"/>
          </a:xfrm>
          <a:prstGeom prst="rect">
            <a:avLst/>
          </a:prstGeom>
        </p:spPr>
      </p:pic>
      <p:sp>
        <p:nvSpPr>
          <p:cNvPr id="2" name="Footer Placeholder 1">
            <a:extLst>
              <a:ext uri="{FF2B5EF4-FFF2-40B4-BE49-F238E27FC236}">
                <a16:creationId xmlns:a16="http://schemas.microsoft.com/office/drawing/2014/main" id="{D10EC53E-9AF3-A29E-F79D-6578C03EFAD9}"/>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4451076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240</TotalTime>
  <Words>899</Words>
  <Application>Microsoft Office PowerPoint</Application>
  <PresentationFormat>Widescreen</PresentationFormat>
  <Paragraphs>63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Calibri</vt:lpstr>
      <vt:lpstr>Cambria Math</vt:lpstr>
      <vt:lpstr>Century Gothic</vt:lpstr>
      <vt:lpstr>Garamond</vt:lpstr>
      <vt:lpstr>Savon</vt:lpstr>
      <vt:lpstr>Gamma distribution</vt:lpstr>
      <vt:lpstr>Introduction</vt:lpstr>
      <vt:lpstr>Uses</vt:lpstr>
      <vt:lpstr>Probability density function of Gamma distribution</vt:lpstr>
      <vt:lpstr>Gamma function</vt:lpstr>
      <vt:lpstr>Shape of the Gamma distribution</vt:lpstr>
      <vt:lpstr>Special case of Gamma distribution</vt:lpstr>
      <vt:lpstr>Another form of Gamma distribution</vt:lpstr>
      <vt:lpstr>Mean of Gamma distribution</vt:lpstr>
      <vt:lpstr>Variance of Gamma distribution</vt:lpstr>
      <vt:lpstr>Cummulative distribution function of Gamma distribution</vt:lpstr>
      <vt:lpstr>Numerical 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Gamma distribution</dc:title>
  <dc:creator>Santosh Chhatkuli</dc:creator>
  <cp:lastModifiedBy>Santosh Chhatkuli</cp:lastModifiedBy>
  <cp:revision>51</cp:revision>
  <dcterms:created xsi:type="dcterms:W3CDTF">2020-11-27T03:52:57Z</dcterms:created>
  <dcterms:modified xsi:type="dcterms:W3CDTF">2024-07-23T13:35:08Z</dcterms:modified>
</cp:coreProperties>
</file>