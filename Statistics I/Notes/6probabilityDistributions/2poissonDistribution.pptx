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49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  <p:sldId id="268" r:id="rId14"/>
    <p:sldId id="272" r:id="rId15"/>
    <p:sldId id="273" r:id="rId16"/>
    <p:sldId id="269" r:id="rId17"/>
    <p:sldId id="270" r:id="rId18"/>
    <p:sldId id="271" r:id="rId19"/>
  </p:sldIdLst>
  <p:sldSz cx="12192000" cy="6858000"/>
  <p:notesSz cx="12192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868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707A42-E5CC-42A9-94FA-4DABB307C459}" type="datetimeFigureOut">
              <a:rPr lang="en-US" smtClean="0"/>
              <a:t>7/22/2024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4EB22C-C1E8-427A-8C73-9BD34003E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4532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623128C0-3519-4D4A-B86A-F88E29BDF681}" type="datetime1">
              <a:rPr lang="en-US" smtClean="0"/>
              <a:t>7/22/2024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35"/>
              <a:t>Copyright:</a:t>
            </a:r>
            <a:r>
              <a:rPr lang="en-US" spc="-15"/>
              <a:t> </a:t>
            </a:r>
            <a:r>
              <a:rPr lang="en-US" spc="-55"/>
              <a:t>Santosh</a:t>
            </a:r>
            <a:r>
              <a:rPr lang="en-US" spc="-35"/>
              <a:t> </a:t>
            </a:r>
            <a:r>
              <a:rPr lang="en-US" spc="-10"/>
              <a:t>Chhatkuli</a:t>
            </a:r>
            <a:endParaRPr lang="en-US" spc="-1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083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6B252-C822-48BF-9F7A-801142E38A6C}" type="datetime1">
              <a:rPr lang="en-US" smtClean="0"/>
              <a:t>7/22/2024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35"/>
              <a:t>Copyright:</a:t>
            </a:r>
            <a:r>
              <a:rPr lang="en-US" spc="-15"/>
              <a:t> </a:t>
            </a:r>
            <a:r>
              <a:rPr lang="en-US" spc="-55"/>
              <a:t>Santosh</a:t>
            </a:r>
            <a:r>
              <a:rPr lang="en-US" spc="-35"/>
              <a:t> </a:t>
            </a:r>
            <a:r>
              <a:rPr lang="en-US" spc="-10"/>
              <a:t>Chhatkuli</a:t>
            </a: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508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DDC1F-A814-4C65-BF57-B707D8BF35C7}" type="datetime1">
              <a:rPr lang="en-US" smtClean="0"/>
              <a:t>7/22/2024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35"/>
              <a:t>Copyright:</a:t>
            </a:r>
            <a:r>
              <a:rPr lang="en-US" spc="-15"/>
              <a:t> </a:t>
            </a:r>
            <a:r>
              <a:rPr lang="en-US" spc="-55"/>
              <a:t>Santosh</a:t>
            </a:r>
            <a:r>
              <a:rPr lang="en-US" spc="-35"/>
              <a:t> </a:t>
            </a:r>
            <a:r>
              <a:rPr lang="en-US" spc="-10"/>
              <a:t>Chhatkuli</a:t>
            </a: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479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7E806-0C54-4995-9756-C889B977C0CE}" type="datetime1">
              <a:rPr lang="en-US" smtClean="0"/>
              <a:t>7/22/2024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35"/>
              <a:t>Copyright:</a:t>
            </a:r>
            <a:r>
              <a:rPr lang="en-US" spc="-15"/>
              <a:t> </a:t>
            </a:r>
            <a:r>
              <a:rPr lang="en-US" spc="-55"/>
              <a:t>Santosh</a:t>
            </a:r>
            <a:r>
              <a:rPr lang="en-US" spc="-35"/>
              <a:t> </a:t>
            </a:r>
            <a:r>
              <a:rPr lang="en-US" spc="-10"/>
              <a:t>Chhatkuli</a:t>
            </a:r>
            <a:endParaRPr lang="en-US" spc="-1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87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C197E-FCD6-4F3A-9A5F-6CA93A9670C5}" type="datetime1">
              <a:rPr lang="en-US" smtClean="0"/>
              <a:t>7/22/2024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35"/>
              <a:t>Copyright:</a:t>
            </a:r>
            <a:r>
              <a:rPr lang="en-US" spc="-15"/>
              <a:t> </a:t>
            </a:r>
            <a:r>
              <a:rPr lang="en-US" spc="-55"/>
              <a:t>Santosh</a:t>
            </a:r>
            <a:r>
              <a:rPr lang="en-US" spc="-35"/>
              <a:t> </a:t>
            </a:r>
            <a:r>
              <a:rPr lang="en-US" spc="-10"/>
              <a:t>Chhatkuli</a:t>
            </a:r>
            <a:endParaRPr lang="en-US" spc="-1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881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97E2C-1970-43BB-95DD-5B4C0AFF23E8}" type="datetime1">
              <a:rPr lang="en-US" smtClean="0"/>
              <a:t>7/22/2024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35"/>
              <a:t>Copyright:</a:t>
            </a:r>
            <a:r>
              <a:rPr lang="en-US" spc="-15"/>
              <a:t> </a:t>
            </a:r>
            <a:r>
              <a:rPr lang="en-US" spc="-55"/>
              <a:t>Santosh</a:t>
            </a:r>
            <a:r>
              <a:rPr lang="en-US" spc="-35"/>
              <a:t> </a:t>
            </a:r>
            <a:r>
              <a:rPr lang="en-US" spc="-10"/>
              <a:t>Chhatkuli</a:t>
            </a:r>
            <a:endParaRPr lang="en-US" spc="-1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88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A6F8C-B4B1-41FB-9C7B-D74FF3DF9052}" type="datetime1">
              <a:rPr lang="en-US" smtClean="0"/>
              <a:t>7/22/2024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35"/>
              <a:t>Copyright:</a:t>
            </a:r>
            <a:r>
              <a:rPr lang="en-US" spc="-15"/>
              <a:t> </a:t>
            </a:r>
            <a:r>
              <a:rPr lang="en-US" spc="-55"/>
              <a:t>Santosh</a:t>
            </a:r>
            <a:r>
              <a:rPr lang="en-US" spc="-35"/>
              <a:t> </a:t>
            </a:r>
            <a:r>
              <a:rPr lang="en-US" spc="-10"/>
              <a:t>Chhatkuli</a:t>
            </a:r>
            <a:endParaRPr lang="en-US" spc="-1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550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CC5AC-B568-4A5B-AB60-E4CD10E5C802}" type="datetime1">
              <a:rPr lang="en-US" smtClean="0"/>
              <a:t>7/22/2024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35"/>
              <a:t>Copyright:</a:t>
            </a:r>
            <a:r>
              <a:rPr lang="en-US" spc="-15"/>
              <a:t> </a:t>
            </a:r>
            <a:r>
              <a:rPr lang="en-US" spc="-55"/>
              <a:t>Santosh</a:t>
            </a:r>
            <a:r>
              <a:rPr lang="en-US" spc="-35"/>
              <a:t> </a:t>
            </a:r>
            <a:r>
              <a:rPr lang="en-US" spc="-10"/>
              <a:t>Chhatkuli</a:t>
            </a:r>
            <a:endParaRPr lang="en-US" spc="-1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773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5B22405D-7D3C-44C2-851D-A74832AAD94C}" type="datetime1">
              <a:rPr lang="en-US" smtClean="0"/>
              <a:t>7/22/2024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35"/>
              <a:t>Copyright:</a:t>
            </a:r>
            <a:r>
              <a:rPr lang="en-US" spc="-15"/>
              <a:t> </a:t>
            </a:r>
            <a:r>
              <a:rPr lang="en-US" spc="-55"/>
              <a:t>Santosh</a:t>
            </a:r>
            <a:r>
              <a:rPr lang="en-US" spc="-35"/>
              <a:t> </a:t>
            </a:r>
            <a:r>
              <a:rPr lang="en-US" spc="-10"/>
              <a:t>Chhatkuli</a:t>
            </a:r>
            <a:endParaRPr lang="en-US" spc="-10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8494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B949B-2BE3-484A-9F55-DA43BF067176}" type="datetime1">
              <a:rPr lang="en-US" smtClean="0"/>
              <a:t>7/22/2024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35"/>
              <a:t>Copyright:</a:t>
            </a:r>
            <a:r>
              <a:rPr lang="en-US" spc="-15"/>
              <a:t> </a:t>
            </a:r>
            <a:r>
              <a:rPr lang="en-US" spc="-55"/>
              <a:t>Santosh</a:t>
            </a:r>
            <a:r>
              <a:rPr lang="en-US" spc="-35"/>
              <a:t> </a:t>
            </a:r>
            <a:r>
              <a:rPr lang="en-US" spc="-10"/>
              <a:t>Chhatkuli</a:t>
            </a: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566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B27B1-14C2-4D8A-A8F2-D02DDD1AE316}" type="datetime1">
              <a:rPr lang="en-US" smtClean="0"/>
              <a:t>7/22/2024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35"/>
              <a:t>Copyright:</a:t>
            </a:r>
            <a:r>
              <a:rPr lang="en-US" spc="-15"/>
              <a:t> </a:t>
            </a:r>
            <a:r>
              <a:rPr lang="en-US" spc="-55"/>
              <a:t>Santosh</a:t>
            </a:r>
            <a:r>
              <a:rPr lang="en-US" spc="-35"/>
              <a:t> </a:t>
            </a:r>
            <a:r>
              <a:rPr lang="en-US" spc="-10"/>
              <a:t>Chhatkuli</a:t>
            </a: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703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1A4DE42E-08DA-4C09-9D4F-A7BEA3F933E6}" type="datetime1">
              <a:rPr lang="en-US" smtClean="0"/>
              <a:t>7/22/2024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35"/>
              <a:t>Copyright:</a:t>
            </a:r>
            <a:r>
              <a:rPr lang="en-US" spc="-15"/>
              <a:t> </a:t>
            </a:r>
            <a:r>
              <a:rPr lang="en-US" spc="-55"/>
              <a:t>Santosh</a:t>
            </a:r>
            <a:r>
              <a:rPr lang="en-US" spc="-35"/>
              <a:t> </a:t>
            </a:r>
            <a:r>
              <a:rPr lang="en-US" spc="-10"/>
              <a:t>Chhatkuli</a:t>
            </a: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45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</p:sldLayoutIdLst>
  <p:hf sldNum="0"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54252" y="1214627"/>
              <a:ext cx="9678924" cy="44104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06067" y="1266444"/>
              <a:ext cx="9577578" cy="430911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47800" y="1411224"/>
              <a:ext cx="9296400" cy="4036060"/>
            </a:xfrm>
            <a:custGeom>
              <a:avLst/>
              <a:gdLst/>
              <a:ahLst/>
              <a:cxnLst/>
              <a:rect l="l" t="t" r="r" b="b"/>
              <a:pathLst>
                <a:path w="9296400" h="4036060">
                  <a:moveTo>
                    <a:pt x="0" y="4035552"/>
                  </a:moveTo>
                  <a:lnTo>
                    <a:pt x="9296400" y="4035552"/>
                  </a:lnTo>
                  <a:lnTo>
                    <a:pt x="9296400" y="0"/>
                  </a:lnTo>
                  <a:lnTo>
                    <a:pt x="0" y="0"/>
                  </a:lnTo>
                  <a:lnTo>
                    <a:pt x="0" y="4035552"/>
                  </a:lnTo>
                  <a:close/>
                </a:path>
              </a:pathLst>
            </a:custGeom>
            <a:ln w="635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135879" y="1267967"/>
              <a:ext cx="1920239" cy="731520"/>
            </a:xfrm>
            <a:custGeom>
              <a:avLst/>
              <a:gdLst/>
              <a:ahLst/>
              <a:cxnLst/>
              <a:rect l="l" t="t" r="r" b="b"/>
              <a:pathLst>
                <a:path w="1920240" h="731519">
                  <a:moveTo>
                    <a:pt x="1920239" y="0"/>
                  </a:moveTo>
                  <a:lnTo>
                    <a:pt x="0" y="0"/>
                  </a:lnTo>
                  <a:lnTo>
                    <a:pt x="0" y="731520"/>
                  </a:lnTo>
                  <a:lnTo>
                    <a:pt x="1920239" y="731520"/>
                  </a:lnTo>
                  <a:lnTo>
                    <a:pt x="1920239" y="0"/>
                  </a:lnTo>
                  <a:close/>
                </a:path>
              </a:pathLst>
            </a:custGeom>
            <a:solidFill>
              <a:srgbClr val="E2DE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250179" y="1267967"/>
              <a:ext cx="1691639" cy="645160"/>
            </a:xfrm>
            <a:custGeom>
              <a:avLst/>
              <a:gdLst/>
              <a:ahLst/>
              <a:cxnLst/>
              <a:rect l="l" t="t" r="r" b="b"/>
              <a:pathLst>
                <a:path w="1691640" h="645160">
                  <a:moveTo>
                    <a:pt x="0" y="0"/>
                  </a:moveTo>
                  <a:lnTo>
                    <a:pt x="0" y="640080"/>
                  </a:lnTo>
                </a:path>
                <a:path w="1691640" h="645160">
                  <a:moveTo>
                    <a:pt x="1691640" y="0"/>
                  </a:moveTo>
                  <a:lnTo>
                    <a:pt x="1691640" y="640080"/>
                  </a:lnTo>
                </a:path>
                <a:path w="1691640" h="645160">
                  <a:moveTo>
                    <a:pt x="0" y="644652"/>
                  </a:moveTo>
                  <a:lnTo>
                    <a:pt x="1691640" y="644652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4724400" y="2789566"/>
            <a:ext cx="6774944" cy="692497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12700" marR="5080" indent="506095">
              <a:lnSpc>
                <a:spcPts val="4380"/>
              </a:lnSpc>
              <a:spcBef>
                <a:spcPts val="1000"/>
              </a:spcBef>
            </a:pPr>
            <a:r>
              <a:rPr sz="4400" b="0" spc="-380" dirty="0">
                <a:solidFill>
                  <a:srgbClr val="FFFF00"/>
                </a:solidFill>
                <a:latin typeface="Verdana"/>
                <a:cs typeface="Verdana"/>
              </a:rPr>
              <a:t>POISSON </a:t>
            </a:r>
            <a:r>
              <a:rPr sz="4400" b="0" spc="-625" dirty="0">
                <a:solidFill>
                  <a:srgbClr val="FFFF00"/>
                </a:solidFill>
                <a:latin typeface="Verdana"/>
                <a:cs typeface="Verdana"/>
              </a:rPr>
              <a:t>DISTRIBUTION</a:t>
            </a:r>
            <a:endParaRPr sz="4400" dirty="0">
              <a:solidFill>
                <a:srgbClr val="FFFF00"/>
              </a:solidFill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224139" y="4038680"/>
            <a:ext cx="2589784" cy="75084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spc="-40" dirty="0">
                <a:solidFill>
                  <a:srgbClr val="FFFF00"/>
                </a:solidFill>
                <a:latin typeface="Verdana"/>
                <a:cs typeface="Verdana"/>
              </a:rPr>
              <a:t>SANTOSH</a:t>
            </a:r>
            <a:r>
              <a:rPr sz="2400" spc="-75" dirty="0">
                <a:solidFill>
                  <a:srgbClr val="FFFF00"/>
                </a:solidFill>
                <a:latin typeface="Verdana"/>
                <a:cs typeface="Verdana"/>
              </a:rPr>
              <a:t> </a:t>
            </a:r>
            <a:r>
              <a:rPr sz="2400" spc="-35" dirty="0">
                <a:solidFill>
                  <a:srgbClr val="FFFF00"/>
                </a:solidFill>
                <a:latin typeface="Verdana"/>
                <a:cs typeface="Verdana"/>
              </a:rPr>
              <a:t>CHHATKULI</a:t>
            </a:r>
            <a:endParaRPr sz="2400" dirty="0">
              <a:solidFill>
                <a:srgbClr val="FFFF00"/>
              </a:solidFill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32889" y="5228335"/>
            <a:ext cx="18002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35" dirty="0">
                <a:solidFill>
                  <a:srgbClr val="404040"/>
                </a:solidFill>
                <a:latin typeface="Verdana"/>
                <a:cs typeface="Verdana"/>
              </a:rPr>
              <a:t>Copyright:</a:t>
            </a:r>
            <a:r>
              <a:rPr sz="1000" spc="-1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000" spc="-55" dirty="0">
                <a:solidFill>
                  <a:srgbClr val="404040"/>
                </a:solidFill>
                <a:latin typeface="Verdana"/>
                <a:cs typeface="Verdana"/>
              </a:rPr>
              <a:t>Santosh</a:t>
            </a:r>
            <a:r>
              <a:rPr sz="1000" spc="-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404040"/>
                </a:solidFill>
                <a:latin typeface="Verdana"/>
                <a:cs typeface="Verdana"/>
              </a:rPr>
              <a:t>Chhatkuli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535761A1-7081-1B77-972F-BD1DD0EFC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F5C1E-3056-4775-A669-5892369E3544}" type="datetime1">
              <a:rPr lang="en-US" smtClean="0"/>
              <a:t>7/22/2024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CC7EA533-E1EC-5BC6-7294-CB781230F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35"/>
              <a:t>Copyright:</a:t>
            </a:r>
            <a:r>
              <a:rPr lang="en-US" spc="-15"/>
              <a:t> </a:t>
            </a:r>
            <a:r>
              <a:rPr lang="en-US" spc="-55"/>
              <a:t>Santosh</a:t>
            </a:r>
            <a:r>
              <a:rPr lang="en-US" spc="-35"/>
              <a:t> </a:t>
            </a:r>
            <a:r>
              <a:rPr lang="en-US" spc="-10"/>
              <a:t>Chhatkuli</a:t>
            </a:r>
            <a:endParaRPr lang="en-US" spc="-1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45844" y="722503"/>
            <a:ext cx="4950156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30" dirty="0"/>
              <a:t>Introduction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Copyright:</a:t>
            </a:r>
            <a:r>
              <a:rPr spc="-15" dirty="0"/>
              <a:t> </a:t>
            </a:r>
            <a:r>
              <a:rPr spc="-55" dirty="0"/>
              <a:t>Santosh</a:t>
            </a:r>
            <a:r>
              <a:rPr spc="-35" dirty="0"/>
              <a:t> </a:t>
            </a:r>
            <a:r>
              <a:rPr spc="-10" dirty="0"/>
              <a:t>Chhatkuli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5341" y="1655333"/>
            <a:ext cx="10254660" cy="3951604"/>
          </a:xfrm>
          <a:prstGeom prst="rect">
            <a:avLst/>
          </a:prstGeom>
        </p:spPr>
        <p:txBody>
          <a:bodyPr vert="horz" wrap="square" lIns="0" tIns="126364" rIns="0" bIns="0" rtlCol="0">
            <a:spAutoFit/>
          </a:bodyPr>
          <a:lstStyle/>
          <a:p>
            <a:pPr marL="194945" indent="-182880">
              <a:lnSpc>
                <a:spcPct val="100000"/>
              </a:lnSpc>
              <a:spcBef>
                <a:spcPts val="994"/>
              </a:spcBef>
              <a:buClr>
                <a:srgbClr val="252525"/>
              </a:buClr>
              <a:buFont typeface="Garamond"/>
              <a:buChar char="◦"/>
              <a:tabLst>
                <a:tab pos="195580" algn="l"/>
              </a:tabLst>
            </a:pPr>
            <a:r>
              <a:rPr lang="en-US" sz="2200" dirty="0">
                <a:latin typeface="Calibri"/>
                <a:cs typeface="Calibri"/>
              </a:rPr>
              <a:t>It</a:t>
            </a:r>
            <a:r>
              <a:rPr lang="en-US" sz="2200" spc="-50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is</a:t>
            </a:r>
            <a:r>
              <a:rPr lang="en-US" sz="2200" spc="-45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a</a:t>
            </a:r>
            <a:r>
              <a:rPr lang="en-US" sz="2200" spc="-50" dirty="0">
                <a:latin typeface="Calibri"/>
                <a:cs typeface="Calibri"/>
              </a:rPr>
              <a:t> </a:t>
            </a:r>
            <a:r>
              <a:rPr lang="en-US" sz="22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discrete</a:t>
            </a:r>
            <a:r>
              <a:rPr lang="en-US" sz="2200" u="sng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sz="22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distribution</a:t>
            </a:r>
            <a:r>
              <a:rPr lang="en-US" sz="2200" spc="-35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and</a:t>
            </a:r>
            <a:r>
              <a:rPr lang="en-US" sz="2200" spc="-60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it</a:t>
            </a:r>
            <a:r>
              <a:rPr lang="en-US" sz="2200" spc="-50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is</a:t>
            </a:r>
            <a:r>
              <a:rPr lang="en-US" sz="2200" spc="-40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only</a:t>
            </a:r>
            <a:r>
              <a:rPr lang="en-US" sz="2200" spc="-40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defined</a:t>
            </a:r>
            <a:r>
              <a:rPr lang="en-US" sz="2200" spc="-35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for</a:t>
            </a:r>
            <a:r>
              <a:rPr lang="en-US" sz="2200" spc="-35" dirty="0">
                <a:latin typeface="Calibri"/>
                <a:cs typeface="Calibri"/>
              </a:rPr>
              <a:t> </a:t>
            </a:r>
            <a:r>
              <a:rPr lang="en-US" sz="22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non-</a:t>
            </a:r>
            <a:r>
              <a:rPr lang="en-US" sz="22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negative</a:t>
            </a:r>
            <a:r>
              <a:rPr lang="en-US" sz="2200" u="sng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sz="22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integers</a:t>
            </a:r>
            <a:endParaRPr lang="en-US" sz="2200" dirty="0">
              <a:latin typeface="Calibri"/>
              <a:cs typeface="Calibri"/>
            </a:endParaRPr>
          </a:p>
          <a:p>
            <a:pPr marL="194945" indent="-182880">
              <a:lnSpc>
                <a:spcPct val="100000"/>
              </a:lnSpc>
              <a:spcBef>
                <a:spcPts val="900"/>
              </a:spcBef>
              <a:buClr>
                <a:srgbClr val="252525"/>
              </a:buClr>
              <a:buFont typeface="Garamond"/>
              <a:buChar char="◦"/>
              <a:tabLst>
                <a:tab pos="195580" algn="l"/>
              </a:tabLst>
            </a:pPr>
            <a:r>
              <a:rPr lang="en-US" sz="2200" dirty="0">
                <a:latin typeface="Calibri"/>
                <a:cs typeface="Calibri"/>
              </a:rPr>
              <a:t>The</a:t>
            </a:r>
            <a:r>
              <a:rPr lang="en-US" sz="2200" spc="-65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Poisson</a:t>
            </a:r>
            <a:r>
              <a:rPr lang="en-US" sz="2200" spc="-75" dirty="0">
                <a:latin typeface="Calibri"/>
                <a:cs typeface="Calibri"/>
              </a:rPr>
              <a:t> </a:t>
            </a:r>
            <a:r>
              <a:rPr lang="en-US" sz="2200" spc="-10" dirty="0">
                <a:latin typeface="Calibri"/>
                <a:cs typeface="Calibri"/>
              </a:rPr>
              <a:t>distribution</a:t>
            </a:r>
            <a:r>
              <a:rPr lang="en-US" sz="2200" spc="-85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was</a:t>
            </a:r>
            <a:r>
              <a:rPr lang="en-US" sz="2200" spc="-65" dirty="0">
                <a:latin typeface="Calibri"/>
                <a:cs typeface="Calibri"/>
              </a:rPr>
              <a:t> </a:t>
            </a:r>
            <a:r>
              <a:rPr lang="en-US" sz="2200" spc="-10" dirty="0">
                <a:latin typeface="Calibri"/>
                <a:cs typeface="Calibri"/>
              </a:rPr>
              <a:t>developed</a:t>
            </a:r>
            <a:r>
              <a:rPr lang="en-US" sz="2200" spc="-65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by</a:t>
            </a:r>
            <a:r>
              <a:rPr lang="en-US" sz="2200" spc="-60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the</a:t>
            </a:r>
            <a:r>
              <a:rPr lang="en-US" sz="2200" spc="-60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French</a:t>
            </a:r>
            <a:r>
              <a:rPr lang="en-US" sz="2200" spc="-75" dirty="0">
                <a:latin typeface="Calibri"/>
                <a:cs typeface="Calibri"/>
              </a:rPr>
              <a:t> </a:t>
            </a:r>
            <a:r>
              <a:rPr lang="en-US" sz="2200" spc="-10" dirty="0">
                <a:latin typeface="Calibri"/>
                <a:cs typeface="Calibri"/>
              </a:rPr>
              <a:t>mathematician</a:t>
            </a:r>
            <a:r>
              <a:rPr lang="en-US" sz="2200" spc="-35" dirty="0">
                <a:latin typeface="Calibri"/>
                <a:cs typeface="Calibri"/>
              </a:rPr>
              <a:t> </a:t>
            </a:r>
            <a:r>
              <a:rPr lang="en-US" sz="2200" i="1" dirty="0">
                <a:latin typeface="Calibri"/>
                <a:cs typeface="Calibri"/>
              </a:rPr>
              <a:t>Simeon</a:t>
            </a:r>
            <a:r>
              <a:rPr lang="en-US" sz="2200" i="1" spc="-75" dirty="0">
                <a:latin typeface="Calibri"/>
                <a:cs typeface="Calibri"/>
              </a:rPr>
              <a:t> </a:t>
            </a:r>
            <a:r>
              <a:rPr lang="en-US" sz="2200" i="1" spc="-10" dirty="0">
                <a:latin typeface="Calibri"/>
                <a:cs typeface="Calibri"/>
              </a:rPr>
              <a:t>Dennis</a:t>
            </a:r>
            <a:endParaRPr lang="en-US" sz="2200" dirty="0">
              <a:latin typeface="Calibri"/>
              <a:cs typeface="Calibri"/>
            </a:endParaRPr>
          </a:p>
          <a:p>
            <a:pPr marL="194945">
              <a:lnSpc>
                <a:spcPct val="100000"/>
              </a:lnSpc>
              <a:spcBef>
                <a:spcPts val="5"/>
              </a:spcBef>
            </a:pPr>
            <a:r>
              <a:rPr lang="en-US" sz="2200" i="1" spc="-10" dirty="0">
                <a:latin typeface="Calibri"/>
                <a:cs typeface="Calibri"/>
              </a:rPr>
              <a:t>Poisson</a:t>
            </a:r>
            <a:r>
              <a:rPr lang="en-US" sz="2200" i="1" spc="-65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in</a:t>
            </a:r>
            <a:r>
              <a:rPr lang="en-US" sz="2200" spc="-45" dirty="0">
                <a:latin typeface="Calibri"/>
                <a:cs typeface="Calibri"/>
              </a:rPr>
              <a:t> </a:t>
            </a:r>
            <a:r>
              <a:rPr lang="en-US" sz="2200" spc="-10" dirty="0">
                <a:latin typeface="Calibri"/>
                <a:cs typeface="Calibri"/>
              </a:rPr>
              <a:t>1837.</a:t>
            </a:r>
            <a:endParaRPr lang="en-US" sz="2200" dirty="0">
              <a:latin typeface="Calibri"/>
              <a:cs typeface="Calibri"/>
            </a:endParaRPr>
          </a:p>
          <a:p>
            <a:pPr marL="194945" marR="396875" indent="-182880">
              <a:lnSpc>
                <a:spcPct val="100000"/>
              </a:lnSpc>
              <a:spcBef>
                <a:spcPts val="900"/>
              </a:spcBef>
              <a:buClr>
                <a:srgbClr val="252525"/>
              </a:buClr>
              <a:buFont typeface="Garamond"/>
              <a:buChar char="◦"/>
              <a:tabLst>
                <a:tab pos="195580" algn="l"/>
              </a:tabLst>
            </a:pPr>
            <a:r>
              <a:rPr lang="en-US" sz="2200" dirty="0">
                <a:latin typeface="Calibri"/>
                <a:cs typeface="Calibri"/>
              </a:rPr>
              <a:t>The</a:t>
            </a:r>
            <a:r>
              <a:rPr lang="en-US" sz="2200" spc="-50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Poisson</a:t>
            </a:r>
            <a:r>
              <a:rPr lang="en-US" sz="2200" spc="-65" dirty="0">
                <a:latin typeface="Calibri"/>
                <a:cs typeface="Calibri"/>
              </a:rPr>
              <a:t> </a:t>
            </a:r>
            <a:r>
              <a:rPr lang="en-US" sz="2200" spc="-10" dirty="0">
                <a:latin typeface="Calibri"/>
                <a:cs typeface="Calibri"/>
              </a:rPr>
              <a:t>distribution</a:t>
            </a:r>
            <a:r>
              <a:rPr lang="en-US" sz="2200" spc="-70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is</a:t>
            </a:r>
            <a:r>
              <a:rPr lang="en-US" sz="2200" spc="-65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most</a:t>
            </a:r>
            <a:r>
              <a:rPr lang="en-US" sz="2200" spc="-50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commonly</a:t>
            </a:r>
            <a:r>
              <a:rPr lang="en-US" sz="2200" spc="-45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used</a:t>
            </a:r>
            <a:r>
              <a:rPr lang="en-US" sz="2200" spc="-60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to</a:t>
            </a:r>
            <a:r>
              <a:rPr lang="en-US" sz="2200" spc="-50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model</a:t>
            </a:r>
            <a:r>
              <a:rPr lang="en-US" sz="2200" spc="-45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the</a:t>
            </a:r>
            <a:r>
              <a:rPr lang="en-US" sz="2200" spc="-65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number</a:t>
            </a:r>
            <a:r>
              <a:rPr lang="en-US" sz="2200" spc="-50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of</a:t>
            </a:r>
            <a:r>
              <a:rPr lang="en-US" sz="2200" spc="-55" dirty="0">
                <a:latin typeface="Calibri"/>
                <a:cs typeface="Calibri"/>
              </a:rPr>
              <a:t> </a:t>
            </a:r>
            <a:r>
              <a:rPr lang="en-US" sz="2200" spc="-10" dirty="0">
                <a:latin typeface="Calibri"/>
                <a:cs typeface="Calibri"/>
              </a:rPr>
              <a:t>random occurrences</a:t>
            </a:r>
            <a:r>
              <a:rPr lang="en-US" sz="2200" spc="-45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of</a:t>
            </a:r>
            <a:r>
              <a:rPr lang="en-US" sz="2200" spc="-30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some</a:t>
            </a:r>
            <a:r>
              <a:rPr lang="en-US" sz="2200" spc="-35" dirty="0">
                <a:latin typeface="Calibri"/>
                <a:cs typeface="Calibri"/>
              </a:rPr>
              <a:t> </a:t>
            </a:r>
            <a:r>
              <a:rPr lang="en-US" sz="2200" spc="-10" dirty="0">
                <a:latin typeface="Calibri"/>
                <a:cs typeface="Calibri"/>
              </a:rPr>
              <a:t>phenomenon</a:t>
            </a:r>
            <a:r>
              <a:rPr lang="en-US" sz="2200" spc="-25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in</a:t>
            </a:r>
            <a:r>
              <a:rPr lang="en-US" sz="2200" spc="-45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a</a:t>
            </a:r>
            <a:r>
              <a:rPr lang="en-US" sz="2200" spc="-45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specified</a:t>
            </a:r>
            <a:r>
              <a:rPr lang="en-US" sz="2200" spc="-15" dirty="0">
                <a:latin typeface="Calibri"/>
                <a:cs typeface="Calibri"/>
              </a:rPr>
              <a:t> </a:t>
            </a:r>
            <a:r>
              <a:rPr lang="en-US" sz="2200" b="1" dirty="0">
                <a:latin typeface="Calibri"/>
                <a:cs typeface="Calibri"/>
              </a:rPr>
              <a:t>unit</a:t>
            </a:r>
            <a:r>
              <a:rPr lang="en-US" sz="2200" b="1" spc="-40" dirty="0">
                <a:latin typeface="Calibri"/>
                <a:cs typeface="Calibri"/>
              </a:rPr>
              <a:t> </a:t>
            </a:r>
            <a:r>
              <a:rPr lang="en-US" sz="2200" b="1" dirty="0">
                <a:latin typeface="Calibri"/>
                <a:cs typeface="Calibri"/>
              </a:rPr>
              <a:t>of</a:t>
            </a:r>
            <a:r>
              <a:rPr lang="en-US" sz="2200" b="1" spc="-30" dirty="0">
                <a:latin typeface="Calibri"/>
                <a:cs typeface="Calibri"/>
              </a:rPr>
              <a:t> </a:t>
            </a:r>
            <a:r>
              <a:rPr lang="en-US" sz="2200" b="1" dirty="0">
                <a:latin typeface="Calibri"/>
                <a:cs typeface="Calibri"/>
              </a:rPr>
              <a:t>time</a:t>
            </a:r>
            <a:r>
              <a:rPr lang="en-US" sz="2200" b="1" spc="-30" dirty="0">
                <a:latin typeface="Calibri"/>
                <a:cs typeface="Calibri"/>
              </a:rPr>
              <a:t> </a:t>
            </a:r>
            <a:r>
              <a:rPr lang="en-US" sz="2200" b="1" dirty="0">
                <a:latin typeface="Calibri"/>
                <a:cs typeface="Calibri"/>
              </a:rPr>
              <a:t>or</a:t>
            </a:r>
            <a:r>
              <a:rPr lang="en-US" sz="2200" b="1" spc="-30" dirty="0">
                <a:latin typeface="Calibri"/>
                <a:cs typeface="Calibri"/>
              </a:rPr>
              <a:t> </a:t>
            </a:r>
            <a:r>
              <a:rPr lang="en-US" sz="2200" b="1" spc="-10" dirty="0">
                <a:latin typeface="Calibri"/>
                <a:cs typeface="Calibri"/>
              </a:rPr>
              <a:t>space</a:t>
            </a:r>
            <a:r>
              <a:rPr lang="en-US" sz="2200" spc="-10" dirty="0">
                <a:latin typeface="Calibri"/>
                <a:cs typeface="Calibri"/>
              </a:rPr>
              <a:t>.</a:t>
            </a:r>
            <a:endParaRPr lang="en-US" sz="2200" dirty="0">
              <a:latin typeface="Calibri"/>
              <a:cs typeface="Calibri"/>
            </a:endParaRPr>
          </a:p>
          <a:p>
            <a:pPr marL="194945" indent="-182880">
              <a:lnSpc>
                <a:spcPct val="100000"/>
              </a:lnSpc>
              <a:spcBef>
                <a:spcPts val="900"/>
              </a:spcBef>
              <a:buClr>
                <a:srgbClr val="252525"/>
              </a:buClr>
              <a:buFont typeface="Garamond"/>
              <a:buChar char="◦"/>
              <a:tabLst>
                <a:tab pos="195580" algn="l"/>
              </a:tabLst>
            </a:pPr>
            <a:r>
              <a:rPr lang="en-US" sz="2200" dirty="0">
                <a:latin typeface="Calibri"/>
                <a:cs typeface="Calibri"/>
              </a:rPr>
              <a:t>Poisson</a:t>
            </a:r>
            <a:r>
              <a:rPr lang="en-US" sz="2200" spc="-75" dirty="0">
                <a:latin typeface="Calibri"/>
                <a:cs typeface="Calibri"/>
              </a:rPr>
              <a:t> </a:t>
            </a:r>
            <a:r>
              <a:rPr lang="en-US" sz="2200" spc="-10" dirty="0">
                <a:latin typeface="Calibri"/>
                <a:cs typeface="Calibri"/>
              </a:rPr>
              <a:t>distribution</a:t>
            </a:r>
            <a:r>
              <a:rPr lang="en-US" sz="2200" spc="-80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is</a:t>
            </a:r>
            <a:r>
              <a:rPr lang="en-US" sz="2200" spc="-70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helpful</a:t>
            </a:r>
            <a:r>
              <a:rPr lang="en-US" sz="2200" spc="-60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in</a:t>
            </a:r>
            <a:r>
              <a:rPr lang="en-US" sz="2200" spc="-70" dirty="0">
                <a:latin typeface="Calibri"/>
                <a:cs typeface="Calibri"/>
              </a:rPr>
              <a:t> </a:t>
            </a:r>
            <a:r>
              <a:rPr lang="en-US" sz="2200" spc="-10" dirty="0">
                <a:latin typeface="Calibri"/>
                <a:cs typeface="Calibri"/>
              </a:rPr>
              <a:t>describing</a:t>
            </a:r>
            <a:r>
              <a:rPr lang="en-US" sz="2200" spc="-70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the</a:t>
            </a:r>
            <a:r>
              <a:rPr lang="en-US" sz="2200" spc="-55" dirty="0">
                <a:latin typeface="Calibri"/>
                <a:cs typeface="Calibri"/>
              </a:rPr>
              <a:t> </a:t>
            </a:r>
            <a:r>
              <a:rPr lang="en-US" sz="2200" spc="-10" dirty="0">
                <a:latin typeface="Calibri"/>
                <a:cs typeface="Calibri"/>
              </a:rPr>
              <a:t>nature</a:t>
            </a:r>
            <a:r>
              <a:rPr lang="en-US" sz="2200" spc="-75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of</a:t>
            </a:r>
            <a:r>
              <a:rPr lang="en-US" sz="2200" spc="-60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rare</a:t>
            </a:r>
            <a:r>
              <a:rPr lang="en-US" sz="2200" spc="-70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events</a:t>
            </a:r>
            <a:r>
              <a:rPr lang="en-US" sz="2200" spc="-50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over</a:t>
            </a:r>
            <a:r>
              <a:rPr lang="en-US" sz="2200" spc="-75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the</a:t>
            </a:r>
            <a:r>
              <a:rPr lang="en-US" sz="2200" spc="-55" dirty="0">
                <a:latin typeface="Calibri"/>
                <a:cs typeface="Calibri"/>
              </a:rPr>
              <a:t> </a:t>
            </a:r>
            <a:r>
              <a:rPr lang="en-US" sz="2200" spc="-10" dirty="0">
                <a:latin typeface="Calibri"/>
                <a:cs typeface="Calibri"/>
              </a:rPr>
              <a:t>period</a:t>
            </a:r>
            <a:endParaRPr lang="en-US" sz="2200" dirty="0">
              <a:latin typeface="Calibri"/>
              <a:cs typeface="Calibri"/>
            </a:endParaRPr>
          </a:p>
          <a:p>
            <a:pPr marL="194945">
              <a:lnSpc>
                <a:spcPct val="100000"/>
              </a:lnSpc>
            </a:pPr>
            <a:r>
              <a:rPr lang="en-US" sz="2200" dirty="0">
                <a:latin typeface="Calibri"/>
                <a:cs typeface="Calibri"/>
              </a:rPr>
              <a:t>of</a:t>
            </a:r>
            <a:r>
              <a:rPr lang="en-US" sz="2200" spc="-25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time</a:t>
            </a:r>
            <a:r>
              <a:rPr lang="en-US" sz="2200" spc="-15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or</a:t>
            </a:r>
            <a:r>
              <a:rPr lang="en-US" sz="2200" spc="-30" dirty="0">
                <a:latin typeface="Calibri"/>
                <a:cs typeface="Calibri"/>
              </a:rPr>
              <a:t> </a:t>
            </a:r>
            <a:r>
              <a:rPr lang="en-US" sz="2200" spc="-10" dirty="0">
                <a:latin typeface="Calibri"/>
                <a:cs typeface="Calibri"/>
              </a:rPr>
              <a:t>space</a:t>
            </a:r>
            <a:endParaRPr lang="en-US" sz="2200" dirty="0">
              <a:latin typeface="Calibri"/>
              <a:cs typeface="Calibri"/>
            </a:endParaRPr>
          </a:p>
          <a:p>
            <a:pPr marL="194945" marR="288290" indent="-182880">
              <a:lnSpc>
                <a:spcPct val="100200"/>
              </a:lnSpc>
              <a:spcBef>
                <a:spcPts val="894"/>
              </a:spcBef>
              <a:buClr>
                <a:srgbClr val="252525"/>
              </a:buClr>
              <a:buFont typeface="Garamond"/>
              <a:buChar char="◦"/>
              <a:tabLst>
                <a:tab pos="195580" algn="l"/>
              </a:tabLst>
            </a:pPr>
            <a:r>
              <a:rPr lang="en-US" sz="2200" dirty="0">
                <a:latin typeface="Calibri"/>
                <a:cs typeface="Calibri"/>
              </a:rPr>
              <a:t>Poisson</a:t>
            </a:r>
            <a:r>
              <a:rPr lang="en-US" sz="2200" spc="-60" dirty="0">
                <a:latin typeface="Calibri"/>
                <a:cs typeface="Calibri"/>
              </a:rPr>
              <a:t> </a:t>
            </a:r>
            <a:r>
              <a:rPr lang="en-US" sz="2200" spc="-10" dirty="0">
                <a:latin typeface="Calibri"/>
                <a:cs typeface="Calibri"/>
              </a:rPr>
              <a:t>distribution</a:t>
            </a:r>
            <a:r>
              <a:rPr lang="en-US" sz="2200" spc="-70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has</a:t>
            </a:r>
            <a:r>
              <a:rPr lang="en-US" sz="2200" spc="-55" dirty="0">
                <a:latin typeface="Calibri"/>
                <a:cs typeface="Calibri"/>
              </a:rPr>
              <a:t> </a:t>
            </a:r>
            <a:r>
              <a:rPr lang="en-US" sz="2200" spc="-10" dirty="0">
                <a:latin typeface="Calibri"/>
                <a:cs typeface="Calibri"/>
              </a:rPr>
              <a:t>found</a:t>
            </a:r>
            <a:r>
              <a:rPr lang="en-US" sz="2200" spc="-65" dirty="0">
                <a:latin typeface="Calibri"/>
                <a:cs typeface="Calibri"/>
              </a:rPr>
              <a:t> </a:t>
            </a:r>
            <a:r>
              <a:rPr lang="en-US" sz="2200" spc="-10" dirty="0">
                <a:latin typeface="Calibri"/>
                <a:cs typeface="Calibri"/>
              </a:rPr>
              <a:t>applications</a:t>
            </a:r>
            <a:r>
              <a:rPr lang="en-US" sz="2200" spc="-60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in</a:t>
            </a:r>
            <a:r>
              <a:rPr lang="en-US" sz="2200" spc="-60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many</a:t>
            </a:r>
            <a:r>
              <a:rPr lang="en-US" sz="2200" spc="-55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fields,</a:t>
            </a:r>
            <a:r>
              <a:rPr lang="en-US" sz="2200" spc="-55" dirty="0">
                <a:latin typeface="Calibri"/>
                <a:cs typeface="Calibri"/>
              </a:rPr>
              <a:t> </a:t>
            </a:r>
            <a:r>
              <a:rPr lang="en-US" sz="2200" spc="-10" dirty="0">
                <a:latin typeface="Calibri"/>
                <a:cs typeface="Calibri"/>
              </a:rPr>
              <a:t>including</a:t>
            </a:r>
            <a:r>
              <a:rPr lang="en-US" sz="2200" spc="-75" dirty="0">
                <a:latin typeface="Calibri"/>
                <a:cs typeface="Calibri"/>
              </a:rPr>
              <a:t> </a:t>
            </a:r>
            <a:r>
              <a:rPr lang="en-US" sz="2200" spc="-10" dirty="0">
                <a:latin typeface="Calibri"/>
                <a:cs typeface="Calibri"/>
              </a:rPr>
              <a:t>distribution</a:t>
            </a:r>
            <a:r>
              <a:rPr lang="en-US" sz="2200" spc="-60" dirty="0">
                <a:latin typeface="Calibri"/>
                <a:cs typeface="Calibri"/>
              </a:rPr>
              <a:t> </a:t>
            </a:r>
            <a:r>
              <a:rPr lang="en-US" sz="2200" spc="-25" dirty="0">
                <a:latin typeface="Calibri"/>
                <a:cs typeface="Calibri"/>
              </a:rPr>
              <a:t>of </a:t>
            </a:r>
            <a:r>
              <a:rPr lang="en-US" sz="2200" dirty="0">
                <a:latin typeface="Calibri"/>
                <a:cs typeface="Calibri"/>
              </a:rPr>
              <a:t>signals,</a:t>
            </a:r>
            <a:r>
              <a:rPr lang="en-US" sz="2200" spc="-70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the</a:t>
            </a:r>
            <a:r>
              <a:rPr lang="en-US" sz="2200" spc="-45" dirty="0">
                <a:latin typeface="Calibri"/>
                <a:cs typeface="Calibri"/>
              </a:rPr>
              <a:t> </a:t>
            </a:r>
            <a:r>
              <a:rPr lang="en-US" sz="2200" spc="-10" dirty="0">
                <a:latin typeface="Calibri"/>
                <a:cs typeface="Calibri"/>
              </a:rPr>
              <a:t>estimation</a:t>
            </a:r>
            <a:r>
              <a:rPr lang="en-US" sz="2200" spc="-45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of</a:t>
            </a:r>
            <a:r>
              <a:rPr lang="en-US" sz="2200" spc="-50" dirty="0">
                <a:latin typeface="Calibri"/>
                <a:cs typeface="Calibri"/>
              </a:rPr>
              <a:t> </a:t>
            </a:r>
            <a:r>
              <a:rPr lang="en-US" sz="2200" spc="-10" dirty="0">
                <a:latin typeface="Calibri"/>
                <a:cs typeface="Calibri"/>
              </a:rPr>
              <a:t>bacterial</a:t>
            </a:r>
            <a:r>
              <a:rPr lang="en-US" sz="2200" spc="-65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densities,</a:t>
            </a:r>
            <a:r>
              <a:rPr lang="en-US" sz="2200" spc="-50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in</a:t>
            </a:r>
            <a:r>
              <a:rPr lang="en-US" sz="2200" spc="-60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business</a:t>
            </a:r>
            <a:r>
              <a:rPr lang="en-US" sz="2200" spc="-50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to</a:t>
            </a:r>
            <a:r>
              <a:rPr lang="en-US" sz="2200" spc="-50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know</a:t>
            </a:r>
            <a:r>
              <a:rPr lang="en-US" sz="2200" spc="-50" dirty="0">
                <a:latin typeface="Calibri"/>
                <a:cs typeface="Calibri"/>
              </a:rPr>
              <a:t> </a:t>
            </a:r>
            <a:r>
              <a:rPr lang="en-US" sz="2200" spc="-10" dirty="0">
                <a:latin typeface="Calibri"/>
                <a:cs typeface="Calibri"/>
              </a:rPr>
              <a:t>efficiency</a:t>
            </a:r>
            <a:r>
              <a:rPr lang="en-US" sz="2200" spc="-30" dirty="0">
                <a:latin typeface="Calibri"/>
                <a:cs typeface="Calibri"/>
              </a:rPr>
              <a:t> </a:t>
            </a:r>
            <a:r>
              <a:rPr lang="en-US" sz="2200" spc="-25" dirty="0">
                <a:latin typeface="Calibri"/>
                <a:cs typeface="Calibri"/>
              </a:rPr>
              <a:t>and </a:t>
            </a:r>
            <a:r>
              <a:rPr lang="en-US" sz="2200" spc="-10" dirty="0">
                <a:latin typeface="Calibri"/>
                <a:cs typeface="Calibri"/>
              </a:rPr>
              <a:t>operations,</a:t>
            </a:r>
            <a:r>
              <a:rPr lang="en-US" sz="2200" spc="-100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staff</a:t>
            </a:r>
            <a:r>
              <a:rPr lang="en-US" sz="2200" spc="-90" dirty="0">
                <a:latin typeface="Calibri"/>
                <a:cs typeface="Calibri"/>
              </a:rPr>
              <a:t> </a:t>
            </a:r>
            <a:r>
              <a:rPr lang="en-US" sz="2200" spc="-10" dirty="0">
                <a:latin typeface="Calibri"/>
                <a:cs typeface="Calibri"/>
              </a:rPr>
              <a:t>management,</a:t>
            </a:r>
            <a:r>
              <a:rPr lang="en-US" sz="2200" spc="-65" dirty="0">
                <a:latin typeface="Calibri"/>
                <a:cs typeface="Calibri"/>
              </a:rPr>
              <a:t> </a:t>
            </a:r>
            <a:r>
              <a:rPr lang="en-US" sz="2200" spc="-10" dirty="0">
                <a:latin typeface="Calibri"/>
                <a:cs typeface="Calibri"/>
              </a:rPr>
              <a:t>operation</a:t>
            </a:r>
            <a:r>
              <a:rPr lang="en-US" sz="2200" spc="-105" dirty="0">
                <a:latin typeface="Calibri"/>
                <a:cs typeface="Calibri"/>
              </a:rPr>
              <a:t> </a:t>
            </a:r>
            <a:r>
              <a:rPr lang="en-US" sz="2200" spc="-10" dirty="0">
                <a:latin typeface="Calibri"/>
                <a:cs typeface="Calibri"/>
              </a:rPr>
              <a:t>management</a:t>
            </a:r>
            <a:r>
              <a:rPr lang="en-US" sz="2200" spc="-65" dirty="0">
                <a:latin typeface="Calibri"/>
                <a:cs typeface="Calibri"/>
              </a:rPr>
              <a:t> </a:t>
            </a:r>
            <a:r>
              <a:rPr lang="en-US" sz="2200" spc="-20" dirty="0">
                <a:latin typeface="Calibri"/>
                <a:cs typeface="Calibri"/>
              </a:rPr>
              <a:t>etc.</a:t>
            </a:r>
            <a:endParaRPr lang="en-US" sz="2200" dirty="0">
              <a:latin typeface="Calibri"/>
              <a:cs typeface="Calibri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E30B04-8B17-E7AE-9B64-CD9A59253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6F985-F0AD-4044-9B07-2586D99E42FE}" type="datetime1">
              <a:rPr lang="en-US" smtClean="0"/>
              <a:t>7/22/2024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45844" y="693086"/>
            <a:ext cx="987552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65" dirty="0">
                <a:latin typeface="Verdana"/>
                <a:cs typeface="Verdana"/>
              </a:rPr>
              <a:t>Some</a:t>
            </a:r>
            <a:r>
              <a:rPr sz="2800" b="1" spc="-315" dirty="0">
                <a:latin typeface="Verdana"/>
                <a:cs typeface="Verdana"/>
              </a:rPr>
              <a:t> </a:t>
            </a:r>
            <a:r>
              <a:rPr sz="2800" b="1" spc="80" dirty="0">
                <a:latin typeface="Verdana"/>
                <a:cs typeface="Verdana"/>
              </a:rPr>
              <a:t>phenomena</a:t>
            </a:r>
            <a:r>
              <a:rPr sz="2800" b="1" spc="-250" dirty="0">
                <a:latin typeface="Verdana"/>
                <a:cs typeface="Verdana"/>
              </a:rPr>
              <a:t> </a:t>
            </a:r>
            <a:r>
              <a:rPr sz="2800" b="1" spc="-70" dirty="0">
                <a:latin typeface="Verdana"/>
                <a:cs typeface="Verdana"/>
              </a:rPr>
              <a:t>that</a:t>
            </a:r>
            <a:r>
              <a:rPr sz="2800" b="1" spc="-300" dirty="0">
                <a:latin typeface="Verdana"/>
                <a:cs typeface="Verdana"/>
              </a:rPr>
              <a:t> </a:t>
            </a:r>
            <a:r>
              <a:rPr sz="2800" b="1" spc="-150" dirty="0">
                <a:latin typeface="Verdana"/>
                <a:cs typeface="Verdana"/>
              </a:rPr>
              <a:t>follows</a:t>
            </a:r>
            <a:r>
              <a:rPr sz="2800" b="1" spc="-310" dirty="0">
                <a:latin typeface="Verdana"/>
                <a:cs typeface="Verdana"/>
              </a:rPr>
              <a:t> </a:t>
            </a:r>
            <a:r>
              <a:rPr sz="2800" b="1" spc="-25" dirty="0">
                <a:latin typeface="Verdana"/>
                <a:cs typeface="Verdana"/>
              </a:rPr>
              <a:t>PD</a:t>
            </a:r>
            <a:endParaRPr sz="2800" b="1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Copyright:</a:t>
            </a:r>
            <a:r>
              <a:rPr spc="-15" dirty="0"/>
              <a:t> </a:t>
            </a:r>
            <a:r>
              <a:rPr spc="-55" dirty="0"/>
              <a:t>Santosh</a:t>
            </a:r>
            <a:r>
              <a:rPr spc="-35" dirty="0"/>
              <a:t> </a:t>
            </a:r>
            <a:r>
              <a:rPr spc="-10" dirty="0"/>
              <a:t>Chhatkuli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0957" y="1739900"/>
            <a:ext cx="9570085" cy="3378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95"/>
              </a:spcBef>
              <a:buClr>
                <a:srgbClr val="252525"/>
              </a:buClr>
              <a:buAutoNum type="arabicPeriod"/>
              <a:tabLst>
                <a:tab pos="354965" algn="l"/>
                <a:tab pos="355600" algn="l"/>
              </a:tabLst>
            </a:pPr>
            <a:r>
              <a:rPr sz="2200" dirty="0">
                <a:latin typeface="Calibri"/>
                <a:cs typeface="Calibri"/>
              </a:rPr>
              <a:t>The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number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misprints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each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page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book.</a:t>
            </a:r>
            <a:endParaRPr sz="2200" dirty="0">
              <a:latin typeface="Calibri"/>
              <a:cs typeface="Calibri"/>
            </a:endParaRPr>
          </a:p>
          <a:p>
            <a:pPr marL="354965" indent="-342900">
              <a:lnSpc>
                <a:spcPts val="2635"/>
              </a:lnSpc>
              <a:buClr>
                <a:srgbClr val="252525"/>
              </a:buClr>
              <a:buAutoNum type="arabicPeriod"/>
              <a:tabLst>
                <a:tab pos="354965" algn="l"/>
                <a:tab pos="355600" algn="l"/>
              </a:tabLst>
            </a:pPr>
            <a:r>
              <a:rPr sz="2200" dirty="0">
                <a:latin typeface="Calibri"/>
                <a:cs typeface="Calibri"/>
              </a:rPr>
              <a:t>The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number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patients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arriving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at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physician’s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office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given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interval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time.</a:t>
            </a:r>
            <a:endParaRPr sz="2200" dirty="0">
              <a:latin typeface="Calibri"/>
              <a:cs typeface="Calibri"/>
            </a:endParaRPr>
          </a:p>
          <a:p>
            <a:pPr marL="354965" indent="-342900">
              <a:lnSpc>
                <a:spcPts val="2635"/>
              </a:lnSpc>
              <a:buClr>
                <a:srgbClr val="252525"/>
              </a:buClr>
              <a:buAutoNum type="arabicPeriod"/>
              <a:tabLst>
                <a:tab pos="354965" algn="l"/>
                <a:tab pos="355600" algn="l"/>
              </a:tabLst>
            </a:pPr>
            <a:r>
              <a:rPr sz="2200" dirty="0">
                <a:latin typeface="Calibri"/>
                <a:cs typeface="Calibri"/>
              </a:rPr>
              <a:t>The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number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phone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calls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received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by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telephone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operator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given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interval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of</a:t>
            </a:r>
            <a:endParaRPr sz="2200" dirty="0">
              <a:latin typeface="Calibri"/>
              <a:cs typeface="Calibri"/>
            </a:endParaRPr>
          </a:p>
          <a:p>
            <a:pPr marL="354965">
              <a:lnSpc>
                <a:spcPts val="2635"/>
              </a:lnSpc>
              <a:spcBef>
                <a:spcPts val="10"/>
              </a:spcBef>
            </a:pPr>
            <a:r>
              <a:rPr sz="2200" spc="-10" dirty="0">
                <a:latin typeface="Calibri"/>
                <a:cs typeface="Calibri"/>
              </a:rPr>
              <a:t>time.</a:t>
            </a:r>
            <a:endParaRPr sz="2200" dirty="0">
              <a:latin typeface="Calibri"/>
              <a:cs typeface="Calibri"/>
            </a:endParaRPr>
          </a:p>
          <a:p>
            <a:pPr marL="354965" indent="-342900">
              <a:lnSpc>
                <a:spcPts val="2635"/>
              </a:lnSpc>
              <a:buClr>
                <a:srgbClr val="252525"/>
              </a:buClr>
              <a:buAutoNum type="arabicPeriod" startAt="4"/>
              <a:tabLst>
                <a:tab pos="354965" algn="l"/>
                <a:tab pos="355600" algn="l"/>
              </a:tabLst>
            </a:pPr>
            <a:r>
              <a:rPr sz="2200" dirty="0">
                <a:latin typeface="Calibri"/>
                <a:cs typeface="Calibri"/>
              </a:rPr>
              <a:t>The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number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customers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arriving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at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bank’s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counter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service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given</a:t>
            </a:r>
            <a:endParaRPr sz="2200" dirty="0">
              <a:latin typeface="Calibri"/>
              <a:cs typeface="Calibri"/>
            </a:endParaRPr>
          </a:p>
          <a:p>
            <a:pPr marL="354965">
              <a:lnSpc>
                <a:spcPct val="100000"/>
              </a:lnSpc>
              <a:spcBef>
                <a:spcPts val="15"/>
              </a:spcBef>
            </a:pPr>
            <a:r>
              <a:rPr sz="2200" spc="-10" dirty="0">
                <a:latin typeface="Calibri"/>
                <a:cs typeface="Calibri"/>
              </a:rPr>
              <a:t>interval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time.</a:t>
            </a:r>
            <a:endParaRPr sz="2200" dirty="0">
              <a:latin typeface="Calibri"/>
              <a:cs typeface="Calibri"/>
            </a:endParaRPr>
          </a:p>
          <a:p>
            <a:pPr marL="354965" indent="-342900">
              <a:lnSpc>
                <a:spcPct val="100000"/>
              </a:lnSpc>
              <a:buClr>
                <a:srgbClr val="252525"/>
              </a:buClr>
              <a:buAutoNum type="arabicPeriod" startAt="5"/>
              <a:tabLst>
                <a:tab pos="354965" algn="l"/>
                <a:tab pos="355600" algn="l"/>
              </a:tabLst>
            </a:pPr>
            <a:r>
              <a:rPr sz="2200" dirty="0">
                <a:latin typeface="Calibri"/>
                <a:cs typeface="Calibri"/>
              </a:rPr>
              <a:t>The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number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colonies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bacteria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agar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plate.</a:t>
            </a:r>
            <a:endParaRPr sz="2200" dirty="0">
              <a:latin typeface="Calibri"/>
              <a:cs typeface="Calibri"/>
            </a:endParaRPr>
          </a:p>
          <a:p>
            <a:pPr marL="354965" indent="-342900">
              <a:lnSpc>
                <a:spcPct val="100000"/>
              </a:lnSpc>
              <a:buClr>
                <a:srgbClr val="252525"/>
              </a:buClr>
              <a:buAutoNum type="arabicPeriod" startAt="5"/>
              <a:tabLst>
                <a:tab pos="354965" algn="l"/>
                <a:tab pos="355600" algn="l"/>
              </a:tabLst>
            </a:pPr>
            <a:r>
              <a:rPr sz="2200" dirty="0">
                <a:latin typeface="Calibri"/>
                <a:cs typeface="Calibri"/>
              </a:rPr>
              <a:t>The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number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RBCs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given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volume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blood.</a:t>
            </a:r>
            <a:endParaRPr sz="2200" dirty="0">
              <a:latin typeface="Calibri"/>
              <a:cs typeface="Calibri"/>
            </a:endParaRPr>
          </a:p>
          <a:p>
            <a:pPr marL="354965" indent="-342900">
              <a:lnSpc>
                <a:spcPct val="100000"/>
              </a:lnSpc>
              <a:buClr>
                <a:srgbClr val="252525"/>
              </a:buClr>
              <a:buAutoNum type="arabicPeriod" startAt="5"/>
              <a:tabLst>
                <a:tab pos="354965" algn="l"/>
                <a:tab pos="355600" algn="l"/>
              </a:tabLst>
            </a:pPr>
            <a:r>
              <a:rPr sz="2200" dirty="0">
                <a:latin typeface="Calibri"/>
                <a:cs typeface="Calibri"/>
              </a:rPr>
              <a:t>The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number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impulses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received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by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nerve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cell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time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t.</a:t>
            </a:r>
            <a:endParaRPr sz="2200" dirty="0">
              <a:latin typeface="Calibri"/>
              <a:cs typeface="Calibri"/>
            </a:endParaRPr>
          </a:p>
          <a:p>
            <a:pPr marL="354965" indent="-342900">
              <a:lnSpc>
                <a:spcPct val="100000"/>
              </a:lnSpc>
              <a:buClr>
                <a:srgbClr val="252525"/>
              </a:buClr>
              <a:buAutoNum type="arabicPeriod" startAt="5"/>
              <a:tabLst>
                <a:tab pos="354965" algn="l"/>
                <a:tab pos="355600" algn="l"/>
              </a:tabLst>
            </a:pPr>
            <a:r>
              <a:rPr sz="2200" dirty="0">
                <a:latin typeface="Calibri"/>
                <a:cs typeface="Calibri"/>
              </a:rPr>
              <a:t>The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number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accidents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at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particular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intersection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given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time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54CE03-6C3B-0F5A-2F71-4F40D9D4B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130AB-DCCA-4457-8449-18BD121E9C7F}" type="datetime1">
              <a:rPr lang="en-US" smtClean="0"/>
              <a:t>7/22/2024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1979" y="464595"/>
            <a:ext cx="7837221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800" b="1" spc="-70" dirty="0"/>
              <a:t>Difference</a:t>
            </a:r>
            <a:r>
              <a:rPr lang="en-US" sz="2800" b="1" spc="-90" dirty="0"/>
              <a:t> </a:t>
            </a:r>
            <a:r>
              <a:rPr lang="en-US" sz="2800" b="1" spc="-25" dirty="0"/>
              <a:t>between</a:t>
            </a:r>
            <a:r>
              <a:rPr lang="en-US" sz="2800" b="1" spc="-65" dirty="0"/>
              <a:t> </a:t>
            </a:r>
            <a:r>
              <a:rPr lang="en-US" sz="2800" b="1" spc="-245" dirty="0"/>
              <a:t>BD</a:t>
            </a:r>
            <a:r>
              <a:rPr lang="en-US" sz="2800" b="1" spc="-35" dirty="0"/>
              <a:t> </a:t>
            </a:r>
            <a:r>
              <a:rPr lang="en-US" sz="2800" b="1" dirty="0"/>
              <a:t>and</a:t>
            </a:r>
            <a:r>
              <a:rPr lang="en-US" sz="2800" b="1" spc="-60" dirty="0"/>
              <a:t> PD</a:t>
            </a:r>
            <a:endParaRPr sz="2800" b="1" spc="-60" dirty="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Copyright:</a:t>
            </a:r>
            <a:r>
              <a:rPr spc="-15" dirty="0"/>
              <a:t> </a:t>
            </a:r>
            <a:r>
              <a:rPr spc="-55" dirty="0"/>
              <a:t>Santosh</a:t>
            </a:r>
            <a:r>
              <a:rPr spc="-35" dirty="0"/>
              <a:t> </a:t>
            </a:r>
            <a:r>
              <a:rPr spc="-10" dirty="0"/>
              <a:t>Chhatkuli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1979" y="1194891"/>
            <a:ext cx="10276205" cy="4647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5580" marR="347345" indent="-182880">
              <a:lnSpc>
                <a:spcPct val="100000"/>
              </a:lnSpc>
              <a:spcBef>
                <a:spcPts val="100"/>
              </a:spcBef>
              <a:buClr>
                <a:srgbClr val="252525"/>
              </a:buClr>
              <a:buFont typeface="Garamond"/>
              <a:buChar char="◦"/>
              <a:tabLst>
                <a:tab pos="195580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Binomial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distribution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interested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number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successes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</a:t>
            </a:r>
            <a:r>
              <a:rPr sz="2400" dirty="0">
                <a:latin typeface="Calibri"/>
                <a:cs typeface="Calibri"/>
              </a:rPr>
              <a:t>number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failures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definite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number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trials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(n)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random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experiment. </a:t>
            </a:r>
            <a:r>
              <a:rPr sz="2400" dirty="0">
                <a:latin typeface="Calibri"/>
                <a:cs typeface="Calibri"/>
              </a:rPr>
              <a:t>But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Poisson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distribution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events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occur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outcomes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definite </a:t>
            </a:r>
            <a:r>
              <a:rPr sz="2400" dirty="0">
                <a:latin typeface="Calibri"/>
                <a:cs typeface="Calibri"/>
              </a:rPr>
              <a:t>number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trials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random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experiment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occur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random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points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of 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space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(length,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area,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volume)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interest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only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lies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number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of </a:t>
            </a:r>
            <a:r>
              <a:rPr sz="2400" dirty="0">
                <a:latin typeface="Calibri"/>
                <a:cs typeface="Calibri"/>
              </a:rPr>
              <a:t>occurrences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non-occurrences.</a:t>
            </a:r>
            <a:endParaRPr sz="2400" dirty="0">
              <a:latin typeface="Calibri"/>
              <a:cs typeface="Calibri"/>
            </a:endParaRPr>
          </a:p>
          <a:p>
            <a:pPr marL="195580" marR="147320" indent="-182880">
              <a:lnSpc>
                <a:spcPct val="100000"/>
              </a:lnSpc>
              <a:spcBef>
                <a:spcPts val="905"/>
              </a:spcBef>
              <a:buClr>
                <a:srgbClr val="252525"/>
              </a:buClr>
              <a:buFont typeface="Garamond"/>
              <a:buChar char="◦"/>
              <a:tabLst>
                <a:tab pos="195580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know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both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no.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occurrences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non-</a:t>
            </a:r>
            <a:r>
              <a:rPr sz="2400" dirty="0">
                <a:latin typeface="Calibri"/>
                <a:cs typeface="Calibri"/>
              </a:rPr>
              <a:t>occurrences.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many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situations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count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number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times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event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occurs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given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interval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or </a:t>
            </a:r>
            <a:r>
              <a:rPr sz="2400" dirty="0">
                <a:latin typeface="Calibri"/>
                <a:cs typeface="Calibri"/>
              </a:rPr>
              <a:t>space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don’t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know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how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many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times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doesn’t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occur.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not </a:t>
            </a:r>
            <a:r>
              <a:rPr sz="2400" dirty="0">
                <a:latin typeface="Calibri"/>
                <a:cs typeface="Calibri"/>
              </a:rPr>
              <a:t>possible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count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number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failures.</a:t>
            </a:r>
            <a:endParaRPr sz="2400" dirty="0">
              <a:latin typeface="Calibri"/>
              <a:cs typeface="Calibri"/>
            </a:endParaRPr>
          </a:p>
          <a:p>
            <a:pPr marL="195580" marR="5080" indent="-182880">
              <a:lnSpc>
                <a:spcPct val="100800"/>
              </a:lnSpc>
              <a:spcBef>
                <a:spcPts val="880"/>
              </a:spcBef>
              <a:buClr>
                <a:srgbClr val="252525"/>
              </a:buClr>
              <a:buFont typeface="Garamond"/>
              <a:buChar char="◦"/>
              <a:tabLst>
                <a:tab pos="195580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there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fixed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possible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event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fixed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PD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number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times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 </a:t>
            </a:r>
            <a:r>
              <a:rPr sz="2400" dirty="0">
                <a:latin typeface="Calibri"/>
                <a:cs typeface="Calibri"/>
              </a:rPr>
              <a:t>event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occurs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given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interval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space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infinite.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B2908E-E7E4-8F45-D435-48A6165BB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FC551-30F9-4ACF-A716-57FFBEC07737}" type="datetime1">
              <a:rPr lang="en-US" smtClean="0"/>
              <a:t>7/22/2024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8700" y="698460"/>
            <a:ext cx="10477500" cy="402032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 marR="5080">
              <a:lnSpc>
                <a:spcPts val="2700"/>
              </a:lnSpc>
              <a:spcBef>
                <a:spcPts val="434"/>
              </a:spcBef>
            </a:pPr>
            <a:r>
              <a:rPr sz="2500" b="0" spc="-30" dirty="0">
                <a:latin typeface="Verdana"/>
                <a:cs typeface="Verdana"/>
              </a:rPr>
              <a:t>Characteristic</a:t>
            </a:r>
            <a:r>
              <a:rPr sz="2500" b="0" spc="-175" dirty="0">
                <a:latin typeface="Verdana"/>
                <a:cs typeface="Verdana"/>
              </a:rPr>
              <a:t> </a:t>
            </a:r>
            <a:r>
              <a:rPr sz="2500" b="0" dirty="0">
                <a:latin typeface="Verdana"/>
                <a:cs typeface="Verdana"/>
              </a:rPr>
              <a:t>of</a:t>
            </a:r>
            <a:r>
              <a:rPr sz="2500" b="0" spc="-195" dirty="0">
                <a:latin typeface="Verdana"/>
                <a:cs typeface="Verdana"/>
              </a:rPr>
              <a:t> </a:t>
            </a:r>
            <a:r>
              <a:rPr sz="2500" b="0" spc="-110" dirty="0">
                <a:latin typeface="Verdana"/>
                <a:cs typeface="Verdana"/>
              </a:rPr>
              <a:t>Poisson</a:t>
            </a:r>
            <a:r>
              <a:rPr sz="2500" b="0" spc="-170" dirty="0">
                <a:latin typeface="Verdana"/>
                <a:cs typeface="Verdana"/>
              </a:rPr>
              <a:t> </a:t>
            </a:r>
            <a:r>
              <a:rPr sz="2500" b="0" spc="-130" dirty="0">
                <a:latin typeface="Verdana"/>
                <a:cs typeface="Verdana"/>
              </a:rPr>
              <a:t>Distribution</a:t>
            </a:r>
            <a:r>
              <a:rPr sz="2500" b="0" spc="-175" dirty="0">
                <a:latin typeface="Verdana"/>
                <a:cs typeface="Verdana"/>
              </a:rPr>
              <a:t> </a:t>
            </a:r>
            <a:r>
              <a:rPr sz="2500" b="0" spc="-25" dirty="0">
                <a:latin typeface="Verdana"/>
                <a:cs typeface="Verdana"/>
              </a:rPr>
              <a:t>(</a:t>
            </a:r>
            <a:r>
              <a:rPr sz="2500" spc="-25" dirty="0">
                <a:solidFill>
                  <a:srgbClr val="161616"/>
                </a:solidFill>
                <a:latin typeface="Calibri"/>
                <a:cs typeface="Calibri"/>
              </a:rPr>
              <a:t>Conditions</a:t>
            </a:r>
            <a:r>
              <a:rPr sz="2500" spc="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161616"/>
                </a:solidFill>
                <a:latin typeface="Calibri"/>
                <a:cs typeface="Calibri"/>
              </a:rPr>
              <a:t>for </a:t>
            </a:r>
            <a:r>
              <a:rPr sz="2500" spc="-10" dirty="0">
                <a:solidFill>
                  <a:srgbClr val="161616"/>
                </a:solidFill>
                <a:latin typeface="Calibri"/>
                <a:cs typeface="Calibri"/>
              </a:rPr>
              <a:t>Poisson Distribution)</a:t>
            </a:r>
            <a:endParaRPr sz="25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Copyright:</a:t>
            </a:r>
            <a:r>
              <a:rPr spc="-15" dirty="0"/>
              <a:t> </a:t>
            </a:r>
            <a:r>
              <a:rPr spc="-55" dirty="0"/>
              <a:t>Santosh</a:t>
            </a:r>
            <a:r>
              <a:rPr spc="-35" dirty="0"/>
              <a:t> </a:t>
            </a:r>
            <a:r>
              <a:rPr spc="-10" dirty="0"/>
              <a:t>Chhatkuli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5458" y="1676400"/>
            <a:ext cx="10360742" cy="4144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4945" marR="542925" indent="-182880">
              <a:lnSpc>
                <a:spcPct val="100000"/>
              </a:lnSpc>
              <a:spcBef>
                <a:spcPts val="100"/>
              </a:spcBef>
              <a:buClr>
                <a:srgbClr val="252525"/>
              </a:buClr>
              <a:buFont typeface="Arial"/>
              <a:buChar char="•"/>
              <a:tabLst>
                <a:tab pos="195580" algn="l"/>
              </a:tabLst>
            </a:pPr>
            <a:r>
              <a:rPr sz="2400" spc="-10" dirty="0">
                <a:solidFill>
                  <a:srgbClr val="161616"/>
                </a:solidFill>
                <a:latin typeface="Calibri"/>
                <a:cs typeface="Calibri"/>
              </a:rPr>
              <a:t>Theoretically,</a:t>
            </a:r>
            <a:r>
              <a:rPr sz="2400" spc="-5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1616"/>
                </a:solidFill>
                <a:latin typeface="Calibri"/>
                <a:cs typeface="Calibri"/>
              </a:rPr>
              <a:t>an</a:t>
            </a:r>
            <a:r>
              <a:rPr sz="2400" spc="-30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1616"/>
                </a:solidFill>
                <a:latin typeface="Calibri"/>
                <a:cs typeface="Calibri"/>
              </a:rPr>
              <a:t>infinite</a:t>
            </a:r>
            <a:r>
              <a:rPr sz="2400" spc="-30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1616"/>
                </a:solidFill>
                <a:latin typeface="Calibri"/>
                <a:cs typeface="Calibri"/>
              </a:rPr>
              <a:t>no.</a:t>
            </a:r>
            <a:r>
              <a:rPr sz="2400" spc="-3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1616"/>
                </a:solidFill>
                <a:latin typeface="Calibri"/>
                <a:cs typeface="Calibri"/>
              </a:rPr>
              <a:t>of</a:t>
            </a:r>
            <a:r>
              <a:rPr sz="2400" spc="-30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1616"/>
                </a:solidFill>
                <a:latin typeface="Calibri"/>
                <a:cs typeface="Calibri"/>
              </a:rPr>
              <a:t>occurrences</a:t>
            </a:r>
            <a:r>
              <a:rPr sz="2400" spc="-40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1616"/>
                </a:solidFill>
                <a:latin typeface="Calibri"/>
                <a:cs typeface="Calibri"/>
              </a:rPr>
              <a:t>of</a:t>
            </a:r>
            <a:r>
              <a:rPr sz="2400" spc="-40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1616"/>
                </a:solidFill>
                <a:latin typeface="Calibri"/>
                <a:cs typeface="Calibri"/>
              </a:rPr>
              <a:t>the</a:t>
            </a:r>
            <a:r>
              <a:rPr sz="2400" spc="-2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1616"/>
                </a:solidFill>
                <a:latin typeface="Calibri"/>
                <a:cs typeface="Calibri"/>
              </a:rPr>
              <a:t>event</a:t>
            </a:r>
            <a:r>
              <a:rPr sz="2400" spc="-2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1616"/>
                </a:solidFill>
                <a:latin typeface="Calibri"/>
                <a:cs typeface="Calibri"/>
              </a:rPr>
              <a:t>is</a:t>
            </a:r>
            <a:r>
              <a:rPr sz="2400" spc="-4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1616"/>
                </a:solidFill>
                <a:latin typeface="Calibri"/>
                <a:cs typeface="Calibri"/>
              </a:rPr>
              <a:t>possible</a:t>
            </a:r>
            <a:r>
              <a:rPr sz="2400" spc="-1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1616"/>
                </a:solidFill>
                <a:latin typeface="Calibri"/>
                <a:cs typeface="Calibri"/>
              </a:rPr>
              <a:t>in</a:t>
            </a:r>
            <a:r>
              <a:rPr sz="2400" spc="-4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161616"/>
                </a:solidFill>
                <a:latin typeface="Calibri"/>
                <a:cs typeface="Calibri"/>
              </a:rPr>
              <a:t>the </a:t>
            </a:r>
            <a:r>
              <a:rPr sz="2400" spc="-10" dirty="0">
                <a:solidFill>
                  <a:srgbClr val="161616"/>
                </a:solidFill>
                <a:latin typeface="Calibri"/>
                <a:cs typeface="Calibri"/>
              </a:rPr>
              <a:t>interval.</a:t>
            </a:r>
            <a:endParaRPr sz="2400" dirty="0">
              <a:latin typeface="Calibri"/>
              <a:cs typeface="Calibri"/>
            </a:endParaRPr>
          </a:p>
          <a:p>
            <a:pPr marL="194945" marR="227329" indent="-182880">
              <a:lnSpc>
                <a:spcPct val="100000"/>
              </a:lnSpc>
              <a:spcBef>
                <a:spcPts val="900"/>
              </a:spcBef>
              <a:buClr>
                <a:srgbClr val="252525"/>
              </a:buClr>
              <a:buFont typeface="Arial"/>
              <a:buChar char="•"/>
              <a:tabLst>
                <a:tab pos="195580" algn="l"/>
              </a:tabLst>
            </a:pPr>
            <a:r>
              <a:rPr sz="2400" dirty="0">
                <a:solidFill>
                  <a:srgbClr val="161616"/>
                </a:solidFill>
                <a:latin typeface="Calibri"/>
                <a:cs typeface="Calibri"/>
              </a:rPr>
              <a:t>Events</a:t>
            </a:r>
            <a:r>
              <a:rPr sz="2400" spc="-50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1616"/>
                </a:solidFill>
                <a:latin typeface="Calibri"/>
                <a:cs typeface="Calibri"/>
              </a:rPr>
              <a:t>occur</a:t>
            </a:r>
            <a:r>
              <a:rPr sz="2400" spc="-4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61616"/>
                </a:solidFill>
                <a:latin typeface="Calibri"/>
                <a:cs typeface="Calibri"/>
              </a:rPr>
              <a:t>independently.</a:t>
            </a:r>
            <a:r>
              <a:rPr sz="2400" spc="-40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1616"/>
                </a:solidFill>
                <a:latin typeface="Calibri"/>
                <a:cs typeface="Calibri"/>
              </a:rPr>
              <a:t>In</a:t>
            </a:r>
            <a:r>
              <a:rPr sz="2400" spc="-40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1616"/>
                </a:solidFill>
                <a:latin typeface="Calibri"/>
                <a:cs typeface="Calibri"/>
              </a:rPr>
              <a:t>other</a:t>
            </a:r>
            <a:r>
              <a:rPr sz="2400" spc="-4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1616"/>
                </a:solidFill>
                <a:latin typeface="Calibri"/>
                <a:cs typeface="Calibri"/>
              </a:rPr>
              <a:t>words,</a:t>
            </a:r>
            <a:r>
              <a:rPr sz="2400" spc="-40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1616"/>
                </a:solidFill>
                <a:latin typeface="Calibri"/>
                <a:cs typeface="Calibri"/>
              </a:rPr>
              <a:t>if</a:t>
            </a:r>
            <a:r>
              <a:rPr sz="2400" spc="-4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1616"/>
                </a:solidFill>
                <a:latin typeface="Calibri"/>
                <a:cs typeface="Calibri"/>
              </a:rPr>
              <a:t>an</a:t>
            </a:r>
            <a:r>
              <a:rPr sz="2400" spc="-40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1616"/>
                </a:solidFill>
                <a:latin typeface="Calibri"/>
                <a:cs typeface="Calibri"/>
              </a:rPr>
              <a:t>event</a:t>
            </a:r>
            <a:r>
              <a:rPr sz="2400" spc="-30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1616"/>
                </a:solidFill>
                <a:latin typeface="Calibri"/>
                <a:cs typeface="Calibri"/>
              </a:rPr>
              <a:t>occurs,</a:t>
            </a:r>
            <a:r>
              <a:rPr sz="2400" spc="-6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1616"/>
                </a:solidFill>
                <a:latin typeface="Calibri"/>
                <a:cs typeface="Calibri"/>
              </a:rPr>
              <a:t>it</a:t>
            </a:r>
            <a:r>
              <a:rPr sz="2400" spc="-3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1616"/>
                </a:solidFill>
                <a:latin typeface="Calibri"/>
                <a:cs typeface="Calibri"/>
              </a:rPr>
              <a:t>does</a:t>
            </a:r>
            <a:r>
              <a:rPr sz="2400" spc="-4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161616"/>
                </a:solidFill>
                <a:latin typeface="Calibri"/>
                <a:cs typeface="Calibri"/>
              </a:rPr>
              <a:t>not </a:t>
            </a:r>
            <a:r>
              <a:rPr sz="2400" dirty="0">
                <a:solidFill>
                  <a:srgbClr val="161616"/>
                </a:solidFill>
                <a:latin typeface="Calibri"/>
                <a:cs typeface="Calibri"/>
              </a:rPr>
              <a:t>affect</a:t>
            </a:r>
            <a:r>
              <a:rPr sz="2400" spc="-40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1616"/>
                </a:solidFill>
                <a:latin typeface="Calibri"/>
                <a:cs typeface="Calibri"/>
              </a:rPr>
              <a:t>the</a:t>
            </a:r>
            <a:r>
              <a:rPr sz="2400" spc="-20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1616"/>
                </a:solidFill>
                <a:latin typeface="Calibri"/>
                <a:cs typeface="Calibri"/>
              </a:rPr>
              <a:t>probability</a:t>
            </a:r>
            <a:r>
              <a:rPr sz="2400" spc="-40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1616"/>
                </a:solidFill>
                <a:latin typeface="Calibri"/>
                <a:cs typeface="Calibri"/>
              </a:rPr>
              <a:t>of</a:t>
            </a:r>
            <a:r>
              <a:rPr sz="2400" spc="-30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1616"/>
                </a:solidFill>
                <a:latin typeface="Calibri"/>
                <a:cs typeface="Calibri"/>
              </a:rPr>
              <a:t>another</a:t>
            </a:r>
            <a:r>
              <a:rPr sz="2400" spc="-2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1616"/>
                </a:solidFill>
                <a:latin typeface="Calibri"/>
                <a:cs typeface="Calibri"/>
              </a:rPr>
              <a:t>event</a:t>
            </a:r>
            <a:r>
              <a:rPr sz="2400" spc="-1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1616"/>
                </a:solidFill>
                <a:latin typeface="Calibri"/>
                <a:cs typeface="Calibri"/>
              </a:rPr>
              <a:t>occurring</a:t>
            </a:r>
            <a:r>
              <a:rPr sz="2400" spc="-5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1616"/>
                </a:solidFill>
                <a:latin typeface="Calibri"/>
                <a:cs typeface="Calibri"/>
              </a:rPr>
              <a:t>in</a:t>
            </a:r>
            <a:r>
              <a:rPr sz="2400" spc="-30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1616"/>
                </a:solidFill>
                <a:latin typeface="Calibri"/>
                <a:cs typeface="Calibri"/>
              </a:rPr>
              <a:t>the</a:t>
            </a:r>
            <a:r>
              <a:rPr sz="2400" spc="-3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1616"/>
                </a:solidFill>
                <a:latin typeface="Calibri"/>
                <a:cs typeface="Calibri"/>
              </a:rPr>
              <a:t>same</a:t>
            </a:r>
            <a:r>
              <a:rPr sz="2400" spc="-20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1616"/>
                </a:solidFill>
                <a:latin typeface="Calibri"/>
                <a:cs typeface="Calibri"/>
              </a:rPr>
              <a:t>time</a:t>
            </a:r>
            <a:r>
              <a:rPr sz="2400" spc="-4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1616"/>
                </a:solidFill>
                <a:latin typeface="Calibri"/>
                <a:cs typeface="Calibri"/>
              </a:rPr>
              <a:t>period</a:t>
            </a:r>
            <a:r>
              <a:rPr sz="2400" spc="-30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161616"/>
                </a:solidFill>
                <a:latin typeface="Calibri"/>
                <a:cs typeface="Calibri"/>
              </a:rPr>
              <a:t>or </a:t>
            </a:r>
            <a:r>
              <a:rPr sz="2400" dirty="0">
                <a:solidFill>
                  <a:srgbClr val="161616"/>
                </a:solidFill>
                <a:latin typeface="Calibri"/>
                <a:cs typeface="Calibri"/>
              </a:rPr>
              <a:t>the</a:t>
            </a:r>
            <a:r>
              <a:rPr sz="2400" spc="-10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1616"/>
                </a:solidFill>
                <a:latin typeface="Calibri"/>
                <a:cs typeface="Calibri"/>
              </a:rPr>
              <a:t>other</a:t>
            </a:r>
            <a:r>
              <a:rPr sz="2400" spc="-10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1616"/>
                </a:solidFill>
                <a:latin typeface="Calibri"/>
                <a:cs typeface="Calibri"/>
              </a:rPr>
              <a:t>time</a:t>
            </a:r>
            <a:r>
              <a:rPr sz="2400" spc="-1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61616"/>
                </a:solidFill>
                <a:latin typeface="Calibri"/>
                <a:cs typeface="Calibri"/>
              </a:rPr>
              <a:t>period.</a:t>
            </a:r>
            <a:endParaRPr sz="2400" dirty="0">
              <a:latin typeface="Calibri"/>
              <a:cs typeface="Calibri"/>
            </a:endParaRPr>
          </a:p>
          <a:p>
            <a:pPr marL="194945" indent="-182880">
              <a:lnSpc>
                <a:spcPct val="100000"/>
              </a:lnSpc>
              <a:spcBef>
                <a:spcPts val="905"/>
              </a:spcBef>
              <a:buClr>
                <a:srgbClr val="252525"/>
              </a:buClr>
              <a:buFont typeface="Arial"/>
              <a:buChar char="•"/>
              <a:tabLst>
                <a:tab pos="195580" algn="l"/>
              </a:tabLst>
            </a:pPr>
            <a:r>
              <a:rPr sz="2400" dirty="0">
                <a:solidFill>
                  <a:srgbClr val="161616"/>
                </a:solidFill>
                <a:latin typeface="Calibri"/>
                <a:cs typeface="Calibri"/>
              </a:rPr>
              <a:t>The</a:t>
            </a:r>
            <a:r>
              <a:rPr sz="2400" spc="-30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1616"/>
                </a:solidFill>
                <a:latin typeface="Calibri"/>
                <a:cs typeface="Calibri"/>
              </a:rPr>
              <a:t>average</a:t>
            </a:r>
            <a:r>
              <a:rPr sz="2400" spc="-30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1616"/>
                </a:solidFill>
                <a:latin typeface="Calibri"/>
                <a:cs typeface="Calibri"/>
              </a:rPr>
              <a:t>no.</a:t>
            </a:r>
            <a:r>
              <a:rPr sz="2400" spc="-40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1616"/>
                </a:solidFill>
                <a:latin typeface="Calibri"/>
                <a:cs typeface="Calibri"/>
              </a:rPr>
              <a:t>of</a:t>
            </a:r>
            <a:r>
              <a:rPr sz="2400" spc="-3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1616"/>
                </a:solidFill>
                <a:latin typeface="Calibri"/>
                <a:cs typeface="Calibri"/>
              </a:rPr>
              <a:t>occurrence</a:t>
            </a:r>
            <a:r>
              <a:rPr sz="2400" spc="-40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1616"/>
                </a:solidFill>
                <a:latin typeface="Calibri"/>
                <a:cs typeface="Calibri"/>
              </a:rPr>
              <a:t>that</a:t>
            </a:r>
            <a:r>
              <a:rPr sz="2400" spc="-4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1616"/>
                </a:solidFill>
                <a:latin typeface="Calibri"/>
                <a:cs typeface="Calibri"/>
              </a:rPr>
              <a:t>occurs</a:t>
            </a:r>
            <a:r>
              <a:rPr sz="2400" spc="-60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1616"/>
                </a:solidFill>
                <a:latin typeface="Calibri"/>
                <a:cs typeface="Calibri"/>
              </a:rPr>
              <a:t>in</a:t>
            </a:r>
            <a:r>
              <a:rPr sz="2400" spc="-3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1616"/>
                </a:solidFill>
                <a:latin typeface="Calibri"/>
                <a:cs typeface="Calibri"/>
              </a:rPr>
              <a:t>a</a:t>
            </a:r>
            <a:r>
              <a:rPr sz="2400" spc="-3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1616"/>
                </a:solidFill>
                <a:latin typeface="Calibri"/>
                <a:cs typeface="Calibri"/>
              </a:rPr>
              <a:t>specified</a:t>
            </a:r>
            <a:r>
              <a:rPr sz="2400" spc="-3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1616"/>
                </a:solidFill>
                <a:latin typeface="Calibri"/>
                <a:cs typeface="Calibri"/>
              </a:rPr>
              <a:t>interval</a:t>
            </a:r>
            <a:r>
              <a:rPr sz="2400" spc="-4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1616"/>
                </a:solidFill>
                <a:latin typeface="Calibri"/>
                <a:cs typeface="Calibri"/>
              </a:rPr>
              <a:t>is</a:t>
            </a:r>
            <a:r>
              <a:rPr sz="2400" spc="-3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61616"/>
                </a:solidFill>
                <a:latin typeface="Calibri"/>
                <a:cs typeface="Calibri"/>
              </a:rPr>
              <a:t>known.</a:t>
            </a:r>
            <a:endParaRPr sz="2400" dirty="0">
              <a:latin typeface="Calibri"/>
              <a:cs typeface="Calibri"/>
            </a:endParaRPr>
          </a:p>
          <a:p>
            <a:pPr marL="194945" marR="5080" indent="-182880">
              <a:lnSpc>
                <a:spcPct val="100000"/>
              </a:lnSpc>
              <a:spcBef>
                <a:spcPts val="900"/>
              </a:spcBef>
              <a:buClr>
                <a:srgbClr val="252525"/>
              </a:buClr>
              <a:buFont typeface="Arial"/>
              <a:buChar char="•"/>
              <a:tabLst>
                <a:tab pos="195580" algn="l"/>
              </a:tabLst>
            </a:pPr>
            <a:r>
              <a:rPr sz="2400" dirty="0">
                <a:solidFill>
                  <a:srgbClr val="161616"/>
                </a:solidFill>
                <a:latin typeface="Calibri"/>
                <a:cs typeface="Calibri"/>
              </a:rPr>
              <a:t>The</a:t>
            </a:r>
            <a:r>
              <a:rPr sz="2400" spc="-20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1616"/>
                </a:solidFill>
                <a:latin typeface="Calibri"/>
                <a:cs typeface="Calibri"/>
              </a:rPr>
              <a:t>probability</a:t>
            </a:r>
            <a:r>
              <a:rPr sz="2400" spc="-40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1616"/>
                </a:solidFill>
                <a:latin typeface="Calibri"/>
                <a:cs typeface="Calibri"/>
              </a:rPr>
              <a:t>of</a:t>
            </a:r>
            <a:r>
              <a:rPr sz="2400" spc="-3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1616"/>
                </a:solidFill>
                <a:latin typeface="Calibri"/>
                <a:cs typeface="Calibri"/>
              </a:rPr>
              <a:t>an</a:t>
            </a:r>
            <a:r>
              <a:rPr sz="2400" spc="-2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1616"/>
                </a:solidFill>
                <a:latin typeface="Calibri"/>
                <a:cs typeface="Calibri"/>
              </a:rPr>
              <a:t>event</a:t>
            </a:r>
            <a:r>
              <a:rPr sz="2400" spc="-20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1616"/>
                </a:solidFill>
                <a:latin typeface="Calibri"/>
                <a:cs typeface="Calibri"/>
              </a:rPr>
              <a:t>occurring</a:t>
            </a:r>
            <a:r>
              <a:rPr sz="2400" spc="-60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1616"/>
                </a:solidFill>
                <a:latin typeface="Calibri"/>
                <a:cs typeface="Calibri"/>
              </a:rPr>
              <a:t>is</a:t>
            </a:r>
            <a:r>
              <a:rPr sz="2400" spc="-2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1616"/>
                </a:solidFill>
                <a:latin typeface="Calibri"/>
                <a:cs typeface="Calibri"/>
              </a:rPr>
              <a:t>proportional</a:t>
            </a:r>
            <a:r>
              <a:rPr sz="2400" spc="-40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1616"/>
                </a:solidFill>
                <a:latin typeface="Calibri"/>
                <a:cs typeface="Calibri"/>
              </a:rPr>
              <a:t>to</a:t>
            </a:r>
            <a:r>
              <a:rPr sz="2400" spc="-3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1616"/>
                </a:solidFill>
                <a:latin typeface="Calibri"/>
                <a:cs typeface="Calibri"/>
              </a:rPr>
              <a:t>the</a:t>
            </a:r>
            <a:r>
              <a:rPr sz="2400" spc="-20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1616"/>
                </a:solidFill>
                <a:latin typeface="Calibri"/>
                <a:cs typeface="Calibri"/>
              </a:rPr>
              <a:t>length</a:t>
            </a:r>
            <a:r>
              <a:rPr sz="2400" spc="-40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1616"/>
                </a:solidFill>
                <a:latin typeface="Calibri"/>
                <a:cs typeface="Calibri"/>
              </a:rPr>
              <a:t>of</a:t>
            </a:r>
            <a:r>
              <a:rPr sz="2400" spc="-3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1616"/>
                </a:solidFill>
                <a:latin typeface="Calibri"/>
                <a:cs typeface="Calibri"/>
              </a:rPr>
              <a:t>the</a:t>
            </a:r>
            <a:r>
              <a:rPr sz="2400" spc="-20" dirty="0">
                <a:solidFill>
                  <a:srgbClr val="161616"/>
                </a:solidFill>
                <a:latin typeface="Calibri"/>
                <a:cs typeface="Calibri"/>
              </a:rPr>
              <a:t> time </a:t>
            </a:r>
            <a:r>
              <a:rPr sz="2400" spc="-10" dirty="0">
                <a:solidFill>
                  <a:srgbClr val="161616"/>
                </a:solidFill>
                <a:latin typeface="Calibri"/>
                <a:cs typeface="Calibri"/>
              </a:rPr>
              <a:t>period.</a:t>
            </a:r>
            <a:endParaRPr sz="2400" dirty="0">
              <a:latin typeface="Calibri"/>
              <a:cs typeface="Calibri"/>
            </a:endParaRPr>
          </a:p>
          <a:p>
            <a:pPr marL="194945" indent="-182880">
              <a:lnSpc>
                <a:spcPct val="100000"/>
              </a:lnSpc>
              <a:spcBef>
                <a:spcPts val="900"/>
              </a:spcBef>
              <a:buClr>
                <a:srgbClr val="252525"/>
              </a:buClr>
              <a:buFont typeface="Arial"/>
              <a:buChar char="•"/>
              <a:tabLst>
                <a:tab pos="195580" algn="l"/>
              </a:tabLst>
            </a:pPr>
            <a:r>
              <a:rPr sz="2400" dirty="0">
                <a:solidFill>
                  <a:srgbClr val="161616"/>
                </a:solidFill>
                <a:latin typeface="Calibri"/>
                <a:cs typeface="Calibri"/>
              </a:rPr>
              <a:t>The</a:t>
            </a:r>
            <a:r>
              <a:rPr sz="2400" spc="-20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1616"/>
                </a:solidFill>
                <a:latin typeface="Calibri"/>
                <a:cs typeface="Calibri"/>
              </a:rPr>
              <a:t>probability</a:t>
            </a:r>
            <a:r>
              <a:rPr sz="2400" spc="-3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1616"/>
                </a:solidFill>
                <a:latin typeface="Calibri"/>
                <a:cs typeface="Calibri"/>
              </a:rPr>
              <a:t>that</a:t>
            </a:r>
            <a:r>
              <a:rPr sz="2400" spc="-4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1616"/>
                </a:solidFill>
                <a:latin typeface="Calibri"/>
                <a:cs typeface="Calibri"/>
              </a:rPr>
              <a:t>a</a:t>
            </a:r>
            <a:r>
              <a:rPr sz="2400" spc="-2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1616"/>
                </a:solidFill>
                <a:latin typeface="Calibri"/>
                <a:cs typeface="Calibri"/>
              </a:rPr>
              <a:t>success</a:t>
            </a:r>
            <a:r>
              <a:rPr sz="2400" spc="-4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1616"/>
                </a:solidFill>
                <a:latin typeface="Calibri"/>
                <a:cs typeface="Calibri"/>
              </a:rPr>
              <a:t>will</a:t>
            </a:r>
            <a:r>
              <a:rPr sz="2400" spc="-4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1616"/>
                </a:solidFill>
                <a:latin typeface="Calibri"/>
                <a:cs typeface="Calibri"/>
              </a:rPr>
              <a:t>occur</a:t>
            </a:r>
            <a:r>
              <a:rPr sz="2400" spc="-3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1616"/>
                </a:solidFill>
                <a:latin typeface="Calibri"/>
                <a:cs typeface="Calibri"/>
              </a:rPr>
              <a:t>in</a:t>
            </a:r>
            <a:r>
              <a:rPr sz="2400" spc="-4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1616"/>
                </a:solidFill>
                <a:latin typeface="Calibri"/>
                <a:cs typeface="Calibri"/>
              </a:rPr>
              <a:t>an</a:t>
            </a:r>
            <a:r>
              <a:rPr sz="2400" spc="-2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1616"/>
                </a:solidFill>
                <a:latin typeface="Calibri"/>
                <a:cs typeface="Calibri"/>
              </a:rPr>
              <a:t>extremely</a:t>
            </a:r>
            <a:r>
              <a:rPr sz="2400" spc="-50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1616"/>
                </a:solidFill>
                <a:latin typeface="Calibri"/>
                <a:cs typeface="Calibri"/>
              </a:rPr>
              <a:t>small</a:t>
            </a:r>
            <a:r>
              <a:rPr sz="2400" spc="-5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1616"/>
                </a:solidFill>
                <a:latin typeface="Calibri"/>
                <a:cs typeface="Calibri"/>
              </a:rPr>
              <a:t>interval</a:t>
            </a:r>
            <a:r>
              <a:rPr sz="2400" spc="-20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161616"/>
                </a:solidFill>
                <a:latin typeface="Calibri"/>
                <a:cs typeface="Calibri"/>
              </a:rPr>
              <a:t>is</a:t>
            </a:r>
            <a:endParaRPr sz="2400" dirty="0">
              <a:latin typeface="Calibri"/>
              <a:cs typeface="Calibri"/>
            </a:endParaRPr>
          </a:p>
          <a:p>
            <a:pPr marL="194945">
              <a:lnSpc>
                <a:spcPct val="100000"/>
              </a:lnSpc>
              <a:spcBef>
                <a:spcPts val="25"/>
              </a:spcBef>
            </a:pPr>
            <a:r>
              <a:rPr sz="2400" dirty="0">
                <a:solidFill>
                  <a:srgbClr val="161616"/>
                </a:solidFill>
                <a:latin typeface="Calibri"/>
                <a:cs typeface="Calibri"/>
              </a:rPr>
              <a:t>virtually</a:t>
            </a:r>
            <a:r>
              <a:rPr sz="2400" spc="-10" dirty="0">
                <a:solidFill>
                  <a:srgbClr val="161616"/>
                </a:solidFill>
                <a:latin typeface="Calibri"/>
                <a:cs typeface="Calibri"/>
              </a:rPr>
              <a:t> zero.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A0B292-AFB8-F68B-3067-0C263BA3A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07264-06B4-4245-9DBE-E13F0A97FE62}" type="datetime1">
              <a:rPr lang="en-US" smtClean="0"/>
              <a:t>7/22/2024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45844" y="625390"/>
            <a:ext cx="9875520" cy="565795"/>
          </a:xfrm>
          <a:prstGeom prst="rect">
            <a:avLst/>
          </a:prstGeom>
        </p:spPr>
        <p:txBody>
          <a:bodyPr vert="horz" wrap="square" lIns="0" tIns="13360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800" b="1" spc="-95" dirty="0"/>
              <a:t>Poisson Formula</a:t>
            </a:r>
            <a:endParaRPr sz="2800" b="1" spc="-95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Copyright:</a:t>
            </a:r>
            <a:r>
              <a:rPr spc="-15" dirty="0"/>
              <a:t> </a:t>
            </a:r>
            <a:r>
              <a:rPr spc="-55" dirty="0"/>
              <a:t>Santosh</a:t>
            </a:r>
            <a:r>
              <a:rPr spc="-35" dirty="0"/>
              <a:t> </a:t>
            </a:r>
            <a:r>
              <a:rPr spc="-10" dirty="0"/>
              <a:t>Chhatkuli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5844" y="1450594"/>
            <a:ext cx="978979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145" dirty="0">
                <a:latin typeface="Verdana"/>
                <a:cs typeface="Verdana"/>
              </a:rPr>
              <a:t>The</a:t>
            </a:r>
            <a:r>
              <a:rPr sz="2400" spc="-120" dirty="0">
                <a:latin typeface="Verdana"/>
                <a:cs typeface="Verdana"/>
              </a:rPr>
              <a:t> </a:t>
            </a:r>
            <a:r>
              <a:rPr sz="2400" spc="-55" dirty="0">
                <a:latin typeface="Verdana"/>
                <a:cs typeface="Verdana"/>
              </a:rPr>
              <a:t>probability</a:t>
            </a:r>
            <a:r>
              <a:rPr sz="2400" spc="-17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of</a:t>
            </a:r>
            <a:r>
              <a:rPr sz="2400" spc="-135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exactly</a:t>
            </a:r>
            <a:r>
              <a:rPr sz="2400" spc="-140" dirty="0">
                <a:latin typeface="Verdana"/>
                <a:cs typeface="Verdana"/>
              </a:rPr>
              <a:t> </a:t>
            </a:r>
            <a:r>
              <a:rPr sz="2400" spc="-270" dirty="0">
                <a:latin typeface="Verdana"/>
                <a:cs typeface="Verdana"/>
              </a:rPr>
              <a:t>x</a:t>
            </a:r>
            <a:r>
              <a:rPr sz="2400" spc="-1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occurrences</a:t>
            </a:r>
            <a:r>
              <a:rPr sz="2400" spc="-110" dirty="0">
                <a:latin typeface="Verdana"/>
                <a:cs typeface="Verdana"/>
              </a:rPr>
              <a:t> </a:t>
            </a:r>
            <a:r>
              <a:rPr sz="2400" spc="-120" dirty="0">
                <a:latin typeface="Verdana"/>
                <a:cs typeface="Verdana"/>
              </a:rPr>
              <a:t>in</a:t>
            </a:r>
            <a:r>
              <a:rPr sz="2400" spc="-175" dirty="0">
                <a:latin typeface="Verdana"/>
                <a:cs typeface="Verdana"/>
              </a:rPr>
              <a:t> </a:t>
            </a:r>
            <a:r>
              <a:rPr sz="2400" spc="-25" dirty="0">
                <a:latin typeface="Verdana"/>
                <a:cs typeface="Verdana"/>
              </a:rPr>
              <a:t>given</a:t>
            </a:r>
            <a:r>
              <a:rPr sz="2400" spc="-175" dirty="0">
                <a:latin typeface="Verdana"/>
                <a:cs typeface="Verdana"/>
              </a:rPr>
              <a:t> </a:t>
            </a:r>
            <a:r>
              <a:rPr sz="2400" spc="-90" dirty="0">
                <a:latin typeface="Verdana"/>
                <a:cs typeface="Verdana"/>
              </a:rPr>
              <a:t>interval</a:t>
            </a:r>
            <a:r>
              <a:rPr sz="2400" spc="-14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of</a:t>
            </a:r>
            <a:r>
              <a:rPr sz="2400" spc="-180" dirty="0">
                <a:latin typeface="Verdana"/>
                <a:cs typeface="Verdana"/>
              </a:rPr>
              <a:t> </a:t>
            </a:r>
            <a:r>
              <a:rPr sz="2400" spc="-70" dirty="0">
                <a:latin typeface="Verdana"/>
                <a:cs typeface="Verdana"/>
              </a:rPr>
              <a:t>time</a:t>
            </a:r>
            <a:r>
              <a:rPr sz="2400" spc="-160" dirty="0">
                <a:latin typeface="Verdana"/>
                <a:cs typeface="Verdana"/>
              </a:rPr>
              <a:t> </a:t>
            </a:r>
            <a:r>
              <a:rPr sz="2400" spc="-25" dirty="0">
                <a:latin typeface="Verdana"/>
                <a:cs typeface="Verdana"/>
              </a:rPr>
              <a:t>or </a:t>
            </a:r>
            <a:r>
              <a:rPr sz="2400" spc="75" dirty="0">
                <a:latin typeface="Verdana"/>
                <a:cs typeface="Verdana"/>
              </a:rPr>
              <a:t>space</a:t>
            </a:r>
            <a:r>
              <a:rPr sz="2400" spc="-160" dirty="0">
                <a:latin typeface="Verdana"/>
                <a:cs typeface="Verdana"/>
              </a:rPr>
              <a:t> </a:t>
            </a:r>
            <a:r>
              <a:rPr sz="2400" spc="-245" dirty="0">
                <a:latin typeface="Verdana"/>
                <a:cs typeface="Verdana"/>
              </a:rPr>
              <a:t>is</a:t>
            </a:r>
            <a:r>
              <a:rPr sz="2400" spc="-185" dirty="0">
                <a:latin typeface="Verdana"/>
                <a:cs typeface="Verdana"/>
              </a:rPr>
              <a:t> </a:t>
            </a:r>
            <a:r>
              <a:rPr sz="2400" spc="-30" dirty="0">
                <a:latin typeface="Verdana"/>
                <a:cs typeface="Verdana"/>
              </a:rPr>
              <a:t>given</a:t>
            </a:r>
            <a:r>
              <a:rPr sz="2400" spc="-200" dirty="0">
                <a:latin typeface="Verdana"/>
                <a:cs typeface="Verdana"/>
              </a:rPr>
              <a:t> </a:t>
            </a:r>
            <a:r>
              <a:rPr sz="2400" spc="-25" dirty="0">
                <a:latin typeface="Verdana"/>
                <a:cs typeface="Verdana"/>
              </a:rPr>
              <a:t>by</a:t>
            </a:r>
            <a:endParaRPr sz="24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5844" y="3736670"/>
            <a:ext cx="8992870" cy="1717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6465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/>
                <a:cs typeface="Cambria Math"/>
              </a:rPr>
              <a:t>𝜆</a:t>
            </a:r>
            <a:r>
              <a:rPr sz="2400" spc="65" dirty="0">
                <a:latin typeface="Cambria Math"/>
                <a:cs typeface="Cambria Math"/>
              </a:rPr>
              <a:t> </a:t>
            </a:r>
            <a:r>
              <a:rPr sz="2400" spc="-515" dirty="0">
                <a:latin typeface="Verdana"/>
                <a:cs typeface="Verdana"/>
              </a:rPr>
              <a:t>=</a:t>
            </a:r>
            <a:r>
              <a:rPr sz="2400" spc="-1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Average</a:t>
            </a:r>
            <a:r>
              <a:rPr sz="2400" spc="-170" dirty="0">
                <a:latin typeface="Verdana"/>
                <a:cs typeface="Verdana"/>
              </a:rPr>
              <a:t> </a:t>
            </a:r>
            <a:r>
              <a:rPr sz="2400" spc="-60" dirty="0">
                <a:latin typeface="Verdana"/>
                <a:cs typeface="Verdana"/>
              </a:rPr>
              <a:t>no.</a:t>
            </a:r>
            <a:r>
              <a:rPr sz="2400" spc="-14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of</a:t>
            </a:r>
            <a:r>
              <a:rPr sz="2400" spc="-130" dirty="0">
                <a:latin typeface="Verdana"/>
                <a:cs typeface="Verdana"/>
              </a:rPr>
              <a:t> </a:t>
            </a:r>
            <a:r>
              <a:rPr sz="2400" spc="-65" dirty="0">
                <a:latin typeface="Verdana"/>
                <a:cs typeface="Verdana"/>
              </a:rPr>
              <a:t>successes</a:t>
            </a:r>
            <a:r>
              <a:rPr sz="2400" spc="-125" dirty="0">
                <a:latin typeface="Verdana"/>
                <a:cs typeface="Verdana"/>
              </a:rPr>
              <a:t> </a:t>
            </a:r>
            <a:r>
              <a:rPr sz="2400" spc="-114" dirty="0">
                <a:latin typeface="Verdana"/>
                <a:cs typeface="Verdana"/>
              </a:rPr>
              <a:t>in</a:t>
            </a:r>
            <a:r>
              <a:rPr sz="2400" spc="-160" dirty="0">
                <a:latin typeface="Verdana"/>
                <a:cs typeface="Verdana"/>
              </a:rPr>
              <a:t> </a:t>
            </a:r>
            <a:r>
              <a:rPr sz="2400" spc="185" dirty="0">
                <a:latin typeface="Verdana"/>
                <a:cs typeface="Verdana"/>
              </a:rPr>
              <a:t>a</a:t>
            </a:r>
            <a:r>
              <a:rPr sz="2400" spc="-150" dirty="0">
                <a:latin typeface="Verdana"/>
                <a:cs typeface="Verdana"/>
              </a:rPr>
              <a:t> </a:t>
            </a:r>
            <a:r>
              <a:rPr sz="2400" spc="-25" dirty="0">
                <a:latin typeface="Verdana"/>
                <a:cs typeface="Verdana"/>
              </a:rPr>
              <a:t>given</a:t>
            </a:r>
            <a:r>
              <a:rPr sz="2400" spc="-180" dirty="0">
                <a:latin typeface="Verdana"/>
                <a:cs typeface="Verdana"/>
              </a:rPr>
              <a:t> </a:t>
            </a:r>
            <a:r>
              <a:rPr sz="2400" spc="-85" dirty="0">
                <a:latin typeface="Verdana"/>
                <a:cs typeface="Verdana"/>
              </a:rPr>
              <a:t>interval</a:t>
            </a:r>
            <a:r>
              <a:rPr sz="2400" spc="-140" dirty="0">
                <a:latin typeface="Verdana"/>
                <a:cs typeface="Verdana"/>
              </a:rPr>
              <a:t> </a:t>
            </a:r>
            <a:r>
              <a:rPr sz="2400" spc="-80" dirty="0">
                <a:latin typeface="Verdana"/>
                <a:cs typeface="Verdana"/>
              </a:rPr>
              <a:t>time</a:t>
            </a:r>
            <a:r>
              <a:rPr sz="2400" spc="-165" dirty="0">
                <a:latin typeface="Verdana"/>
                <a:cs typeface="Verdana"/>
              </a:rPr>
              <a:t> </a:t>
            </a:r>
            <a:r>
              <a:rPr sz="2400" spc="-25" dirty="0">
                <a:latin typeface="Verdana"/>
                <a:cs typeface="Verdana"/>
              </a:rPr>
              <a:t>or</a:t>
            </a:r>
            <a:endParaRPr sz="24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65" dirty="0">
                <a:latin typeface="Verdana"/>
                <a:cs typeface="Verdana"/>
              </a:rPr>
              <a:t>space</a:t>
            </a:r>
            <a:endParaRPr sz="2400" dirty="0">
              <a:latin typeface="Verdana"/>
              <a:cs typeface="Verdana"/>
            </a:endParaRPr>
          </a:p>
          <a:p>
            <a:pPr marL="926465" marR="2536190">
              <a:lnSpc>
                <a:spcPts val="3779"/>
              </a:lnSpc>
              <a:spcBef>
                <a:spcPts val="100"/>
              </a:spcBef>
            </a:pPr>
            <a:r>
              <a:rPr sz="2400" spc="125" dirty="0">
                <a:latin typeface="Verdana"/>
                <a:cs typeface="Verdana"/>
              </a:rPr>
              <a:t>e</a:t>
            </a:r>
            <a:r>
              <a:rPr sz="2400" spc="-165" dirty="0">
                <a:latin typeface="Verdana"/>
                <a:cs typeface="Verdana"/>
              </a:rPr>
              <a:t> </a:t>
            </a:r>
            <a:r>
              <a:rPr sz="2400" spc="-515" dirty="0">
                <a:latin typeface="Verdana"/>
                <a:cs typeface="Verdana"/>
              </a:rPr>
              <a:t>=</a:t>
            </a:r>
            <a:r>
              <a:rPr sz="2400" spc="-180" dirty="0">
                <a:latin typeface="Verdana"/>
                <a:cs typeface="Verdana"/>
              </a:rPr>
              <a:t> </a:t>
            </a:r>
            <a:r>
              <a:rPr sz="2400" spc="-80" dirty="0">
                <a:latin typeface="Verdana"/>
                <a:cs typeface="Verdana"/>
              </a:rPr>
              <a:t>Base</a:t>
            </a:r>
            <a:r>
              <a:rPr sz="2400" spc="-16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of</a:t>
            </a:r>
            <a:r>
              <a:rPr sz="2400" spc="-165" dirty="0">
                <a:latin typeface="Verdana"/>
                <a:cs typeface="Verdana"/>
              </a:rPr>
              <a:t> </a:t>
            </a:r>
            <a:r>
              <a:rPr sz="2400" spc="-55" dirty="0">
                <a:latin typeface="Verdana"/>
                <a:cs typeface="Verdana"/>
              </a:rPr>
              <a:t>natural</a:t>
            </a:r>
            <a:r>
              <a:rPr sz="2400" spc="-175" dirty="0">
                <a:latin typeface="Verdana"/>
                <a:cs typeface="Verdana"/>
              </a:rPr>
              <a:t> </a:t>
            </a:r>
            <a:r>
              <a:rPr sz="2400" spc="-65" dirty="0">
                <a:latin typeface="Verdana"/>
                <a:cs typeface="Verdana"/>
              </a:rPr>
              <a:t>logarithm</a:t>
            </a:r>
            <a:r>
              <a:rPr sz="2400" spc="-175" dirty="0">
                <a:latin typeface="Verdana"/>
                <a:cs typeface="Verdana"/>
              </a:rPr>
              <a:t> </a:t>
            </a:r>
            <a:r>
              <a:rPr sz="2400" spc="-515" dirty="0">
                <a:latin typeface="Verdana"/>
                <a:cs typeface="Verdana"/>
              </a:rPr>
              <a:t>=</a:t>
            </a:r>
            <a:r>
              <a:rPr sz="2400" spc="-195" dirty="0">
                <a:latin typeface="Verdana"/>
                <a:cs typeface="Verdana"/>
              </a:rPr>
              <a:t> </a:t>
            </a:r>
            <a:r>
              <a:rPr sz="2400" spc="-185" dirty="0">
                <a:latin typeface="Verdana"/>
                <a:cs typeface="Verdana"/>
              </a:rPr>
              <a:t>2.7183 </a:t>
            </a:r>
            <a:r>
              <a:rPr sz="2400" spc="-270" dirty="0">
                <a:latin typeface="Verdana"/>
                <a:cs typeface="Verdana"/>
              </a:rPr>
              <a:t>x</a:t>
            </a:r>
            <a:r>
              <a:rPr sz="2400" spc="-165" dirty="0">
                <a:latin typeface="Verdana"/>
                <a:cs typeface="Verdana"/>
              </a:rPr>
              <a:t> </a:t>
            </a:r>
            <a:r>
              <a:rPr sz="2400" spc="-515" dirty="0">
                <a:latin typeface="Verdana"/>
                <a:cs typeface="Verdana"/>
              </a:rPr>
              <a:t>=</a:t>
            </a:r>
            <a:r>
              <a:rPr sz="2400" spc="-180" dirty="0">
                <a:latin typeface="Verdana"/>
                <a:cs typeface="Verdana"/>
              </a:rPr>
              <a:t> </a:t>
            </a:r>
            <a:r>
              <a:rPr sz="2400" spc="-50" dirty="0">
                <a:latin typeface="Verdana"/>
                <a:cs typeface="Verdana"/>
              </a:rPr>
              <a:t>No.</a:t>
            </a:r>
            <a:r>
              <a:rPr sz="2400" spc="-16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of</a:t>
            </a:r>
            <a:r>
              <a:rPr sz="2400" spc="-165" dirty="0">
                <a:latin typeface="Verdana"/>
                <a:cs typeface="Verdana"/>
              </a:rPr>
              <a:t> </a:t>
            </a:r>
            <a:r>
              <a:rPr sz="2400" spc="-60" dirty="0">
                <a:latin typeface="Verdana"/>
                <a:cs typeface="Verdana"/>
              </a:rPr>
              <a:t>successes</a:t>
            </a:r>
            <a:r>
              <a:rPr sz="2400" spc="-15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desired</a:t>
            </a:r>
            <a:endParaRPr sz="2400" dirty="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999018" y="2936774"/>
            <a:ext cx="968375" cy="0"/>
          </a:xfrm>
          <a:custGeom>
            <a:avLst/>
            <a:gdLst/>
            <a:ahLst/>
            <a:cxnLst/>
            <a:rect l="l" t="t" r="r" b="b"/>
            <a:pathLst>
              <a:path w="968375">
                <a:moveTo>
                  <a:pt x="0" y="0"/>
                </a:moveTo>
                <a:lnTo>
                  <a:pt x="968040" y="0"/>
                </a:lnTo>
              </a:path>
            </a:pathLst>
          </a:custGeom>
          <a:ln w="144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980640" y="2343812"/>
            <a:ext cx="962660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3525" i="1" spc="-15" baseline="-24822" dirty="0">
                <a:latin typeface="Times New Roman"/>
                <a:cs typeface="Times New Roman"/>
              </a:rPr>
              <a:t>e</a:t>
            </a:r>
            <a:r>
              <a:rPr sz="1350" spc="-10" dirty="0">
                <a:latin typeface="Symbol"/>
                <a:cs typeface="Symbol"/>
              </a:rPr>
              <a:t></a:t>
            </a:r>
            <a:r>
              <a:rPr sz="1500" i="1" spc="-10" dirty="0">
                <a:latin typeface="Symbol"/>
                <a:cs typeface="Symbol"/>
              </a:rPr>
              <a:t></a:t>
            </a:r>
            <a:r>
              <a:rPr sz="3900" i="1" spc="-15" baseline="-22435" dirty="0">
                <a:latin typeface="Symbol"/>
                <a:cs typeface="Symbol"/>
              </a:rPr>
              <a:t></a:t>
            </a:r>
            <a:r>
              <a:rPr sz="1350" i="1" spc="-10" dirty="0">
                <a:latin typeface="Times New Roman"/>
                <a:cs typeface="Times New Roman"/>
              </a:rPr>
              <a:t>x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45844" y="2502741"/>
            <a:ext cx="2762250" cy="1145540"/>
          </a:xfrm>
          <a:prstGeom prst="rect">
            <a:avLst/>
          </a:prstGeom>
        </p:spPr>
        <p:txBody>
          <a:bodyPr vert="horz" wrap="square" lIns="0" tIns="210820" rIns="0" bIns="0" rtlCol="0">
            <a:spAutoFit/>
          </a:bodyPr>
          <a:lstStyle/>
          <a:p>
            <a:pPr marL="897890">
              <a:lnSpc>
                <a:spcPct val="100000"/>
              </a:lnSpc>
              <a:spcBef>
                <a:spcPts val="1660"/>
              </a:spcBef>
              <a:tabLst>
                <a:tab pos="1754505" algn="l"/>
              </a:tabLst>
            </a:pPr>
            <a:r>
              <a:rPr sz="2350" i="1" spc="455" dirty="0">
                <a:latin typeface="Times New Roman"/>
                <a:cs typeface="Times New Roman"/>
              </a:rPr>
              <a:t>P</a:t>
            </a:r>
            <a:r>
              <a:rPr sz="2350" spc="455" dirty="0">
                <a:latin typeface="Times New Roman"/>
                <a:cs typeface="Times New Roman"/>
              </a:rPr>
              <a:t>(</a:t>
            </a:r>
            <a:r>
              <a:rPr sz="2350" spc="-254" dirty="0">
                <a:latin typeface="Times New Roman"/>
                <a:cs typeface="Times New Roman"/>
              </a:rPr>
              <a:t> </a:t>
            </a:r>
            <a:r>
              <a:rPr sz="2350" i="1" spc="480" dirty="0">
                <a:latin typeface="Times New Roman"/>
                <a:cs typeface="Times New Roman"/>
              </a:rPr>
              <a:t>X</a:t>
            </a:r>
            <a:r>
              <a:rPr sz="2350" i="1" dirty="0">
                <a:latin typeface="Times New Roman"/>
                <a:cs typeface="Times New Roman"/>
              </a:rPr>
              <a:t>	</a:t>
            </a:r>
            <a:r>
              <a:rPr sz="2350" spc="475" dirty="0">
                <a:latin typeface="Symbol"/>
                <a:cs typeface="Symbol"/>
              </a:rPr>
              <a:t></a:t>
            </a:r>
            <a:r>
              <a:rPr sz="2350" spc="320" dirty="0">
                <a:latin typeface="Times New Roman"/>
                <a:cs typeface="Times New Roman"/>
              </a:rPr>
              <a:t> </a:t>
            </a:r>
            <a:r>
              <a:rPr sz="2350" i="1" spc="375" dirty="0">
                <a:latin typeface="Times New Roman"/>
                <a:cs typeface="Times New Roman"/>
              </a:rPr>
              <a:t>x</a:t>
            </a:r>
            <a:r>
              <a:rPr sz="2350" spc="375" dirty="0">
                <a:latin typeface="Times New Roman"/>
                <a:cs typeface="Times New Roman"/>
              </a:rPr>
              <a:t>)</a:t>
            </a:r>
            <a:r>
              <a:rPr sz="2350" spc="180" dirty="0">
                <a:latin typeface="Times New Roman"/>
                <a:cs typeface="Times New Roman"/>
              </a:rPr>
              <a:t> </a:t>
            </a:r>
            <a:r>
              <a:rPr sz="2350" spc="425" dirty="0">
                <a:latin typeface="Symbol"/>
                <a:cs typeface="Symbol"/>
              </a:rPr>
              <a:t></a:t>
            </a:r>
            <a:endParaRPr sz="2350" dirty="0">
              <a:latin typeface="Symbol"/>
              <a:cs typeface="Symbol"/>
            </a:endParaRPr>
          </a:p>
          <a:p>
            <a:pPr marL="12700">
              <a:lnSpc>
                <a:spcPct val="100000"/>
              </a:lnSpc>
              <a:spcBef>
                <a:spcPts val="1555"/>
              </a:spcBef>
            </a:pPr>
            <a:r>
              <a:rPr sz="2400" spc="-10" dirty="0">
                <a:latin typeface="Verdana"/>
                <a:cs typeface="Verdana"/>
              </a:rPr>
              <a:t>Notations:</a:t>
            </a:r>
            <a:endParaRPr sz="2400" dirty="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59302" y="2932398"/>
            <a:ext cx="314960" cy="3873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350" i="1" spc="190" dirty="0">
                <a:latin typeface="Times New Roman"/>
                <a:cs typeface="Times New Roman"/>
              </a:rPr>
              <a:t>x</a:t>
            </a:r>
            <a:r>
              <a:rPr sz="2350" spc="190" dirty="0">
                <a:latin typeface="Symbol"/>
                <a:cs typeface="Symbol"/>
              </a:rPr>
              <a:t></a:t>
            </a:r>
            <a:endParaRPr sz="2350">
              <a:latin typeface="Symbol"/>
              <a:cs typeface="Symbol"/>
            </a:endParaRP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AEA16541-DC17-DEC4-19EA-157B89DFE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02CC3-1677-43A6-9F19-C570D69D94B4}" type="datetime1">
              <a:rPr lang="en-US" smtClean="0"/>
              <a:t>7/22/2024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20444" y="502185"/>
            <a:ext cx="778319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220" dirty="0">
                <a:latin typeface="Verdana"/>
                <a:cs typeface="Verdana"/>
              </a:rPr>
              <a:t>Mean</a:t>
            </a:r>
            <a:r>
              <a:rPr sz="2800" b="1" spc="-355" dirty="0">
                <a:latin typeface="Verdana"/>
                <a:cs typeface="Verdana"/>
              </a:rPr>
              <a:t> </a:t>
            </a:r>
            <a:r>
              <a:rPr sz="2800" b="1" spc="170" dirty="0">
                <a:latin typeface="Verdana"/>
                <a:cs typeface="Verdana"/>
              </a:rPr>
              <a:t>and</a:t>
            </a:r>
            <a:r>
              <a:rPr sz="2800" b="1" spc="-360" dirty="0">
                <a:latin typeface="Verdana"/>
                <a:cs typeface="Verdana"/>
              </a:rPr>
              <a:t> </a:t>
            </a:r>
            <a:r>
              <a:rPr sz="2800" b="1" spc="70" dirty="0">
                <a:latin typeface="Verdana"/>
                <a:cs typeface="Verdana"/>
              </a:rPr>
              <a:t>Variance</a:t>
            </a:r>
            <a:r>
              <a:rPr sz="2800" b="1" spc="-340" dirty="0">
                <a:latin typeface="Verdana"/>
                <a:cs typeface="Verdana"/>
              </a:rPr>
              <a:t> </a:t>
            </a:r>
            <a:r>
              <a:rPr sz="2800" b="1" dirty="0">
                <a:latin typeface="Verdana"/>
                <a:cs typeface="Verdana"/>
              </a:rPr>
              <a:t>of</a:t>
            </a:r>
            <a:r>
              <a:rPr sz="2800" b="1" spc="-340" dirty="0">
                <a:latin typeface="Verdana"/>
                <a:cs typeface="Verdana"/>
              </a:rPr>
              <a:t> </a:t>
            </a:r>
            <a:r>
              <a:rPr sz="2800" b="1" spc="-25" dirty="0">
                <a:latin typeface="Verdana"/>
                <a:cs typeface="Verdana"/>
              </a:rPr>
              <a:t>PD</a:t>
            </a:r>
            <a:endParaRPr sz="2800" b="1" dirty="0">
              <a:latin typeface="Verdana"/>
              <a:cs typeface="Verdan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Copyright:</a:t>
            </a:r>
            <a:r>
              <a:rPr spc="-15" dirty="0"/>
              <a:t> </a:t>
            </a:r>
            <a:r>
              <a:rPr spc="-55" dirty="0"/>
              <a:t>Santosh</a:t>
            </a:r>
            <a:r>
              <a:rPr spc="-35" dirty="0"/>
              <a:t> </a:t>
            </a:r>
            <a:r>
              <a:rPr spc="-10" dirty="0"/>
              <a:t>Chhatkuli</a:t>
            </a:r>
          </a:p>
        </p:txBody>
      </p:sp>
      <p:sp>
        <p:nvSpPr>
          <p:cNvPr id="3" name="object 3"/>
          <p:cNvSpPr/>
          <p:nvPr/>
        </p:nvSpPr>
        <p:spPr>
          <a:xfrm>
            <a:off x="9273540" y="3305555"/>
            <a:ext cx="417830" cy="342900"/>
          </a:xfrm>
          <a:custGeom>
            <a:avLst/>
            <a:gdLst/>
            <a:ahLst/>
            <a:cxnLst/>
            <a:rect l="l" t="t" r="r" b="b"/>
            <a:pathLst>
              <a:path w="417829" h="342900">
                <a:moveTo>
                  <a:pt x="417575" y="0"/>
                </a:moveTo>
                <a:lnTo>
                  <a:pt x="227075" y="0"/>
                </a:lnTo>
                <a:lnTo>
                  <a:pt x="227075" y="635"/>
                </a:lnTo>
                <a:lnTo>
                  <a:pt x="203707" y="635"/>
                </a:lnTo>
                <a:lnTo>
                  <a:pt x="118109" y="296672"/>
                </a:lnTo>
                <a:lnTo>
                  <a:pt x="56895" y="162052"/>
                </a:lnTo>
                <a:lnTo>
                  <a:pt x="0" y="188087"/>
                </a:lnTo>
                <a:lnTo>
                  <a:pt x="5333" y="201041"/>
                </a:lnTo>
                <a:lnTo>
                  <a:pt x="34670" y="188087"/>
                </a:lnTo>
                <a:lnTo>
                  <a:pt x="106425" y="342392"/>
                </a:lnTo>
                <a:lnTo>
                  <a:pt x="123189" y="342392"/>
                </a:lnTo>
                <a:lnTo>
                  <a:pt x="216534" y="23749"/>
                </a:lnTo>
                <a:lnTo>
                  <a:pt x="247903" y="23749"/>
                </a:lnTo>
                <a:lnTo>
                  <a:pt x="247903" y="22860"/>
                </a:lnTo>
                <a:lnTo>
                  <a:pt x="417575" y="22860"/>
                </a:lnTo>
                <a:lnTo>
                  <a:pt x="4175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94866" y="1219200"/>
            <a:ext cx="10309556" cy="3629025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0"/>
              </a:spcBef>
            </a:pPr>
            <a:r>
              <a:rPr sz="2800" spc="120" dirty="0">
                <a:latin typeface="Verdana"/>
                <a:cs typeface="Verdana"/>
              </a:rPr>
              <a:t>Mean</a:t>
            </a:r>
            <a:r>
              <a:rPr sz="2800" spc="-16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of</a:t>
            </a:r>
            <a:r>
              <a:rPr sz="2800" spc="-195" dirty="0">
                <a:latin typeface="Verdana"/>
                <a:cs typeface="Verdana"/>
              </a:rPr>
              <a:t> </a:t>
            </a:r>
            <a:r>
              <a:rPr sz="2800" spc="-125" dirty="0">
                <a:latin typeface="Verdana"/>
                <a:cs typeface="Verdana"/>
              </a:rPr>
              <a:t>Poisson</a:t>
            </a:r>
            <a:r>
              <a:rPr sz="2800" spc="-170" dirty="0">
                <a:latin typeface="Verdana"/>
                <a:cs typeface="Verdana"/>
              </a:rPr>
              <a:t> </a:t>
            </a:r>
            <a:r>
              <a:rPr sz="2800" spc="-150" dirty="0">
                <a:latin typeface="Verdana"/>
                <a:cs typeface="Verdana"/>
              </a:rPr>
              <a:t>Distribution</a:t>
            </a:r>
            <a:r>
              <a:rPr sz="2800" spc="-195" dirty="0">
                <a:latin typeface="Verdana"/>
                <a:cs typeface="Verdana"/>
              </a:rPr>
              <a:t> </a:t>
            </a:r>
            <a:r>
              <a:rPr sz="2800" spc="-229" dirty="0">
                <a:latin typeface="Verdana"/>
                <a:cs typeface="Verdana"/>
              </a:rPr>
              <a:t>(µ)</a:t>
            </a:r>
            <a:r>
              <a:rPr sz="2800" spc="-190" dirty="0">
                <a:latin typeface="Verdana"/>
                <a:cs typeface="Verdana"/>
              </a:rPr>
              <a:t> </a:t>
            </a:r>
            <a:r>
              <a:rPr sz="2800" spc="-620" dirty="0">
                <a:latin typeface="Verdana"/>
                <a:cs typeface="Verdana"/>
              </a:rPr>
              <a:t>=</a:t>
            </a:r>
            <a:r>
              <a:rPr sz="2800" spc="-165" dirty="0">
                <a:latin typeface="Verdana"/>
                <a:cs typeface="Verdana"/>
              </a:rPr>
              <a:t> </a:t>
            </a:r>
            <a:r>
              <a:rPr sz="2800" spc="-50" dirty="0">
                <a:latin typeface="Cambria Math"/>
                <a:cs typeface="Cambria Math"/>
              </a:rPr>
              <a:t>𝜆</a:t>
            </a:r>
            <a:endParaRPr sz="2800" dirty="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900"/>
              </a:spcBef>
            </a:pPr>
            <a:r>
              <a:rPr sz="2800" dirty="0">
                <a:latin typeface="Verdana"/>
                <a:cs typeface="Verdana"/>
              </a:rPr>
              <a:t>Variance</a:t>
            </a:r>
            <a:r>
              <a:rPr sz="2800" spc="-15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of</a:t>
            </a:r>
            <a:r>
              <a:rPr sz="2800" spc="-145" dirty="0">
                <a:latin typeface="Verdana"/>
                <a:cs typeface="Verdana"/>
              </a:rPr>
              <a:t> </a:t>
            </a:r>
            <a:r>
              <a:rPr sz="2800" spc="-125" dirty="0">
                <a:latin typeface="Verdana"/>
                <a:cs typeface="Verdana"/>
              </a:rPr>
              <a:t>Poisson</a:t>
            </a:r>
            <a:r>
              <a:rPr sz="2800" spc="-130" dirty="0">
                <a:latin typeface="Verdana"/>
                <a:cs typeface="Verdana"/>
              </a:rPr>
              <a:t> </a:t>
            </a:r>
            <a:r>
              <a:rPr sz="2800" spc="-150" dirty="0">
                <a:latin typeface="Verdana"/>
                <a:cs typeface="Verdana"/>
              </a:rPr>
              <a:t>Distribution</a:t>
            </a:r>
            <a:r>
              <a:rPr sz="2800" spc="-140" dirty="0">
                <a:latin typeface="Verdana"/>
                <a:cs typeface="Verdana"/>
              </a:rPr>
              <a:t> </a:t>
            </a:r>
            <a:r>
              <a:rPr sz="2800" spc="-95" dirty="0">
                <a:latin typeface="Verdana"/>
                <a:cs typeface="Verdana"/>
              </a:rPr>
              <a:t>(σ</a:t>
            </a:r>
            <a:r>
              <a:rPr sz="2800" spc="-142" baseline="25525" dirty="0">
                <a:latin typeface="Verdana"/>
                <a:cs typeface="Verdana"/>
              </a:rPr>
              <a:t>2</a:t>
            </a:r>
            <a:r>
              <a:rPr sz="2800" spc="-95" dirty="0">
                <a:latin typeface="Verdana"/>
                <a:cs typeface="Verdana"/>
              </a:rPr>
              <a:t>)</a:t>
            </a:r>
            <a:r>
              <a:rPr sz="2800" spc="-130" dirty="0">
                <a:latin typeface="Verdana"/>
                <a:cs typeface="Verdana"/>
              </a:rPr>
              <a:t> </a:t>
            </a:r>
            <a:r>
              <a:rPr sz="2800" spc="-620" dirty="0">
                <a:latin typeface="Verdana"/>
                <a:cs typeface="Verdana"/>
              </a:rPr>
              <a:t>=</a:t>
            </a:r>
            <a:r>
              <a:rPr sz="2800" spc="-140" dirty="0">
                <a:latin typeface="Verdana"/>
                <a:cs typeface="Verdana"/>
              </a:rPr>
              <a:t> </a:t>
            </a:r>
            <a:r>
              <a:rPr sz="2800" spc="-50" dirty="0">
                <a:latin typeface="Cambria Math"/>
                <a:cs typeface="Cambria Math"/>
              </a:rPr>
              <a:t>𝜆</a:t>
            </a:r>
            <a:endParaRPr sz="2800" dirty="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1245"/>
              </a:spcBef>
              <a:tabLst>
                <a:tab pos="8381365" algn="l"/>
              </a:tabLst>
            </a:pPr>
            <a:r>
              <a:rPr sz="2800" spc="-50" dirty="0">
                <a:latin typeface="Verdana"/>
                <a:cs typeface="Verdana"/>
              </a:rPr>
              <a:t>Standard</a:t>
            </a:r>
            <a:r>
              <a:rPr sz="2800" spc="-170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deviation</a:t>
            </a:r>
            <a:r>
              <a:rPr sz="2800" spc="-16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of</a:t>
            </a:r>
            <a:r>
              <a:rPr sz="2800" spc="-165" dirty="0">
                <a:latin typeface="Verdana"/>
                <a:cs typeface="Verdana"/>
              </a:rPr>
              <a:t> </a:t>
            </a:r>
            <a:r>
              <a:rPr sz="2800" spc="-130" dirty="0">
                <a:latin typeface="Verdana"/>
                <a:cs typeface="Verdana"/>
              </a:rPr>
              <a:t>Poisson</a:t>
            </a:r>
            <a:r>
              <a:rPr sz="2800" spc="-140" dirty="0">
                <a:latin typeface="Verdana"/>
                <a:cs typeface="Verdana"/>
              </a:rPr>
              <a:t> </a:t>
            </a:r>
            <a:r>
              <a:rPr sz="2800" spc="-150" dirty="0">
                <a:latin typeface="Verdana"/>
                <a:cs typeface="Verdana"/>
              </a:rPr>
              <a:t>Distribution</a:t>
            </a:r>
            <a:r>
              <a:rPr sz="2800" spc="-190" dirty="0">
                <a:latin typeface="Verdana"/>
                <a:cs typeface="Verdana"/>
              </a:rPr>
              <a:t> </a:t>
            </a:r>
            <a:r>
              <a:rPr sz="2800" spc="-80" dirty="0">
                <a:latin typeface="Verdana"/>
                <a:cs typeface="Verdana"/>
              </a:rPr>
              <a:t>(σ)</a:t>
            </a:r>
            <a:r>
              <a:rPr sz="2800" spc="-155" dirty="0">
                <a:latin typeface="Verdana"/>
                <a:cs typeface="Verdana"/>
              </a:rPr>
              <a:t> </a:t>
            </a:r>
            <a:r>
              <a:rPr sz="2800" spc="-650" dirty="0">
                <a:latin typeface="Verdana"/>
                <a:cs typeface="Verdana"/>
              </a:rPr>
              <a:t>=</a:t>
            </a:r>
            <a:r>
              <a:rPr sz="2800" dirty="0">
                <a:latin typeface="Verdana"/>
                <a:cs typeface="Verdana"/>
              </a:rPr>
              <a:t>	</a:t>
            </a:r>
            <a:r>
              <a:rPr sz="2800" spc="-50" dirty="0">
                <a:latin typeface="Cambria Math"/>
                <a:cs typeface="Cambria Math"/>
              </a:rPr>
              <a:t>𝜆</a:t>
            </a:r>
            <a:endParaRPr sz="2800" dirty="0">
              <a:latin typeface="Cambria Math"/>
              <a:cs typeface="Cambria Math"/>
            </a:endParaRPr>
          </a:p>
          <a:p>
            <a:pPr marL="38100" marR="683895">
              <a:lnSpc>
                <a:spcPct val="100000"/>
              </a:lnSpc>
              <a:spcBef>
                <a:spcPts val="905"/>
              </a:spcBef>
            </a:pPr>
            <a:r>
              <a:rPr sz="2800" dirty="0">
                <a:latin typeface="Verdana"/>
                <a:cs typeface="Verdana"/>
              </a:rPr>
              <a:t>Hence,</a:t>
            </a:r>
            <a:r>
              <a:rPr sz="2800" spc="-120" dirty="0">
                <a:latin typeface="Verdana"/>
                <a:cs typeface="Verdana"/>
              </a:rPr>
              <a:t> </a:t>
            </a:r>
            <a:r>
              <a:rPr sz="2800" spc="-30" dirty="0">
                <a:latin typeface="Verdana"/>
                <a:cs typeface="Verdana"/>
              </a:rPr>
              <a:t>unique</a:t>
            </a:r>
            <a:r>
              <a:rPr sz="2800" spc="-155" dirty="0">
                <a:latin typeface="Verdana"/>
                <a:cs typeface="Verdana"/>
              </a:rPr>
              <a:t> </a:t>
            </a:r>
            <a:r>
              <a:rPr sz="2800" spc="-85" dirty="0">
                <a:latin typeface="Verdana"/>
                <a:cs typeface="Verdana"/>
              </a:rPr>
              <a:t>thing</a:t>
            </a:r>
            <a:r>
              <a:rPr sz="2800" spc="-13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about</a:t>
            </a:r>
            <a:r>
              <a:rPr sz="2800" spc="-140" dirty="0">
                <a:latin typeface="Verdana"/>
                <a:cs typeface="Verdana"/>
              </a:rPr>
              <a:t> </a:t>
            </a:r>
            <a:r>
              <a:rPr sz="2800" spc="-65" dirty="0">
                <a:latin typeface="Verdana"/>
                <a:cs typeface="Verdana"/>
              </a:rPr>
              <a:t>PD</a:t>
            </a:r>
            <a:r>
              <a:rPr sz="2800" spc="-140" dirty="0">
                <a:latin typeface="Verdana"/>
                <a:cs typeface="Verdana"/>
              </a:rPr>
              <a:t> </a:t>
            </a:r>
            <a:r>
              <a:rPr sz="2800" spc="-295" dirty="0">
                <a:latin typeface="Verdana"/>
                <a:cs typeface="Verdana"/>
              </a:rPr>
              <a:t>is</a:t>
            </a:r>
            <a:r>
              <a:rPr sz="2800" spc="-170" dirty="0">
                <a:latin typeface="Verdana"/>
                <a:cs typeface="Verdana"/>
              </a:rPr>
              <a:t> </a:t>
            </a:r>
            <a:r>
              <a:rPr sz="2800" spc="-50" dirty="0">
                <a:latin typeface="Verdana"/>
                <a:cs typeface="Verdana"/>
              </a:rPr>
              <a:t>that</a:t>
            </a:r>
            <a:r>
              <a:rPr sz="2800" spc="-140" dirty="0">
                <a:latin typeface="Verdana"/>
                <a:cs typeface="Verdana"/>
              </a:rPr>
              <a:t> </a:t>
            </a:r>
            <a:r>
              <a:rPr sz="2800" spc="-250" dirty="0">
                <a:latin typeface="Verdana"/>
                <a:cs typeface="Verdana"/>
              </a:rPr>
              <a:t>its</a:t>
            </a:r>
            <a:r>
              <a:rPr sz="2800" spc="-16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mean</a:t>
            </a:r>
            <a:r>
              <a:rPr sz="2800" spc="-130" dirty="0">
                <a:latin typeface="Verdana"/>
                <a:cs typeface="Verdana"/>
              </a:rPr>
              <a:t> </a:t>
            </a:r>
            <a:r>
              <a:rPr sz="2800" spc="70" dirty="0">
                <a:latin typeface="Verdana"/>
                <a:cs typeface="Verdana"/>
              </a:rPr>
              <a:t>and </a:t>
            </a:r>
            <a:r>
              <a:rPr sz="2800" dirty="0">
                <a:latin typeface="Verdana"/>
                <a:cs typeface="Verdana"/>
              </a:rPr>
              <a:t>variance</a:t>
            </a:r>
            <a:r>
              <a:rPr sz="2800" spc="-13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are</a:t>
            </a:r>
            <a:r>
              <a:rPr sz="2800" spc="-13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equal</a:t>
            </a:r>
            <a:endParaRPr sz="2800" dirty="0">
              <a:latin typeface="Verdana"/>
              <a:cs typeface="Verdana"/>
            </a:endParaRPr>
          </a:p>
          <a:p>
            <a:pPr marL="38100" marR="17780">
              <a:lnSpc>
                <a:spcPct val="100000"/>
              </a:lnSpc>
              <a:spcBef>
                <a:spcPts val="910"/>
              </a:spcBef>
            </a:pPr>
            <a:r>
              <a:rPr sz="2800" b="1" spc="-160" dirty="0">
                <a:latin typeface="Tahoma"/>
                <a:cs typeface="Tahoma"/>
              </a:rPr>
              <a:t>Note</a:t>
            </a:r>
            <a:r>
              <a:rPr sz="2800" spc="-160" dirty="0">
                <a:latin typeface="Verdana"/>
                <a:cs typeface="Verdana"/>
              </a:rPr>
              <a:t>:</a:t>
            </a:r>
            <a:r>
              <a:rPr sz="2800" spc="-175" dirty="0">
                <a:latin typeface="Verdana"/>
                <a:cs typeface="Verdana"/>
              </a:rPr>
              <a:t> </a:t>
            </a:r>
            <a:r>
              <a:rPr sz="2800" dirty="0">
                <a:latin typeface="Cambria Math"/>
                <a:cs typeface="Cambria Math"/>
              </a:rPr>
              <a:t>𝜆</a:t>
            </a:r>
            <a:r>
              <a:rPr sz="2800" spc="229" dirty="0">
                <a:latin typeface="Cambria Math"/>
                <a:cs typeface="Cambria Math"/>
              </a:rPr>
              <a:t> </a:t>
            </a:r>
            <a:r>
              <a:rPr sz="2800" spc="-295" dirty="0">
                <a:latin typeface="Verdana"/>
                <a:cs typeface="Verdana"/>
              </a:rPr>
              <a:t>is</a:t>
            </a:r>
            <a:r>
              <a:rPr sz="2800" spc="-195" dirty="0">
                <a:latin typeface="Verdana"/>
                <a:cs typeface="Verdana"/>
              </a:rPr>
              <a:t> </a:t>
            </a:r>
            <a:r>
              <a:rPr sz="2800" spc="-95" dirty="0">
                <a:latin typeface="Verdana"/>
                <a:cs typeface="Verdana"/>
              </a:rPr>
              <a:t>only</a:t>
            </a:r>
            <a:r>
              <a:rPr sz="2800" spc="-160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parameter</a:t>
            </a:r>
            <a:r>
              <a:rPr sz="2800" spc="-16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of</a:t>
            </a:r>
            <a:r>
              <a:rPr sz="2800" spc="-185" dirty="0">
                <a:latin typeface="Verdana"/>
                <a:cs typeface="Verdana"/>
              </a:rPr>
              <a:t> </a:t>
            </a:r>
            <a:r>
              <a:rPr sz="2800" spc="-135" dirty="0">
                <a:latin typeface="Verdana"/>
                <a:cs typeface="Verdana"/>
              </a:rPr>
              <a:t>PD.</a:t>
            </a:r>
            <a:r>
              <a:rPr sz="2800" spc="-175" dirty="0">
                <a:latin typeface="Verdana"/>
                <a:cs typeface="Verdana"/>
              </a:rPr>
              <a:t> </a:t>
            </a:r>
            <a:r>
              <a:rPr sz="2800" spc="150" dirty="0">
                <a:latin typeface="Verdana"/>
                <a:cs typeface="Verdana"/>
              </a:rPr>
              <a:t>A</a:t>
            </a:r>
            <a:r>
              <a:rPr sz="2800" spc="-170" dirty="0">
                <a:latin typeface="Verdana"/>
                <a:cs typeface="Verdana"/>
              </a:rPr>
              <a:t> </a:t>
            </a:r>
            <a:r>
              <a:rPr sz="2800" spc="-130" dirty="0">
                <a:latin typeface="Verdana"/>
                <a:cs typeface="Verdana"/>
              </a:rPr>
              <a:t>Poisson</a:t>
            </a:r>
            <a:r>
              <a:rPr sz="2800" spc="-170" dirty="0">
                <a:latin typeface="Verdana"/>
                <a:cs typeface="Verdana"/>
              </a:rPr>
              <a:t> </a:t>
            </a:r>
            <a:r>
              <a:rPr sz="2800" spc="-130" dirty="0">
                <a:latin typeface="Verdana"/>
                <a:cs typeface="Verdana"/>
              </a:rPr>
              <a:t>distribution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-320" dirty="0">
                <a:latin typeface="Verdana"/>
                <a:cs typeface="Verdana"/>
              </a:rPr>
              <a:t>is </a:t>
            </a:r>
            <a:r>
              <a:rPr sz="2800" dirty="0">
                <a:latin typeface="Verdana"/>
                <a:cs typeface="Verdana"/>
              </a:rPr>
              <a:t>completely</a:t>
            </a:r>
            <a:r>
              <a:rPr sz="2800" spc="-17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specified</a:t>
            </a:r>
            <a:r>
              <a:rPr sz="2800" spc="-195" dirty="0">
                <a:latin typeface="Verdana"/>
                <a:cs typeface="Verdana"/>
              </a:rPr>
              <a:t> </a:t>
            </a:r>
            <a:r>
              <a:rPr sz="2800" spc="-155" dirty="0">
                <a:latin typeface="Verdana"/>
                <a:cs typeface="Verdana"/>
              </a:rPr>
              <a:t>if</a:t>
            </a:r>
            <a:r>
              <a:rPr sz="2800" spc="-215" dirty="0">
                <a:latin typeface="Verdana"/>
                <a:cs typeface="Verdana"/>
              </a:rPr>
              <a:t> </a:t>
            </a:r>
            <a:r>
              <a:rPr sz="2800" spc="75" dirty="0">
                <a:latin typeface="Verdana"/>
                <a:cs typeface="Verdana"/>
              </a:rPr>
              <a:t>we</a:t>
            </a:r>
            <a:r>
              <a:rPr sz="2800" spc="-185" dirty="0">
                <a:latin typeface="Verdana"/>
                <a:cs typeface="Verdana"/>
              </a:rPr>
              <a:t> </a:t>
            </a:r>
            <a:r>
              <a:rPr sz="2800" spc="-65" dirty="0">
                <a:latin typeface="Verdana"/>
                <a:cs typeface="Verdana"/>
              </a:rPr>
              <a:t>known</a:t>
            </a:r>
            <a:r>
              <a:rPr sz="2800" spc="-190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the</a:t>
            </a:r>
            <a:r>
              <a:rPr sz="2800" spc="-170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value</a:t>
            </a:r>
            <a:r>
              <a:rPr sz="2800" spc="-20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of</a:t>
            </a:r>
            <a:r>
              <a:rPr sz="2800" spc="-155" dirty="0">
                <a:latin typeface="Verdana"/>
                <a:cs typeface="Verdana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𝜆</a:t>
            </a:r>
            <a:r>
              <a:rPr sz="2800" spc="-25" dirty="0">
                <a:latin typeface="Verdana"/>
                <a:cs typeface="Verdana"/>
              </a:rPr>
              <a:t>.</a:t>
            </a:r>
            <a:endParaRPr sz="2800" dirty="0">
              <a:latin typeface="Verdana"/>
              <a:cs typeface="Verdana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23C0E00-498F-2DFB-C4D7-FD003A8EC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3993A-FF0D-4085-AA0C-3D344CB5E6F8}" type="datetime1">
              <a:rPr lang="en-US" smtClean="0"/>
              <a:t>7/22/2024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6414" y="593216"/>
            <a:ext cx="106730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0" spc="-80" dirty="0">
                <a:solidFill>
                  <a:srgbClr val="000000"/>
                </a:solidFill>
                <a:latin typeface="Verdana"/>
                <a:cs typeface="Verdana"/>
              </a:rPr>
              <a:t>Example:</a:t>
            </a:r>
            <a:r>
              <a:rPr sz="1800" b="0" spc="-85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800" b="0" spc="-65" dirty="0">
                <a:solidFill>
                  <a:srgbClr val="000000"/>
                </a:solidFill>
                <a:latin typeface="Verdana"/>
                <a:cs typeface="Verdana"/>
              </a:rPr>
              <a:t>Customers</a:t>
            </a:r>
            <a:r>
              <a:rPr sz="1800" b="0" spc="-35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800" b="0" spc="-75" dirty="0">
                <a:solidFill>
                  <a:srgbClr val="000000"/>
                </a:solidFill>
                <a:latin typeface="Verdana"/>
                <a:cs typeface="Verdana"/>
              </a:rPr>
              <a:t>arrive</a:t>
            </a:r>
            <a:r>
              <a:rPr sz="1800" b="0" spc="-114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800" b="0" dirty="0">
                <a:solidFill>
                  <a:srgbClr val="000000"/>
                </a:solidFill>
                <a:latin typeface="Verdana"/>
                <a:cs typeface="Verdana"/>
              </a:rPr>
              <a:t>at</a:t>
            </a:r>
            <a:r>
              <a:rPr sz="1800" b="0" spc="-7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800" b="0" spc="140" dirty="0">
                <a:solidFill>
                  <a:srgbClr val="000000"/>
                </a:solidFill>
                <a:latin typeface="Verdana"/>
                <a:cs typeface="Verdana"/>
              </a:rPr>
              <a:t>a</a:t>
            </a:r>
            <a:r>
              <a:rPr sz="1800" b="0" spc="-8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800" b="0" dirty="0">
                <a:solidFill>
                  <a:srgbClr val="000000"/>
                </a:solidFill>
                <a:latin typeface="Verdana"/>
                <a:cs typeface="Verdana"/>
              </a:rPr>
              <a:t>photocopying</a:t>
            </a:r>
            <a:r>
              <a:rPr sz="1800" b="0" spc="-75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800" b="0" dirty="0">
                <a:solidFill>
                  <a:srgbClr val="000000"/>
                </a:solidFill>
                <a:latin typeface="Verdana"/>
                <a:cs typeface="Verdana"/>
              </a:rPr>
              <a:t>machine</a:t>
            </a:r>
            <a:r>
              <a:rPr sz="1800" b="0" spc="-85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800" b="0" dirty="0">
                <a:solidFill>
                  <a:srgbClr val="000000"/>
                </a:solidFill>
                <a:latin typeface="Verdana"/>
                <a:cs typeface="Verdana"/>
              </a:rPr>
              <a:t>at</a:t>
            </a:r>
            <a:r>
              <a:rPr sz="1800" b="0" spc="-7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800" b="0" dirty="0">
                <a:solidFill>
                  <a:srgbClr val="000000"/>
                </a:solidFill>
                <a:latin typeface="Verdana"/>
                <a:cs typeface="Verdana"/>
              </a:rPr>
              <a:t>an</a:t>
            </a:r>
            <a:r>
              <a:rPr sz="1800" b="0" spc="-8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800" b="0" dirty="0">
                <a:solidFill>
                  <a:srgbClr val="000000"/>
                </a:solidFill>
                <a:latin typeface="Verdana"/>
                <a:cs typeface="Verdana"/>
              </a:rPr>
              <a:t>average</a:t>
            </a:r>
            <a:r>
              <a:rPr sz="1800" b="0" spc="-8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800" b="0" spc="-25" dirty="0">
                <a:solidFill>
                  <a:srgbClr val="000000"/>
                </a:solidFill>
                <a:latin typeface="Verdana"/>
                <a:cs typeface="Verdana"/>
              </a:rPr>
              <a:t>rate</a:t>
            </a:r>
            <a:r>
              <a:rPr sz="1800" b="0" spc="-65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800" b="0" dirty="0">
                <a:solidFill>
                  <a:srgbClr val="000000"/>
                </a:solidFill>
                <a:latin typeface="Verdana"/>
                <a:cs typeface="Verdana"/>
              </a:rPr>
              <a:t>of</a:t>
            </a:r>
            <a:r>
              <a:rPr sz="1800" b="0" spc="-75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800" b="0" spc="-10" dirty="0">
                <a:solidFill>
                  <a:srgbClr val="000000"/>
                </a:solidFill>
                <a:latin typeface="Verdana"/>
                <a:cs typeface="Verdana"/>
              </a:rPr>
              <a:t>two</a:t>
            </a:r>
            <a:r>
              <a:rPr sz="1800" b="0" spc="-35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800" b="0" spc="-45" dirty="0">
                <a:solidFill>
                  <a:srgbClr val="000000"/>
                </a:solidFill>
                <a:latin typeface="Verdana"/>
                <a:cs typeface="Verdana"/>
              </a:rPr>
              <a:t>every</a:t>
            </a:r>
            <a:r>
              <a:rPr sz="1800" b="0" spc="-9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800" b="0" spc="-160" dirty="0">
                <a:solidFill>
                  <a:srgbClr val="000000"/>
                </a:solidFill>
                <a:latin typeface="Verdana"/>
                <a:cs typeface="Verdana"/>
              </a:rPr>
              <a:t>10</a:t>
            </a:r>
            <a:r>
              <a:rPr sz="1800" b="0" spc="-6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800" b="0" spc="-20" dirty="0">
                <a:solidFill>
                  <a:srgbClr val="000000"/>
                </a:solidFill>
                <a:latin typeface="Verdana"/>
                <a:cs typeface="Verdana"/>
              </a:rPr>
              <a:t>mins </a:t>
            </a:r>
            <a:r>
              <a:rPr sz="1800" b="0" spc="-80" dirty="0">
                <a:solidFill>
                  <a:srgbClr val="000000"/>
                </a:solidFill>
                <a:latin typeface="Verdana"/>
                <a:cs typeface="Verdana"/>
              </a:rPr>
              <a:t>interval.</a:t>
            </a:r>
            <a:r>
              <a:rPr sz="1800" b="0" spc="-135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800" b="0" spc="-110" dirty="0">
                <a:solidFill>
                  <a:srgbClr val="000000"/>
                </a:solidFill>
                <a:latin typeface="Verdana"/>
                <a:cs typeface="Verdana"/>
              </a:rPr>
              <a:t>The</a:t>
            </a:r>
            <a:r>
              <a:rPr sz="1800" b="0" spc="-105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800" b="0" spc="-55" dirty="0">
                <a:solidFill>
                  <a:srgbClr val="000000"/>
                </a:solidFill>
                <a:latin typeface="Verdana"/>
                <a:cs typeface="Verdana"/>
              </a:rPr>
              <a:t>no.</a:t>
            </a:r>
            <a:r>
              <a:rPr sz="1800" b="0" spc="-105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800" b="0" dirty="0">
                <a:solidFill>
                  <a:srgbClr val="000000"/>
                </a:solidFill>
                <a:latin typeface="Verdana"/>
                <a:cs typeface="Verdana"/>
              </a:rPr>
              <a:t>of</a:t>
            </a:r>
            <a:r>
              <a:rPr sz="1800" b="0" spc="-114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800" b="0" spc="-105" dirty="0">
                <a:solidFill>
                  <a:srgbClr val="000000"/>
                </a:solidFill>
                <a:latin typeface="Verdana"/>
                <a:cs typeface="Verdana"/>
              </a:rPr>
              <a:t>arrivals</a:t>
            </a:r>
            <a:r>
              <a:rPr sz="1800" b="0" spc="-15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800" b="0" spc="-190" dirty="0">
                <a:solidFill>
                  <a:srgbClr val="000000"/>
                </a:solidFill>
                <a:latin typeface="Verdana"/>
                <a:cs typeface="Verdana"/>
              </a:rPr>
              <a:t>is</a:t>
            </a:r>
            <a:r>
              <a:rPr sz="1800" b="0" spc="-14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800" b="0" spc="-60" dirty="0">
                <a:solidFill>
                  <a:srgbClr val="000000"/>
                </a:solidFill>
                <a:latin typeface="Verdana"/>
                <a:cs typeface="Verdana"/>
              </a:rPr>
              <a:t>distributed</a:t>
            </a:r>
            <a:r>
              <a:rPr sz="1800" b="0" spc="-95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800" b="0" spc="45" dirty="0">
                <a:solidFill>
                  <a:srgbClr val="000000"/>
                </a:solidFill>
                <a:latin typeface="Verdana"/>
                <a:cs typeface="Verdana"/>
              </a:rPr>
              <a:t>according</a:t>
            </a:r>
            <a:r>
              <a:rPr sz="1800" b="0" spc="-135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800" b="0" spc="-20" dirty="0">
                <a:solidFill>
                  <a:srgbClr val="000000"/>
                </a:solidFill>
                <a:latin typeface="Verdana"/>
                <a:cs typeface="Verdana"/>
              </a:rPr>
              <a:t>to</a:t>
            </a:r>
            <a:r>
              <a:rPr sz="1800" b="0" spc="-105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800" b="0" spc="140" dirty="0">
                <a:solidFill>
                  <a:srgbClr val="000000"/>
                </a:solidFill>
                <a:latin typeface="Verdana"/>
                <a:cs typeface="Verdana"/>
              </a:rPr>
              <a:t>a</a:t>
            </a:r>
            <a:r>
              <a:rPr sz="1800" b="0" spc="-13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800" b="0" spc="-85" dirty="0">
                <a:solidFill>
                  <a:srgbClr val="000000"/>
                </a:solidFill>
                <a:latin typeface="Verdana"/>
                <a:cs typeface="Verdana"/>
              </a:rPr>
              <a:t>PD.</a:t>
            </a:r>
            <a:r>
              <a:rPr sz="1800" b="0" spc="-114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800" b="0" spc="-25" dirty="0">
                <a:solidFill>
                  <a:srgbClr val="000000"/>
                </a:solidFill>
                <a:latin typeface="Verdana"/>
                <a:cs typeface="Verdana"/>
              </a:rPr>
              <a:t>What</a:t>
            </a:r>
            <a:r>
              <a:rPr sz="1800" b="0" spc="-6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800" b="0" spc="-190" dirty="0">
                <a:solidFill>
                  <a:srgbClr val="000000"/>
                </a:solidFill>
                <a:latin typeface="Verdana"/>
                <a:cs typeface="Verdana"/>
              </a:rPr>
              <a:t>is</a:t>
            </a:r>
            <a:r>
              <a:rPr sz="1800" b="0" spc="-14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800" b="0" spc="-20" dirty="0">
                <a:solidFill>
                  <a:srgbClr val="000000"/>
                </a:solidFill>
                <a:latin typeface="Verdana"/>
                <a:cs typeface="Verdana"/>
              </a:rPr>
              <a:t>the</a:t>
            </a:r>
            <a:r>
              <a:rPr sz="1800" b="0" spc="-95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800" b="0" spc="-40" dirty="0">
                <a:solidFill>
                  <a:srgbClr val="000000"/>
                </a:solidFill>
                <a:latin typeface="Verdana"/>
                <a:cs typeface="Verdana"/>
              </a:rPr>
              <a:t>probability</a:t>
            </a:r>
            <a:r>
              <a:rPr sz="1800" b="0" spc="-14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800" b="0" spc="-10" dirty="0">
                <a:solidFill>
                  <a:srgbClr val="000000"/>
                </a:solidFill>
                <a:latin typeface="Verdana"/>
                <a:cs typeface="Verdana"/>
              </a:rPr>
              <a:t>that: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Copyright:</a:t>
            </a:r>
            <a:r>
              <a:rPr spc="-15" dirty="0"/>
              <a:t> </a:t>
            </a:r>
            <a:r>
              <a:rPr spc="-55" dirty="0"/>
              <a:t>Santosh</a:t>
            </a:r>
            <a:r>
              <a:rPr spc="-35" dirty="0"/>
              <a:t> </a:t>
            </a:r>
            <a:r>
              <a:rPr spc="-10" dirty="0"/>
              <a:t>Chhatkuli</a:t>
            </a:r>
          </a:p>
        </p:txBody>
      </p:sp>
      <p:sp>
        <p:nvSpPr>
          <p:cNvPr id="3" name="object 3"/>
          <p:cNvSpPr/>
          <p:nvPr/>
        </p:nvSpPr>
        <p:spPr>
          <a:xfrm>
            <a:off x="2835275" y="4248022"/>
            <a:ext cx="487680" cy="15240"/>
          </a:xfrm>
          <a:custGeom>
            <a:avLst/>
            <a:gdLst/>
            <a:ahLst/>
            <a:cxnLst/>
            <a:rect l="l" t="t" r="r" b="b"/>
            <a:pathLst>
              <a:path w="487679" h="15239">
                <a:moveTo>
                  <a:pt x="487679" y="0"/>
                </a:moveTo>
                <a:lnTo>
                  <a:pt x="0" y="0"/>
                </a:lnTo>
                <a:lnTo>
                  <a:pt x="0" y="15239"/>
                </a:lnTo>
                <a:lnTo>
                  <a:pt x="487679" y="15239"/>
                </a:lnTo>
                <a:lnTo>
                  <a:pt x="4876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588130" y="4248022"/>
            <a:ext cx="483234" cy="15240"/>
          </a:xfrm>
          <a:custGeom>
            <a:avLst/>
            <a:gdLst/>
            <a:ahLst/>
            <a:cxnLst/>
            <a:rect l="l" t="t" r="r" b="b"/>
            <a:pathLst>
              <a:path w="483235" h="15239">
                <a:moveTo>
                  <a:pt x="483108" y="0"/>
                </a:moveTo>
                <a:lnTo>
                  <a:pt x="0" y="0"/>
                </a:lnTo>
                <a:lnTo>
                  <a:pt x="0" y="15239"/>
                </a:lnTo>
                <a:lnTo>
                  <a:pt x="483108" y="15239"/>
                </a:lnTo>
                <a:lnTo>
                  <a:pt x="48310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13714" y="1142313"/>
            <a:ext cx="8868410" cy="3340735"/>
          </a:xfrm>
          <a:prstGeom prst="rect">
            <a:avLst/>
          </a:prstGeom>
        </p:spPr>
        <p:txBody>
          <a:bodyPr vert="horz" wrap="square" lIns="0" tIns="126364" rIns="0" bIns="0" rtlCol="0">
            <a:spAutoFit/>
          </a:bodyPr>
          <a:lstStyle/>
          <a:p>
            <a:pPr marL="412115" indent="-387350">
              <a:lnSpc>
                <a:spcPct val="100000"/>
              </a:lnSpc>
              <a:spcBef>
                <a:spcPts val="994"/>
              </a:spcBef>
              <a:buAutoNum type="alphaLcParenBoth"/>
              <a:tabLst>
                <a:tab pos="412750" algn="l"/>
              </a:tabLst>
            </a:pPr>
            <a:r>
              <a:rPr sz="1800" spc="-105" dirty="0">
                <a:latin typeface="Verdana"/>
                <a:cs typeface="Verdana"/>
              </a:rPr>
              <a:t>There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spc="-110" dirty="0">
                <a:latin typeface="Verdana"/>
                <a:cs typeface="Verdana"/>
              </a:rPr>
              <a:t>will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spc="95" dirty="0">
                <a:latin typeface="Verdana"/>
                <a:cs typeface="Verdana"/>
              </a:rPr>
              <a:t>be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no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spc="-100" dirty="0">
                <a:latin typeface="Verdana"/>
                <a:cs typeface="Verdana"/>
              </a:rPr>
              <a:t>arrivals</a:t>
            </a:r>
            <a:r>
              <a:rPr sz="1800" spc="-155" dirty="0">
                <a:latin typeface="Verdana"/>
                <a:cs typeface="Verdana"/>
              </a:rPr>
              <a:t> </a:t>
            </a:r>
            <a:r>
              <a:rPr sz="1800" spc="-50" dirty="0">
                <a:latin typeface="Verdana"/>
                <a:cs typeface="Verdana"/>
              </a:rPr>
              <a:t>during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any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period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ten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minutes</a:t>
            </a:r>
            <a:endParaRPr sz="1800" dirty="0">
              <a:latin typeface="Verdana"/>
              <a:cs typeface="Verdana"/>
            </a:endParaRPr>
          </a:p>
          <a:p>
            <a:pPr marL="412115" indent="-387350">
              <a:lnSpc>
                <a:spcPct val="100000"/>
              </a:lnSpc>
              <a:spcBef>
                <a:spcPts val="900"/>
              </a:spcBef>
              <a:buAutoNum type="alphaLcParenBoth"/>
              <a:tabLst>
                <a:tab pos="412750" algn="l"/>
              </a:tabLst>
            </a:pPr>
            <a:r>
              <a:rPr sz="1800" spc="-100" dirty="0">
                <a:latin typeface="Verdana"/>
                <a:cs typeface="Verdana"/>
              </a:rPr>
              <a:t>There</a:t>
            </a:r>
            <a:r>
              <a:rPr sz="1800" spc="-75" dirty="0">
                <a:latin typeface="Verdana"/>
                <a:cs typeface="Verdana"/>
              </a:rPr>
              <a:t> </a:t>
            </a:r>
            <a:r>
              <a:rPr sz="1800" spc="-100" dirty="0">
                <a:latin typeface="Verdana"/>
                <a:cs typeface="Verdana"/>
              </a:rPr>
              <a:t>will </a:t>
            </a:r>
            <a:r>
              <a:rPr sz="1800" spc="95" dirty="0">
                <a:latin typeface="Verdana"/>
                <a:cs typeface="Verdana"/>
              </a:rPr>
              <a:t>be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exactly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one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spc="-80" dirty="0">
                <a:latin typeface="Verdana"/>
                <a:cs typeface="Verdana"/>
              </a:rPr>
              <a:t>arrival</a:t>
            </a:r>
            <a:r>
              <a:rPr sz="1800" spc="-140" dirty="0">
                <a:latin typeface="Verdana"/>
                <a:cs typeface="Verdana"/>
              </a:rPr>
              <a:t> </a:t>
            </a:r>
            <a:r>
              <a:rPr sz="1800" spc="-50" dirty="0">
                <a:latin typeface="Verdana"/>
                <a:cs typeface="Verdana"/>
              </a:rPr>
              <a:t>during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spc="-135" dirty="0">
                <a:latin typeface="Verdana"/>
                <a:cs typeface="Verdana"/>
              </a:rPr>
              <a:t>this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spc="-55" dirty="0">
                <a:latin typeface="Verdana"/>
                <a:cs typeface="Verdana"/>
              </a:rPr>
              <a:t>time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period</a:t>
            </a:r>
            <a:endParaRPr sz="1800" dirty="0">
              <a:latin typeface="Verdana"/>
              <a:cs typeface="Verdana"/>
            </a:endParaRPr>
          </a:p>
          <a:p>
            <a:pPr marL="25400" marR="1283970">
              <a:lnSpc>
                <a:spcPct val="141700"/>
              </a:lnSpc>
              <a:buAutoNum type="alphaLcParenBoth"/>
              <a:tabLst>
                <a:tab pos="405130" algn="l"/>
              </a:tabLst>
            </a:pPr>
            <a:r>
              <a:rPr sz="1800" spc="-105" dirty="0">
                <a:latin typeface="Verdana"/>
                <a:cs typeface="Verdana"/>
              </a:rPr>
              <a:t>There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spc="-110" dirty="0">
                <a:latin typeface="Verdana"/>
                <a:cs typeface="Verdana"/>
              </a:rPr>
              <a:t>will </a:t>
            </a:r>
            <a:r>
              <a:rPr sz="1800" spc="95" dirty="0">
                <a:latin typeface="Verdana"/>
                <a:cs typeface="Verdana"/>
              </a:rPr>
              <a:t>be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two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spc="-75" dirty="0">
                <a:latin typeface="Verdana"/>
                <a:cs typeface="Verdana"/>
              </a:rPr>
              <a:t>or</a:t>
            </a:r>
            <a:r>
              <a:rPr sz="1800" spc="-140" dirty="0">
                <a:latin typeface="Verdana"/>
                <a:cs typeface="Verdana"/>
              </a:rPr>
              <a:t> </a:t>
            </a:r>
            <a:r>
              <a:rPr sz="1800" spc="-40" dirty="0">
                <a:latin typeface="Verdana"/>
                <a:cs typeface="Verdana"/>
              </a:rPr>
              <a:t>more</a:t>
            </a:r>
            <a:r>
              <a:rPr sz="1800" spc="-14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than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two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spc="-100" dirty="0">
                <a:latin typeface="Verdana"/>
                <a:cs typeface="Verdana"/>
              </a:rPr>
              <a:t>arrivals</a:t>
            </a:r>
            <a:r>
              <a:rPr sz="1800" spc="-155" dirty="0">
                <a:latin typeface="Verdana"/>
                <a:cs typeface="Verdana"/>
              </a:rPr>
              <a:t> </a:t>
            </a:r>
            <a:r>
              <a:rPr sz="1800" spc="-55" dirty="0">
                <a:latin typeface="Verdana"/>
                <a:cs typeface="Verdana"/>
              </a:rPr>
              <a:t>during</a:t>
            </a:r>
            <a:r>
              <a:rPr sz="1800" spc="-140" dirty="0">
                <a:latin typeface="Verdana"/>
                <a:cs typeface="Verdana"/>
              </a:rPr>
              <a:t> </a:t>
            </a:r>
            <a:r>
              <a:rPr sz="1800" spc="-135" dirty="0">
                <a:latin typeface="Verdana"/>
                <a:cs typeface="Verdana"/>
              </a:rPr>
              <a:t>this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spc="-55" dirty="0">
                <a:latin typeface="Verdana"/>
                <a:cs typeface="Verdana"/>
              </a:rPr>
              <a:t>time</a:t>
            </a:r>
            <a:r>
              <a:rPr sz="1800" spc="-14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period Solution:</a:t>
            </a:r>
            <a:endParaRPr sz="1800" dirty="0">
              <a:latin typeface="Verdana"/>
              <a:cs typeface="Verdana"/>
            </a:endParaRPr>
          </a:p>
          <a:p>
            <a:pPr marL="939165">
              <a:lnSpc>
                <a:spcPct val="100000"/>
              </a:lnSpc>
              <a:spcBef>
                <a:spcPts val="900"/>
              </a:spcBef>
            </a:pPr>
            <a:r>
              <a:rPr sz="1800" spc="-155" dirty="0">
                <a:latin typeface="Verdana"/>
                <a:cs typeface="Verdana"/>
              </a:rPr>
              <a:t>X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spc="-385" dirty="0">
                <a:latin typeface="Verdana"/>
                <a:cs typeface="Verdana"/>
              </a:rPr>
              <a:t>=</a:t>
            </a:r>
            <a:r>
              <a:rPr sz="1800" spc="445" dirty="0">
                <a:latin typeface="Verdana"/>
                <a:cs typeface="Verdana"/>
              </a:rPr>
              <a:t> </a:t>
            </a:r>
            <a:r>
              <a:rPr sz="1800" spc="-40" dirty="0">
                <a:latin typeface="Verdana"/>
                <a:cs typeface="Verdana"/>
              </a:rPr>
              <a:t>No.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spc="-100" dirty="0">
                <a:latin typeface="Verdana"/>
                <a:cs typeface="Verdana"/>
              </a:rPr>
              <a:t>arrivals</a:t>
            </a:r>
            <a:r>
              <a:rPr sz="1800" spc="-1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at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spc="140" dirty="0">
                <a:latin typeface="Verdana"/>
                <a:cs typeface="Verdana"/>
              </a:rPr>
              <a:t>a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photocopying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machine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spc="-85" dirty="0">
                <a:latin typeface="Verdana"/>
                <a:cs typeface="Verdana"/>
              </a:rPr>
              <a:t>in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spc="-45" dirty="0">
                <a:latin typeface="Verdana"/>
                <a:cs typeface="Verdana"/>
              </a:rPr>
              <a:t>every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spc="-160" dirty="0">
                <a:latin typeface="Verdana"/>
                <a:cs typeface="Verdana"/>
              </a:rPr>
              <a:t>10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mins</a:t>
            </a:r>
            <a:endParaRPr sz="1800" dirty="0">
              <a:latin typeface="Verdana"/>
              <a:cs typeface="Verdana"/>
            </a:endParaRPr>
          </a:p>
          <a:p>
            <a:pPr marL="939165">
              <a:lnSpc>
                <a:spcPct val="100000"/>
              </a:lnSpc>
              <a:spcBef>
                <a:spcPts val="900"/>
              </a:spcBef>
            </a:pPr>
            <a:r>
              <a:rPr sz="1800" spc="-114" dirty="0">
                <a:latin typeface="Verdana"/>
                <a:cs typeface="Verdana"/>
              </a:rPr>
              <a:t>λ</a:t>
            </a:r>
            <a:r>
              <a:rPr sz="1800" spc="-75" dirty="0">
                <a:latin typeface="Verdana"/>
                <a:cs typeface="Verdana"/>
              </a:rPr>
              <a:t> </a:t>
            </a:r>
            <a:r>
              <a:rPr sz="1800" spc="-385" dirty="0">
                <a:latin typeface="Verdana"/>
                <a:cs typeface="Verdana"/>
              </a:rPr>
              <a:t>=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Average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spc="-50" dirty="0">
                <a:latin typeface="Verdana"/>
                <a:cs typeface="Verdana"/>
              </a:rPr>
              <a:t>no.</a:t>
            </a:r>
            <a:r>
              <a:rPr sz="1800" spc="-6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spc="-105" dirty="0">
                <a:latin typeface="Verdana"/>
                <a:cs typeface="Verdana"/>
              </a:rPr>
              <a:t>arrivals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at</a:t>
            </a:r>
            <a:r>
              <a:rPr sz="1800" spc="-60" dirty="0">
                <a:latin typeface="Verdana"/>
                <a:cs typeface="Verdana"/>
              </a:rPr>
              <a:t> </a:t>
            </a:r>
            <a:r>
              <a:rPr sz="1800" spc="140" dirty="0">
                <a:latin typeface="Verdana"/>
                <a:cs typeface="Verdana"/>
              </a:rPr>
              <a:t>a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photocopying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machine</a:t>
            </a:r>
            <a:r>
              <a:rPr sz="1800" spc="-75" dirty="0">
                <a:latin typeface="Verdana"/>
                <a:cs typeface="Verdana"/>
              </a:rPr>
              <a:t> </a:t>
            </a:r>
            <a:r>
              <a:rPr sz="1800" spc="-85" dirty="0">
                <a:latin typeface="Verdana"/>
                <a:cs typeface="Verdana"/>
              </a:rPr>
              <a:t>in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spc="-50" dirty="0">
                <a:latin typeface="Verdana"/>
                <a:cs typeface="Verdana"/>
              </a:rPr>
              <a:t>every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spc="-160" dirty="0">
                <a:latin typeface="Verdana"/>
                <a:cs typeface="Verdana"/>
              </a:rPr>
              <a:t>10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mins</a:t>
            </a:r>
            <a:endParaRPr sz="1800" dirty="0">
              <a:latin typeface="Verdana"/>
              <a:cs typeface="Verdana"/>
            </a:endParaRPr>
          </a:p>
          <a:p>
            <a:pPr marL="25400">
              <a:lnSpc>
                <a:spcPct val="100000"/>
              </a:lnSpc>
              <a:spcBef>
                <a:spcPts val="905"/>
              </a:spcBef>
            </a:pPr>
            <a:r>
              <a:rPr sz="1800" dirty="0">
                <a:latin typeface="Verdana"/>
                <a:cs typeface="Verdana"/>
              </a:rPr>
              <a:t>We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know,</a:t>
            </a:r>
            <a:endParaRPr sz="1800" dirty="0">
              <a:latin typeface="Verdana"/>
              <a:cs typeface="Verdana"/>
            </a:endParaRPr>
          </a:p>
          <a:p>
            <a:pPr marL="2123440">
              <a:lnSpc>
                <a:spcPts val="1025"/>
              </a:lnSpc>
              <a:spcBef>
                <a:spcPts val="930"/>
              </a:spcBef>
              <a:tabLst>
                <a:tab pos="2875280" algn="l"/>
              </a:tabLst>
            </a:pPr>
            <a:r>
              <a:rPr sz="1050" spc="70" dirty="0">
                <a:latin typeface="Cambria Math"/>
                <a:cs typeface="Cambria Math"/>
              </a:rPr>
              <a:t>−𝜆</a:t>
            </a:r>
            <a:r>
              <a:rPr sz="1050" spc="175" dirty="0">
                <a:latin typeface="Cambria Math"/>
                <a:cs typeface="Cambria Math"/>
              </a:rPr>
              <a:t>  </a:t>
            </a:r>
            <a:r>
              <a:rPr sz="1050" spc="70" dirty="0">
                <a:latin typeface="Cambria Math"/>
                <a:cs typeface="Cambria Math"/>
              </a:rPr>
              <a:t>𝑥</a:t>
            </a:r>
            <a:r>
              <a:rPr sz="1050" dirty="0">
                <a:latin typeface="Cambria Math"/>
                <a:cs typeface="Cambria Math"/>
              </a:rPr>
              <a:t>	−2</a:t>
            </a:r>
            <a:r>
              <a:rPr sz="1050" spc="215" dirty="0">
                <a:latin typeface="Cambria Math"/>
                <a:cs typeface="Cambria Math"/>
              </a:rPr>
              <a:t>  </a:t>
            </a:r>
            <a:r>
              <a:rPr sz="1050" spc="70" dirty="0">
                <a:latin typeface="Cambria Math"/>
                <a:cs typeface="Cambria Math"/>
              </a:rPr>
              <a:t>𝑥</a:t>
            </a:r>
            <a:endParaRPr sz="1050" dirty="0">
              <a:latin typeface="Cambria Math"/>
              <a:cs typeface="Cambria Math"/>
            </a:endParaRPr>
          </a:p>
          <a:p>
            <a:pPr marL="939165">
              <a:lnSpc>
                <a:spcPts val="1545"/>
              </a:lnSpc>
              <a:tabLst>
                <a:tab pos="2320290" algn="l"/>
                <a:tab pos="2573655" algn="l"/>
                <a:tab pos="3068955" algn="l"/>
              </a:tabLst>
            </a:pPr>
            <a:r>
              <a:rPr sz="1800" spc="-135" dirty="0">
                <a:latin typeface="Verdana"/>
                <a:cs typeface="Verdana"/>
              </a:rPr>
              <a:t>P(X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spc="-385" dirty="0">
                <a:latin typeface="Verdana"/>
                <a:cs typeface="Verdana"/>
              </a:rPr>
              <a:t>=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spc="-185" dirty="0">
                <a:latin typeface="Verdana"/>
                <a:cs typeface="Verdana"/>
              </a:rPr>
              <a:t>x)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spc="-385" dirty="0">
                <a:latin typeface="Verdana"/>
                <a:cs typeface="Verdana"/>
              </a:rPr>
              <a:t>=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950" spc="30" baseline="44871" dirty="0">
                <a:latin typeface="Cambria Math"/>
                <a:cs typeface="Cambria Math"/>
              </a:rPr>
              <a:t>𝑒</a:t>
            </a:r>
            <a:r>
              <a:rPr sz="1950" baseline="44871" dirty="0">
                <a:latin typeface="Cambria Math"/>
                <a:cs typeface="Cambria Math"/>
              </a:rPr>
              <a:t>	</a:t>
            </a:r>
            <a:r>
              <a:rPr sz="1950" spc="60" baseline="44871" dirty="0">
                <a:latin typeface="Cambria Math"/>
                <a:cs typeface="Cambria Math"/>
              </a:rPr>
              <a:t>𝜆</a:t>
            </a:r>
            <a:r>
              <a:rPr sz="1950" baseline="44871" dirty="0">
                <a:latin typeface="Cambria Math"/>
                <a:cs typeface="Cambria Math"/>
              </a:rPr>
              <a:t>	</a:t>
            </a:r>
            <a:r>
              <a:rPr sz="1800" spc="-385" dirty="0">
                <a:latin typeface="Verdana"/>
                <a:cs typeface="Verdana"/>
              </a:rPr>
              <a:t>=</a:t>
            </a:r>
            <a:r>
              <a:rPr sz="1800" spc="-140" dirty="0">
                <a:latin typeface="Verdana"/>
                <a:cs typeface="Verdana"/>
              </a:rPr>
              <a:t> </a:t>
            </a:r>
            <a:r>
              <a:rPr sz="1950" spc="30" baseline="44871" dirty="0">
                <a:latin typeface="Cambria Math"/>
                <a:cs typeface="Cambria Math"/>
              </a:rPr>
              <a:t>𝑒</a:t>
            </a:r>
            <a:r>
              <a:rPr sz="1950" baseline="44871" dirty="0">
                <a:latin typeface="Cambria Math"/>
                <a:cs typeface="Cambria Math"/>
              </a:rPr>
              <a:t>	</a:t>
            </a:r>
            <a:r>
              <a:rPr sz="1950" spc="-75" baseline="44871" dirty="0">
                <a:latin typeface="Cambria Math"/>
                <a:cs typeface="Cambria Math"/>
              </a:rPr>
              <a:t>2</a:t>
            </a:r>
            <a:endParaRPr sz="1950" baseline="44871" dirty="0">
              <a:latin typeface="Cambria Math"/>
              <a:cs typeface="Cambria Math"/>
            </a:endParaRPr>
          </a:p>
          <a:p>
            <a:pPr marL="2188845">
              <a:lnSpc>
                <a:spcPts val="1180"/>
              </a:lnSpc>
              <a:tabLst>
                <a:tab pos="2940685" algn="l"/>
              </a:tabLst>
            </a:pPr>
            <a:r>
              <a:rPr sz="1300" spc="35" dirty="0">
                <a:latin typeface="Cambria Math"/>
                <a:cs typeface="Cambria Math"/>
              </a:rPr>
              <a:t>𝑥!</a:t>
            </a:r>
            <a:r>
              <a:rPr sz="1300" dirty="0">
                <a:latin typeface="Cambria Math"/>
                <a:cs typeface="Cambria Math"/>
              </a:rPr>
              <a:t>	</a:t>
            </a:r>
            <a:r>
              <a:rPr sz="1300" spc="35" dirty="0">
                <a:latin typeface="Cambria Math"/>
                <a:cs typeface="Cambria Math"/>
              </a:rPr>
              <a:t>𝑥!</a:t>
            </a:r>
            <a:endParaRPr sz="1300" dirty="0">
              <a:latin typeface="Cambria Math"/>
              <a:cs typeface="Cambria Math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853563" y="4790566"/>
            <a:ext cx="894715" cy="15240"/>
          </a:xfrm>
          <a:custGeom>
            <a:avLst/>
            <a:gdLst/>
            <a:ahLst/>
            <a:cxnLst/>
            <a:rect l="l" t="t" r="r" b="b"/>
            <a:pathLst>
              <a:path w="894714" h="15239">
                <a:moveTo>
                  <a:pt x="894588" y="0"/>
                </a:moveTo>
                <a:lnTo>
                  <a:pt x="0" y="0"/>
                </a:lnTo>
                <a:lnTo>
                  <a:pt x="0" y="15239"/>
                </a:lnTo>
                <a:lnTo>
                  <a:pt x="894588" y="15239"/>
                </a:lnTo>
                <a:lnTo>
                  <a:pt x="8945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216401" y="4798567"/>
            <a:ext cx="17145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25" dirty="0">
                <a:latin typeface="Cambria Math"/>
                <a:cs typeface="Cambria Math"/>
              </a:rPr>
              <a:t>0!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15389" y="4519676"/>
            <a:ext cx="3030855" cy="4038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659889">
              <a:lnSpc>
                <a:spcPts val="1025"/>
              </a:lnSpc>
              <a:spcBef>
                <a:spcPts val="130"/>
              </a:spcBef>
            </a:pPr>
            <a:r>
              <a:rPr sz="1050" dirty="0">
                <a:latin typeface="Cambria Math"/>
                <a:cs typeface="Cambria Math"/>
              </a:rPr>
              <a:t>−2</a:t>
            </a:r>
            <a:r>
              <a:rPr sz="1050" spc="200" dirty="0">
                <a:latin typeface="Cambria Math"/>
                <a:cs typeface="Cambria Math"/>
              </a:rPr>
              <a:t>  </a:t>
            </a:r>
            <a:r>
              <a:rPr sz="1050" spc="-5" dirty="0">
                <a:latin typeface="Cambria Math"/>
                <a:cs typeface="Cambria Math"/>
              </a:rPr>
              <a:t>0</a:t>
            </a:r>
            <a:endParaRPr sz="1050">
              <a:latin typeface="Cambria Math"/>
              <a:cs typeface="Cambria Math"/>
            </a:endParaRPr>
          </a:p>
          <a:p>
            <a:pPr marL="38100">
              <a:lnSpc>
                <a:spcPts val="1925"/>
              </a:lnSpc>
              <a:tabLst>
                <a:tab pos="1850389" algn="l"/>
                <a:tab pos="2096770" algn="l"/>
              </a:tabLst>
            </a:pPr>
            <a:r>
              <a:rPr sz="1800" spc="-135" dirty="0">
                <a:latin typeface="Verdana"/>
                <a:cs typeface="Verdana"/>
              </a:rPr>
              <a:t>P(X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spc="-385" dirty="0">
                <a:latin typeface="Verdana"/>
                <a:cs typeface="Verdana"/>
              </a:rPr>
              <a:t>=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spc="-165" dirty="0">
                <a:latin typeface="Verdana"/>
                <a:cs typeface="Verdana"/>
              </a:rPr>
              <a:t>0)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spc="-385" dirty="0">
                <a:latin typeface="Verdana"/>
                <a:cs typeface="Verdana"/>
              </a:rPr>
              <a:t>=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950" spc="-15" baseline="44871" dirty="0">
                <a:latin typeface="Cambria Math"/>
                <a:cs typeface="Cambria Math"/>
              </a:rPr>
              <a:t>2.7183</a:t>
            </a:r>
            <a:r>
              <a:rPr sz="1950" baseline="44871" dirty="0">
                <a:latin typeface="Cambria Math"/>
                <a:cs typeface="Cambria Math"/>
              </a:rPr>
              <a:t>	</a:t>
            </a:r>
            <a:r>
              <a:rPr sz="1950" spc="-75" baseline="44871" dirty="0">
                <a:latin typeface="Cambria Math"/>
                <a:cs typeface="Cambria Math"/>
              </a:rPr>
              <a:t>2</a:t>
            </a:r>
            <a:r>
              <a:rPr sz="1950" baseline="44871" dirty="0">
                <a:latin typeface="Cambria Math"/>
                <a:cs typeface="Cambria Math"/>
              </a:rPr>
              <a:t>	</a:t>
            </a:r>
            <a:r>
              <a:rPr sz="1800" spc="-385" dirty="0">
                <a:latin typeface="Verdana"/>
                <a:cs typeface="Verdana"/>
              </a:rPr>
              <a:t>=</a:t>
            </a:r>
            <a:r>
              <a:rPr sz="1800" spc="-140" dirty="0">
                <a:latin typeface="Verdana"/>
                <a:cs typeface="Verdana"/>
              </a:rPr>
              <a:t> </a:t>
            </a:r>
            <a:r>
              <a:rPr sz="1800" spc="-114" dirty="0">
                <a:latin typeface="Verdana"/>
                <a:cs typeface="Verdana"/>
              </a:rPr>
              <a:t>0.1353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853563" y="5331586"/>
            <a:ext cx="894715" cy="15240"/>
          </a:xfrm>
          <a:custGeom>
            <a:avLst/>
            <a:gdLst/>
            <a:ahLst/>
            <a:cxnLst/>
            <a:rect l="l" t="t" r="r" b="b"/>
            <a:pathLst>
              <a:path w="894714" h="15239">
                <a:moveTo>
                  <a:pt x="894588" y="0"/>
                </a:moveTo>
                <a:lnTo>
                  <a:pt x="0" y="0"/>
                </a:lnTo>
                <a:lnTo>
                  <a:pt x="0" y="15240"/>
                </a:lnTo>
                <a:lnTo>
                  <a:pt x="894588" y="15240"/>
                </a:lnTo>
                <a:lnTo>
                  <a:pt x="8945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715389" y="5060950"/>
            <a:ext cx="3030855" cy="4038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659889">
              <a:lnSpc>
                <a:spcPts val="1025"/>
              </a:lnSpc>
              <a:spcBef>
                <a:spcPts val="130"/>
              </a:spcBef>
            </a:pPr>
            <a:r>
              <a:rPr sz="1050" dirty="0">
                <a:latin typeface="Cambria Math"/>
                <a:cs typeface="Cambria Math"/>
              </a:rPr>
              <a:t>−2</a:t>
            </a:r>
            <a:r>
              <a:rPr sz="1050" spc="200" dirty="0">
                <a:latin typeface="Cambria Math"/>
                <a:cs typeface="Cambria Math"/>
              </a:rPr>
              <a:t>  </a:t>
            </a:r>
            <a:r>
              <a:rPr sz="1050" spc="-5" dirty="0">
                <a:latin typeface="Cambria Math"/>
                <a:cs typeface="Cambria Math"/>
              </a:rPr>
              <a:t>1</a:t>
            </a:r>
            <a:endParaRPr sz="1050">
              <a:latin typeface="Cambria Math"/>
              <a:cs typeface="Cambria Math"/>
            </a:endParaRPr>
          </a:p>
          <a:p>
            <a:pPr marL="38100">
              <a:lnSpc>
                <a:spcPts val="1925"/>
              </a:lnSpc>
              <a:tabLst>
                <a:tab pos="1850389" algn="l"/>
                <a:tab pos="2096770" algn="l"/>
              </a:tabLst>
            </a:pPr>
            <a:r>
              <a:rPr sz="1800" spc="-135" dirty="0">
                <a:latin typeface="Verdana"/>
                <a:cs typeface="Verdana"/>
              </a:rPr>
              <a:t>P(X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spc="-385" dirty="0">
                <a:latin typeface="Verdana"/>
                <a:cs typeface="Verdana"/>
              </a:rPr>
              <a:t>=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spc="-165" dirty="0">
                <a:latin typeface="Verdana"/>
                <a:cs typeface="Verdana"/>
              </a:rPr>
              <a:t>1)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spc="-385" dirty="0">
                <a:latin typeface="Verdana"/>
                <a:cs typeface="Verdana"/>
              </a:rPr>
              <a:t>=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950" spc="-15" baseline="44871" dirty="0">
                <a:latin typeface="Cambria Math"/>
                <a:cs typeface="Cambria Math"/>
              </a:rPr>
              <a:t>2.7183</a:t>
            </a:r>
            <a:r>
              <a:rPr sz="1950" baseline="44871" dirty="0">
                <a:latin typeface="Cambria Math"/>
                <a:cs typeface="Cambria Math"/>
              </a:rPr>
              <a:t>	</a:t>
            </a:r>
            <a:r>
              <a:rPr sz="1950" spc="-75" baseline="44871" dirty="0">
                <a:latin typeface="Cambria Math"/>
                <a:cs typeface="Cambria Math"/>
              </a:rPr>
              <a:t>2</a:t>
            </a:r>
            <a:r>
              <a:rPr sz="1950" baseline="44871" dirty="0">
                <a:latin typeface="Cambria Math"/>
                <a:cs typeface="Cambria Math"/>
              </a:rPr>
              <a:t>	</a:t>
            </a:r>
            <a:r>
              <a:rPr sz="1800" spc="-385" dirty="0">
                <a:latin typeface="Verdana"/>
                <a:cs typeface="Verdana"/>
              </a:rPr>
              <a:t>=</a:t>
            </a:r>
            <a:r>
              <a:rPr sz="1800" spc="-140" dirty="0">
                <a:latin typeface="Verdana"/>
                <a:cs typeface="Verdana"/>
              </a:rPr>
              <a:t> </a:t>
            </a:r>
            <a:r>
              <a:rPr sz="1800" spc="-114" dirty="0">
                <a:latin typeface="Verdana"/>
                <a:cs typeface="Verdana"/>
              </a:rPr>
              <a:t>0.2707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40789" y="5282807"/>
            <a:ext cx="8150859" cy="636270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1487805">
              <a:lnSpc>
                <a:spcPct val="100000"/>
              </a:lnSpc>
              <a:spcBef>
                <a:spcPts val="570"/>
              </a:spcBef>
            </a:pPr>
            <a:r>
              <a:rPr sz="1300" spc="-25" dirty="0">
                <a:latin typeface="Cambria Math"/>
                <a:cs typeface="Cambria Math"/>
              </a:rPr>
              <a:t>1!</a:t>
            </a:r>
            <a:endParaRPr sz="13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1800" spc="-135" dirty="0">
                <a:latin typeface="Verdana"/>
                <a:cs typeface="Verdana"/>
              </a:rPr>
              <a:t>P(X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spc="-490" dirty="0">
                <a:latin typeface="Verdana"/>
                <a:cs typeface="Verdana"/>
              </a:rPr>
              <a:t>≥</a:t>
            </a:r>
            <a:r>
              <a:rPr sz="1800" spc="-125" dirty="0">
                <a:latin typeface="Verdana"/>
                <a:cs typeface="Verdana"/>
              </a:rPr>
              <a:t> </a:t>
            </a:r>
            <a:r>
              <a:rPr sz="1800" spc="-160" dirty="0">
                <a:latin typeface="Verdana"/>
                <a:cs typeface="Verdana"/>
              </a:rPr>
              <a:t>2)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spc="-385" dirty="0">
                <a:latin typeface="Verdana"/>
                <a:cs typeface="Verdana"/>
              </a:rPr>
              <a:t>=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spc="-155" dirty="0">
                <a:latin typeface="Verdana"/>
                <a:cs typeface="Verdana"/>
              </a:rPr>
              <a:t>1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spc="-254" dirty="0">
                <a:latin typeface="Verdana"/>
                <a:cs typeface="Verdana"/>
              </a:rPr>
              <a:t>–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spc="-135" dirty="0">
                <a:latin typeface="Verdana"/>
                <a:cs typeface="Verdana"/>
              </a:rPr>
              <a:t>P(X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spc="-385" dirty="0">
                <a:latin typeface="Verdana"/>
                <a:cs typeface="Verdana"/>
              </a:rPr>
              <a:t>&lt;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spc="-160" dirty="0">
                <a:latin typeface="Verdana"/>
                <a:cs typeface="Verdana"/>
              </a:rPr>
              <a:t>2)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spc="-385" dirty="0">
                <a:latin typeface="Verdana"/>
                <a:cs typeface="Verdana"/>
              </a:rPr>
              <a:t>=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spc="-155" dirty="0">
                <a:latin typeface="Verdana"/>
                <a:cs typeface="Verdana"/>
              </a:rPr>
              <a:t>1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spc="-254" dirty="0">
                <a:latin typeface="Verdana"/>
                <a:cs typeface="Verdana"/>
              </a:rPr>
              <a:t>–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spc="-235" dirty="0">
                <a:latin typeface="Verdana"/>
                <a:cs typeface="Verdana"/>
              </a:rPr>
              <a:t>{P(X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spc="-385" dirty="0">
                <a:latin typeface="Verdana"/>
                <a:cs typeface="Verdana"/>
              </a:rPr>
              <a:t>=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spc="-160" dirty="0">
                <a:latin typeface="Verdana"/>
                <a:cs typeface="Verdana"/>
              </a:rPr>
              <a:t>0)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spc="-385" dirty="0">
                <a:latin typeface="Verdana"/>
                <a:cs typeface="Verdana"/>
              </a:rPr>
              <a:t>+</a:t>
            </a:r>
            <a:r>
              <a:rPr sz="1800" spc="-125" dirty="0">
                <a:latin typeface="Verdana"/>
                <a:cs typeface="Verdana"/>
              </a:rPr>
              <a:t> </a:t>
            </a:r>
            <a:r>
              <a:rPr sz="1800" spc="-135" dirty="0">
                <a:latin typeface="Verdana"/>
                <a:cs typeface="Verdana"/>
              </a:rPr>
              <a:t>P(X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spc="-385" dirty="0">
                <a:latin typeface="Verdana"/>
                <a:cs typeface="Verdana"/>
              </a:rPr>
              <a:t>=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spc="-285" dirty="0">
                <a:latin typeface="Verdana"/>
                <a:cs typeface="Verdana"/>
              </a:rPr>
              <a:t>1)}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spc="-385" dirty="0">
                <a:latin typeface="Verdana"/>
                <a:cs typeface="Verdana"/>
              </a:rPr>
              <a:t>=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spc="-155" dirty="0">
                <a:latin typeface="Verdana"/>
                <a:cs typeface="Verdana"/>
              </a:rPr>
              <a:t>1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spc="-254" dirty="0">
                <a:latin typeface="Verdana"/>
                <a:cs typeface="Verdana"/>
              </a:rPr>
              <a:t>–</a:t>
            </a:r>
            <a:r>
              <a:rPr sz="1800" spc="-135" dirty="0">
                <a:latin typeface="Verdana"/>
                <a:cs typeface="Verdana"/>
              </a:rPr>
              <a:t> </a:t>
            </a:r>
            <a:r>
              <a:rPr sz="1800" spc="-165" dirty="0">
                <a:latin typeface="Verdana"/>
                <a:cs typeface="Verdana"/>
              </a:rPr>
              <a:t>0.1353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spc="-254" dirty="0">
                <a:latin typeface="Verdana"/>
                <a:cs typeface="Verdana"/>
              </a:rPr>
              <a:t>–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spc="-165" dirty="0">
                <a:latin typeface="Verdana"/>
                <a:cs typeface="Verdana"/>
              </a:rPr>
              <a:t>0.2707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spc="-385" dirty="0">
                <a:latin typeface="Verdana"/>
                <a:cs typeface="Verdana"/>
              </a:rPr>
              <a:t>=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spc="-75" dirty="0">
                <a:latin typeface="Verdana"/>
                <a:cs typeface="Verdana"/>
              </a:rPr>
              <a:t>0.594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189AFCC3-4DFD-C68A-EDBF-376DCC29F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32419-95FC-46CF-8AA5-EDF4EDB749CF}" type="datetime1">
              <a:rPr lang="en-US" smtClean="0"/>
              <a:t>7/22/2024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8230" y="404622"/>
            <a:ext cx="809561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dirty="0">
                <a:solidFill>
                  <a:schemeClr val="tx1"/>
                </a:solidFill>
                <a:latin typeface="Calibri"/>
                <a:cs typeface="Calibri"/>
              </a:rPr>
              <a:t>Poisson</a:t>
            </a:r>
            <a:r>
              <a:rPr sz="2200" b="1" spc="-4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chemeClr val="tx1"/>
                </a:solidFill>
                <a:latin typeface="Calibri"/>
                <a:cs typeface="Calibri"/>
              </a:rPr>
              <a:t>distribution</a:t>
            </a:r>
            <a:r>
              <a:rPr sz="2200" b="1" spc="-6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chemeClr val="tx1"/>
                </a:solidFill>
                <a:latin typeface="Calibri"/>
                <a:cs typeface="Calibri"/>
              </a:rPr>
              <a:t>as</a:t>
            </a:r>
            <a:r>
              <a:rPr sz="2200" b="1" spc="-5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chemeClr val="tx1"/>
                </a:solidFill>
                <a:latin typeface="Calibri"/>
                <a:cs typeface="Calibri"/>
              </a:rPr>
              <a:t>an</a:t>
            </a:r>
            <a:r>
              <a:rPr sz="2200" b="1" spc="-7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chemeClr val="tx1"/>
                </a:solidFill>
                <a:latin typeface="Calibri"/>
                <a:cs typeface="Calibri"/>
              </a:rPr>
              <a:t>approximation</a:t>
            </a:r>
            <a:r>
              <a:rPr sz="2200" b="1" spc="-2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chemeClr val="tx1"/>
                </a:solidFill>
                <a:latin typeface="Calibri"/>
                <a:cs typeface="Calibri"/>
              </a:rPr>
              <a:t>of</a:t>
            </a:r>
            <a:r>
              <a:rPr sz="2200" b="1" spc="-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chemeClr val="tx1"/>
                </a:solidFill>
                <a:latin typeface="Calibri"/>
                <a:cs typeface="Calibri"/>
              </a:rPr>
              <a:t>the</a:t>
            </a:r>
            <a:r>
              <a:rPr sz="2200" b="1" spc="-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chemeClr val="tx1"/>
                </a:solidFill>
                <a:latin typeface="Calibri"/>
                <a:cs typeface="Calibri"/>
              </a:rPr>
              <a:t>Binomial</a:t>
            </a:r>
            <a:r>
              <a:rPr sz="2200" b="1" spc="-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chemeClr val="tx1"/>
                </a:solidFill>
                <a:latin typeface="Calibri"/>
                <a:cs typeface="Calibri"/>
              </a:rPr>
              <a:t>distribution:</a:t>
            </a:r>
            <a:endParaRPr sz="2200" b="1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878230" y="980559"/>
            <a:ext cx="10627970" cy="490967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0" marR="74930" indent="0">
              <a:lnSpc>
                <a:spcPct val="100000"/>
              </a:lnSpc>
              <a:spcBef>
                <a:spcPts val="105"/>
              </a:spcBef>
              <a:buNone/>
            </a:pPr>
            <a:r>
              <a:rPr dirty="0">
                <a:solidFill>
                  <a:schemeClr val="tx1"/>
                </a:solidFill>
              </a:rPr>
              <a:t>As</a:t>
            </a:r>
            <a:r>
              <a:rPr spc="-3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the</a:t>
            </a:r>
            <a:r>
              <a:rPr spc="-2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Poisson</a:t>
            </a:r>
            <a:r>
              <a:rPr spc="-3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distribution</a:t>
            </a:r>
            <a:r>
              <a:rPr spc="-1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is</a:t>
            </a:r>
            <a:r>
              <a:rPr spc="-3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appropriate</a:t>
            </a:r>
            <a:r>
              <a:rPr spc="-2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when</a:t>
            </a:r>
            <a:r>
              <a:rPr spc="-3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there</a:t>
            </a:r>
            <a:r>
              <a:rPr spc="-2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is</a:t>
            </a:r>
            <a:r>
              <a:rPr spc="-3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a</a:t>
            </a:r>
            <a:r>
              <a:rPr spc="-2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small</a:t>
            </a:r>
            <a:r>
              <a:rPr spc="-1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probability</a:t>
            </a:r>
            <a:r>
              <a:rPr spc="-3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of</a:t>
            </a:r>
            <a:r>
              <a:rPr spc="-3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a</a:t>
            </a:r>
            <a:r>
              <a:rPr spc="-2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single</a:t>
            </a:r>
            <a:r>
              <a:rPr spc="-2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event,</a:t>
            </a:r>
            <a:r>
              <a:rPr spc="-10" dirty="0">
                <a:solidFill>
                  <a:schemeClr val="tx1"/>
                </a:solidFill>
              </a:rPr>
              <a:t> </a:t>
            </a:r>
            <a:r>
              <a:rPr spc="-20" dirty="0">
                <a:solidFill>
                  <a:schemeClr val="tx1"/>
                </a:solidFill>
              </a:rPr>
              <a:t>this </a:t>
            </a:r>
            <a:r>
              <a:rPr dirty="0">
                <a:solidFill>
                  <a:schemeClr val="tx1"/>
                </a:solidFill>
              </a:rPr>
              <a:t>distribution</a:t>
            </a:r>
            <a:r>
              <a:rPr spc="-3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is</a:t>
            </a:r>
            <a:r>
              <a:rPr spc="-2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very</a:t>
            </a:r>
            <a:r>
              <a:rPr spc="-3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similar</a:t>
            </a:r>
            <a:r>
              <a:rPr spc="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to</a:t>
            </a:r>
            <a:r>
              <a:rPr spc="-3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the</a:t>
            </a:r>
            <a:r>
              <a:rPr spc="-3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binomial</a:t>
            </a:r>
            <a:r>
              <a:rPr spc="-2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distribution</a:t>
            </a:r>
            <a:r>
              <a:rPr spc="-3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when</a:t>
            </a:r>
            <a:r>
              <a:rPr spc="-3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n</a:t>
            </a:r>
            <a:r>
              <a:rPr spc="-3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is</a:t>
            </a:r>
            <a:r>
              <a:rPr spc="-2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large</a:t>
            </a:r>
            <a:r>
              <a:rPr spc="-3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and</a:t>
            </a:r>
            <a:r>
              <a:rPr spc="-2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p</a:t>
            </a:r>
            <a:r>
              <a:rPr spc="-4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is</a:t>
            </a:r>
            <a:r>
              <a:rPr spc="-3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small</a:t>
            </a:r>
            <a:r>
              <a:rPr spc="-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(close</a:t>
            </a:r>
            <a:r>
              <a:rPr spc="-2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to</a:t>
            </a:r>
            <a:r>
              <a:rPr spc="-3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zero)</a:t>
            </a:r>
            <a:r>
              <a:rPr spc="-30" dirty="0">
                <a:solidFill>
                  <a:schemeClr val="tx1"/>
                </a:solidFill>
              </a:rPr>
              <a:t> </a:t>
            </a:r>
            <a:r>
              <a:rPr spc="-25" dirty="0">
                <a:solidFill>
                  <a:schemeClr val="tx1"/>
                </a:solidFill>
              </a:rPr>
              <a:t>so </a:t>
            </a:r>
            <a:r>
              <a:rPr spc="-20" dirty="0">
                <a:solidFill>
                  <a:schemeClr val="tx1"/>
                </a:solidFill>
              </a:rPr>
              <a:t>that</a:t>
            </a:r>
            <a:r>
              <a:rPr lang="en-US" spc="-2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q</a:t>
            </a:r>
            <a:r>
              <a:rPr spc="-35" dirty="0">
                <a:solidFill>
                  <a:schemeClr val="tx1"/>
                </a:solidFill>
              </a:rPr>
              <a:t> </a:t>
            </a:r>
            <a:r>
              <a:rPr spc="-10" dirty="0">
                <a:solidFill>
                  <a:schemeClr val="tx1"/>
                </a:solidFill>
              </a:rPr>
              <a:t>=1-</a:t>
            </a:r>
            <a:r>
              <a:rPr dirty="0">
                <a:solidFill>
                  <a:schemeClr val="tx1"/>
                </a:solidFill>
              </a:rPr>
              <a:t>p</a:t>
            </a:r>
            <a:r>
              <a:rPr spc="-2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is</a:t>
            </a:r>
            <a:r>
              <a:rPr spc="-1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close</a:t>
            </a:r>
            <a:r>
              <a:rPr spc="-1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to</a:t>
            </a:r>
            <a:r>
              <a:rPr spc="-2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1.</a:t>
            </a:r>
            <a:r>
              <a:rPr spc="-1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If</a:t>
            </a:r>
            <a:r>
              <a:rPr spc="-2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such</a:t>
            </a:r>
            <a:r>
              <a:rPr spc="-2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conditions</a:t>
            </a:r>
            <a:r>
              <a:rPr spc="-2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are</a:t>
            </a:r>
            <a:r>
              <a:rPr spc="-2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met</a:t>
            </a:r>
            <a:r>
              <a:rPr spc="-1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Poisson</a:t>
            </a:r>
            <a:r>
              <a:rPr spc="-1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distribution</a:t>
            </a:r>
            <a:r>
              <a:rPr spc="-1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can</a:t>
            </a:r>
            <a:r>
              <a:rPr spc="-2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be</a:t>
            </a:r>
            <a:r>
              <a:rPr spc="-2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a</a:t>
            </a:r>
            <a:r>
              <a:rPr spc="-1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reasonable</a:t>
            </a:r>
            <a:r>
              <a:rPr spc="-15" dirty="0">
                <a:solidFill>
                  <a:schemeClr val="tx1"/>
                </a:solidFill>
              </a:rPr>
              <a:t> </a:t>
            </a:r>
            <a:r>
              <a:rPr spc="-10" dirty="0">
                <a:solidFill>
                  <a:schemeClr val="tx1"/>
                </a:solidFill>
              </a:rPr>
              <a:t>approximation </a:t>
            </a:r>
            <a:r>
              <a:rPr dirty="0">
                <a:solidFill>
                  <a:schemeClr val="tx1"/>
                </a:solidFill>
              </a:rPr>
              <a:t>of</a:t>
            </a:r>
            <a:r>
              <a:rPr spc="-3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the</a:t>
            </a:r>
            <a:r>
              <a:rPr spc="-2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Binomial</a:t>
            </a:r>
            <a:r>
              <a:rPr spc="-2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distribution</a:t>
            </a:r>
            <a:r>
              <a:rPr spc="-2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so</a:t>
            </a:r>
            <a:r>
              <a:rPr spc="-1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that</a:t>
            </a:r>
            <a:r>
              <a:rPr spc="-2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Binomial</a:t>
            </a:r>
            <a:r>
              <a:rPr spc="-2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probabilities can</a:t>
            </a:r>
            <a:r>
              <a:rPr spc="-2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be</a:t>
            </a:r>
            <a:r>
              <a:rPr spc="-3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closely</a:t>
            </a:r>
            <a:r>
              <a:rPr spc="-20" dirty="0">
                <a:solidFill>
                  <a:schemeClr val="tx1"/>
                </a:solidFill>
              </a:rPr>
              <a:t> </a:t>
            </a:r>
            <a:r>
              <a:rPr spc="-10" dirty="0">
                <a:solidFill>
                  <a:schemeClr val="tx1"/>
                </a:solidFill>
              </a:rPr>
              <a:t>approximated</a:t>
            </a:r>
            <a:r>
              <a:rPr spc="-1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by</a:t>
            </a:r>
            <a:r>
              <a:rPr spc="-40" dirty="0">
                <a:solidFill>
                  <a:schemeClr val="tx1"/>
                </a:solidFill>
              </a:rPr>
              <a:t> </a:t>
            </a:r>
            <a:r>
              <a:rPr spc="-10" dirty="0">
                <a:solidFill>
                  <a:schemeClr val="tx1"/>
                </a:solidFill>
              </a:rPr>
              <a:t>Poisson</a:t>
            </a:r>
            <a:r>
              <a:rPr lang="en-US" spc="-10" dirty="0">
                <a:solidFill>
                  <a:schemeClr val="tx1"/>
                </a:solidFill>
              </a:rPr>
              <a:t> </a:t>
            </a:r>
            <a:r>
              <a:rPr spc="-10" dirty="0">
                <a:solidFill>
                  <a:schemeClr val="tx1"/>
                </a:solidFill>
              </a:rPr>
              <a:t>probabilities.</a:t>
            </a:r>
            <a:endParaRPr dirty="0">
              <a:solidFill>
                <a:schemeClr val="tx1"/>
              </a:solidFill>
            </a:endParaRPr>
          </a:p>
          <a:p>
            <a:pPr marL="0" marR="161925" indent="0">
              <a:lnSpc>
                <a:spcPct val="100499"/>
              </a:lnSpc>
              <a:buNone/>
            </a:pPr>
            <a:r>
              <a:rPr dirty="0">
                <a:solidFill>
                  <a:schemeClr val="tx1"/>
                </a:solidFill>
              </a:rPr>
              <a:t>Poisson</a:t>
            </a:r>
            <a:r>
              <a:rPr spc="-3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distribution</a:t>
            </a:r>
            <a:r>
              <a:rPr spc="-2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is</a:t>
            </a:r>
            <a:r>
              <a:rPr spc="-2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limiting</a:t>
            </a:r>
            <a:r>
              <a:rPr spc="-1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case</a:t>
            </a:r>
            <a:r>
              <a:rPr spc="-2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of</a:t>
            </a:r>
            <a:r>
              <a:rPr spc="-4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Binomial</a:t>
            </a:r>
            <a:r>
              <a:rPr spc="-2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distribution</a:t>
            </a:r>
            <a:r>
              <a:rPr spc="-2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when</a:t>
            </a:r>
            <a:r>
              <a:rPr spc="-2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either</a:t>
            </a:r>
            <a:r>
              <a:rPr spc="-1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of</a:t>
            </a:r>
            <a:r>
              <a:rPr spc="-3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the</a:t>
            </a:r>
            <a:r>
              <a:rPr spc="-3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following</a:t>
            </a:r>
            <a:r>
              <a:rPr spc="-3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condition</a:t>
            </a:r>
            <a:r>
              <a:rPr spc="-40" dirty="0">
                <a:solidFill>
                  <a:schemeClr val="tx1"/>
                </a:solidFill>
              </a:rPr>
              <a:t> </a:t>
            </a:r>
            <a:r>
              <a:rPr spc="-25" dirty="0">
                <a:solidFill>
                  <a:schemeClr val="tx1"/>
                </a:solidFill>
              </a:rPr>
              <a:t>is </a:t>
            </a:r>
            <a:r>
              <a:rPr spc="-20" dirty="0">
                <a:solidFill>
                  <a:schemeClr val="tx1"/>
                </a:solidFill>
              </a:rPr>
              <a:t>met:</a:t>
            </a:r>
          </a:p>
          <a:p>
            <a:pPr marL="469265" indent="-183515">
              <a:lnSpc>
                <a:spcPct val="100000"/>
              </a:lnSpc>
              <a:buClr>
                <a:srgbClr val="252525"/>
              </a:buClr>
              <a:buFont typeface="Wingdings"/>
              <a:buChar char=""/>
              <a:tabLst>
                <a:tab pos="469900" algn="l"/>
              </a:tabLst>
            </a:pPr>
            <a:r>
              <a:rPr dirty="0">
                <a:solidFill>
                  <a:schemeClr val="tx1"/>
                </a:solidFill>
              </a:rPr>
              <a:t>n</a:t>
            </a:r>
            <a:r>
              <a:rPr spc="-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≥</a:t>
            </a:r>
            <a:r>
              <a:rPr spc="-1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20</a:t>
            </a:r>
            <a:r>
              <a:rPr spc="-1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and</a:t>
            </a:r>
            <a:r>
              <a:rPr spc="-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p</a:t>
            </a:r>
            <a:r>
              <a:rPr spc="-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≤</a:t>
            </a:r>
            <a:r>
              <a:rPr spc="-5" dirty="0">
                <a:solidFill>
                  <a:schemeClr val="tx1"/>
                </a:solidFill>
              </a:rPr>
              <a:t> </a:t>
            </a:r>
            <a:r>
              <a:rPr spc="-20" dirty="0">
                <a:solidFill>
                  <a:schemeClr val="tx1"/>
                </a:solidFill>
              </a:rPr>
              <a:t>0.05</a:t>
            </a:r>
          </a:p>
          <a:p>
            <a:pPr marL="469265" indent="-183515">
              <a:lnSpc>
                <a:spcPct val="100000"/>
              </a:lnSpc>
              <a:buClr>
                <a:srgbClr val="252525"/>
              </a:buClr>
              <a:buFont typeface="Wingdings"/>
              <a:buChar char=""/>
              <a:tabLst>
                <a:tab pos="469900" algn="l"/>
              </a:tabLst>
            </a:pPr>
            <a:r>
              <a:rPr dirty="0">
                <a:solidFill>
                  <a:schemeClr val="tx1"/>
                </a:solidFill>
              </a:rPr>
              <a:t>n</a:t>
            </a:r>
            <a:r>
              <a:rPr spc="-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≥</a:t>
            </a:r>
            <a:r>
              <a:rPr spc="-1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50</a:t>
            </a:r>
            <a:r>
              <a:rPr spc="-1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and</a:t>
            </a:r>
            <a:r>
              <a:rPr spc="-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n</a:t>
            </a:r>
            <a:r>
              <a:rPr spc="-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p</a:t>
            </a:r>
            <a:r>
              <a:rPr spc="-1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&lt;</a:t>
            </a:r>
            <a:r>
              <a:rPr spc="5" dirty="0">
                <a:solidFill>
                  <a:schemeClr val="tx1"/>
                </a:solidFill>
              </a:rPr>
              <a:t> </a:t>
            </a:r>
            <a:r>
              <a:rPr spc="-50" dirty="0">
                <a:solidFill>
                  <a:schemeClr val="tx1"/>
                </a:solidFill>
              </a:rPr>
              <a:t>5</a:t>
            </a:r>
          </a:p>
          <a:p>
            <a:pPr marL="469265" indent="-183515">
              <a:lnSpc>
                <a:spcPct val="100000"/>
              </a:lnSpc>
              <a:buClr>
                <a:srgbClr val="252525"/>
              </a:buClr>
              <a:buFont typeface="Wingdings"/>
              <a:buChar char=""/>
              <a:tabLst>
                <a:tab pos="469900" algn="l"/>
              </a:tabLst>
            </a:pPr>
            <a:r>
              <a:rPr dirty="0">
                <a:solidFill>
                  <a:schemeClr val="tx1"/>
                </a:solidFill>
              </a:rPr>
              <a:t>n</a:t>
            </a:r>
            <a:r>
              <a:rPr spc="-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p</a:t>
            </a:r>
            <a:r>
              <a:rPr spc="-1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&lt; 5 and</a:t>
            </a:r>
            <a:r>
              <a:rPr spc="-2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p</a:t>
            </a:r>
            <a:r>
              <a:rPr spc="-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&lt;</a:t>
            </a:r>
            <a:r>
              <a:rPr spc="-10" dirty="0">
                <a:solidFill>
                  <a:schemeClr val="tx1"/>
                </a:solidFill>
              </a:rPr>
              <a:t> </a:t>
            </a:r>
            <a:r>
              <a:rPr spc="-25" dirty="0">
                <a:solidFill>
                  <a:schemeClr val="tx1"/>
                </a:solidFill>
              </a:rPr>
              <a:t>0.5</a:t>
            </a:r>
          </a:p>
          <a:p>
            <a:pPr marL="0" indent="0">
              <a:lnSpc>
                <a:spcPct val="100000"/>
              </a:lnSpc>
              <a:spcBef>
                <a:spcPts val="890"/>
              </a:spcBef>
              <a:buNone/>
            </a:pPr>
            <a:r>
              <a:rPr dirty="0">
                <a:solidFill>
                  <a:schemeClr val="tx1"/>
                </a:solidFill>
              </a:rPr>
              <a:t>In</a:t>
            </a:r>
            <a:r>
              <a:rPr spc="-1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such</a:t>
            </a:r>
            <a:r>
              <a:rPr spc="-2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case</a:t>
            </a:r>
            <a:r>
              <a:rPr spc="-1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we</a:t>
            </a:r>
            <a:r>
              <a:rPr spc="-2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can</a:t>
            </a:r>
            <a:r>
              <a:rPr spc="-1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substitute</a:t>
            </a:r>
            <a:r>
              <a:rPr spc="-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the</a:t>
            </a:r>
            <a:r>
              <a:rPr spc="-1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mean</a:t>
            </a:r>
            <a:r>
              <a:rPr spc="-1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of</a:t>
            </a:r>
            <a:r>
              <a:rPr spc="-2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Binomial</a:t>
            </a:r>
            <a:r>
              <a:rPr spc="-1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distribution</a:t>
            </a:r>
            <a:r>
              <a:rPr spc="-1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(n</a:t>
            </a:r>
            <a:r>
              <a:rPr spc="-2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p)</a:t>
            </a:r>
            <a:r>
              <a:rPr spc="-2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by</a:t>
            </a:r>
            <a:r>
              <a:rPr spc="-2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mean</a:t>
            </a:r>
            <a:r>
              <a:rPr spc="-1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of</a:t>
            </a:r>
            <a:r>
              <a:rPr spc="-2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the</a:t>
            </a:r>
            <a:r>
              <a:rPr spc="-10" dirty="0">
                <a:solidFill>
                  <a:schemeClr val="tx1"/>
                </a:solidFill>
              </a:rPr>
              <a:t> </a:t>
            </a:r>
            <a:r>
              <a:rPr spc="-10" dirty="0" err="1">
                <a:solidFill>
                  <a:schemeClr val="tx1"/>
                </a:solidFill>
              </a:rPr>
              <a:t>Poisson</a:t>
            </a:r>
            <a:r>
              <a:rPr dirty="0" err="1">
                <a:solidFill>
                  <a:schemeClr val="tx1"/>
                </a:solidFill>
              </a:rPr>
              <a:t>distribution</a:t>
            </a:r>
            <a:r>
              <a:rPr spc="-4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(λ)</a:t>
            </a:r>
            <a:r>
              <a:rPr spc="-3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and</a:t>
            </a:r>
            <a:r>
              <a:rPr spc="-3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we</a:t>
            </a:r>
            <a:r>
              <a:rPr spc="-4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can</a:t>
            </a:r>
            <a:r>
              <a:rPr spc="-5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use</a:t>
            </a:r>
            <a:r>
              <a:rPr spc="-3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following</a:t>
            </a:r>
            <a:r>
              <a:rPr spc="-3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mathematical</a:t>
            </a:r>
            <a:r>
              <a:rPr spc="-10" dirty="0">
                <a:solidFill>
                  <a:schemeClr val="tx1"/>
                </a:solidFill>
              </a:rPr>
              <a:t> formula.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Copyright:</a:t>
            </a:r>
            <a:r>
              <a:rPr spc="-15" dirty="0"/>
              <a:t> </a:t>
            </a:r>
            <a:r>
              <a:rPr spc="-55" dirty="0"/>
              <a:t>Santosh</a:t>
            </a:r>
            <a:r>
              <a:rPr spc="-35" dirty="0"/>
              <a:t> </a:t>
            </a:r>
            <a:r>
              <a:rPr spc="-10" dirty="0"/>
              <a:t>Chhatkuli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B8D72-0F04-F2EB-8D1E-793EBB964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03E26-81BA-4264-849D-DC8FF398DD93}" type="datetime1">
              <a:rPr lang="en-US" smtClean="0"/>
              <a:t>7/22/2024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6071" y="761491"/>
            <a:ext cx="10265410" cy="104076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315"/>
              </a:spcBef>
            </a:pPr>
            <a:r>
              <a:rPr sz="1800" spc="-35" dirty="0">
                <a:solidFill>
                  <a:srgbClr val="000000"/>
                </a:solidFill>
              </a:rPr>
              <a:t>Example:</a:t>
            </a:r>
            <a:r>
              <a:rPr sz="1800" spc="-50" dirty="0">
                <a:solidFill>
                  <a:srgbClr val="000000"/>
                </a:solidFill>
              </a:rPr>
              <a:t> </a:t>
            </a:r>
            <a:r>
              <a:rPr sz="1800" b="0" dirty="0">
                <a:solidFill>
                  <a:srgbClr val="000000"/>
                </a:solidFill>
                <a:latin typeface="Calibri"/>
                <a:cs typeface="Calibri"/>
              </a:rPr>
              <a:t>In</a:t>
            </a:r>
            <a:r>
              <a:rPr sz="1800" b="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sz="1800" b="0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0000"/>
                </a:solidFill>
                <a:latin typeface="Calibri"/>
                <a:cs typeface="Calibri"/>
              </a:rPr>
              <a:t>certain</a:t>
            </a:r>
            <a:r>
              <a:rPr sz="1800" b="0" spc="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0000"/>
                </a:solidFill>
                <a:latin typeface="Calibri"/>
                <a:cs typeface="Calibri"/>
              </a:rPr>
              <a:t>factory</a:t>
            </a:r>
            <a:r>
              <a:rPr sz="1800" b="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0000"/>
                </a:solidFill>
                <a:latin typeface="Calibri"/>
                <a:cs typeface="Calibri"/>
              </a:rPr>
              <a:t>turning out</a:t>
            </a:r>
            <a:r>
              <a:rPr sz="1800" b="0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0000"/>
                </a:solidFill>
                <a:latin typeface="Calibri"/>
                <a:cs typeface="Calibri"/>
              </a:rPr>
              <a:t>optical lenses,</a:t>
            </a:r>
            <a:r>
              <a:rPr sz="1800" b="0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0000"/>
                </a:solidFill>
                <a:latin typeface="Calibri"/>
                <a:cs typeface="Calibri"/>
              </a:rPr>
              <a:t>there is</a:t>
            </a:r>
            <a:r>
              <a:rPr sz="1800" b="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sz="1800" b="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0000"/>
                </a:solidFill>
                <a:latin typeface="Calibri"/>
                <a:cs typeface="Calibri"/>
              </a:rPr>
              <a:t>small</a:t>
            </a:r>
            <a:r>
              <a:rPr sz="1800" b="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0000"/>
                </a:solidFill>
                <a:latin typeface="Calibri"/>
                <a:cs typeface="Calibri"/>
              </a:rPr>
              <a:t>chance 1/500</a:t>
            </a:r>
            <a:r>
              <a:rPr sz="1800" b="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0000"/>
                </a:solidFill>
                <a:latin typeface="Calibri"/>
                <a:cs typeface="Calibri"/>
              </a:rPr>
              <a:t>for</a:t>
            </a:r>
            <a:r>
              <a:rPr sz="1800" b="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sz="1800" b="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0000"/>
                </a:solidFill>
                <a:latin typeface="Calibri"/>
                <a:cs typeface="Calibri"/>
              </a:rPr>
              <a:t>lens</a:t>
            </a:r>
            <a:r>
              <a:rPr sz="1800" b="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0000"/>
                </a:solidFill>
                <a:latin typeface="Calibri"/>
                <a:cs typeface="Calibri"/>
              </a:rPr>
              <a:t>to</a:t>
            </a:r>
            <a:r>
              <a:rPr sz="1800" b="0" spc="-25" dirty="0">
                <a:solidFill>
                  <a:srgbClr val="000000"/>
                </a:solidFill>
                <a:latin typeface="Calibri"/>
                <a:cs typeface="Calibri"/>
              </a:rPr>
              <a:t> be </a:t>
            </a:r>
            <a:r>
              <a:rPr sz="1800" b="0" dirty="0">
                <a:solidFill>
                  <a:srgbClr val="000000"/>
                </a:solidFill>
                <a:latin typeface="Calibri"/>
                <a:cs typeface="Calibri"/>
              </a:rPr>
              <a:t>defective.</a:t>
            </a:r>
            <a:r>
              <a:rPr sz="1800" b="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sz="1800" b="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0000"/>
                </a:solidFill>
                <a:latin typeface="Calibri"/>
                <a:cs typeface="Calibri"/>
              </a:rPr>
              <a:t>lenses</a:t>
            </a:r>
            <a:r>
              <a:rPr sz="1800" b="0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0000"/>
                </a:solidFill>
                <a:latin typeface="Calibri"/>
                <a:cs typeface="Calibri"/>
              </a:rPr>
              <a:t>are</a:t>
            </a:r>
            <a:r>
              <a:rPr sz="1800" b="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0000"/>
                </a:solidFill>
                <a:latin typeface="Calibri"/>
                <a:cs typeface="Calibri"/>
              </a:rPr>
              <a:t>supplied</a:t>
            </a:r>
            <a:r>
              <a:rPr sz="1800" b="0" spc="-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0000"/>
                </a:solidFill>
                <a:latin typeface="Calibri"/>
                <a:cs typeface="Calibri"/>
              </a:rPr>
              <a:t>in</a:t>
            </a:r>
            <a:r>
              <a:rPr sz="1800" b="0"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sz="1800" b="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0000"/>
                </a:solidFill>
                <a:latin typeface="Calibri"/>
                <a:cs typeface="Calibri"/>
              </a:rPr>
              <a:t>packet</a:t>
            </a:r>
            <a:r>
              <a:rPr sz="1800" b="0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sz="1800" b="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0000"/>
                </a:solidFill>
                <a:latin typeface="Calibri"/>
                <a:cs typeface="Calibri"/>
              </a:rPr>
              <a:t>10.</a:t>
            </a:r>
            <a:r>
              <a:rPr sz="1800" b="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0000"/>
                </a:solidFill>
                <a:latin typeface="Calibri"/>
                <a:cs typeface="Calibri"/>
              </a:rPr>
              <a:t>Use</a:t>
            </a:r>
            <a:r>
              <a:rPr sz="1800" b="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0000"/>
                </a:solidFill>
                <a:latin typeface="Calibri"/>
                <a:cs typeface="Calibri"/>
              </a:rPr>
              <a:t>Poisson</a:t>
            </a:r>
            <a:r>
              <a:rPr sz="1800" b="0"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0000"/>
                </a:solidFill>
                <a:latin typeface="Calibri"/>
                <a:cs typeface="Calibri"/>
              </a:rPr>
              <a:t>distribution</a:t>
            </a:r>
            <a:r>
              <a:rPr sz="1800" b="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0000"/>
                </a:solidFill>
                <a:latin typeface="Calibri"/>
                <a:cs typeface="Calibri"/>
              </a:rPr>
              <a:t>to</a:t>
            </a:r>
            <a:r>
              <a:rPr sz="1800" b="0"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0000"/>
                </a:solidFill>
                <a:latin typeface="Calibri"/>
                <a:cs typeface="Calibri"/>
              </a:rPr>
              <a:t>calculate</a:t>
            </a:r>
            <a:r>
              <a:rPr sz="1800" b="0" spc="-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sz="1800" b="0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b="0" spc="-10" dirty="0">
                <a:solidFill>
                  <a:srgbClr val="000000"/>
                </a:solidFill>
                <a:latin typeface="Calibri"/>
                <a:cs typeface="Calibri"/>
              </a:rPr>
              <a:t>approximate </a:t>
            </a:r>
            <a:r>
              <a:rPr sz="1800" b="0" dirty="0">
                <a:solidFill>
                  <a:srgbClr val="000000"/>
                </a:solidFill>
                <a:latin typeface="Calibri"/>
                <a:cs typeface="Calibri"/>
              </a:rPr>
              <a:t>number</a:t>
            </a:r>
            <a:r>
              <a:rPr sz="1800" b="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sz="1800" b="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0000"/>
                </a:solidFill>
                <a:latin typeface="Calibri"/>
                <a:cs typeface="Calibri"/>
              </a:rPr>
              <a:t>packets</a:t>
            </a:r>
            <a:r>
              <a:rPr sz="1800" b="0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0000"/>
                </a:solidFill>
                <a:latin typeface="Calibri"/>
                <a:cs typeface="Calibri"/>
              </a:rPr>
              <a:t>containing</a:t>
            </a:r>
            <a:r>
              <a:rPr sz="1800" b="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0000"/>
                </a:solidFill>
                <a:latin typeface="Calibri"/>
                <a:cs typeface="Calibri"/>
              </a:rPr>
              <a:t>no</a:t>
            </a:r>
            <a:r>
              <a:rPr sz="1800" b="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0000"/>
                </a:solidFill>
                <a:latin typeface="Calibri"/>
                <a:cs typeface="Calibri"/>
              </a:rPr>
              <a:t>defective,</a:t>
            </a:r>
            <a:r>
              <a:rPr sz="1800" b="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0000"/>
                </a:solidFill>
                <a:latin typeface="Calibri"/>
                <a:cs typeface="Calibri"/>
              </a:rPr>
              <a:t>one</a:t>
            </a:r>
            <a:r>
              <a:rPr sz="1800" b="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0000"/>
                </a:solidFill>
                <a:latin typeface="Calibri"/>
                <a:cs typeface="Calibri"/>
              </a:rPr>
              <a:t>defective</a:t>
            </a:r>
            <a:r>
              <a:rPr sz="1800" b="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0000"/>
                </a:solidFill>
                <a:latin typeface="Calibri"/>
                <a:cs typeface="Calibri"/>
              </a:rPr>
              <a:t>and</a:t>
            </a:r>
            <a:r>
              <a:rPr sz="1800" b="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0000"/>
                </a:solidFill>
                <a:latin typeface="Calibri"/>
                <a:cs typeface="Calibri"/>
              </a:rPr>
              <a:t>two</a:t>
            </a:r>
            <a:r>
              <a:rPr sz="1800" b="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0000"/>
                </a:solidFill>
                <a:latin typeface="Calibri"/>
                <a:cs typeface="Calibri"/>
              </a:rPr>
              <a:t>defective</a:t>
            </a:r>
            <a:r>
              <a:rPr sz="1800" b="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0000"/>
                </a:solidFill>
                <a:latin typeface="Calibri"/>
                <a:cs typeface="Calibri"/>
              </a:rPr>
              <a:t>lenses</a:t>
            </a:r>
            <a:r>
              <a:rPr sz="1800" b="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0000"/>
                </a:solidFill>
                <a:latin typeface="Calibri"/>
                <a:cs typeface="Calibri"/>
              </a:rPr>
              <a:t>in</a:t>
            </a:r>
            <a:r>
              <a:rPr sz="1800" b="0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sz="1800" b="0"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0000"/>
                </a:solidFill>
                <a:latin typeface="Calibri"/>
                <a:cs typeface="Calibri"/>
              </a:rPr>
              <a:t>consignment</a:t>
            </a:r>
            <a:r>
              <a:rPr sz="1800" b="0"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sz="1800" b="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b="0" spc="-10" dirty="0">
                <a:solidFill>
                  <a:srgbClr val="000000"/>
                </a:solidFill>
                <a:latin typeface="Calibri"/>
                <a:cs typeface="Calibri"/>
              </a:rPr>
              <a:t>20,000 packets.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Copyright:</a:t>
            </a:r>
            <a:r>
              <a:rPr spc="-15" dirty="0"/>
              <a:t> </a:t>
            </a:r>
            <a:r>
              <a:rPr spc="-55" dirty="0"/>
              <a:t>Santosh</a:t>
            </a:r>
            <a:r>
              <a:rPr spc="-35" dirty="0"/>
              <a:t> </a:t>
            </a:r>
            <a:r>
              <a:rPr spc="-10" dirty="0"/>
              <a:t>Chhatkuli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76071" y="1784516"/>
            <a:ext cx="5927090" cy="74803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1800" spc="-10" dirty="0">
                <a:latin typeface="Verdana"/>
                <a:cs typeface="Verdana"/>
              </a:rPr>
              <a:t>Solution:</a:t>
            </a:r>
            <a:endParaRPr sz="18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1800" spc="-70" dirty="0">
                <a:latin typeface="Verdana"/>
                <a:cs typeface="Verdana"/>
              </a:rPr>
              <a:t>Here,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spc="-160" dirty="0">
                <a:latin typeface="Verdana"/>
                <a:cs typeface="Verdana"/>
              </a:rPr>
              <a:t>r.v.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spc="-155" dirty="0">
                <a:latin typeface="Verdana"/>
                <a:cs typeface="Verdana"/>
              </a:rPr>
              <a:t>X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spc="-385" dirty="0">
                <a:latin typeface="Verdana"/>
                <a:cs typeface="Verdana"/>
              </a:rPr>
              <a:t>=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spc="-40" dirty="0">
                <a:latin typeface="Verdana"/>
                <a:cs typeface="Verdana"/>
              </a:rPr>
              <a:t>No.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defective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spc="-85" dirty="0">
                <a:latin typeface="Verdana"/>
                <a:cs typeface="Verdana"/>
              </a:rPr>
              <a:t>lenses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spc="-85" dirty="0">
                <a:latin typeface="Verdana"/>
                <a:cs typeface="Verdana"/>
              </a:rPr>
              <a:t>in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spc="140" dirty="0">
                <a:latin typeface="Verdana"/>
                <a:cs typeface="Verdana"/>
              </a:rPr>
              <a:t>a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packet</a:t>
            </a:r>
            <a:r>
              <a:rPr sz="1800" spc="-7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10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6071" y="2640838"/>
            <a:ext cx="4607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Verdana"/>
                <a:cs typeface="Verdana"/>
              </a:rPr>
              <a:t>Probability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spc="140" dirty="0">
                <a:latin typeface="Verdana"/>
                <a:cs typeface="Verdana"/>
              </a:rPr>
              <a:t>a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spc="-85" dirty="0">
                <a:latin typeface="Verdana"/>
                <a:cs typeface="Verdana"/>
              </a:rPr>
              <a:t>lens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being</a:t>
            </a:r>
            <a:r>
              <a:rPr sz="1800" spc="-7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defective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spc="-90" dirty="0">
                <a:latin typeface="Verdana"/>
                <a:cs typeface="Verdana"/>
              </a:rPr>
              <a:t>(p)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spc="-434" dirty="0">
                <a:latin typeface="Verdana"/>
                <a:cs typeface="Verdana"/>
              </a:rPr>
              <a:t>=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635244" y="2808351"/>
            <a:ext cx="291465" cy="15240"/>
          </a:xfrm>
          <a:custGeom>
            <a:avLst/>
            <a:gdLst/>
            <a:ahLst/>
            <a:cxnLst/>
            <a:rect l="l" t="t" r="r" b="b"/>
            <a:pathLst>
              <a:path w="291464" h="15239">
                <a:moveTo>
                  <a:pt x="291084" y="0"/>
                </a:moveTo>
                <a:lnTo>
                  <a:pt x="0" y="0"/>
                </a:lnTo>
                <a:lnTo>
                  <a:pt x="0" y="15239"/>
                </a:lnTo>
                <a:lnTo>
                  <a:pt x="291084" y="15239"/>
                </a:lnTo>
                <a:lnTo>
                  <a:pt x="2910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719317" y="2567686"/>
            <a:ext cx="12255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40" dirty="0">
                <a:latin typeface="Cambria Math"/>
                <a:cs typeface="Cambria Math"/>
              </a:rPr>
              <a:t>1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23305" y="2816098"/>
            <a:ext cx="31813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25" dirty="0">
                <a:latin typeface="Cambria Math"/>
                <a:cs typeface="Cambria Math"/>
              </a:rPr>
              <a:t>500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76873" y="2640838"/>
            <a:ext cx="8153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105" dirty="0">
                <a:latin typeface="Cambria Math"/>
                <a:cs typeface="Cambria Math"/>
              </a:rPr>
              <a:t> </a:t>
            </a:r>
            <a:r>
              <a:rPr sz="1800" spc="-20" dirty="0">
                <a:latin typeface="Cambria Math"/>
                <a:cs typeface="Cambria Math"/>
              </a:rPr>
              <a:t>0.002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139688" y="3273171"/>
            <a:ext cx="291465" cy="15240"/>
          </a:xfrm>
          <a:custGeom>
            <a:avLst/>
            <a:gdLst/>
            <a:ahLst/>
            <a:cxnLst/>
            <a:rect l="l" t="t" r="r" b="b"/>
            <a:pathLst>
              <a:path w="291464" h="15239">
                <a:moveTo>
                  <a:pt x="291084" y="0"/>
                </a:moveTo>
                <a:lnTo>
                  <a:pt x="0" y="0"/>
                </a:lnTo>
                <a:lnTo>
                  <a:pt x="0" y="15239"/>
                </a:lnTo>
                <a:lnTo>
                  <a:pt x="291084" y="15239"/>
                </a:lnTo>
                <a:lnTo>
                  <a:pt x="2910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127750" y="3280917"/>
            <a:ext cx="31813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25" dirty="0">
                <a:latin typeface="Cambria Math"/>
                <a:cs typeface="Cambria Math"/>
              </a:rPr>
              <a:t>500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50671" y="3105658"/>
            <a:ext cx="6370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Verdana"/>
                <a:cs typeface="Verdana"/>
              </a:rPr>
              <a:t>Probability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spc="140" dirty="0">
                <a:latin typeface="Verdana"/>
                <a:cs typeface="Verdana"/>
              </a:rPr>
              <a:t>a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spc="-85" dirty="0">
                <a:latin typeface="Verdana"/>
                <a:cs typeface="Verdana"/>
              </a:rPr>
              <a:t>lens</a:t>
            </a:r>
            <a:r>
              <a:rPr sz="1800" spc="-7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being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spc="-65" dirty="0">
                <a:latin typeface="Verdana"/>
                <a:cs typeface="Verdana"/>
              </a:rPr>
              <a:t>non-</a:t>
            </a:r>
            <a:r>
              <a:rPr sz="1800" dirty="0">
                <a:latin typeface="Verdana"/>
                <a:cs typeface="Verdana"/>
              </a:rPr>
              <a:t>defective</a:t>
            </a:r>
            <a:r>
              <a:rPr sz="1800" spc="-75" dirty="0">
                <a:latin typeface="Verdana"/>
                <a:cs typeface="Verdana"/>
              </a:rPr>
              <a:t> </a:t>
            </a:r>
            <a:r>
              <a:rPr sz="1800" spc="-95" dirty="0">
                <a:latin typeface="Verdana"/>
                <a:cs typeface="Verdana"/>
              </a:rPr>
              <a:t>(q)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spc="-385" dirty="0">
                <a:latin typeface="Verdana"/>
                <a:cs typeface="Verdana"/>
              </a:rPr>
              <a:t>=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950" baseline="44871" dirty="0">
                <a:latin typeface="Cambria Math"/>
                <a:cs typeface="Cambria Math"/>
              </a:rPr>
              <a:t>499</a:t>
            </a:r>
            <a:r>
              <a:rPr sz="1950" spc="434" baseline="44871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155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0.998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76071" y="3435984"/>
            <a:ext cx="9992360" cy="99568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sz="1800" spc="-114" dirty="0">
                <a:latin typeface="Verdana"/>
                <a:cs typeface="Verdana"/>
              </a:rPr>
              <a:t>The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random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variable</a:t>
            </a:r>
            <a:r>
              <a:rPr sz="1800" spc="-150" dirty="0">
                <a:latin typeface="Verdana"/>
                <a:cs typeface="Verdana"/>
              </a:rPr>
              <a:t> </a:t>
            </a:r>
            <a:r>
              <a:rPr sz="1800" spc="-155" dirty="0">
                <a:latin typeface="Verdana"/>
                <a:cs typeface="Verdana"/>
              </a:rPr>
              <a:t>X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spc="-385" dirty="0">
                <a:latin typeface="Verdana"/>
                <a:cs typeface="Verdana"/>
              </a:rPr>
              <a:t>~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spc="-140" dirty="0">
                <a:latin typeface="Verdana"/>
                <a:cs typeface="Verdana"/>
              </a:rPr>
              <a:t>BD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spc="-130" dirty="0">
                <a:latin typeface="Verdana"/>
                <a:cs typeface="Verdana"/>
              </a:rPr>
              <a:t>(n</a:t>
            </a:r>
            <a:r>
              <a:rPr sz="1800" spc="-75" dirty="0">
                <a:latin typeface="Verdana"/>
                <a:cs typeface="Verdana"/>
              </a:rPr>
              <a:t> </a:t>
            </a:r>
            <a:r>
              <a:rPr sz="1800" spc="-385" dirty="0">
                <a:latin typeface="Verdana"/>
                <a:cs typeface="Verdana"/>
              </a:rPr>
              <a:t>=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spc="-170" dirty="0">
                <a:latin typeface="Verdana"/>
                <a:cs typeface="Verdana"/>
              </a:rPr>
              <a:t>10,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spc="100" dirty="0">
                <a:latin typeface="Verdana"/>
                <a:cs typeface="Verdana"/>
              </a:rPr>
              <a:t>p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spc="-385" dirty="0">
                <a:latin typeface="Verdana"/>
                <a:cs typeface="Verdana"/>
              </a:rPr>
              <a:t>=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0.002)</a:t>
            </a:r>
            <a:endParaRPr sz="1800" dirty="0">
              <a:latin typeface="Verdana"/>
              <a:cs typeface="Verdana"/>
            </a:endParaRPr>
          </a:p>
          <a:p>
            <a:pPr marL="12700" marR="5080">
              <a:lnSpc>
                <a:spcPts val="1939"/>
              </a:lnSpc>
              <a:spcBef>
                <a:spcPts val="935"/>
              </a:spcBef>
            </a:pPr>
            <a:r>
              <a:rPr sz="1800" spc="-75" dirty="0">
                <a:latin typeface="Verdana"/>
                <a:cs typeface="Verdana"/>
              </a:rPr>
              <a:t>Here,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we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spc="100" dirty="0">
                <a:latin typeface="Verdana"/>
                <a:cs typeface="Verdana"/>
              </a:rPr>
              <a:t>can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approximate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spc="-50" dirty="0">
                <a:latin typeface="Verdana"/>
                <a:cs typeface="Verdana"/>
              </a:rPr>
              <a:t>probabilities</a:t>
            </a:r>
            <a:r>
              <a:rPr sz="1800" spc="-1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by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spc="-80" dirty="0">
                <a:latin typeface="Verdana"/>
                <a:cs typeface="Verdana"/>
              </a:rPr>
              <a:t>using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spc="-85" dirty="0">
                <a:latin typeface="Verdana"/>
                <a:cs typeface="Verdana"/>
              </a:rPr>
              <a:t>Poisson</a:t>
            </a:r>
            <a:r>
              <a:rPr sz="1800" spc="-125" dirty="0">
                <a:latin typeface="Verdana"/>
                <a:cs typeface="Verdana"/>
              </a:rPr>
              <a:t> </a:t>
            </a:r>
            <a:r>
              <a:rPr sz="1800" spc="-80" dirty="0">
                <a:latin typeface="Verdana"/>
                <a:cs typeface="Verdana"/>
              </a:rPr>
              <a:t>distribution</a:t>
            </a:r>
            <a:r>
              <a:rPr sz="1800" spc="-135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since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condition</a:t>
            </a:r>
            <a:r>
              <a:rPr sz="1800" spc="-135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to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use </a:t>
            </a:r>
            <a:r>
              <a:rPr sz="1800" spc="-85" dirty="0">
                <a:latin typeface="Verdana"/>
                <a:cs typeface="Verdana"/>
              </a:rPr>
              <a:t>Poisson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spc="-80" dirty="0">
                <a:latin typeface="Verdana"/>
                <a:cs typeface="Verdana"/>
              </a:rPr>
              <a:t>distribution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spc="-65" dirty="0">
                <a:latin typeface="Verdana"/>
                <a:cs typeface="Verdana"/>
              </a:rPr>
              <a:t>as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spc="-30" dirty="0">
                <a:latin typeface="Verdana"/>
                <a:cs typeface="Verdana"/>
              </a:rPr>
              <a:t>approximation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spc="-140" dirty="0">
                <a:latin typeface="Verdana"/>
                <a:cs typeface="Verdana"/>
              </a:rPr>
              <a:t>BD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spc="-185" dirty="0">
                <a:latin typeface="Verdana"/>
                <a:cs typeface="Verdana"/>
              </a:rPr>
              <a:t>is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met.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261864" y="4705730"/>
            <a:ext cx="291465" cy="15240"/>
          </a:xfrm>
          <a:custGeom>
            <a:avLst/>
            <a:gdLst/>
            <a:ahLst/>
            <a:cxnLst/>
            <a:rect l="l" t="t" r="r" b="b"/>
            <a:pathLst>
              <a:path w="291464" h="15239">
                <a:moveTo>
                  <a:pt x="291084" y="0"/>
                </a:moveTo>
                <a:lnTo>
                  <a:pt x="0" y="0"/>
                </a:lnTo>
                <a:lnTo>
                  <a:pt x="0" y="15240"/>
                </a:lnTo>
                <a:lnTo>
                  <a:pt x="291084" y="15240"/>
                </a:lnTo>
                <a:lnTo>
                  <a:pt x="2910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345938" y="4465446"/>
            <a:ext cx="12255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40" dirty="0">
                <a:latin typeface="Cambria Math"/>
                <a:cs typeface="Cambria Math"/>
              </a:rPr>
              <a:t>1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249926" y="4713858"/>
            <a:ext cx="31813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25" dirty="0">
                <a:latin typeface="Cambria Math"/>
                <a:cs typeface="Cambria Math"/>
              </a:rPr>
              <a:t>500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603494" y="4538598"/>
            <a:ext cx="6883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105" dirty="0">
                <a:latin typeface="Cambria Math"/>
                <a:cs typeface="Cambria Math"/>
              </a:rPr>
              <a:t> </a:t>
            </a:r>
            <a:r>
              <a:rPr sz="1800" spc="-20" dirty="0">
                <a:latin typeface="Cambria Math"/>
                <a:cs typeface="Cambria Math"/>
              </a:rPr>
              <a:t>0.02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76071" y="4395342"/>
            <a:ext cx="4203065" cy="861060"/>
          </a:xfrm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sz="1800" spc="75" dirty="0">
                <a:latin typeface="Verdana"/>
                <a:cs typeface="Verdana"/>
              </a:rPr>
              <a:t>Mean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spc="-45" dirty="0">
                <a:latin typeface="Verdana"/>
                <a:cs typeface="Verdana"/>
              </a:rPr>
              <a:t>no.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135" dirty="0">
                <a:latin typeface="Verdana"/>
                <a:cs typeface="Verdana"/>
              </a:rPr>
              <a:t> </a:t>
            </a:r>
            <a:r>
              <a:rPr sz="1800" spc="-50" dirty="0">
                <a:latin typeface="Verdana"/>
                <a:cs typeface="Verdana"/>
              </a:rPr>
              <a:t>successes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spc="-105" dirty="0">
                <a:latin typeface="Verdana"/>
                <a:cs typeface="Verdana"/>
              </a:rPr>
              <a:t>(</a:t>
            </a:r>
            <a:r>
              <a:rPr sz="1800" spc="-105" dirty="0">
                <a:latin typeface="Cambria Math"/>
                <a:cs typeface="Cambria Math"/>
              </a:rPr>
              <a:t>𝜆</a:t>
            </a:r>
            <a:r>
              <a:rPr sz="1800" spc="-105" dirty="0">
                <a:latin typeface="Verdana"/>
                <a:cs typeface="Verdana"/>
              </a:rPr>
              <a:t>)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spc="-385" dirty="0">
                <a:latin typeface="Verdana"/>
                <a:cs typeface="Verdana"/>
              </a:rPr>
              <a:t>=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spc="-55" dirty="0">
                <a:latin typeface="Verdana"/>
                <a:cs typeface="Verdana"/>
              </a:rPr>
              <a:t>n</a:t>
            </a:r>
            <a:r>
              <a:rPr sz="1800" spc="-125" dirty="0">
                <a:latin typeface="Verdana"/>
                <a:cs typeface="Verdana"/>
              </a:rPr>
              <a:t> </a:t>
            </a:r>
            <a:r>
              <a:rPr sz="1800" spc="100" dirty="0">
                <a:latin typeface="Verdana"/>
                <a:cs typeface="Verdana"/>
              </a:rPr>
              <a:t>p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spc="-385" dirty="0">
                <a:latin typeface="Verdana"/>
                <a:cs typeface="Verdana"/>
              </a:rPr>
              <a:t>=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dirty="0">
                <a:latin typeface="Cambria Math"/>
                <a:cs typeface="Cambria Math"/>
              </a:rPr>
              <a:t>10</a:t>
            </a:r>
            <a:r>
              <a:rPr sz="1800" spc="2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𝑥</a:t>
            </a:r>
            <a:endParaRPr sz="1800" dirty="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sz="1800" spc="-50" dirty="0">
                <a:latin typeface="Verdana"/>
                <a:cs typeface="Verdana"/>
              </a:rPr>
              <a:t>Probability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spc="-210" dirty="0">
                <a:latin typeface="Verdana"/>
                <a:cs typeface="Verdana"/>
              </a:rPr>
              <a:t>x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spc="-50" dirty="0">
                <a:latin typeface="Verdana"/>
                <a:cs typeface="Verdana"/>
              </a:rPr>
              <a:t>successes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spc="-190" dirty="0">
                <a:latin typeface="Verdana"/>
                <a:cs typeface="Verdana"/>
              </a:rPr>
              <a:t>is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given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by,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133345" y="5471033"/>
            <a:ext cx="731520" cy="212090"/>
          </a:xfrm>
          <a:custGeom>
            <a:avLst/>
            <a:gdLst/>
            <a:ahLst/>
            <a:cxnLst/>
            <a:rect l="l" t="t" r="r" b="b"/>
            <a:pathLst>
              <a:path w="731519" h="212089">
                <a:moveTo>
                  <a:pt x="663829" y="0"/>
                </a:moveTo>
                <a:lnTo>
                  <a:pt x="660908" y="8635"/>
                </a:lnTo>
                <a:lnTo>
                  <a:pt x="673121" y="13946"/>
                </a:lnTo>
                <a:lnTo>
                  <a:pt x="683656" y="21304"/>
                </a:lnTo>
                <a:lnTo>
                  <a:pt x="705070" y="55449"/>
                </a:lnTo>
                <a:lnTo>
                  <a:pt x="712089" y="104901"/>
                </a:lnTo>
                <a:lnTo>
                  <a:pt x="711303" y="123543"/>
                </a:lnTo>
                <a:lnTo>
                  <a:pt x="699516" y="169252"/>
                </a:lnTo>
                <a:lnTo>
                  <a:pt x="673262" y="197843"/>
                </a:lnTo>
                <a:lnTo>
                  <a:pt x="661162" y="203187"/>
                </a:lnTo>
                <a:lnTo>
                  <a:pt x="663829" y="211772"/>
                </a:lnTo>
                <a:lnTo>
                  <a:pt x="704351" y="187740"/>
                </a:lnTo>
                <a:lnTo>
                  <a:pt x="727027" y="143367"/>
                </a:lnTo>
                <a:lnTo>
                  <a:pt x="731393" y="105917"/>
                </a:lnTo>
                <a:lnTo>
                  <a:pt x="730297" y="86536"/>
                </a:lnTo>
                <a:lnTo>
                  <a:pt x="713867" y="37083"/>
                </a:lnTo>
                <a:lnTo>
                  <a:pt x="679184" y="5544"/>
                </a:lnTo>
                <a:lnTo>
                  <a:pt x="663829" y="0"/>
                </a:lnTo>
                <a:close/>
              </a:path>
              <a:path w="731519" h="212089">
                <a:moveTo>
                  <a:pt x="67564" y="0"/>
                </a:moveTo>
                <a:lnTo>
                  <a:pt x="27219" y="24110"/>
                </a:lnTo>
                <a:lnTo>
                  <a:pt x="4381" y="68595"/>
                </a:lnTo>
                <a:lnTo>
                  <a:pt x="0" y="105917"/>
                </a:lnTo>
                <a:lnTo>
                  <a:pt x="1093" y="125399"/>
                </a:lnTo>
                <a:lnTo>
                  <a:pt x="17399" y="174777"/>
                </a:lnTo>
                <a:lnTo>
                  <a:pt x="52153" y="206238"/>
                </a:lnTo>
                <a:lnTo>
                  <a:pt x="67564" y="211772"/>
                </a:lnTo>
                <a:lnTo>
                  <a:pt x="70231" y="203187"/>
                </a:lnTo>
                <a:lnTo>
                  <a:pt x="58183" y="197843"/>
                </a:lnTo>
                <a:lnTo>
                  <a:pt x="47767" y="190406"/>
                </a:lnTo>
                <a:lnTo>
                  <a:pt x="26376" y="155726"/>
                </a:lnTo>
                <a:lnTo>
                  <a:pt x="19304" y="104901"/>
                </a:lnTo>
                <a:lnTo>
                  <a:pt x="20089" y="86830"/>
                </a:lnTo>
                <a:lnTo>
                  <a:pt x="31877" y="42163"/>
                </a:lnTo>
                <a:lnTo>
                  <a:pt x="58398" y="13946"/>
                </a:lnTo>
                <a:lnTo>
                  <a:pt x="70612" y="8635"/>
                </a:lnTo>
                <a:lnTo>
                  <a:pt x="675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954529" y="5401462"/>
            <a:ext cx="8407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𝑃</a:t>
            </a:r>
            <a:r>
              <a:rPr sz="1800" spc="38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𝑋</a:t>
            </a:r>
            <a:r>
              <a:rPr sz="1800" spc="15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105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𝑥</a:t>
            </a:r>
            <a:endParaRPr sz="1800" dirty="0">
              <a:latin typeface="Cambria Math"/>
              <a:cs typeface="Cambria Math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183127" y="5568315"/>
            <a:ext cx="887094" cy="15240"/>
          </a:xfrm>
          <a:custGeom>
            <a:avLst/>
            <a:gdLst/>
            <a:ahLst/>
            <a:cxnLst/>
            <a:rect l="l" t="t" r="r" b="b"/>
            <a:pathLst>
              <a:path w="887095" h="15239">
                <a:moveTo>
                  <a:pt x="886968" y="0"/>
                </a:moveTo>
                <a:lnTo>
                  <a:pt x="0" y="0"/>
                </a:lnTo>
                <a:lnTo>
                  <a:pt x="0" y="15240"/>
                </a:lnTo>
                <a:lnTo>
                  <a:pt x="886968" y="15240"/>
                </a:lnTo>
                <a:lnTo>
                  <a:pt x="8869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335271" y="5568315"/>
            <a:ext cx="1600200" cy="15240"/>
          </a:xfrm>
          <a:custGeom>
            <a:avLst/>
            <a:gdLst/>
            <a:ahLst/>
            <a:cxnLst/>
            <a:rect l="l" t="t" r="r" b="b"/>
            <a:pathLst>
              <a:path w="1600200" h="15239">
                <a:moveTo>
                  <a:pt x="1600200" y="0"/>
                </a:moveTo>
                <a:lnTo>
                  <a:pt x="0" y="0"/>
                </a:lnTo>
                <a:lnTo>
                  <a:pt x="0" y="15240"/>
                </a:lnTo>
                <a:lnTo>
                  <a:pt x="1600200" y="15240"/>
                </a:lnTo>
                <a:lnTo>
                  <a:pt x="1600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896616" y="5267071"/>
            <a:ext cx="3084830" cy="536575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387350">
              <a:lnSpc>
                <a:spcPts val="495"/>
              </a:lnSpc>
              <a:spcBef>
                <a:spcPts val="370"/>
              </a:spcBef>
              <a:tabLst>
                <a:tab pos="1042669" algn="l"/>
                <a:tab pos="2100580" algn="l"/>
                <a:tab pos="2946400" algn="l"/>
              </a:tabLst>
            </a:pPr>
            <a:r>
              <a:rPr sz="1050" spc="75" dirty="0">
                <a:latin typeface="Cambria Math"/>
                <a:cs typeface="Cambria Math"/>
              </a:rPr>
              <a:t>−𝑛𝑝</a:t>
            </a:r>
            <a:r>
              <a:rPr sz="1050" dirty="0">
                <a:latin typeface="Cambria Math"/>
                <a:cs typeface="Cambria Math"/>
              </a:rPr>
              <a:t>	</a:t>
            </a:r>
            <a:r>
              <a:rPr sz="1050" spc="70" dirty="0">
                <a:latin typeface="Cambria Math"/>
                <a:cs typeface="Cambria Math"/>
              </a:rPr>
              <a:t>𝑥</a:t>
            </a:r>
            <a:r>
              <a:rPr sz="1050" dirty="0">
                <a:latin typeface="Cambria Math"/>
                <a:cs typeface="Cambria Math"/>
              </a:rPr>
              <a:t>	</a:t>
            </a:r>
            <a:r>
              <a:rPr sz="1050" spc="-20" dirty="0">
                <a:latin typeface="Cambria Math"/>
                <a:cs typeface="Cambria Math"/>
              </a:rPr>
              <a:t>−0.02</a:t>
            </a:r>
            <a:r>
              <a:rPr sz="1050" dirty="0">
                <a:latin typeface="Cambria Math"/>
                <a:cs typeface="Cambria Math"/>
              </a:rPr>
              <a:t>	</a:t>
            </a:r>
            <a:r>
              <a:rPr sz="1050" spc="70" dirty="0">
                <a:latin typeface="Cambria Math"/>
                <a:cs typeface="Cambria Math"/>
              </a:rPr>
              <a:t>𝑥</a:t>
            </a:r>
            <a:endParaRPr sz="1050">
              <a:latin typeface="Cambria Math"/>
              <a:cs typeface="Cambria Math"/>
            </a:endParaRPr>
          </a:p>
          <a:p>
            <a:pPr marR="79375" algn="ctr">
              <a:lnSpc>
                <a:spcPts val="1395"/>
              </a:lnSpc>
              <a:tabLst>
                <a:tab pos="636905" algn="l"/>
                <a:tab pos="1185545" algn="l"/>
                <a:tab pos="2430780" algn="l"/>
              </a:tabLst>
            </a:pPr>
            <a:r>
              <a:rPr sz="2700" baseline="-32407" dirty="0">
                <a:latin typeface="Cambria Math"/>
                <a:cs typeface="Cambria Math"/>
              </a:rPr>
              <a:t>=</a:t>
            </a:r>
            <a:r>
              <a:rPr sz="2700" spc="172" baseline="-32407" dirty="0">
                <a:latin typeface="Cambria Math"/>
                <a:cs typeface="Cambria Math"/>
              </a:rPr>
              <a:t> </a:t>
            </a:r>
            <a:r>
              <a:rPr sz="1300" spc="20" dirty="0">
                <a:latin typeface="Cambria Math"/>
                <a:cs typeface="Cambria Math"/>
              </a:rPr>
              <a:t>𝑒</a:t>
            </a:r>
            <a:r>
              <a:rPr sz="1300" dirty="0">
                <a:latin typeface="Cambria Math"/>
                <a:cs typeface="Cambria Math"/>
              </a:rPr>
              <a:t>	</a:t>
            </a:r>
            <a:r>
              <a:rPr sz="1300" spc="35" dirty="0">
                <a:latin typeface="Cambria Math"/>
                <a:cs typeface="Cambria Math"/>
              </a:rPr>
              <a:t>(𝑛𝑝)</a:t>
            </a:r>
            <a:r>
              <a:rPr sz="1300" dirty="0">
                <a:latin typeface="Cambria Math"/>
                <a:cs typeface="Cambria Math"/>
              </a:rPr>
              <a:t>	</a:t>
            </a:r>
            <a:r>
              <a:rPr sz="2700" spc="-577" baseline="-32407" dirty="0">
                <a:latin typeface="Verdana"/>
                <a:cs typeface="Verdana"/>
              </a:rPr>
              <a:t>=</a:t>
            </a:r>
            <a:r>
              <a:rPr sz="2700" spc="-195" baseline="-32407" dirty="0">
                <a:latin typeface="Verdana"/>
                <a:cs typeface="Verdana"/>
              </a:rPr>
              <a:t> </a:t>
            </a:r>
            <a:r>
              <a:rPr sz="1300" spc="-10" dirty="0">
                <a:latin typeface="Cambria Math"/>
                <a:cs typeface="Cambria Math"/>
              </a:rPr>
              <a:t>(2.7183)</a:t>
            </a:r>
            <a:r>
              <a:rPr sz="1300" dirty="0">
                <a:latin typeface="Cambria Math"/>
                <a:cs typeface="Cambria Math"/>
              </a:rPr>
              <a:t>	</a:t>
            </a:r>
            <a:r>
              <a:rPr sz="1300" spc="-10" dirty="0">
                <a:latin typeface="Cambria Math"/>
                <a:cs typeface="Cambria Math"/>
              </a:rPr>
              <a:t>(0.02)</a:t>
            </a:r>
            <a:endParaRPr sz="1300">
              <a:latin typeface="Cambria Math"/>
              <a:cs typeface="Cambria Math"/>
            </a:endParaRPr>
          </a:p>
          <a:p>
            <a:pPr marR="107314" algn="ctr">
              <a:lnSpc>
                <a:spcPct val="100000"/>
              </a:lnSpc>
              <a:spcBef>
                <a:spcPts val="295"/>
              </a:spcBef>
              <a:tabLst>
                <a:tab pos="1508760" algn="l"/>
              </a:tabLst>
            </a:pPr>
            <a:r>
              <a:rPr sz="1300" spc="35" dirty="0">
                <a:latin typeface="Cambria Math"/>
                <a:cs typeface="Cambria Math"/>
              </a:rPr>
              <a:t>𝑥!</a:t>
            </a:r>
            <a:r>
              <a:rPr sz="1300" dirty="0">
                <a:latin typeface="Cambria Math"/>
                <a:cs typeface="Cambria Math"/>
              </a:rPr>
              <a:t>	</a:t>
            </a:r>
            <a:r>
              <a:rPr sz="1300" spc="35" dirty="0">
                <a:latin typeface="Cambria Math"/>
                <a:cs typeface="Cambria Math"/>
              </a:rPr>
              <a:t>𝑥!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4" name="Date Placeholder 23">
            <a:extLst>
              <a:ext uri="{FF2B5EF4-FFF2-40B4-BE49-F238E27FC236}">
                <a16:creationId xmlns:a16="http://schemas.microsoft.com/office/drawing/2014/main" id="{B6D78C7F-E608-AC85-D97D-B47502C8D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97E38-EC4F-4B29-B8F2-89D7851B60D9}" type="datetime1">
              <a:rPr lang="en-US" smtClean="0"/>
              <a:t>7/22/2024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60894" y="1062989"/>
            <a:ext cx="2120265" cy="20320"/>
          </a:xfrm>
          <a:custGeom>
            <a:avLst/>
            <a:gdLst/>
            <a:ahLst/>
            <a:cxnLst/>
            <a:rect l="l" t="t" r="r" b="b"/>
            <a:pathLst>
              <a:path w="2120265" h="20319">
                <a:moveTo>
                  <a:pt x="2119883" y="0"/>
                </a:moveTo>
                <a:lnTo>
                  <a:pt x="0" y="0"/>
                </a:lnTo>
                <a:lnTo>
                  <a:pt x="0" y="19812"/>
                </a:lnTo>
                <a:lnTo>
                  <a:pt x="2119883" y="19812"/>
                </a:lnTo>
                <a:lnTo>
                  <a:pt x="21198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022463" y="704468"/>
            <a:ext cx="1264285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141730" algn="l"/>
              </a:tabLst>
            </a:pPr>
            <a:r>
              <a:rPr sz="1450" spc="-10" dirty="0">
                <a:latin typeface="Cambria Math"/>
                <a:cs typeface="Cambria Math"/>
              </a:rPr>
              <a:t>−0.02</a:t>
            </a:r>
            <a:r>
              <a:rPr sz="1450" dirty="0">
                <a:latin typeface="Cambria Math"/>
                <a:cs typeface="Cambria Math"/>
              </a:rPr>
              <a:t>	</a:t>
            </a:r>
            <a:r>
              <a:rPr sz="1450" spc="-50" dirty="0">
                <a:latin typeface="Cambria Math"/>
                <a:cs typeface="Cambria Math"/>
              </a:rPr>
              <a:t>0</a:t>
            </a:r>
            <a:endParaRPr sz="1450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04291" y="841628"/>
            <a:ext cx="98825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7842250" algn="l"/>
                <a:tab pos="8661400" algn="l"/>
              </a:tabLst>
            </a:pPr>
            <a:r>
              <a:rPr sz="1800" b="0" spc="-80" dirty="0">
                <a:solidFill>
                  <a:srgbClr val="000000"/>
                </a:solidFill>
                <a:latin typeface="Verdana"/>
                <a:cs typeface="Verdana"/>
              </a:rPr>
              <a:t>(a)</a:t>
            </a:r>
            <a:r>
              <a:rPr sz="1800" b="0" spc="-7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2400" b="0" spc="-65" dirty="0">
                <a:solidFill>
                  <a:srgbClr val="000000"/>
                </a:solidFill>
                <a:latin typeface="Verdana"/>
                <a:cs typeface="Verdana"/>
              </a:rPr>
              <a:t>Probability</a:t>
            </a:r>
            <a:r>
              <a:rPr sz="2400" b="0" spc="-175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2400" b="0" dirty="0">
                <a:solidFill>
                  <a:srgbClr val="000000"/>
                </a:solidFill>
                <a:latin typeface="Verdana"/>
                <a:cs typeface="Verdana"/>
              </a:rPr>
              <a:t>of</a:t>
            </a:r>
            <a:r>
              <a:rPr sz="2400" b="0" spc="-135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2400" b="0" spc="-85" dirty="0">
                <a:solidFill>
                  <a:srgbClr val="000000"/>
                </a:solidFill>
                <a:latin typeface="Verdana"/>
                <a:cs typeface="Verdana"/>
              </a:rPr>
              <a:t>zero</a:t>
            </a:r>
            <a:r>
              <a:rPr sz="2400" b="0" spc="-135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2400" b="0" dirty="0">
                <a:solidFill>
                  <a:srgbClr val="000000"/>
                </a:solidFill>
                <a:latin typeface="Verdana"/>
                <a:cs typeface="Verdana"/>
              </a:rPr>
              <a:t>defective</a:t>
            </a:r>
            <a:r>
              <a:rPr sz="2400" b="0" spc="-18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2400" b="0" spc="-515" dirty="0">
                <a:solidFill>
                  <a:srgbClr val="000000"/>
                </a:solidFill>
                <a:latin typeface="Verdana"/>
                <a:cs typeface="Verdana"/>
              </a:rPr>
              <a:t>=</a:t>
            </a:r>
            <a:r>
              <a:rPr sz="2400" b="0" spc="-15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2400" b="0" dirty="0">
                <a:solidFill>
                  <a:srgbClr val="000000"/>
                </a:solidFill>
                <a:latin typeface="Verdana"/>
                <a:cs typeface="Verdana"/>
              </a:rPr>
              <a:t>P</a:t>
            </a:r>
            <a:r>
              <a:rPr sz="2400" b="0" spc="-135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2400" b="0" spc="-215" dirty="0">
                <a:solidFill>
                  <a:srgbClr val="000000"/>
                </a:solidFill>
                <a:latin typeface="Verdana"/>
                <a:cs typeface="Verdana"/>
              </a:rPr>
              <a:t>(X</a:t>
            </a:r>
            <a:r>
              <a:rPr sz="2400" b="0" spc="-14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2400" b="0" spc="-515" dirty="0">
                <a:solidFill>
                  <a:srgbClr val="000000"/>
                </a:solidFill>
                <a:latin typeface="Verdana"/>
                <a:cs typeface="Verdana"/>
              </a:rPr>
              <a:t>=</a:t>
            </a:r>
            <a:r>
              <a:rPr sz="2400" b="0" spc="-135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2400" b="0" spc="-220" dirty="0">
                <a:solidFill>
                  <a:srgbClr val="000000"/>
                </a:solidFill>
                <a:latin typeface="Verdana"/>
                <a:cs typeface="Verdana"/>
              </a:rPr>
              <a:t>0)</a:t>
            </a:r>
            <a:r>
              <a:rPr sz="2400" b="0" spc="-15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2400" b="0" spc="-515" dirty="0">
                <a:solidFill>
                  <a:srgbClr val="000000"/>
                </a:solidFill>
                <a:latin typeface="Verdana"/>
                <a:cs typeface="Verdana"/>
              </a:rPr>
              <a:t>=</a:t>
            </a:r>
            <a:r>
              <a:rPr sz="2400" b="0" spc="-125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2625" b="0" spc="-15" baseline="44444" dirty="0">
                <a:solidFill>
                  <a:srgbClr val="000000"/>
                </a:solidFill>
                <a:latin typeface="Cambria Math"/>
                <a:cs typeface="Cambria Math"/>
              </a:rPr>
              <a:t>(2.7183)</a:t>
            </a:r>
            <a:r>
              <a:rPr sz="2625" b="0" baseline="44444" dirty="0">
                <a:solidFill>
                  <a:srgbClr val="000000"/>
                </a:solidFill>
                <a:latin typeface="Cambria Math"/>
                <a:cs typeface="Cambria Math"/>
              </a:rPr>
              <a:t>	</a:t>
            </a:r>
            <a:r>
              <a:rPr sz="2625" b="0" spc="-15" baseline="44444" dirty="0">
                <a:solidFill>
                  <a:srgbClr val="000000"/>
                </a:solidFill>
                <a:latin typeface="Cambria Math"/>
                <a:cs typeface="Cambria Math"/>
              </a:rPr>
              <a:t>(0.02)</a:t>
            </a:r>
            <a:r>
              <a:rPr sz="2625" b="0" baseline="44444" dirty="0">
                <a:solidFill>
                  <a:srgbClr val="000000"/>
                </a:solidFill>
                <a:latin typeface="Cambria Math"/>
                <a:cs typeface="Cambria Math"/>
              </a:rPr>
              <a:t>	</a:t>
            </a:r>
            <a:r>
              <a:rPr sz="2400" b="0" spc="-515" dirty="0">
                <a:solidFill>
                  <a:srgbClr val="000000"/>
                </a:solidFill>
                <a:latin typeface="Verdana"/>
                <a:cs typeface="Verdana"/>
              </a:rPr>
              <a:t>=</a:t>
            </a:r>
            <a:r>
              <a:rPr sz="2400" b="0" spc="-19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2400" b="0" spc="-180" dirty="0">
                <a:solidFill>
                  <a:srgbClr val="000000"/>
                </a:solidFill>
                <a:latin typeface="Verdana"/>
                <a:cs typeface="Verdana"/>
              </a:rPr>
              <a:t>0.9802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Copyright:</a:t>
            </a:r>
            <a:r>
              <a:rPr spc="-15" dirty="0"/>
              <a:t> </a:t>
            </a:r>
            <a:r>
              <a:rPr spc="-55" dirty="0"/>
              <a:t>Santosh</a:t>
            </a:r>
            <a:r>
              <a:rPr spc="-35" dirty="0"/>
              <a:t> </a:t>
            </a:r>
            <a:r>
              <a:rPr spc="-10" dirty="0"/>
              <a:t>Chhatkuli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16991" y="1029954"/>
            <a:ext cx="10770718" cy="124906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R="2282190" algn="r">
              <a:lnSpc>
                <a:spcPct val="100000"/>
              </a:lnSpc>
              <a:spcBef>
                <a:spcPts val="480"/>
              </a:spcBef>
            </a:pPr>
            <a:r>
              <a:rPr sz="1750" spc="-25" dirty="0">
                <a:latin typeface="Cambria Math"/>
                <a:cs typeface="Cambria Math"/>
              </a:rPr>
              <a:t>0!</a:t>
            </a:r>
            <a:endParaRPr sz="1750" dirty="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2400" dirty="0">
                <a:latin typeface="Verdana"/>
                <a:cs typeface="Verdana"/>
              </a:rPr>
              <a:t>Expected</a:t>
            </a:r>
            <a:r>
              <a:rPr sz="2400" spc="-110" dirty="0">
                <a:latin typeface="Verdana"/>
                <a:cs typeface="Verdana"/>
              </a:rPr>
              <a:t> </a:t>
            </a:r>
            <a:r>
              <a:rPr sz="2400" spc="-55" dirty="0">
                <a:latin typeface="Verdana"/>
                <a:cs typeface="Verdana"/>
              </a:rPr>
              <a:t>no.</a:t>
            </a:r>
            <a:r>
              <a:rPr sz="2400" spc="-1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of</a:t>
            </a:r>
            <a:r>
              <a:rPr sz="2400" spc="-125" dirty="0">
                <a:latin typeface="Verdana"/>
                <a:cs typeface="Verdana"/>
              </a:rPr>
              <a:t> </a:t>
            </a:r>
            <a:r>
              <a:rPr sz="2400" spc="-85" dirty="0">
                <a:latin typeface="Verdana"/>
                <a:cs typeface="Verdana"/>
              </a:rPr>
              <a:t>zero</a:t>
            </a:r>
            <a:r>
              <a:rPr sz="2400" spc="-114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defective</a:t>
            </a:r>
            <a:r>
              <a:rPr sz="2400" spc="-150" dirty="0">
                <a:latin typeface="Verdana"/>
                <a:cs typeface="Verdana"/>
              </a:rPr>
              <a:t> </a:t>
            </a:r>
            <a:r>
              <a:rPr sz="2400" spc="-120" dirty="0">
                <a:latin typeface="Verdana"/>
                <a:cs typeface="Verdana"/>
              </a:rPr>
              <a:t>in</a:t>
            </a:r>
            <a:r>
              <a:rPr sz="2400" spc="-160" dirty="0">
                <a:latin typeface="Verdana"/>
                <a:cs typeface="Verdana"/>
              </a:rPr>
              <a:t> </a:t>
            </a:r>
            <a:r>
              <a:rPr sz="2400" spc="185" dirty="0">
                <a:latin typeface="Verdana"/>
                <a:cs typeface="Verdana"/>
              </a:rPr>
              <a:t>a</a:t>
            </a:r>
            <a:r>
              <a:rPr sz="2400" spc="-125" dirty="0">
                <a:latin typeface="Verdana"/>
                <a:cs typeface="Verdana"/>
              </a:rPr>
              <a:t> </a:t>
            </a:r>
            <a:r>
              <a:rPr sz="2400" spc="-30" dirty="0">
                <a:latin typeface="Verdana"/>
                <a:cs typeface="Verdana"/>
              </a:rPr>
              <a:t>consignment</a:t>
            </a:r>
            <a:r>
              <a:rPr sz="2400" spc="-16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of</a:t>
            </a:r>
            <a:r>
              <a:rPr sz="2400" spc="-125" dirty="0">
                <a:latin typeface="Verdana"/>
                <a:cs typeface="Verdana"/>
              </a:rPr>
              <a:t> </a:t>
            </a:r>
            <a:r>
              <a:rPr sz="2400" spc="-215" dirty="0">
                <a:latin typeface="Verdana"/>
                <a:cs typeface="Verdana"/>
              </a:rPr>
              <a:t>20,000</a:t>
            </a:r>
            <a:r>
              <a:rPr sz="2400" spc="-12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packets</a:t>
            </a:r>
            <a:endParaRPr sz="24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lang="en-US" sz="2400" spc="-515" dirty="0">
                <a:latin typeface="Verdana"/>
                <a:cs typeface="Verdana"/>
              </a:rPr>
              <a:t> </a:t>
            </a:r>
            <a:r>
              <a:rPr sz="2400" spc="-515" dirty="0">
                <a:latin typeface="Verdana"/>
                <a:cs typeface="Verdana"/>
              </a:rPr>
              <a:t>=</a:t>
            </a:r>
            <a:r>
              <a:rPr sz="2400" spc="-185" dirty="0">
                <a:latin typeface="Verdana"/>
                <a:cs typeface="Verdana"/>
              </a:rPr>
              <a:t> </a:t>
            </a:r>
            <a:r>
              <a:rPr sz="2400" spc="-40" dirty="0">
                <a:latin typeface="Verdana"/>
                <a:cs typeface="Verdana"/>
              </a:rPr>
              <a:t>N</a:t>
            </a:r>
            <a:r>
              <a:rPr sz="2400" spc="-170" dirty="0">
                <a:latin typeface="Verdana"/>
                <a:cs typeface="Verdana"/>
              </a:rPr>
              <a:t> </a:t>
            </a:r>
            <a:r>
              <a:rPr sz="2400" spc="-215" dirty="0">
                <a:latin typeface="Verdana"/>
                <a:cs typeface="Verdana"/>
              </a:rPr>
              <a:t>.</a:t>
            </a:r>
            <a:r>
              <a:rPr sz="2400" spc="-175" dirty="0">
                <a:latin typeface="Verdana"/>
                <a:cs typeface="Verdana"/>
              </a:rPr>
              <a:t> </a:t>
            </a:r>
            <a:r>
              <a:rPr sz="2400" spc="-145" dirty="0">
                <a:latin typeface="Verdana"/>
                <a:cs typeface="Verdana"/>
              </a:rPr>
              <a:t>P(X</a:t>
            </a:r>
            <a:r>
              <a:rPr sz="2400" spc="-170" dirty="0">
                <a:latin typeface="Verdana"/>
                <a:cs typeface="Verdana"/>
              </a:rPr>
              <a:t> </a:t>
            </a:r>
            <a:r>
              <a:rPr sz="2400" spc="-515" dirty="0">
                <a:latin typeface="Verdana"/>
                <a:cs typeface="Verdana"/>
              </a:rPr>
              <a:t>=</a:t>
            </a:r>
            <a:r>
              <a:rPr sz="2400" spc="-190" dirty="0">
                <a:latin typeface="Verdana"/>
                <a:cs typeface="Verdana"/>
              </a:rPr>
              <a:t> </a:t>
            </a:r>
            <a:r>
              <a:rPr sz="2400" spc="-245" dirty="0">
                <a:latin typeface="Verdana"/>
                <a:cs typeface="Verdana"/>
              </a:rPr>
              <a:t>x)</a:t>
            </a:r>
            <a:r>
              <a:rPr sz="2400" spc="-175" dirty="0">
                <a:latin typeface="Verdana"/>
                <a:cs typeface="Verdana"/>
              </a:rPr>
              <a:t> </a:t>
            </a:r>
            <a:r>
              <a:rPr sz="2400" spc="-515" dirty="0">
                <a:latin typeface="Verdana"/>
                <a:cs typeface="Verdana"/>
              </a:rPr>
              <a:t>=</a:t>
            </a:r>
            <a:r>
              <a:rPr sz="2400" spc="-180" dirty="0">
                <a:latin typeface="Verdana"/>
                <a:cs typeface="Verdana"/>
              </a:rPr>
              <a:t> </a:t>
            </a:r>
            <a:r>
              <a:rPr sz="2400" spc="-215" dirty="0">
                <a:latin typeface="Verdana"/>
                <a:cs typeface="Verdana"/>
              </a:rPr>
              <a:t>20,000</a:t>
            </a:r>
            <a:r>
              <a:rPr sz="2400" spc="-170" dirty="0">
                <a:latin typeface="Verdana"/>
                <a:cs typeface="Verdana"/>
              </a:rPr>
              <a:t> </a:t>
            </a:r>
            <a:r>
              <a:rPr sz="2400" spc="-270" dirty="0">
                <a:latin typeface="Verdana"/>
                <a:cs typeface="Verdana"/>
              </a:rPr>
              <a:t>x</a:t>
            </a:r>
            <a:r>
              <a:rPr sz="2400" spc="-170" dirty="0">
                <a:latin typeface="Verdana"/>
                <a:cs typeface="Verdana"/>
              </a:rPr>
              <a:t> </a:t>
            </a:r>
            <a:r>
              <a:rPr sz="2400" spc="-210" dirty="0">
                <a:latin typeface="Verdana"/>
                <a:cs typeface="Verdana"/>
              </a:rPr>
              <a:t>0.9802</a:t>
            </a:r>
            <a:r>
              <a:rPr sz="2400" spc="-185" dirty="0">
                <a:latin typeface="Verdana"/>
                <a:cs typeface="Verdana"/>
              </a:rPr>
              <a:t> </a:t>
            </a:r>
            <a:r>
              <a:rPr sz="2400" spc="-515" dirty="0">
                <a:latin typeface="Verdana"/>
                <a:cs typeface="Verdana"/>
              </a:rPr>
              <a:t>=</a:t>
            </a:r>
            <a:r>
              <a:rPr sz="2400" spc="-180" dirty="0">
                <a:latin typeface="Verdana"/>
                <a:cs typeface="Verdana"/>
              </a:rPr>
              <a:t> </a:t>
            </a:r>
            <a:r>
              <a:rPr sz="2400" spc="-40" dirty="0">
                <a:latin typeface="Verdana"/>
                <a:cs typeface="Verdana"/>
              </a:rPr>
              <a:t>19,604</a:t>
            </a:r>
            <a:endParaRPr sz="2400" dirty="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522082" y="2708910"/>
            <a:ext cx="2120265" cy="20320"/>
          </a:xfrm>
          <a:custGeom>
            <a:avLst/>
            <a:gdLst/>
            <a:ahLst/>
            <a:cxnLst/>
            <a:rect l="l" t="t" r="r" b="b"/>
            <a:pathLst>
              <a:path w="2120265" h="20319">
                <a:moveTo>
                  <a:pt x="2119883" y="0"/>
                </a:moveTo>
                <a:lnTo>
                  <a:pt x="0" y="0"/>
                </a:lnTo>
                <a:lnTo>
                  <a:pt x="0" y="19812"/>
                </a:lnTo>
                <a:lnTo>
                  <a:pt x="2119883" y="19812"/>
                </a:lnTo>
                <a:lnTo>
                  <a:pt x="21198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91591" y="2350770"/>
            <a:ext cx="10608945" cy="5283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1657985" algn="r">
              <a:lnSpc>
                <a:spcPts val="1415"/>
              </a:lnSpc>
              <a:spcBef>
                <a:spcPts val="90"/>
              </a:spcBef>
              <a:tabLst>
                <a:tab pos="1127760" algn="l"/>
              </a:tabLst>
            </a:pPr>
            <a:r>
              <a:rPr sz="1450" spc="-10" dirty="0">
                <a:latin typeface="Cambria Math"/>
                <a:cs typeface="Cambria Math"/>
              </a:rPr>
              <a:t>−0.02</a:t>
            </a:r>
            <a:r>
              <a:rPr sz="1450" dirty="0">
                <a:latin typeface="Cambria Math"/>
                <a:cs typeface="Cambria Math"/>
              </a:rPr>
              <a:t>	</a:t>
            </a:r>
            <a:r>
              <a:rPr sz="1450" spc="-50" dirty="0">
                <a:latin typeface="Cambria Math"/>
                <a:cs typeface="Cambria Math"/>
              </a:rPr>
              <a:t>1</a:t>
            </a:r>
            <a:endParaRPr sz="1450">
              <a:latin typeface="Cambria Math"/>
              <a:cs typeface="Cambria Math"/>
            </a:endParaRPr>
          </a:p>
          <a:p>
            <a:pPr marL="38100">
              <a:lnSpc>
                <a:spcPts val="2555"/>
              </a:lnSpc>
              <a:tabLst>
                <a:tab pos="8216900" algn="l"/>
                <a:tab pos="9036685" algn="l"/>
              </a:tabLst>
            </a:pPr>
            <a:r>
              <a:rPr sz="2400" spc="-110" dirty="0">
                <a:latin typeface="Verdana"/>
                <a:cs typeface="Verdana"/>
              </a:rPr>
              <a:t>(b)</a:t>
            </a:r>
            <a:r>
              <a:rPr sz="2400" spc="-135" dirty="0">
                <a:latin typeface="Verdana"/>
                <a:cs typeface="Verdana"/>
              </a:rPr>
              <a:t> </a:t>
            </a:r>
            <a:r>
              <a:rPr sz="2400" spc="-65" dirty="0">
                <a:latin typeface="Verdana"/>
                <a:cs typeface="Verdana"/>
              </a:rPr>
              <a:t>Probability</a:t>
            </a:r>
            <a:r>
              <a:rPr sz="2400" spc="-18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of</a:t>
            </a:r>
            <a:r>
              <a:rPr sz="2400" spc="-140" dirty="0">
                <a:latin typeface="Verdana"/>
                <a:cs typeface="Verdana"/>
              </a:rPr>
              <a:t> </a:t>
            </a:r>
            <a:r>
              <a:rPr sz="2400" spc="55" dirty="0">
                <a:latin typeface="Verdana"/>
                <a:cs typeface="Verdana"/>
              </a:rPr>
              <a:t>one</a:t>
            </a:r>
            <a:r>
              <a:rPr sz="2400" spc="-14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defective</a:t>
            </a:r>
            <a:r>
              <a:rPr sz="2400" spc="-175" dirty="0">
                <a:latin typeface="Verdana"/>
                <a:cs typeface="Verdana"/>
              </a:rPr>
              <a:t> </a:t>
            </a:r>
            <a:r>
              <a:rPr sz="2400" spc="-515" dirty="0">
                <a:latin typeface="Verdana"/>
                <a:cs typeface="Verdana"/>
              </a:rPr>
              <a:t>=</a:t>
            </a:r>
            <a:r>
              <a:rPr sz="2400" spc="-15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P</a:t>
            </a:r>
            <a:r>
              <a:rPr sz="2400" spc="-140" dirty="0">
                <a:latin typeface="Verdana"/>
                <a:cs typeface="Verdana"/>
              </a:rPr>
              <a:t> </a:t>
            </a:r>
            <a:r>
              <a:rPr sz="2400" spc="-215" dirty="0">
                <a:latin typeface="Verdana"/>
                <a:cs typeface="Verdana"/>
              </a:rPr>
              <a:t>(X</a:t>
            </a:r>
            <a:r>
              <a:rPr sz="2400" spc="-140" dirty="0">
                <a:latin typeface="Verdana"/>
                <a:cs typeface="Verdana"/>
              </a:rPr>
              <a:t> </a:t>
            </a:r>
            <a:r>
              <a:rPr sz="2400" spc="-515" dirty="0">
                <a:latin typeface="Verdana"/>
                <a:cs typeface="Verdana"/>
              </a:rPr>
              <a:t>=</a:t>
            </a:r>
            <a:r>
              <a:rPr sz="2400" spc="-140" dirty="0">
                <a:latin typeface="Verdana"/>
                <a:cs typeface="Verdana"/>
              </a:rPr>
              <a:t> </a:t>
            </a:r>
            <a:r>
              <a:rPr sz="2400" spc="-215" dirty="0">
                <a:latin typeface="Verdana"/>
                <a:cs typeface="Verdana"/>
              </a:rPr>
              <a:t>1)</a:t>
            </a:r>
            <a:r>
              <a:rPr sz="2400" spc="-160" dirty="0">
                <a:latin typeface="Verdana"/>
                <a:cs typeface="Verdana"/>
              </a:rPr>
              <a:t> </a:t>
            </a:r>
            <a:r>
              <a:rPr sz="2400" spc="-515" dirty="0">
                <a:latin typeface="Verdana"/>
                <a:cs typeface="Verdana"/>
              </a:rPr>
              <a:t>=</a:t>
            </a:r>
            <a:r>
              <a:rPr sz="2400" spc="-130" dirty="0">
                <a:latin typeface="Verdana"/>
                <a:cs typeface="Verdana"/>
              </a:rPr>
              <a:t> </a:t>
            </a:r>
            <a:r>
              <a:rPr sz="2400" spc="-515" dirty="0">
                <a:latin typeface="Verdana"/>
                <a:cs typeface="Verdana"/>
              </a:rPr>
              <a:t>=</a:t>
            </a:r>
            <a:r>
              <a:rPr sz="2400" spc="-150" dirty="0">
                <a:latin typeface="Verdana"/>
                <a:cs typeface="Verdana"/>
              </a:rPr>
              <a:t> </a:t>
            </a:r>
            <a:r>
              <a:rPr sz="2625" spc="-15" baseline="44444" dirty="0">
                <a:latin typeface="Cambria Math"/>
                <a:cs typeface="Cambria Math"/>
              </a:rPr>
              <a:t>(2.7183)</a:t>
            </a:r>
            <a:r>
              <a:rPr sz="2625" baseline="44444" dirty="0">
                <a:latin typeface="Cambria Math"/>
                <a:cs typeface="Cambria Math"/>
              </a:rPr>
              <a:t>	</a:t>
            </a:r>
            <a:r>
              <a:rPr sz="2625" spc="-15" baseline="44444" dirty="0">
                <a:latin typeface="Cambria Math"/>
                <a:cs typeface="Cambria Math"/>
              </a:rPr>
              <a:t>(0.02)</a:t>
            </a:r>
            <a:r>
              <a:rPr sz="2625" baseline="44444" dirty="0">
                <a:latin typeface="Cambria Math"/>
                <a:cs typeface="Cambria Math"/>
              </a:rPr>
              <a:t>	</a:t>
            </a:r>
            <a:r>
              <a:rPr sz="2400" spc="-515" dirty="0">
                <a:latin typeface="Verdana"/>
                <a:cs typeface="Verdana"/>
              </a:rPr>
              <a:t>=</a:t>
            </a:r>
            <a:r>
              <a:rPr sz="2400" spc="-190" dirty="0">
                <a:latin typeface="Verdana"/>
                <a:cs typeface="Verdana"/>
              </a:rPr>
              <a:t> </a:t>
            </a:r>
            <a:r>
              <a:rPr sz="2400" spc="-175" dirty="0">
                <a:latin typeface="Verdana"/>
                <a:cs typeface="Verdana"/>
              </a:rPr>
              <a:t>0.019604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6991" y="2678250"/>
            <a:ext cx="10316845" cy="124714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R="2345690" algn="r">
              <a:lnSpc>
                <a:spcPct val="100000"/>
              </a:lnSpc>
              <a:spcBef>
                <a:spcPts val="459"/>
              </a:spcBef>
            </a:pPr>
            <a:r>
              <a:rPr sz="1750" spc="-25" dirty="0">
                <a:latin typeface="Cambria Math"/>
                <a:cs typeface="Cambria Math"/>
              </a:rPr>
              <a:t>1!</a:t>
            </a:r>
            <a:endParaRPr sz="17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2400" dirty="0">
                <a:latin typeface="Verdana"/>
                <a:cs typeface="Verdana"/>
              </a:rPr>
              <a:t>Expected</a:t>
            </a:r>
            <a:r>
              <a:rPr sz="2400" spc="-110" dirty="0">
                <a:latin typeface="Verdana"/>
                <a:cs typeface="Verdana"/>
              </a:rPr>
              <a:t> </a:t>
            </a:r>
            <a:r>
              <a:rPr sz="2400" spc="-55" dirty="0">
                <a:latin typeface="Verdana"/>
                <a:cs typeface="Verdana"/>
              </a:rPr>
              <a:t>no.</a:t>
            </a:r>
            <a:r>
              <a:rPr sz="2400" spc="-15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of</a:t>
            </a:r>
            <a:r>
              <a:rPr sz="2400" spc="-125" dirty="0">
                <a:latin typeface="Verdana"/>
                <a:cs typeface="Verdana"/>
              </a:rPr>
              <a:t> </a:t>
            </a:r>
            <a:r>
              <a:rPr sz="2400" spc="-204" dirty="0">
                <a:latin typeface="Verdana"/>
                <a:cs typeface="Verdana"/>
              </a:rPr>
              <a:t>1</a:t>
            </a:r>
            <a:r>
              <a:rPr sz="2400" spc="-1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defective</a:t>
            </a:r>
            <a:r>
              <a:rPr sz="2400" spc="-170" dirty="0">
                <a:latin typeface="Verdana"/>
                <a:cs typeface="Verdana"/>
              </a:rPr>
              <a:t> </a:t>
            </a:r>
            <a:r>
              <a:rPr sz="2400" spc="-120" dirty="0">
                <a:latin typeface="Verdana"/>
                <a:cs typeface="Verdana"/>
              </a:rPr>
              <a:t>lenses in</a:t>
            </a:r>
            <a:r>
              <a:rPr sz="2400" spc="-165" dirty="0">
                <a:latin typeface="Verdana"/>
                <a:cs typeface="Verdana"/>
              </a:rPr>
              <a:t> </a:t>
            </a:r>
            <a:r>
              <a:rPr sz="2400" spc="185" dirty="0">
                <a:latin typeface="Verdana"/>
                <a:cs typeface="Verdana"/>
              </a:rPr>
              <a:t>a</a:t>
            </a:r>
            <a:r>
              <a:rPr sz="2400" spc="-125" dirty="0">
                <a:latin typeface="Verdana"/>
                <a:cs typeface="Verdana"/>
              </a:rPr>
              <a:t> </a:t>
            </a:r>
            <a:r>
              <a:rPr sz="2400" spc="-35" dirty="0">
                <a:latin typeface="Verdana"/>
                <a:cs typeface="Verdana"/>
              </a:rPr>
              <a:t>consignment</a:t>
            </a:r>
            <a:r>
              <a:rPr sz="2400" spc="-17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of</a:t>
            </a:r>
            <a:r>
              <a:rPr sz="2400" spc="-125" dirty="0">
                <a:latin typeface="Verdana"/>
                <a:cs typeface="Verdana"/>
              </a:rPr>
              <a:t> </a:t>
            </a:r>
            <a:r>
              <a:rPr sz="2400" spc="-210" dirty="0">
                <a:latin typeface="Verdana"/>
                <a:cs typeface="Verdana"/>
              </a:rPr>
              <a:t>20000</a:t>
            </a:r>
            <a:r>
              <a:rPr sz="2400" spc="-17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packets</a:t>
            </a:r>
            <a:endParaRPr sz="2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2400" spc="-515" dirty="0">
                <a:latin typeface="Verdana"/>
                <a:cs typeface="Verdana"/>
              </a:rPr>
              <a:t>=</a:t>
            </a:r>
            <a:r>
              <a:rPr sz="2400" spc="-170" dirty="0">
                <a:latin typeface="Verdana"/>
                <a:cs typeface="Verdana"/>
              </a:rPr>
              <a:t> </a:t>
            </a:r>
            <a:r>
              <a:rPr sz="2400" spc="-210" dirty="0">
                <a:latin typeface="Verdana"/>
                <a:cs typeface="Verdana"/>
              </a:rPr>
              <a:t>20000</a:t>
            </a:r>
            <a:r>
              <a:rPr sz="2400" spc="-200" dirty="0">
                <a:latin typeface="Verdana"/>
                <a:cs typeface="Verdana"/>
              </a:rPr>
              <a:t> </a:t>
            </a:r>
            <a:r>
              <a:rPr sz="2400" spc="-270" dirty="0">
                <a:latin typeface="Verdana"/>
                <a:cs typeface="Verdana"/>
              </a:rPr>
              <a:t>x</a:t>
            </a:r>
            <a:r>
              <a:rPr sz="2400" spc="-160" dirty="0">
                <a:latin typeface="Verdana"/>
                <a:cs typeface="Verdana"/>
              </a:rPr>
              <a:t> </a:t>
            </a:r>
            <a:r>
              <a:rPr sz="2400" spc="-210" dirty="0">
                <a:latin typeface="Verdana"/>
                <a:cs typeface="Verdana"/>
              </a:rPr>
              <a:t>0.019604</a:t>
            </a:r>
            <a:r>
              <a:rPr sz="2400" spc="-185" dirty="0">
                <a:latin typeface="Verdana"/>
                <a:cs typeface="Verdana"/>
              </a:rPr>
              <a:t> </a:t>
            </a:r>
            <a:r>
              <a:rPr sz="2400" spc="-515" dirty="0">
                <a:latin typeface="Verdana"/>
                <a:cs typeface="Verdana"/>
              </a:rPr>
              <a:t>=</a:t>
            </a:r>
            <a:r>
              <a:rPr sz="2400" spc="-165" dirty="0">
                <a:latin typeface="Verdana"/>
                <a:cs typeface="Verdana"/>
              </a:rPr>
              <a:t> </a:t>
            </a:r>
            <a:r>
              <a:rPr sz="2400" spc="-215" dirty="0">
                <a:latin typeface="Verdana"/>
                <a:cs typeface="Verdana"/>
              </a:rPr>
              <a:t>392.08</a:t>
            </a:r>
            <a:r>
              <a:rPr sz="2400" spc="-185" dirty="0">
                <a:latin typeface="Verdana"/>
                <a:cs typeface="Verdana"/>
              </a:rPr>
              <a:t> </a:t>
            </a:r>
            <a:r>
              <a:rPr sz="2400" spc="-515" dirty="0">
                <a:latin typeface="Verdana"/>
                <a:cs typeface="Verdana"/>
              </a:rPr>
              <a:t>=</a:t>
            </a:r>
            <a:r>
              <a:rPr sz="2400" spc="-170" dirty="0">
                <a:latin typeface="Verdana"/>
                <a:cs typeface="Verdana"/>
              </a:rPr>
              <a:t> </a:t>
            </a:r>
            <a:r>
              <a:rPr sz="2400" spc="-210" dirty="0">
                <a:latin typeface="Verdana"/>
                <a:cs typeface="Verdana"/>
              </a:rPr>
              <a:t>392</a:t>
            </a:r>
            <a:r>
              <a:rPr sz="2400" spc="-170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appx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511415" y="4351782"/>
            <a:ext cx="2120265" cy="20320"/>
          </a:xfrm>
          <a:custGeom>
            <a:avLst/>
            <a:gdLst/>
            <a:ahLst/>
            <a:cxnLst/>
            <a:rect l="l" t="t" r="r" b="b"/>
            <a:pathLst>
              <a:path w="2120265" h="20320">
                <a:moveTo>
                  <a:pt x="2119883" y="0"/>
                </a:moveTo>
                <a:lnTo>
                  <a:pt x="0" y="0"/>
                </a:lnTo>
                <a:lnTo>
                  <a:pt x="0" y="19812"/>
                </a:lnTo>
                <a:lnTo>
                  <a:pt x="2119883" y="19812"/>
                </a:lnTo>
                <a:lnTo>
                  <a:pt x="21198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91591" y="3993896"/>
            <a:ext cx="10934700" cy="5289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1994535" algn="r">
              <a:lnSpc>
                <a:spcPts val="1415"/>
              </a:lnSpc>
              <a:spcBef>
                <a:spcPts val="90"/>
              </a:spcBef>
              <a:tabLst>
                <a:tab pos="1127760" algn="l"/>
              </a:tabLst>
            </a:pPr>
            <a:r>
              <a:rPr sz="1450" spc="-10" dirty="0">
                <a:latin typeface="Cambria Math"/>
                <a:cs typeface="Cambria Math"/>
              </a:rPr>
              <a:t>−0.02</a:t>
            </a:r>
            <a:r>
              <a:rPr sz="1450" dirty="0">
                <a:latin typeface="Cambria Math"/>
                <a:cs typeface="Cambria Math"/>
              </a:rPr>
              <a:t>	</a:t>
            </a:r>
            <a:r>
              <a:rPr sz="1450" spc="-50" dirty="0">
                <a:latin typeface="Cambria Math"/>
                <a:cs typeface="Cambria Math"/>
              </a:rPr>
              <a:t>2</a:t>
            </a:r>
            <a:endParaRPr sz="1450" dirty="0">
              <a:latin typeface="Cambria Math"/>
              <a:cs typeface="Cambria Math"/>
            </a:endParaRPr>
          </a:p>
          <a:p>
            <a:pPr marL="38100">
              <a:lnSpc>
                <a:spcPts val="2555"/>
              </a:lnSpc>
              <a:tabLst>
                <a:tab pos="8206105" algn="l"/>
                <a:tab pos="9024620" algn="l"/>
              </a:tabLst>
            </a:pPr>
            <a:r>
              <a:rPr sz="2400" spc="-40" dirty="0">
                <a:latin typeface="Verdana"/>
                <a:cs typeface="Verdana"/>
              </a:rPr>
              <a:t>(c)</a:t>
            </a:r>
            <a:r>
              <a:rPr sz="2400" spc="-155" dirty="0">
                <a:latin typeface="Verdana"/>
                <a:cs typeface="Verdana"/>
              </a:rPr>
              <a:t> </a:t>
            </a:r>
            <a:r>
              <a:rPr sz="2400" spc="-65" dirty="0">
                <a:latin typeface="Verdana"/>
                <a:cs typeface="Verdana"/>
              </a:rPr>
              <a:t>Probability</a:t>
            </a:r>
            <a:r>
              <a:rPr sz="2400" spc="-19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of</a:t>
            </a:r>
            <a:r>
              <a:rPr sz="2400" spc="-145" dirty="0">
                <a:latin typeface="Verdana"/>
                <a:cs typeface="Verdana"/>
              </a:rPr>
              <a:t> </a:t>
            </a:r>
            <a:r>
              <a:rPr sz="2400" spc="55" dirty="0">
                <a:latin typeface="Verdana"/>
                <a:cs typeface="Verdana"/>
              </a:rPr>
              <a:t>one</a:t>
            </a:r>
            <a:r>
              <a:rPr sz="2400" spc="-14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defective</a:t>
            </a:r>
            <a:r>
              <a:rPr sz="2400" spc="-195" dirty="0">
                <a:latin typeface="Verdana"/>
                <a:cs typeface="Verdana"/>
              </a:rPr>
              <a:t> </a:t>
            </a:r>
            <a:r>
              <a:rPr sz="2400" spc="-515" dirty="0">
                <a:latin typeface="Verdana"/>
                <a:cs typeface="Verdana"/>
              </a:rPr>
              <a:t>=</a:t>
            </a:r>
            <a:r>
              <a:rPr sz="2400" spc="-15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P</a:t>
            </a:r>
            <a:r>
              <a:rPr sz="2400" spc="-140" dirty="0">
                <a:latin typeface="Verdana"/>
                <a:cs typeface="Verdana"/>
              </a:rPr>
              <a:t> </a:t>
            </a:r>
            <a:r>
              <a:rPr sz="2400" spc="-215" dirty="0">
                <a:latin typeface="Verdana"/>
                <a:cs typeface="Verdana"/>
              </a:rPr>
              <a:t>(X</a:t>
            </a:r>
            <a:r>
              <a:rPr sz="2400" spc="-145" dirty="0">
                <a:latin typeface="Verdana"/>
                <a:cs typeface="Verdana"/>
              </a:rPr>
              <a:t> </a:t>
            </a:r>
            <a:r>
              <a:rPr sz="2400" spc="-515" dirty="0">
                <a:latin typeface="Verdana"/>
                <a:cs typeface="Verdana"/>
              </a:rPr>
              <a:t>=</a:t>
            </a:r>
            <a:r>
              <a:rPr sz="2400" spc="-160" dirty="0">
                <a:latin typeface="Verdana"/>
                <a:cs typeface="Verdana"/>
              </a:rPr>
              <a:t> </a:t>
            </a:r>
            <a:r>
              <a:rPr sz="2400" spc="-220" dirty="0">
                <a:latin typeface="Verdana"/>
                <a:cs typeface="Verdana"/>
              </a:rPr>
              <a:t>2)</a:t>
            </a:r>
            <a:r>
              <a:rPr sz="2400" spc="-150" dirty="0">
                <a:latin typeface="Verdana"/>
                <a:cs typeface="Verdana"/>
              </a:rPr>
              <a:t> </a:t>
            </a:r>
            <a:r>
              <a:rPr sz="2400" spc="-515" dirty="0">
                <a:latin typeface="Verdana"/>
                <a:cs typeface="Verdana"/>
              </a:rPr>
              <a:t>=</a:t>
            </a:r>
            <a:r>
              <a:rPr sz="2400" spc="-135" dirty="0">
                <a:latin typeface="Verdana"/>
                <a:cs typeface="Verdana"/>
              </a:rPr>
              <a:t> </a:t>
            </a:r>
            <a:r>
              <a:rPr sz="2400" spc="-515" dirty="0">
                <a:latin typeface="Verdana"/>
                <a:cs typeface="Verdana"/>
              </a:rPr>
              <a:t>=</a:t>
            </a:r>
            <a:r>
              <a:rPr sz="2400" spc="-155" dirty="0">
                <a:latin typeface="Verdana"/>
                <a:cs typeface="Verdana"/>
              </a:rPr>
              <a:t> </a:t>
            </a:r>
            <a:r>
              <a:rPr sz="2625" spc="-15" baseline="44444" dirty="0">
                <a:latin typeface="Cambria Math"/>
                <a:cs typeface="Cambria Math"/>
              </a:rPr>
              <a:t>(2.7183)</a:t>
            </a:r>
            <a:r>
              <a:rPr sz="2625" baseline="44444" dirty="0">
                <a:latin typeface="Cambria Math"/>
                <a:cs typeface="Cambria Math"/>
              </a:rPr>
              <a:t>	</a:t>
            </a:r>
            <a:r>
              <a:rPr sz="2625" spc="-15" baseline="44444" dirty="0">
                <a:latin typeface="Cambria Math"/>
                <a:cs typeface="Cambria Math"/>
              </a:rPr>
              <a:t>(0.02)</a:t>
            </a:r>
            <a:r>
              <a:rPr sz="2625" baseline="44444" dirty="0">
                <a:latin typeface="Cambria Math"/>
                <a:cs typeface="Cambria Math"/>
              </a:rPr>
              <a:t>	</a:t>
            </a:r>
            <a:r>
              <a:rPr sz="2400" spc="-515" dirty="0">
                <a:latin typeface="Verdana"/>
                <a:cs typeface="Verdana"/>
              </a:rPr>
              <a:t>=</a:t>
            </a:r>
            <a:r>
              <a:rPr sz="2400" spc="-190" dirty="0">
                <a:latin typeface="Verdana"/>
                <a:cs typeface="Verdana"/>
              </a:rPr>
              <a:t> </a:t>
            </a:r>
            <a:r>
              <a:rPr sz="2400" spc="-180" dirty="0">
                <a:latin typeface="Verdana"/>
                <a:cs typeface="Verdana"/>
              </a:rPr>
              <a:t>0.00019604</a:t>
            </a:r>
            <a:endParaRPr sz="2400" dirty="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6991" y="4321376"/>
            <a:ext cx="10316845" cy="124714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R="2356485" algn="r">
              <a:lnSpc>
                <a:spcPct val="100000"/>
              </a:lnSpc>
              <a:spcBef>
                <a:spcPts val="459"/>
              </a:spcBef>
            </a:pPr>
            <a:r>
              <a:rPr sz="1750" spc="-25" dirty="0">
                <a:latin typeface="Cambria Math"/>
                <a:cs typeface="Cambria Math"/>
              </a:rPr>
              <a:t>2!</a:t>
            </a:r>
            <a:endParaRPr sz="17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2400" dirty="0">
                <a:latin typeface="Verdana"/>
                <a:cs typeface="Verdana"/>
              </a:rPr>
              <a:t>Expected</a:t>
            </a:r>
            <a:r>
              <a:rPr sz="2400" spc="-110" dirty="0">
                <a:latin typeface="Verdana"/>
                <a:cs typeface="Verdana"/>
              </a:rPr>
              <a:t> </a:t>
            </a:r>
            <a:r>
              <a:rPr sz="2400" spc="-55" dirty="0">
                <a:latin typeface="Verdana"/>
                <a:cs typeface="Verdana"/>
              </a:rPr>
              <a:t>no.</a:t>
            </a:r>
            <a:r>
              <a:rPr sz="2400" spc="-15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of</a:t>
            </a:r>
            <a:r>
              <a:rPr sz="2400" spc="-125" dirty="0">
                <a:latin typeface="Verdana"/>
                <a:cs typeface="Verdana"/>
              </a:rPr>
              <a:t> </a:t>
            </a:r>
            <a:r>
              <a:rPr sz="2400" spc="-204" dirty="0">
                <a:latin typeface="Verdana"/>
                <a:cs typeface="Verdana"/>
              </a:rPr>
              <a:t>2</a:t>
            </a:r>
            <a:r>
              <a:rPr sz="2400" spc="-1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defective</a:t>
            </a:r>
            <a:r>
              <a:rPr sz="2400" spc="-170" dirty="0">
                <a:latin typeface="Verdana"/>
                <a:cs typeface="Verdana"/>
              </a:rPr>
              <a:t> </a:t>
            </a:r>
            <a:r>
              <a:rPr sz="2400" spc="-120" dirty="0">
                <a:latin typeface="Verdana"/>
                <a:cs typeface="Verdana"/>
              </a:rPr>
              <a:t>lenses in</a:t>
            </a:r>
            <a:r>
              <a:rPr sz="2400" spc="-165" dirty="0">
                <a:latin typeface="Verdana"/>
                <a:cs typeface="Verdana"/>
              </a:rPr>
              <a:t> </a:t>
            </a:r>
            <a:r>
              <a:rPr sz="2400" spc="185" dirty="0">
                <a:latin typeface="Verdana"/>
                <a:cs typeface="Verdana"/>
              </a:rPr>
              <a:t>a</a:t>
            </a:r>
            <a:r>
              <a:rPr sz="2400" spc="-125" dirty="0">
                <a:latin typeface="Verdana"/>
                <a:cs typeface="Verdana"/>
              </a:rPr>
              <a:t> </a:t>
            </a:r>
            <a:r>
              <a:rPr sz="2400" spc="-35" dirty="0">
                <a:latin typeface="Verdana"/>
                <a:cs typeface="Verdana"/>
              </a:rPr>
              <a:t>consignment</a:t>
            </a:r>
            <a:r>
              <a:rPr sz="2400" spc="-17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of</a:t>
            </a:r>
            <a:r>
              <a:rPr sz="2400" spc="-125" dirty="0">
                <a:latin typeface="Verdana"/>
                <a:cs typeface="Verdana"/>
              </a:rPr>
              <a:t> </a:t>
            </a:r>
            <a:r>
              <a:rPr sz="2400" spc="-210" dirty="0">
                <a:latin typeface="Verdana"/>
                <a:cs typeface="Verdana"/>
              </a:rPr>
              <a:t>20000</a:t>
            </a:r>
            <a:r>
              <a:rPr sz="2400" spc="-17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packets</a:t>
            </a:r>
            <a:endParaRPr sz="2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2400" spc="-515" dirty="0">
                <a:latin typeface="Verdana"/>
                <a:cs typeface="Verdana"/>
              </a:rPr>
              <a:t>=</a:t>
            </a:r>
            <a:r>
              <a:rPr sz="2400" spc="-170" dirty="0">
                <a:latin typeface="Verdana"/>
                <a:cs typeface="Verdana"/>
              </a:rPr>
              <a:t> </a:t>
            </a:r>
            <a:r>
              <a:rPr sz="2400" spc="-210" dirty="0">
                <a:latin typeface="Verdana"/>
                <a:cs typeface="Verdana"/>
              </a:rPr>
              <a:t>20000</a:t>
            </a:r>
            <a:r>
              <a:rPr sz="2400" spc="-200" dirty="0">
                <a:latin typeface="Verdana"/>
                <a:cs typeface="Verdana"/>
              </a:rPr>
              <a:t> </a:t>
            </a:r>
            <a:r>
              <a:rPr sz="2400" spc="-270" dirty="0">
                <a:latin typeface="Verdana"/>
                <a:cs typeface="Verdana"/>
              </a:rPr>
              <a:t>x</a:t>
            </a:r>
            <a:r>
              <a:rPr sz="2400" spc="-155" dirty="0">
                <a:latin typeface="Verdana"/>
                <a:cs typeface="Verdana"/>
              </a:rPr>
              <a:t> </a:t>
            </a:r>
            <a:r>
              <a:rPr sz="2400" spc="-210" dirty="0">
                <a:latin typeface="Verdana"/>
                <a:cs typeface="Verdana"/>
              </a:rPr>
              <a:t>0.00019604</a:t>
            </a:r>
            <a:r>
              <a:rPr sz="2400" spc="-165" dirty="0">
                <a:latin typeface="Verdana"/>
                <a:cs typeface="Verdana"/>
              </a:rPr>
              <a:t> </a:t>
            </a:r>
            <a:r>
              <a:rPr sz="2400" spc="-515" dirty="0">
                <a:latin typeface="Verdana"/>
                <a:cs typeface="Verdana"/>
              </a:rPr>
              <a:t>=</a:t>
            </a:r>
            <a:r>
              <a:rPr sz="2400" spc="-190" dirty="0">
                <a:latin typeface="Verdana"/>
                <a:cs typeface="Verdana"/>
              </a:rPr>
              <a:t> </a:t>
            </a:r>
            <a:r>
              <a:rPr sz="2400" spc="-215" dirty="0">
                <a:latin typeface="Verdana"/>
                <a:cs typeface="Verdana"/>
              </a:rPr>
              <a:t>3.9008</a:t>
            </a:r>
            <a:r>
              <a:rPr sz="2400" spc="-180" dirty="0">
                <a:latin typeface="Verdana"/>
                <a:cs typeface="Verdana"/>
              </a:rPr>
              <a:t> </a:t>
            </a:r>
            <a:r>
              <a:rPr sz="2400" spc="-515" dirty="0">
                <a:latin typeface="Verdana"/>
                <a:cs typeface="Verdana"/>
              </a:rPr>
              <a:t>=</a:t>
            </a:r>
            <a:r>
              <a:rPr sz="2400" spc="-170" dirty="0">
                <a:latin typeface="Verdana"/>
                <a:cs typeface="Verdana"/>
              </a:rPr>
              <a:t> </a:t>
            </a:r>
            <a:r>
              <a:rPr sz="2400" spc="-204" dirty="0">
                <a:latin typeface="Verdana"/>
                <a:cs typeface="Verdana"/>
              </a:rPr>
              <a:t>4</a:t>
            </a:r>
            <a:r>
              <a:rPr sz="2400" spc="-155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appx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52AE7132-E1B7-F6AA-3B0C-DA02D7335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3AD57-78ED-4BE8-93DA-F4CCBDD6B885}" type="datetime1">
              <a:rPr lang="en-US" smtClean="0"/>
              <a:t>7/22/2024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4364" y="579246"/>
            <a:ext cx="10895330" cy="54673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5080">
              <a:lnSpc>
                <a:spcPts val="1939"/>
              </a:lnSpc>
              <a:spcBef>
                <a:spcPts val="345"/>
              </a:spcBef>
            </a:pPr>
            <a:r>
              <a:rPr sz="1700" spc="-60" dirty="0">
                <a:solidFill>
                  <a:srgbClr val="000000"/>
                </a:solidFill>
              </a:rPr>
              <a:t>Numerical</a:t>
            </a:r>
            <a:r>
              <a:rPr sz="1700" b="0" spc="-60" dirty="0">
                <a:solidFill>
                  <a:srgbClr val="000000"/>
                </a:solidFill>
                <a:latin typeface="Verdana"/>
                <a:cs typeface="Verdana"/>
              </a:rPr>
              <a:t>:</a:t>
            </a:r>
            <a:r>
              <a:rPr sz="1700" b="0" spc="-85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800" b="0" spc="-110" dirty="0">
                <a:solidFill>
                  <a:srgbClr val="000000"/>
                </a:solidFill>
                <a:latin typeface="Verdana"/>
                <a:cs typeface="Verdana"/>
              </a:rPr>
              <a:t>For</a:t>
            </a:r>
            <a:r>
              <a:rPr sz="1800" b="0" spc="-12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800" b="0" spc="-20" dirty="0">
                <a:solidFill>
                  <a:srgbClr val="000000"/>
                </a:solidFill>
                <a:latin typeface="Verdana"/>
                <a:cs typeface="Verdana"/>
              </a:rPr>
              <a:t>the</a:t>
            </a:r>
            <a:r>
              <a:rPr sz="1800" b="0" spc="-9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800" b="0" dirty="0">
                <a:solidFill>
                  <a:srgbClr val="000000"/>
                </a:solidFill>
                <a:latin typeface="Verdana"/>
                <a:cs typeface="Verdana"/>
              </a:rPr>
              <a:t>case</a:t>
            </a:r>
            <a:r>
              <a:rPr sz="1800" b="0" spc="-105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800" b="0" dirty="0">
                <a:solidFill>
                  <a:srgbClr val="000000"/>
                </a:solidFill>
                <a:latin typeface="Verdana"/>
                <a:cs typeface="Verdana"/>
              </a:rPr>
              <a:t>of</a:t>
            </a:r>
            <a:r>
              <a:rPr sz="1800" b="0" spc="-11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800" b="0" spc="-20" dirty="0">
                <a:solidFill>
                  <a:srgbClr val="000000"/>
                </a:solidFill>
                <a:latin typeface="Verdana"/>
                <a:cs typeface="Verdana"/>
              </a:rPr>
              <a:t>the</a:t>
            </a:r>
            <a:r>
              <a:rPr sz="1800" b="0" spc="-85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800" b="0" spc="-90" dirty="0">
                <a:solidFill>
                  <a:srgbClr val="000000"/>
                </a:solidFill>
                <a:latin typeface="Verdana"/>
                <a:cs typeface="Verdana"/>
              </a:rPr>
              <a:t>thin</a:t>
            </a:r>
            <a:r>
              <a:rPr sz="1800" b="0" spc="-114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800" b="0" spc="55" dirty="0">
                <a:solidFill>
                  <a:srgbClr val="000000"/>
                </a:solidFill>
                <a:latin typeface="Verdana"/>
                <a:cs typeface="Verdana"/>
              </a:rPr>
              <a:t>copper</a:t>
            </a:r>
            <a:r>
              <a:rPr sz="1800" b="0" spc="-11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800" b="0" spc="-95" dirty="0">
                <a:solidFill>
                  <a:srgbClr val="000000"/>
                </a:solidFill>
                <a:latin typeface="Verdana"/>
                <a:cs typeface="Verdana"/>
              </a:rPr>
              <a:t>wire,</a:t>
            </a:r>
            <a:r>
              <a:rPr sz="1800" b="0" spc="-75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800" b="0" spc="-35" dirty="0">
                <a:solidFill>
                  <a:srgbClr val="000000"/>
                </a:solidFill>
                <a:latin typeface="Verdana"/>
                <a:cs typeface="Verdana"/>
              </a:rPr>
              <a:t>suppose</a:t>
            </a:r>
            <a:r>
              <a:rPr sz="1800" b="0" spc="-9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800" b="0" spc="-45" dirty="0">
                <a:solidFill>
                  <a:srgbClr val="000000"/>
                </a:solidFill>
                <a:latin typeface="Verdana"/>
                <a:cs typeface="Verdana"/>
              </a:rPr>
              <a:t>that</a:t>
            </a:r>
            <a:r>
              <a:rPr sz="1800" b="0" spc="-95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800" b="0" spc="-20" dirty="0">
                <a:solidFill>
                  <a:srgbClr val="000000"/>
                </a:solidFill>
                <a:latin typeface="Verdana"/>
                <a:cs typeface="Verdana"/>
              </a:rPr>
              <a:t>the</a:t>
            </a:r>
            <a:r>
              <a:rPr sz="1800" b="0" spc="-75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800" b="0" spc="-50" dirty="0">
                <a:solidFill>
                  <a:srgbClr val="000000"/>
                </a:solidFill>
                <a:latin typeface="Verdana"/>
                <a:cs typeface="Verdana"/>
              </a:rPr>
              <a:t>number</a:t>
            </a:r>
            <a:r>
              <a:rPr sz="1800" b="0" spc="-9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800" b="0" dirty="0">
                <a:solidFill>
                  <a:srgbClr val="000000"/>
                </a:solidFill>
                <a:latin typeface="Verdana"/>
                <a:cs typeface="Verdana"/>
              </a:rPr>
              <a:t>of</a:t>
            </a:r>
            <a:r>
              <a:rPr sz="1800" b="0" spc="-12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800" b="0" spc="-70" dirty="0">
                <a:solidFill>
                  <a:srgbClr val="000000"/>
                </a:solidFill>
                <a:latin typeface="Verdana"/>
                <a:cs typeface="Verdana"/>
              </a:rPr>
              <a:t>flaws</a:t>
            </a:r>
            <a:r>
              <a:rPr sz="1800" b="0" spc="-75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800" b="0" spc="-65" dirty="0">
                <a:solidFill>
                  <a:srgbClr val="000000"/>
                </a:solidFill>
                <a:latin typeface="Verdana"/>
                <a:cs typeface="Verdana"/>
              </a:rPr>
              <a:t>follows</a:t>
            </a:r>
            <a:r>
              <a:rPr sz="1800" b="0" spc="-95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800" b="0" spc="140" dirty="0">
                <a:solidFill>
                  <a:srgbClr val="000000"/>
                </a:solidFill>
                <a:latin typeface="Verdana"/>
                <a:cs typeface="Verdana"/>
              </a:rPr>
              <a:t>a</a:t>
            </a:r>
            <a:r>
              <a:rPr sz="1800" b="0" spc="-125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800" b="0" spc="-10" dirty="0">
                <a:solidFill>
                  <a:srgbClr val="000000"/>
                </a:solidFill>
                <a:latin typeface="Verdana"/>
                <a:cs typeface="Verdana"/>
              </a:rPr>
              <a:t>Poisson </a:t>
            </a:r>
            <a:r>
              <a:rPr sz="1800" b="0" spc="-80" dirty="0">
                <a:solidFill>
                  <a:srgbClr val="000000"/>
                </a:solidFill>
                <a:latin typeface="Verdana"/>
                <a:cs typeface="Verdana"/>
              </a:rPr>
              <a:t>distribution</a:t>
            </a:r>
            <a:r>
              <a:rPr sz="1800" b="0" spc="-135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800" b="0" spc="-85" dirty="0">
                <a:solidFill>
                  <a:srgbClr val="000000"/>
                </a:solidFill>
                <a:latin typeface="Verdana"/>
                <a:cs typeface="Verdana"/>
              </a:rPr>
              <a:t>with</a:t>
            </a:r>
            <a:r>
              <a:rPr sz="1800" b="0" spc="-6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800" b="0" spc="140" dirty="0">
                <a:solidFill>
                  <a:srgbClr val="000000"/>
                </a:solidFill>
                <a:latin typeface="Verdana"/>
                <a:cs typeface="Verdana"/>
              </a:rPr>
              <a:t>a</a:t>
            </a:r>
            <a:r>
              <a:rPr sz="1800" b="0" spc="-114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800" b="0" dirty="0">
                <a:solidFill>
                  <a:srgbClr val="000000"/>
                </a:solidFill>
                <a:latin typeface="Verdana"/>
                <a:cs typeface="Verdana"/>
              </a:rPr>
              <a:t>mean</a:t>
            </a:r>
            <a:r>
              <a:rPr sz="1800" b="0" spc="-85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800" b="0" dirty="0">
                <a:solidFill>
                  <a:srgbClr val="000000"/>
                </a:solidFill>
                <a:latin typeface="Verdana"/>
                <a:cs typeface="Verdana"/>
              </a:rPr>
              <a:t>of</a:t>
            </a:r>
            <a:r>
              <a:rPr sz="1800" b="0" spc="-10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800" b="0" spc="-165" dirty="0">
                <a:solidFill>
                  <a:srgbClr val="000000"/>
                </a:solidFill>
                <a:latin typeface="Verdana"/>
                <a:cs typeface="Verdana"/>
              </a:rPr>
              <a:t>2.3</a:t>
            </a:r>
            <a:r>
              <a:rPr sz="1800" b="0" spc="-7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800" b="0" spc="-75" dirty="0">
                <a:solidFill>
                  <a:srgbClr val="000000"/>
                </a:solidFill>
                <a:latin typeface="Verdana"/>
                <a:cs typeface="Verdana"/>
              </a:rPr>
              <a:t>flaws </a:t>
            </a:r>
            <a:r>
              <a:rPr sz="1800" b="0" spc="-20" dirty="0">
                <a:solidFill>
                  <a:srgbClr val="000000"/>
                </a:solidFill>
                <a:latin typeface="Verdana"/>
                <a:cs typeface="Verdana"/>
              </a:rPr>
              <a:t>per</a:t>
            </a:r>
            <a:r>
              <a:rPr sz="1800" b="0" spc="-10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800" b="0" spc="-10" dirty="0">
                <a:solidFill>
                  <a:srgbClr val="000000"/>
                </a:solidFill>
                <a:latin typeface="Verdana"/>
                <a:cs typeface="Verdana"/>
              </a:rPr>
              <a:t>millimeter.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Copyright:</a:t>
            </a:r>
            <a:r>
              <a:rPr spc="-15" dirty="0"/>
              <a:t> </a:t>
            </a:r>
            <a:r>
              <a:rPr spc="-55" dirty="0"/>
              <a:t>Santosh</a:t>
            </a:r>
            <a:r>
              <a:rPr spc="-35" dirty="0"/>
              <a:t> </a:t>
            </a:r>
            <a:r>
              <a:rPr spc="-10" dirty="0"/>
              <a:t>Chhatkuli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4364" y="1100874"/>
            <a:ext cx="7902575" cy="2192655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80"/>
              </a:spcBef>
              <a:buClr>
                <a:srgbClr val="252525"/>
              </a:buClr>
              <a:buAutoNum type="alphaLcParenBoth"/>
              <a:tabLst>
                <a:tab pos="355600" algn="l"/>
              </a:tabLst>
            </a:pPr>
            <a:r>
              <a:rPr sz="1800" spc="-50" dirty="0">
                <a:latin typeface="Verdana"/>
                <a:cs typeface="Verdana"/>
              </a:rPr>
              <a:t>Determine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the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spc="-40" dirty="0">
                <a:latin typeface="Verdana"/>
                <a:cs typeface="Verdana"/>
              </a:rPr>
              <a:t>probability</a:t>
            </a:r>
            <a:r>
              <a:rPr sz="1800" spc="-1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exactly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two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spc="-75" dirty="0">
                <a:latin typeface="Verdana"/>
                <a:cs typeface="Verdana"/>
              </a:rPr>
              <a:t>flaws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spc="-85" dirty="0">
                <a:latin typeface="Verdana"/>
                <a:cs typeface="Verdana"/>
              </a:rPr>
              <a:t>in</a:t>
            </a:r>
            <a:r>
              <a:rPr sz="1800" spc="-135" dirty="0">
                <a:latin typeface="Verdana"/>
                <a:cs typeface="Verdana"/>
              </a:rPr>
              <a:t> </a:t>
            </a:r>
            <a:r>
              <a:rPr sz="1800" spc="-155" dirty="0">
                <a:latin typeface="Verdana"/>
                <a:cs typeface="Verdana"/>
              </a:rPr>
              <a:t>1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spc="-90" dirty="0">
                <a:latin typeface="Verdana"/>
                <a:cs typeface="Verdana"/>
              </a:rPr>
              <a:t>millimeter</a:t>
            </a:r>
            <a:r>
              <a:rPr sz="1800" spc="-1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wire.</a:t>
            </a:r>
            <a:endParaRPr sz="1800" dirty="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685"/>
              </a:spcBef>
              <a:buClr>
                <a:srgbClr val="252525"/>
              </a:buClr>
              <a:buAutoNum type="alphaLcParenBoth"/>
              <a:tabLst>
                <a:tab pos="355600" algn="l"/>
              </a:tabLst>
            </a:pPr>
            <a:r>
              <a:rPr sz="1800" spc="-45" dirty="0">
                <a:latin typeface="Verdana"/>
                <a:cs typeface="Verdana"/>
              </a:rPr>
              <a:t>Determine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the</a:t>
            </a:r>
            <a:r>
              <a:rPr sz="1800" spc="-70" dirty="0">
                <a:latin typeface="Verdana"/>
                <a:cs typeface="Verdana"/>
              </a:rPr>
              <a:t> </a:t>
            </a:r>
            <a:r>
              <a:rPr sz="1800" spc="-40" dirty="0">
                <a:latin typeface="Verdana"/>
                <a:cs typeface="Verdana"/>
              </a:rPr>
              <a:t>probability</a:t>
            </a:r>
            <a:r>
              <a:rPr sz="1800" spc="-1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spc="-160" dirty="0">
                <a:latin typeface="Verdana"/>
                <a:cs typeface="Verdana"/>
              </a:rPr>
              <a:t>10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spc="-75" dirty="0">
                <a:latin typeface="Verdana"/>
                <a:cs typeface="Verdana"/>
              </a:rPr>
              <a:t>flaws</a:t>
            </a:r>
            <a:r>
              <a:rPr sz="1800" spc="-85" dirty="0">
                <a:latin typeface="Verdana"/>
                <a:cs typeface="Verdana"/>
              </a:rPr>
              <a:t> in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spc="-155" dirty="0">
                <a:latin typeface="Verdana"/>
                <a:cs typeface="Verdana"/>
              </a:rPr>
              <a:t>5</a:t>
            </a:r>
            <a:r>
              <a:rPr sz="1800" spc="-105" dirty="0">
                <a:latin typeface="Verdana"/>
                <a:cs typeface="Verdana"/>
              </a:rPr>
              <a:t> millimeters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wire.</a:t>
            </a:r>
            <a:endParaRPr sz="1800" dirty="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685"/>
              </a:spcBef>
              <a:buClr>
                <a:srgbClr val="252525"/>
              </a:buClr>
              <a:buAutoNum type="alphaLcParenBoth"/>
              <a:tabLst>
                <a:tab pos="355600" algn="l"/>
              </a:tabLst>
            </a:pPr>
            <a:r>
              <a:rPr sz="1800" spc="-50" dirty="0">
                <a:latin typeface="Verdana"/>
                <a:cs typeface="Verdana"/>
              </a:rPr>
              <a:t>Determine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the</a:t>
            </a:r>
            <a:r>
              <a:rPr sz="1800" spc="-60" dirty="0">
                <a:latin typeface="Verdana"/>
                <a:cs typeface="Verdana"/>
              </a:rPr>
              <a:t> </a:t>
            </a:r>
            <a:r>
              <a:rPr sz="1800" spc="-40" dirty="0">
                <a:latin typeface="Verdana"/>
                <a:cs typeface="Verdana"/>
              </a:rPr>
              <a:t>probability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at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spc="-60" dirty="0">
                <a:latin typeface="Verdana"/>
                <a:cs typeface="Verdana"/>
              </a:rPr>
              <a:t>least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one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flaw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spc="-90" dirty="0">
                <a:latin typeface="Verdana"/>
                <a:cs typeface="Verdana"/>
              </a:rPr>
              <a:t>in</a:t>
            </a:r>
            <a:r>
              <a:rPr sz="1800" spc="-125" dirty="0">
                <a:latin typeface="Verdana"/>
                <a:cs typeface="Verdana"/>
              </a:rPr>
              <a:t> </a:t>
            </a:r>
            <a:r>
              <a:rPr sz="1800" spc="-155" dirty="0">
                <a:latin typeface="Verdana"/>
                <a:cs typeface="Verdana"/>
              </a:rPr>
              <a:t>2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spc="-105" dirty="0">
                <a:latin typeface="Verdana"/>
                <a:cs typeface="Verdana"/>
              </a:rPr>
              <a:t>millimeters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wire.</a:t>
            </a:r>
            <a:endParaRPr sz="18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1800" b="1" spc="-10" dirty="0">
                <a:latin typeface="Tahoma"/>
                <a:cs typeface="Tahoma"/>
              </a:rPr>
              <a:t>Solution</a:t>
            </a:r>
            <a:r>
              <a:rPr sz="1800" spc="-10" dirty="0">
                <a:latin typeface="Verdana"/>
                <a:cs typeface="Verdana"/>
              </a:rPr>
              <a:t>:</a:t>
            </a:r>
            <a:endParaRPr sz="1800" dirty="0">
              <a:latin typeface="Verdana"/>
              <a:cs typeface="Verdana"/>
            </a:endParaRPr>
          </a:p>
          <a:p>
            <a:pPr marL="399415" indent="-387350">
              <a:lnSpc>
                <a:spcPct val="100000"/>
              </a:lnSpc>
              <a:spcBef>
                <a:spcPts val="680"/>
              </a:spcBef>
              <a:buAutoNum type="alphaLcParenBoth"/>
              <a:tabLst>
                <a:tab pos="400050" algn="l"/>
              </a:tabLst>
            </a:pPr>
            <a:r>
              <a:rPr sz="1800" spc="-75" dirty="0">
                <a:latin typeface="Verdana"/>
                <a:cs typeface="Verdana"/>
              </a:rPr>
              <a:t>Let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spc="-155" dirty="0">
                <a:latin typeface="Verdana"/>
                <a:cs typeface="Verdana"/>
              </a:rPr>
              <a:t>X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denote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the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spc="-40" dirty="0">
                <a:latin typeface="Verdana"/>
                <a:cs typeface="Verdana"/>
              </a:rPr>
              <a:t>number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spc="-70" dirty="0">
                <a:latin typeface="Verdana"/>
                <a:cs typeface="Verdana"/>
              </a:rPr>
              <a:t>flaws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spc="-90" dirty="0">
                <a:latin typeface="Verdana"/>
                <a:cs typeface="Verdana"/>
              </a:rPr>
              <a:t>in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spc="-155" dirty="0">
                <a:latin typeface="Verdana"/>
                <a:cs typeface="Verdana"/>
              </a:rPr>
              <a:t>1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spc="-90" dirty="0">
                <a:latin typeface="Verdana"/>
                <a:cs typeface="Verdana"/>
              </a:rPr>
              <a:t>millimeter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wire.</a:t>
            </a:r>
            <a:endParaRPr sz="1800" dirty="0">
              <a:latin typeface="Verdana"/>
              <a:cs typeface="Verdana"/>
            </a:endParaRPr>
          </a:p>
          <a:p>
            <a:pPr marL="927100">
              <a:lnSpc>
                <a:spcPct val="100000"/>
              </a:lnSpc>
              <a:spcBef>
                <a:spcPts val="685"/>
              </a:spcBef>
              <a:tabLst>
                <a:tab pos="2411095" algn="l"/>
              </a:tabLst>
            </a:pPr>
            <a:r>
              <a:rPr sz="1800" spc="-114" dirty="0">
                <a:latin typeface="Verdana"/>
                <a:cs typeface="Verdana"/>
              </a:rPr>
              <a:t>Then,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spc="-114" dirty="0">
                <a:latin typeface="Verdana"/>
                <a:cs typeface="Verdana"/>
              </a:rPr>
              <a:t>λ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spc="-385" dirty="0">
                <a:latin typeface="Verdana"/>
                <a:cs typeface="Verdana"/>
              </a:rPr>
              <a:t>=</a:t>
            </a:r>
            <a:r>
              <a:rPr sz="1800" spc="-125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2.3</a:t>
            </a:r>
            <a:r>
              <a:rPr sz="1800" dirty="0">
                <a:latin typeface="Verdana"/>
                <a:cs typeface="Verdana"/>
              </a:rPr>
              <a:t>	</a:t>
            </a:r>
            <a:r>
              <a:rPr sz="1800" spc="-10" dirty="0">
                <a:latin typeface="Verdana"/>
                <a:cs typeface="Verdana"/>
              </a:rPr>
              <a:t>flaws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030721" y="3604640"/>
            <a:ext cx="718185" cy="15240"/>
          </a:xfrm>
          <a:custGeom>
            <a:avLst/>
            <a:gdLst/>
            <a:ahLst/>
            <a:cxnLst/>
            <a:rect l="l" t="t" r="r" b="b"/>
            <a:pathLst>
              <a:path w="718184" h="15239">
                <a:moveTo>
                  <a:pt x="717803" y="0"/>
                </a:moveTo>
                <a:lnTo>
                  <a:pt x="0" y="0"/>
                </a:lnTo>
                <a:lnTo>
                  <a:pt x="0" y="15240"/>
                </a:lnTo>
                <a:lnTo>
                  <a:pt x="717803" y="15240"/>
                </a:lnTo>
                <a:lnTo>
                  <a:pt x="71780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89964" y="3333063"/>
            <a:ext cx="6530340" cy="4044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R="867410" algn="r">
              <a:lnSpc>
                <a:spcPts val="1025"/>
              </a:lnSpc>
              <a:spcBef>
                <a:spcPts val="130"/>
              </a:spcBef>
              <a:tabLst>
                <a:tab pos="530225" algn="l"/>
              </a:tabLst>
            </a:pPr>
            <a:r>
              <a:rPr sz="1050" spc="-20" dirty="0">
                <a:latin typeface="Cambria Math"/>
                <a:cs typeface="Cambria Math"/>
              </a:rPr>
              <a:t>−2.3</a:t>
            </a:r>
            <a:r>
              <a:rPr sz="1050" dirty="0">
                <a:latin typeface="Cambria Math"/>
                <a:cs typeface="Cambria Math"/>
              </a:rPr>
              <a:t>	</a:t>
            </a:r>
            <a:r>
              <a:rPr sz="1050" spc="5" dirty="0">
                <a:latin typeface="Cambria Math"/>
                <a:cs typeface="Cambria Math"/>
              </a:rPr>
              <a:t>2</a:t>
            </a:r>
            <a:endParaRPr sz="1050" dirty="0">
              <a:latin typeface="Cambria Math"/>
              <a:cs typeface="Cambria Math"/>
            </a:endParaRPr>
          </a:p>
          <a:p>
            <a:pPr marL="38100">
              <a:lnSpc>
                <a:spcPts val="1925"/>
              </a:lnSpc>
              <a:tabLst>
                <a:tab pos="5343525" algn="l"/>
                <a:tab pos="5721985" algn="l"/>
              </a:tabLst>
            </a:pPr>
            <a:r>
              <a:rPr sz="1800" spc="-45" dirty="0">
                <a:latin typeface="Verdana"/>
                <a:cs typeface="Verdana"/>
              </a:rPr>
              <a:t>Probability</a:t>
            </a:r>
            <a:r>
              <a:rPr sz="1800" spc="-1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125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exactly</a:t>
            </a:r>
            <a:r>
              <a:rPr sz="1800" spc="-1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two</a:t>
            </a:r>
            <a:r>
              <a:rPr sz="1800" spc="-75" dirty="0">
                <a:latin typeface="Verdana"/>
                <a:cs typeface="Verdana"/>
              </a:rPr>
              <a:t> flaws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spc="-385" dirty="0">
                <a:latin typeface="Verdana"/>
                <a:cs typeface="Verdana"/>
              </a:rPr>
              <a:t>=</a:t>
            </a:r>
            <a:r>
              <a:rPr sz="1800" spc="380" dirty="0">
                <a:latin typeface="Verdana"/>
                <a:cs typeface="Verdana"/>
              </a:rPr>
              <a:t> </a:t>
            </a:r>
            <a:r>
              <a:rPr sz="1800" spc="-30" dirty="0">
                <a:latin typeface="Verdana"/>
                <a:cs typeface="Verdana"/>
              </a:rPr>
              <a:t>P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spc="-180" dirty="0">
                <a:latin typeface="Verdana"/>
                <a:cs typeface="Verdana"/>
              </a:rPr>
              <a:t>(X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spc="-385" dirty="0">
                <a:latin typeface="Verdana"/>
                <a:cs typeface="Verdana"/>
              </a:rPr>
              <a:t>=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spc="-160" dirty="0">
                <a:latin typeface="Verdana"/>
                <a:cs typeface="Verdana"/>
              </a:rPr>
              <a:t>2)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spc="-385" dirty="0">
                <a:latin typeface="Verdana"/>
                <a:cs typeface="Verdana"/>
              </a:rPr>
              <a:t>=</a:t>
            </a:r>
            <a:r>
              <a:rPr sz="1800" spc="-125" dirty="0">
                <a:latin typeface="Verdana"/>
                <a:cs typeface="Verdana"/>
              </a:rPr>
              <a:t> </a:t>
            </a:r>
            <a:r>
              <a:rPr sz="1950" spc="30" baseline="44871" dirty="0">
                <a:latin typeface="Cambria Math"/>
                <a:cs typeface="Cambria Math"/>
              </a:rPr>
              <a:t>𝑒</a:t>
            </a:r>
            <a:r>
              <a:rPr sz="1950" baseline="44871" dirty="0">
                <a:latin typeface="Cambria Math"/>
                <a:cs typeface="Cambria Math"/>
              </a:rPr>
              <a:t>	</a:t>
            </a:r>
            <a:r>
              <a:rPr sz="1950" spc="-37" baseline="44871" dirty="0">
                <a:latin typeface="Cambria Math"/>
                <a:cs typeface="Cambria Math"/>
              </a:rPr>
              <a:t>2.3</a:t>
            </a:r>
            <a:r>
              <a:rPr sz="1950" baseline="44871" dirty="0">
                <a:latin typeface="Cambria Math"/>
                <a:cs typeface="Cambria Math"/>
              </a:rPr>
              <a:t>	</a:t>
            </a:r>
            <a:r>
              <a:rPr sz="1800" spc="-385" dirty="0">
                <a:latin typeface="Verdana"/>
                <a:cs typeface="Verdana"/>
              </a:rPr>
              <a:t>=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spc="-110" dirty="0">
                <a:latin typeface="Verdana"/>
                <a:cs typeface="Verdana"/>
              </a:rPr>
              <a:t>0.265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8964" y="3584702"/>
            <a:ext cx="10839450" cy="814069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524510" algn="ctr">
              <a:lnSpc>
                <a:spcPct val="100000"/>
              </a:lnSpc>
              <a:spcBef>
                <a:spcPts val="340"/>
              </a:spcBef>
            </a:pPr>
            <a:r>
              <a:rPr sz="1300" spc="-25" dirty="0">
                <a:latin typeface="Cambria Math"/>
                <a:cs typeface="Cambria Math"/>
              </a:rPr>
              <a:t>2!</a:t>
            </a:r>
            <a:endParaRPr sz="1300" dirty="0">
              <a:latin typeface="Cambria Math"/>
              <a:cs typeface="Cambria Math"/>
            </a:endParaRPr>
          </a:p>
          <a:p>
            <a:pPr marL="38100" marR="30480">
              <a:lnSpc>
                <a:spcPts val="1939"/>
              </a:lnSpc>
              <a:spcBef>
                <a:spcPts val="550"/>
              </a:spcBef>
              <a:tabLst>
                <a:tab pos="7599045" algn="l"/>
              </a:tabLst>
            </a:pPr>
            <a:r>
              <a:rPr sz="1800" spc="-95" dirty="0">
                <a:latin typeface="Verdana"/>
                <a:cs typeface="Verdana"/>
              </a:rPr>
              <a:t>(b)</a:t>
            </a:r>
            <a:r>
              <a:rPr sz="1800" spc="-75" dirty="0">
                <a:latin typeface="Verdana"/>
                <a:cs typeface="Verdana"/>
              </a:rPr>
              <a:t> </a:t>
            </a:r>
            <a:r>
              <a:rPr sz="1800" spc="-195" dirty="0">
                <a:latin typeface="Verdana"/>
                <a:cs typeface="Verdana"/>
              </a:rPr>
              <a:t>In</a:t>
            </a:r>
            <a:r>
              <a:rPr sz="1800" spc="-125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the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second</a:t>
            </a:r>
            <a:r>
              <a:rPr sz="1800" spc="-7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case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the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spc="-70" dirty="0">
                <a:latin typeface="Verdana"/>
                <a:cs typeface="Verdana"/>
              </a:rPr>
              <a:t>interval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spc="-190" dirty="0">
                <a:latin typeface="Verdana"/>
                <a:cs typeface="Verdana"/>
              </a:rPr>
              <a:t>is</a:t>
            </a:r>
            <a:r>
              <a:rPr sz="1800" spc="-13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increased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by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spc="-155" dirty="0">
                <a:latin typeface="Verdana"/>
                <a:cs typeface="Verdana"/>
              </a:rPr>
              <a:t>5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spc="-45" dirty="0">
                <a:latin typeface="Verdana"/>
                <a:cs typeface="Verdana"/>
              </a:rPr>
              <a:t>fold.</a:t>
            </a:r>
            <a:r>
              <a:rPr sz="1800" spc="-125" dirty="0">
                <a:latin typeface="Verdana"/>
                <a:cs typeface="Verdana"/>
              </a:rPr>
              <a:t> </a:t>
            </a:r>
            <a:r>
              <a:rPr sz="1800" spc="-114" dirty="0">
                <a:latin typeface="Verdana"/>
                <a:cs typeface="Verdana"/>
              </a:rPr>
              <a:t>Then,</a:t>
            </a:r>
            <a:r>
              <a:rPr sz="1800" spc="-70" dirty="0">
                <a:latin typeface="Verdana"/>
                <a:cs typeface="Verdana"/>
              </a:rPr>
              <a:t> </a:t>
            </a:r>
            <a:r>
              <a:rPr sz="1800" spc="-155" dirty="0">
                <a:latin typeface="Verdana"/>
                <a:cs typeface="Verdana"/>
              </a:rPr>
              <a:t>X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denotes</a:t>
            </a:r>
            <a:r>
              <a:rPr sz="1800" spc="-6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the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spc="-55" dirty="0">
                <a:latin typeface="Verdana"/>
                <a:cs typeface="Verdana"/>
              </a:rPr>
              <a:t>no.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spc="-75" dirty="0">
                <a:latin typeface="Verdana"/>
                <a:cs typeface="Verdana"/>
              </a:rPr>
              <a:t>flaws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spc="-90" dirty="0">
                <a:latin typeface="Verdana"/>
                <a:cs typeface="Verdana"/>
              </a:rPr>
              <a:t>in</a:t>
            </a:r>
            <a:r>
              <a:rPr sz="1800" spc="-135" dirty="0">
                <a:latin typeface="Verdana"/>
                <a:cs typeface="Verdana"/>
              </a:rPr>
              <a:t> </a:t>
            </a:r>
            <a:r>
              <a:rPr sz="1800" spc="-155" dirty="0">
                <a:latin typeface="Verdana"/>
                <a:cs typeface="Verdana"/>
              </a:rPr>
              <a:t>5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mm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140" dirty="0">
                <a:latin typeface="Verdana"/>
                <a:cs typeface="Verdana"/>
              </a:rPr>
              <a:t> </a:t>
            </a:r>
            <a:r>
              <a:rPr sz="1800" spc="-80" dirty="0">
                <a:latin typeface="Verdana"/>
                <a:cs typeface="Verdana"/>
              </a:rPr>
              <a:t>wire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spc="55" dirty="0">
                <a:latin typeface="Verdana"/>
                <a:cs typeface="Verdana"/>
              </a:rPr>
              <a:t>and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spc="-155" dirty="0">
                <a:latin typeface="Verdana"/>
                <a:cs typeface="Verdana"/>
              </a:rPr>
              <a:t>X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spc="-65" dirty="0">
                <a:latin typeface="Verdana"/>
                <a:cs typeface="Verdana"/>
              </a:rPr>
              <a:t>has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spc="140" dirty="0">
                <a:latin typeface="Verdana"/>
                <a:cs typeface="Verdana"/>
              </a:rPr>
              <a:t>a</a:t>
            </a:r>
            <a:r>
              <a:rPr sz="1800" spc="-145" dirty="0">
                <a:latin typeface="Verdana"/>
                <a:cs typeface="Verdana"/>
              </a:rPr>
              <a:t> </a:t>
            </a:r>
            <a:r>
              <a:rPr sz="1800" spc="-85" dirty="0">
                <a:latin typeface="Verdana"/>
                <a:cs typeface="Verdana"/>
              </a:rPr>
              <a:t>Poisson</a:t>
            </a:r>
            <a:r>
              <a:rPr sz="1800" spc="-140" dirty="0">
                <a:latin typeface="Verdana"/>
                <a:cs typeface="Verdana"/>
              </a:rPr>
              <a:t> </a:t>
            </a:r>
            <a:r>
              <a:rPr sz="1800" spc="-80" dirty="0">
                <a:latin typeface="Verdana"/>
                <a:cs typeface="Verdana"/>
              </a:rPr>
              <a:t>distribution</a:t>
            </a:r>
            <a:r>
              <a:rPr sz="1800" spc="-160" dirty="0">
                <a:latin typeface="Verdana"/>
                <a:cs typeface="Verdana"/>
              </a:rPr>
              <a:t> </a:t>
            </a:r>
            <a:r>
              <a:rPr sz="1800" spc="-75" dirty="0">
                <a:latin typeface="Verdana"/>
                <a:cs typeface="Verdana"/>
              </a:rPr>
              <a:t>with</a:t>
            </a:r>
            <a:r>
              <a:rPr sz="1800" spc="-70" dirty="0">
                <a:latin typeface="Verdana"/>
                <a:cs typeface="Verdana"/>
              </a:rPr>
              <a:t> </a:t>
            </a:r>
            <a:r>
              <a:rPr sz="1800" spc="-35" dirty="0">
                <a:latin typeface="Verdana"/>
                <a:cs typeface="Verdana"/>
              </a:rPr>
              <a:t>λ</a:t>
            </a:r>
            <a:r>
              <a:rPr sz="1800" spc="-52" baseline="-20833" dirty="0">
                <a:latin typeface="Verdana"/>
                <a:cs typeface="Verdana"/>
              </a:rPr>
              <a:t>1</a:t>
            </a:r>
            <a:r>
              <a:rPr sz="1800" spc="127" baseline="-20833" dirty="0">
                <a:latin typeface="Verdana"/>
                <a:cs typeface="Verdana"/>
              </a:rPr>
              <a:t> </a:t>
            </a:r>
            <a:r>
              <a:rPr sz="1800" spc="-385" dirty="0">
                <a:latin typeface="Verdana"/>
                <a:cs typeface="Verdana"/>
              </a:rPr>
              <a:t>=</a:t>
            </a:r>
            <a:r>
              <a:rPr sz="1800" spc="-135" dirty="0">
                <a:latin typeface="Verdana"/>
                <a:cs typeface="Verdana"/>
              </a:rPr>
              <a:t> </a:t>
            </a:r>
            <a:r>
              <a:rPr sz="1800" spc="-114" dirty="0">
                <a:latin typeface="Verdana"/>
                <a:cs typeface="Verdana"/>
              </a:rPr>
              <a:t>λ</a:t>
            </a:r>
            <a:r>
              <a:rPr sz="1800" spc="-125" dirty="0">
                <a:latin typeface="Verdana"/>
                <a:cs typeface="Verdana"/>
              </a:rPr>
              <a:t> </a:t>
            </a:r>
            <a:r>
              <a:rPr sz="1800" spc="-210" dirty="0">
                <a:latin typeface="Verdana"/>
                <a:cs typeface="Verdana"/>
              </a:rPr>
              <a:t>x</a:t>
            </a:r>
            <a:r>
              <a:rPr sz="1800" spc="-140" dirty="0">
                <a:latin typeface="Verdana"/>
                <a:cs typeface="Verdana"/>
              </a:rPr>
              <a:t> </a:t>
            </a:r>
            <a:r>
              <a:rPr sz="1800" spc="-155" dirty="0">
                <a:latin typeface="Verdana"/>
                <a:cs typeface="Verdana"/>
              </a:rPr>
              <a:t>5</a:t>
            </a:r>
            <a:r>
              <a:rPr sz="1800" spc="-125" dirty="0">
                <a:latin typeface="Verdana"/>
                <a:cs typeface="Verdana"/>
              </a:rPr>
              <a:t> </a:t>
            </a:r>
            <a:r>
              <a:rPr sz="1800" spc="-385" dirty="0">
                <a:latin typeface="Verdana"/>
                <a:cs typeface="Verdana"/>
              </a:rPr>
              <a:t>=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spc="-165" dirty="0">
                <a:latin typeface="Verdana"/>
                <a:cs typeface="Verdana"/>
              </a:rPr>
              <a:t>2.3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spc="-210" dirty="0">
                <a:latin typeface="Verdana"/>
                <a:cs typeface="Verdana"/>
              </a:rPr>
              <a:t>x</a:t>
            </a:r>
            <a:r>
              <a:rPr sz="1800" spc="-135" dirty="0">
                <a:latin typeface="Verdana"/>
                <a:cs typeface="Verdana"/>
              </a:rPr>
              <a:t> </a:t>
            </a:r>
            <a:r>
              <a:rPr sz="1800" spc="-155" dirty="0">
                <a:latin typeface="Verdana"/>
                <a:cs typeface="Verdana"/>
              </a:rPr>
              <a:t>5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spc="-385" dirty="0">
                <a:latin typeface="Verdana"/>
                <a:cs typeface="Verdana"/>
              </a:rPr>
              <a:t>=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11.5</a:t>
            </a:r>
            <a:r>
              <a:rPr sz="1800" dirty="0">
                <a:latin typeface="Verdana"/>
                <a:cs typeface="Verdana"/>
              </a:rPr>
              <a:t>	</a:t>
            </a:r>
            <a:r>
              <a:rPr sz="1800" spc="-70" dirty="0">
                <a:latin typeface="Verdana"/>
                <a:cs typeface="Verdana"/>
              </a:rPr>
              <a:t>flaws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per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spc="-155" dirty="0">
                <a:latin typeface="Verdana"/>
                <a:cs typeface="Verdana"/>
              </a:rPr>
              <a:t>5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spc="-80" dirty="0">
                <a:latin typeface="Verdana"/>
                <a:cs typeface="Verdana"/>
              </a:rPr>
              <a:t>mm</a:t>
            </a:r>
            <a:r>
              <a:rPr sz="1800" spc="-1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wire.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767582" y="4714113"/>
            <a:ext cx="1013460" cy="15240"/>
          </a:xfrm>
          <a:custGeom>
            <a:avLst/>
            <a:gdLst/>
            <a:ahLst/>
            <a:cxnLst/>
            <a:rect l="l" t="t" r="r" b="b"/>
            <a:pathLst>
              <a:path w="1013460" h="15239">
                <a:moveTo>
                  <a:pt x="1013460" y="0"/>
                </a:moveTo>
                <a:lnTo>
                  <a:pt x="0" y="0"/>
                </a:lnTo>
                <a:lnTo>
                  <a:pt x="0" y="15239"/>
                </a:lnTo>
                <a:lnTo>
                  <a:pt x="1013460" y="15239"/>
                </a:lnTo>
                <a:lnTo>
                  <a:pt x="10134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089964" y="4443222"/>
            <a:ext cx="4562475" cy="4038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778760">
              <a:lnSpc>
                <a:spcPts val="1025"/>
              </a:lnSpc>
              <a:spcBef>
                <a:spcPts val="130"/>
              </a:spcBef>
              <a:tabLst>
                <a:tab pos="3523615" algn="l"/>
              </a:tabLst>
            </a:pPr>
            <a:r>
              <a:rPr sz="1050" spc="-10" dirty="0">
                <a:latin typeface="Cambria Math"/>
                <a:cs typeface="Cambria Math"/>
              </a:rPr>
              <a:t>−11.5</a:t>
            </a:r>
            <a:r>
              <a:rPr sz="1050" dirty="0">
                <a:latin typeface="Cambria Math"/>
                <a:cs typeface="Cambria Math"/>
              </a:rPr>
              <a:t>	</a:t>
            </a:r>
            <a:r>
              <a:rPr sz="1050" spc="-25" dirty="0">
                <a:latin typeface="Cambria Math"/>
                <a:cs typeface="Cambria Math"/>
              </a:rPr>
              <a:t>10</a:t>
            </a:r>
            <a:endParaRPr sz="1050">
              <a:latin typeface="Cambria Math"/>
              <a:cs typeface="Cambria Math"/>
            </a:endParaRPr>
          </a:p>
          <a:p>
            <a:pPr marL="38100">
              <a:lnSpc>
                <a:spcPts val="1925"/>
              </a:lnSpc>
              <a:tabLst>
                <a:tab pos="3199130" algn="l"/>
                <a:tab pos="3755390" algn="l"/>
              </a:tabLst>
            </a:pPr>
            <a:r>
              <a:rPr sz="1800" spc="-45" dirty="0">
                <a:latin typeface="Verdana"/>
                <a:cs typeface="Verdana"/>
              </a:rPr>
              <a:t>Probability</a:t>
            </a:r>
            <a:r>
              <a:rPr sz="1800" spc="-1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spc="-160" dirty="0">
                <a:latin typeface="Verdana"/>
                <a:cs typeface="Verdana"/>
              </a:rPr>
              <a:t>10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spc="-75" dirty="0">
                <a:latin typeface="Verdana"/>
                <a:cs typeface="Verdana"/>
              </a:rPr>
              <a:t>flaws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spc="-385" dirty="0">
                <a:latin typeface="Verdana"/>
                <a:cs typeface="Verdana"/>
              </a:rPr>
              <a:t>=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950" spc="30" baseline="44871" dirty="0">
                <a:latin typeface="Cambria Math"/>
                <a:cs typeface="Cambria Math"/>
              </a:rPr>
              <a:t>𝑒</a:t>
            </a:r>
            <a:r>
              <a:rPr sz="1950" baseline="44871" dirty="0">
                <a:latin typeface="Cambria Math"/>
                <a:cs typeface="Cambria Math"/>
              </a:rPr>
              <a:t>	</a:t>
            </a:r>
            <a:r>
              <a:rPr sz="1950" spc="-30" baseline="44871" dirty="0">
                <a:latin typeface="Cambria Math"/>
                <a:cs typeface="Cambria Math"/>
              </a:rPr>
              <a:t>11.5</a:t>
            </a:r>
            <a:r>
              <a:rPr sz="1950" baseline="44871" dirty="0">
                <a:latin typeface="Cambria Math"/>
                <a:cs typeface="Cambria Math"/>
              </a:rPr>
              <a:t>	</a:t>
            </a:r>
            <a:r>
              <a:rPr sz="1800" spc="-385" dirty="0">
                <a:latin typeface="Verdana"/>
                <a:cs typeface="Verdana"/>
              </a:rPr>
              <a:t>=</a:t>
            </a:r>
            <a:r>
              <a:rPr sz="1800" spc="-140" dirty="0">
                <a:latin typeface="Verdana"/>
                <a:cs typeface="Verdana"/>
              </a:rPr>
              <a:t> </a:t>
            </a:r>
            <a:r>
              <a:rPr sz="1800" spc="-110" dirty="0">
                <a:latin typeface="Verdana"/>
                <a:cs typeface="Verdana"/>
              </a:rPr>
              <a:t>0.113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8964" y="4692870"/>
            <a:ext cx="10737215" cy="931544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3444240">
              <a:lnSpc>
                <a:spcPct val="100000"/>
              </a:lnSpc>
              <a:spcBef>
                <a:spcPts val="350"/>
              </a:spcBef>
            </a:pPr>
            <a:r>
              <a:rPr sz="1300" spc="-25" dirty="0">
                <a:latin typeface="Cambria Math"/>
                <a:cs typeface="Cambria Math"/>
              </a:rPr>
              <a:t>10!</a:t>
            </a:r>
            <a:endParaRPr sz="130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315"/>
              </a:spcBef>
            </a:pPr>
            <a:r>
              <a:rPr sz="1800" spc="-40" dirty="0">
                <a:latin typeface="Verdana"/>
                <a:cs typeface="Verdana"/>
              </a:rPr>
              <a:t>(c)</a:t>
            </a:r>
            <a:r>
              <a:rPr sz="1800" spc="-70" dirty="0">
                <a:latin typeface="Verdana"/>
                <a:cs typeface="Verdana"/>
              </a:rPr>
              <a:t> </a:t>
            </a:r>
            <a:r>
              <a:rPr sz="1800" spc="-75" dirty="0">
                <a:latin typeface="Verdana"/>
                <a:cs typeface="Verdana"/>
              </a:rPr>
              <a:t>Let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spc="-155" dirty="0">
                <a:latin typeface="Verdana"/>
                <a:cs typeface="Verdana"/>
              </a:rPr>
              <a:t>X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denote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the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spc="-40" dirty="0">
                <a:latin typeface="Verdana"/>
                <a:cs typeface="Verdana"/>
              </a:rPr>
              <a:t>number</a:t>
            </a:r>
            <a:r>
              <a:rPr sz="1800" spc="-7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spc="-75" dirty="0">
                <a:latin typeface="Verdana"/>
                <a:cs typeface="Verdana"/>
              </a:rPr>
              <a:t>flaws </a:t>
            </a:r>
            <a:r>
              <a:rPr sz="1800" spc="-85" dirty="0">
                <a:latin typeface="Verdana"/>
                <a:cs typeface="Verdana"/>
              </a:rPr>
              <a:t>in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spc="-155" dirty="0">
                <a:latin typeface="Verdana"/>
                <a:cs typeface="Verdana"/>
              </a:rPr>
              <a:t>2</a:t>
            </a:r>
            <a:r>
              <a:rPr sz="1800" spc="-105" dirty="0">
                <a:latin typeface="Verdana"/>
                <a:cs typeface="Verdana"/>
              </a:rPr>
              <a:t> millimeters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spc="-100" dirty="0">
                <a:latin typeface="Verdana"/>
                <a:cs typeface="Verdana"/>
              </a:rPr>
              <a:t>wire.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spc="-100" dirty="0">
                <a:latin typeface="Verdana"/>
                <a:cs typeface="Verdana"/>
              </a:rPr>
              <a:t>Then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spc="-155" dirty="0">
                <a:latin typeface="Verdana"/>
                <a:cs typeface="Verdana"/>
              </a:rPr>
              <a:t>X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spc="-65" dirty="0">
                <a:latin typeface="Verdana"/>
                <a:cs typeface="Verdana"/>
              </a:rPr>
              <a:t>has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spc="140" dirty="0">
                <a:latin typeface="Verdana"/>
                <a:cs typeface="Verdana"/>
              </a:rPr>
              <a:t>a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spc="-85" dirty="0">
                <a:latin typeface="Verdana"/>
                <a:cs typeface="Verdana"/>
              </a:rPr>
              <a:t>Poisson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spc="-80" dirty="0">
                <a:latin typeface="Verdana"/>
                <a:cs typeface="Verdana"/>
              </a:rPr>
              <a:t>distribution</a:t>
            </a:r>
            <a:r>
              <a:rPr sz="1800" spc="-14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with</a:t>
            </a:r>
            <a:endParaRPr sz="1800">
              <a:latin typeface="Verdana"/>
              <a:cs typeface="Verdana"/>
            </a:endParaRPr>
          </a:p>
          <a:p>
            <a:pPr marL="419100">
              <a:lnSpc>
                <a:spcPct val="100000"/>
              </a:lnSpc>
              <a:spcBef>
                <a:spcPts val="685"/>
              </a:spcBef>
            </a:pPr>
            <a:r>
              <a:rPr sz="1800" spc="-114" dirty="0">
                <a:latin typeface="Verdana"/>
                <a:cs typeface="Verdana"/>
              </a:rPr>
              <a:t>λ</a:t>
            </a:r>
            <a:r>
              <a:rPr sz="1800" spc="-172" baseline="-20833" dirty="0">
                <a:latin typeface="Verdana"/>
                <a:cs typeface="Verdana"/>
              </a:rPr>
              <a:t>2</a:t>
            </a:r>
            <a:r>
              <a:rPr sz="1800" spc="-112" baseline="-20833" dirty="0">
                <a:latin typeface="Verdana"/>
                <a:cs typeface="Verdana"/>
              </a:rPr>
              <a:t> </a:t>
            </a:r>
            <a:r>
              <a:rPr sz="1800" spc="-385" dirty="0">
                <a:latin typeface="Verdana"/>
                <a:cs typeface="Verdana"/>
              </a:rPr>
              <a:t>=</a:t>
            </a:r>
            <a:r>
              <a:rPr sz="1800" spc="-125" dirty="0">
                <a:latin typeface="Verdana"/>
                <a:cs typeface="Verdana"/>
              </a:rPr>
              <a:t> </a:t>
            </a:r>
            <a:r>
              <a:rPr sz="1800" spc="-114" dirty="0">
                <a:latin typeface="Verdana"/>
                <a:cs typeface="Verdana"/>
              </a:rPr>
              <a:t>λ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spc="-210" dirty="0">
                <a:latin typeface="Verdana"/>
                <a:cs typeface="Verdana"/>
              </a:rPr>
              <a:t>x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spc="-155" dirty="0">
                <a:latin typeface="Verdana"/>
                <a:cs typeface="Verdana"/>
              </a:rPr>
              <a:t>2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spc="-385" dirty="0">
                <a:latin typeface="Verdana"/>
                <a:cs typeface="Verdana"/>
              </a:rPr>
              <a:t>=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spc="-165" dirty="0">
                <a:latin typeface="Verdana"/>
                <a:cs typeface="Verdana"/>
              </a:rPr>
              <a:t>2.3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spc="-210" dirty="0">
                <a:latin typeface="Verdana"/>
                <a:cs typeface="Verdana"/>
              </a:rPr>
              <a:t>x</a:t>
            </a:r>
            <a:r>
              <a:rPr sz="1800" spc="-135" dirty="0">
                <a:latin typeface="Verdana"/>
                <a:cs typeface="Verdana"/>
              </a:rPr>
              <a:t> </a:t>
            </a:r>
            <a:r>
              <a:rPr sz="1800" spc="-155" dirty="0">
                <a:latin typeface="Verdana"/>
                <a:cs typeface="Verdana"/>
              </a:rPr>
              <a:t>2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spc="-385" dirty="0">
                <a:latin typeface="Verdana"/>
                <a:cs typeface="Verdana"/>
              </a:rPr>
              <a:t>=</a:t>
            </a:r>
            <a:r>
              <a:rPr sz="1800" spc="-125" dirty="0">
                <a:latin typeface="Verdana"/>
                <a:cs typeface="Verdana"/>
              </a:rPr>
              <a:t> </a:t>
            </a:r>
            <a:r>
              <a:rPr sz="1800" spc="-170" dirty="0">
                <a:latin typeface="Verdana"/>
                <a:cs typeface="Verdana"/>
              </a:rPr>
              <a:t>4.6</a:t>
            </a:r>
            <a:r>
              <a:rPr sz="1800" spc="-85" dirty="0">
                <a:latin typeface="Verdana"/>
                <a:cs typeface="Verdana"/>
              </a:rPr>
              <a:t> flaws/2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spc="-75" dirty="0">
                <a:latin typeface="Verdana"/>
                <a:cs typeface="Verdana"/>
              </a:rPr>
              <a:t>mm</a:t>
            </a:r>
            <a:r>
              <a:rPr sz="1800" spc="-1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wire.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780273" y="5934824"/>
            <a:ext cx="718185" cy="15240"/>
          </a:xfrm>
          <a:custGeom>
            <a:avLst/>
            <a:gdLst/>
            <a:ahLst/>
            <a:cxnLst/>
            <a:rect l="l" t="t" r="r" b="b"/>
            <a:pathLst>
              <a:path w="718184" h="15239">
                <a:moveTo>
                  <a:pt x="717803" y="0"/>
                </a:moveTo>
                <a:lnTo>
                  <a:pt x="0" y="0"/>
                </a:lnTo>
                <a:lnTo>
                  <a:pt x="0" y="15240"/>
                </a:lnTo>
                <a:lnTo>
                  <a:pt x="717803" y="15240"/>
                </a:lnTo>
                <a:lnTo>
                  <a:pt x="71780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055102" y="5943091"/>
            <a:ext cx="17145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25" dirty="0">
                <a:latin typeface="Cambria Math"/>
                <a:cs typeface="Cambria Math"/>
              </a:rPr>
              <a:t>0!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89964" y="5664200"/>
            <a:ext cx="8406765" cy="4038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R="994410" algn="r">
              <a:lnSpc>
                <a:spcPts val="1025"/>
              </a:lnSpc>
              <a:spcBef>
                <a:spcPts val="130"/>
              </a:spcBef>
              <a:tabLst>
                <a:tab pos="530225" algn="l"/>
              </a:tabLst>
            </a:pPr>
            <a:r>
              <a:rPr sz="1050" spc="-20" dirty="0">
                <a:latin typeface="Cambria Math"/>
                <a:cs typeface="Cambria Math"/>
              </a:rPr>
              <a:t>−4.6</a:t>
            </a:r>
            <a:r>
              <a:rPr sz="1050" dirty="0">
                <a:latin typeface="Cambria Math"/>
                <a:cs typeface="Cambria Math"/>
              </a:rPr>
              <a:t>	</a:t>
            </a:r>
            <a:r>
              <a:rPr sz="1050" spc="5" dirty="0">
                <a:latin typeface="Cambria Math"/>
                <a:cs typeface="Cambria Math"/>
              </a:rPr>
              <a:t>0</a:t>
            </a:r>
            <a:endParaRPr sz="1050">
              <a:latin typeface="Cambria Math"/>
              <a:cs typeface="Cambria Math"/>
            </a:endParaRPr>
          </a:p>
          <a:p>
            <a:pPr marL="38100">
              <a:lnSpc>
                <a:spcPts val="1925"/>
              </a:lnSpc>
              <a:tabLst>
                <a:tab pos="7093584" algn="l"/>
                <a:tab pos="7471409" algn="l"/>
              </a:tabLst>
            </a:pPr>
            <a:r>
              <a:rPr sz="1800" spc="-45" dirty="0">
                <a:latin typeface="Verdana"/>
                <a:cs typeface="Verdana"/>
              </a:rPr>
              <a:t>Probability</a:t>
            </a:r>
            <a:r>
              <a:rPr sz="1800" spc="-1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at</a:t>
            </a:r>
            <a:r>
              <a:rPr sz="1800" spc="-140" dirty="0">
                <a:latin typeface="Verdana"/>
                <a:cs typeface="Verdana"/>
              </a:rPr>
              <a:t> </a:t>
            </a:r>
            <a:r>
              <a:rPr sz="1800" spc="-60" dirty="0">
                <a:latin typeface="Verdana"/>
                <a:cs typeface="Verdana"/>
              </a:rPr>
              <a:t>least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one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flaw</a:t>
            </a:r>
            <a:r>
              <a:rPr sz="1800" spc="-135" dirty="0">
                <a:latin typeface="Verdana"/>
                <a:cs typeface="Verdana"/>
              </a:rPr>
              <a:t> </a:t>
            </a:r>
            <a:r>
              <a:rPr sz="1800" spc="-385" dirty="0">
                <a:latin typeface="Verdana"/>
                <a:cs typeface="Verdana"/>
              </a:rPr>
              <a:t>=</a:t>
            </a:r>
            <a:r>
              <a:rPr sz="1800" spc="-1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</a:t>
            </a:r>
            <a:r>
              <a:rPr sz="1800" spc="-125" dirty="0">
                <a:latin typeface="Verdana"/>
                <a:cs typeface="Verdana"/>
              </a:rPr>
              <a:t> </a:t>
            </a:r>
            <a:r>
              <a:rPr sz="1800" spc="-185" dirty="0">
                <a:latin typeface="Verdana"/>
                <a:cs typeface="Verdana"/>
              </a:rPr>
              <a:t>(X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spc="-490" dirty="0">
                <a:latin typeface="Verdana"/>
                <a:cs typeface="Verdana"/>
              </a:rPr>
              <a:t>≥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spc="-160" dirty="0">
                <a:latin typeface="Verdana"/>
                <a:cs typeface="Verdana"/>
              </a:rPr>
              <a:t>1)</a:t>
            </a:r>
            <a:r>
              <a:rPr sz="1800" spc="-135" dirty="0">
                <a:latin typeface="Verdana"/>
                <a:cs typeface="Verdana"/>
              </a:rPr>
              <a:t> </a:t>
            </a:r>
            <a:r>
              <a:rPr sz="1800" spc="-385" dirty="0">
                <a:latin typeface="Verdana"/>
                <a:cs typeface="Verdana"/>
              </a:rPr>
              <a:t>=</a:t>
            </a:r>
            <a:r>
              <a:rPr sz="1800" spc="-135" dirty="0">
                <a:latin typeface="Verdana"/>
                <a:cs typeface="Verdana"/>
              </a:rPr>
              <a:t> </a:t>
            </a:r>
            <a:r>
              <a:rPr sz="1800" spc="-155" dirty="0">
                <a:latin typeface="Verdana"/>
                <a:cs typeface="Verdana"/>
              </a:rPr>
              <a:t>1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-</a:t>
            </a:r>
            <a:r>
              <a:rPr sz="1800" spc="37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</a:t>
            </a:r>
            <a:r>
              <a:rPr sz="1800" spc="-125" dirty="0">
                <a:latin typeface="Verdana"/>
                <a:cs typeface="Verdana"/>
              </a:rPr>
              <a:t> </a:t>
            </a:r>
            <a:r>
              <a:rPr sz="1800" spc="-180" dirty="0">
                <a:latin typeface="Verdana"/>
                <a:cs typeface="Verdana"/>
              </a:rPr>
              <a:t>(X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spc="-385" dirty="0">
                <a:latin typeface="Verdana"/>
                <a:cs typeface="Verdana"/>
              </a:rPr>
              <a:t>=</a:t>
            </a:r>
            <a:r>
              <a:rPr sz="1800" spc="-135" dirty="0">
                <a:latin typeface="Verdana"/>
                <a:cs typeface="Verdana"/>
              </a:rPr>
              <a:t> </a:t>
            </a:r>
            <a:r>
              <a:rPr sz="1800" spc="-165" dirty="0">
                <a:latin typeface="Verdana"/>
                <a:cs typeface="Verdana"/>
              </a:rPr>
              <a:t>0)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spc="-385" dirty="0">
                <a:latin typeface="Verdana"/>
                <a:cs typeface="Verdana"/>
              </a:rPr>
              <a:t>=</a:t>
            </a:r>
            <a:r>
              <a:rPr sz="1800" spc="-135" dirty="0">
                <a:latin typeface="Verdana"/>
                <a:cs typeface="Verdana"/>
              </a:rPr>
              <a:t> </a:t>
            </a:r>
            <a:r>
              <a:rPr sz="1800" spc="-155" dirty="0">
                <a:latin typeface="Verdana"/>
                <a:cs typeface="Verdana"/>
              </a:rPr>
              <a:t>1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spc="-229" dirty="0">
                <a:latin typeface="Verdana"/>
                <a:cs typeface="Verdana"/>
              </a:rPr>
              <a:t>-</a:t>
            </a:r>
            <a:r>
              <a:rPr sz="1800" spc="-125" dirty="0">
                <a:latin typeface="Verdana"/>
                <a:cs typeface="Verdana"/>
              </a:rPr>
              <a:t> </a:t>
            </a:r>
            <a:r>
              <a:rPr sz="1950" spc="30" baseline="44871" dirty="0">
                <a:latin typeface="Cambria Math"/>
                <a:cs typeface="Cambria Math"/>
              </a:rPr>
              <a:t>𝑒</a:t>
            </a:r>
            <a:r>
              <a:rPr sz="1950" baseline="44871" dirty="0">
                <a:latin typeface="Cambria Math"/>
                <a:cs typeface="Cambria Math"/>
              </a:rPr>
              <a:t>	</a:t>
            </a:r>
            <a:r>
              <a:rPr sz="1950" spc="-37" baseline="44871" dirty="0">
                <a:latin typeface="Cambria Math"/>
                <a:cs typeface="Cambria Math"/>
              </a:rPr>
              <a:t>4.6</a:t>
            </a:r>
            <a:r>
              <a:rPr sz="1950" baseline="44871" dirty="0">
                <a:latin typeface="Cambria Math"/>
                <a:cs typeface="Cambria Math"/>
              </a:rPr>
              <a:t>	</a:t>
            </a:r>
            <a:r>
              <a:rPr sz="1800" spc="-385" dirty="0">
                <a:latin typeface="Verdana"/>
                <a:cs typeface="Verdana"/>
              </a:rPr>
              <a:t>=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spc="-114" dirty="0">
                <a:latin typeface="Verdana"/>
                <a:cs typeface="Verdana"/>
              </a:rPr>
              <a:t>0.9899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89AA44A0-E219-6F80-1128-33DAE67B6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5D848-2845-4E91-A66E-55AC24282D49}" type="datetime1">
              <a:rPr lang="en-US" smtClean="0"/>
              <a:t>7/22/2024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84605" y="654253"/>
            <a:ext cx="10229215" cy="20656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204" dirty="0">
                <a:solidFill>
                  <a:srgbClr val="252525"/>
                </a:solidFill>
                <a:latin typeface="Tahoma"/>
                <a:cs typeface="Tahoma"/>
              </a:rPr>
              <a:t>Fitting</a:t>
            </a:r>
            <a:r>
              <a:rPr sz="2800" b="1" spc="-4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800" b="1" spc="-90" dirty="0">
                <a:solidFill>
                  <a:srgbClr val="252525"/>
                </a:solidFill>
                <a:latin typeface="Tahoma"/>
                <a:cs typeface="Tahoma"/>
              </a:rPr>
              <a:t>of</a:t>
            </a:r>
            <a:r>
              <a:rPr sz="2800" b="1" spc="-5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800" b="1" spc="165" dirty="0">
                <a:solidFill>
                  <a:srgbClr val="252525"/>
                </a:solidFill>
                <a:latin typeface="Tahoma"/>
                <a:cs typeface="Tahoma"/>
              </a:rPr>
              <a:t>a</a:t>
            </a:r>
            <a:r>
              <a:rPr sz="2800" b="1" spc="-3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800" b="1" spc="-125" dirty="0">
                <a:solidFill>
                  <a:srgbClr val="252525"/>
                </a:solidFill>
                <a:latin typeface="Tahoma"/>
                <a:cs typeface="Tahoma"/>
              </a:rPr>
              <a:t>Poisson</a:t>
            </a:r>
            <a:r>
              <a:rPr sz="2800" b="1" spc="-3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800" b="1" spc="-80" dirty="0">
                <a:solidFill>
                  <a:srgbClr val="252525"/>
                </a:solidFill>
                <a:latin typeface="Tahoma"/>
                <a:cs typeface="Tahoma"/>
              </a:rPr>
              <a:t>Distribution</a:t>
            </a:r>
            <a:endParaRPr sz="280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  <a:spcBef>
                <a:spcPts val="2625"/>
              </a:spcBef>
            </a:pPr>
            <a:r>
              <a:rPr sz="2800" spc="150" dirty="0">
                <a:latin typeface="Verdana"/>
                <a:cs typeface="Verdana"/>
              </a:rPr>
              <a:t>A</a:t>
            </a:r>
            <a:r>
              <a:rPr sz="2800" spc="-15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doctor</a:t>
            </a:r>
            <a:r>
              <a:rPr sz="2800" spc="-145" dirty="0">
                <a:latin typeface="Verdana"/>
                <a:cs typeface="Verdana"/>
              </a:rPr>
              <a:t> </a:t>
            </a:r>
            <a:r>
              <a:rPr sz="2800" spc="70" dirty="0">
                <a:latin typeface="Verdana"/>
                <a:cs typeface="Verdana"/>
              </a:rPr>
              <a:t>collected</a:t>
            </a:r>
            <a:r>
              <a:rPr sz="2800" spc="-135" dirty="0">
                <a:latin typeface="Verdana"/>
                <a:cs typeface="Verdana"/>
              </a:rPr>
              <a:t> </a:t>
            </a:r>
            <a:r>
              <a:rPr sz="2800" spc="-50" dirty="0">
                <a:latin typeface="Verdana"/>
                <a:cs typeface="Verdana"/>
              </a:rPr>
              <a:t>following</a:t>
            </a:r>
            <a:r>
              <a:rPr sz="2800" spc="-145" dirty="0">
                <a:latin typeface="Verdana"/>
                <a:cs typeface="Verdana"/>
              </a:rPr>
              <a:t> </a:t>
            </a:r>
            <a:r>
              <a:rPr sz="2800" spc="100" dirty="0">
                <a:latin typeface="Verdana"/>
                <a:cs typeface="Verdana"/>
              </a:rPr>
              <a:t>data</a:t>
            </a:r>
            <a:r>
              <a:rPr sz="2800" spc="-15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about</a:t>
            </a:r>
            <a:r>
              <a:rPr sz="2800" spc="-150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the</a:t>
            </a:r>
            <a:r>
              <a:rPr sz="2800" spc="-120" dirty="0">
                <a:latin typeface="Verdana"/>
                <a:cs typeface="Verdana"/>
              </a:rPr>
              <a:t> </a:t>
            </a:r>
            <a:r>
              <a:rPr sz="2800" spc="-125" dirty="0">
                <a:latin typeface="Verdana"/>
                <a:cs typeface="Verdana"/>
              </a:rPr>
              <a:t>arrival</a:t>
            </a:r>
            <a:r>
              <a:rPr sz="2800" spc="-155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of </a:t>
            </a:r>
            <a:r>
              <a:rPr sz="2800" spc="-70" dirty="0">
                <a:latin typeface="Verdana"/>
                <a:cs typeface="Verdana"/>
              </a:rPr>
              <a:t>patients</a:t>
            </a:r>
            <a:r>
              <a:rPr sz="2800" spc="-165" dirty="0">
                <a:latin typeface="Verdana"/>
                <a:cs typeface="Verdana"/>
              </a:rPr>
              <a:t> </a:t>
            </a:r>
            <a:r>
              <a:rPr sz="2800" spc="-145" dirty="0">
                <a:latin typeface="Verdana"/>
                <a:cs typeface="Verdana"/>
              </a:rPr>
              <a:t>in</a:t>
            </a:r>
            <a:r>
              <a:rPr sz="2800" spc="-180" dirty="0">
                <a:latin typeface="Verdana"/>
                <a:cs typeface="Verdana"/>
              </a:rPr>
              <a:t> </a:t>
            </a:r>
            <a:r>
              <a:rPr sz="2800" spc="-229" dirty="0">
                <a:latin typeface="Verdana"/>
                <a:cs typeface="Verdana"/>
              </a:rPr>
              <a:t>his</a:t>
            </a:r>
            <a:r>
              <a:rPr sz="2800" spc="-18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clinic</a:t>
            </a:r>
            <a:r>
              <a:rPr sz="2800" spc="-200" dirty="0">
                <a:latin typeface="Verdana"/>
                <a:cs typeface="Verdana"/>
              </a:rPr>
              <a:t> </a:t>
            </a:r>
            <a:r>
              <a:rPr sz="2800" spc="-125" dirty="0">
                <a:latin typeface="Verdana"/>
                <a:cs typeface="Verdana"/>
              </a:rPr>
              <a:t>for</a:t>
            </a:r>
            <a:r>
              <a:rPr sz="2800" spc="-175" dirty="0">
                <a:latin typeface="Verdana"/>
                <a:cs typeface="Verdana"/>
              </a:rPr>
              <a:t> </a:t>
            </a:r>
            <a:r>
              <a:rPr sz="2800" spc="-240" dirty="0">
                <a:latin typeface="Verdana"/>
                <a:cs typeface="Verdana"/>
              </a:rPr>
              <a:t>445</a:t>
            </a:r>
            <a:r>
              <a:rPr sz="2800" spc="-185" dirty="0">
                <a:latin typeface="Verdana"/>
                <a:cs typeface="Verdana"/>
              </a:rPr>
              <a:t> </a:t>
            </a:r>
            <a:r>
              <a:rPr sz="2800" spc="-80" dirty="0">
                <a:latin typeface="Verdana"/>
                <a:cs typeface="Verdana"/>
              </a:rPr>
              <a:t>days.</a:t>
            </a:r>
            <a:r>
              <a:rPr sz="2800" spc="-175" dirty="0">
                <a:latin typeface="Verdana"/>
                <a:cs typeface="Verdana"/>
              </a:rPr>
              <a:t> </a:t>
            </a:r>
            <a:r>
              <a:rPr sz="2800" spc="-220" dirty="0">
                <a:latin typeface="Verdana"/>
                <a:cs typeface="Verdana"/>
              </a:rPr>
              <a:t>Fit</a:t>
            </a:r>
            <a:r>
              <a:rPr sz="2800" spc="-180" dirty="0">
                <a:latin typeface="Verdana"/>
                <a:cs typeface="Verdana"/>
              </a:rPr>
              <a:t> </a:t>
            </a:r>
            <a:r>
              <a:rPr sz="2800" spc="215" dirty="0">
                <a:latin typeface="Verdana"/>
                <a:cs typeface="Verdana"/>
              </a:rPr>
              <a:t>a</a:t>
            </a:r>
            <a:r>
              <a:rPr sz="2800" spc="-180" dirty="0">
                <a:latin typeface="Verdana"/>
                <a:cs typeface="Verdana"/>
              </a:rPr>
              <a:t> </a:t>
            </a:r>
            <a:r>
              <a:rPr sz="2800" spc="-130" dirty="0">
                <a:latin typeface="Verdana"/>
                <a:cs typeface="Verdana"/>
              </a:rPr>
              <a:t>Poisson</a:t>
            </a:r>
            <a:r>
              <a:rPr sz="2800" spc="-165" dirty="0">
                <a:latin typeface="Verdana"/>
                <a:cs typeface="Verdana"/>
              </a:rPr>
              <a:t> </a:t>
            </a:r>
            <a:r>
              <a:rPr sz="2800" spc="-150" dirty="0">
                <a:latin typeface="Verdana"/>
                <a:cs typeface="Verdana"/>
              </a:rPr>
              <a:t>Distribution</a:t>
            </a:r>
            <a:r>
              <a:rPr sz="2800" spc="-180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for </a:t>
            </a:r>
            <a:r>
              <a:rPr sz="2800" spc="-20" dirty="0">
                <a:latin typeface="Verdana"/>
                <a:cs typeface="Verdana"/>
              </a:rPr>
              <a:t>the</a:t>
            </a:r>
            <a:r>
              <a:rPr sz="2800" spc="-229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data.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Copyright:</a:t>
            </a:r>
            <a:r>
              <a:rPr spc="-15" dirty="0"/>
              <a:t> </a:t>
            </a:r>
            <a:r>
              <a:rPr spc="-55" dirty="0"/>
              <a:t>Santosh</a:t>
            </a:r>
            <a:r>
              <a:rPr spc="-35" dirty="0"/>
              <a:t> </a:t>
            </a:r>
            <a:r>
              <a:rPr spc="-10" dirty="0"/>
              <a:t>Chhatkuli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0902818"/>
              </p:ext>
            </p:extLst>
          </p:nvPr>
        </p:nvGraphicFramePr>
        <p:xfrm>
          <a:off x="1011682" y="3051810"/>
          <a:ext cx="9845038" cy="7404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10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6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45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1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45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45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22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700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b="1" dirty="0">
                          <a:latin typeface="Tahoma"/>
                          <a:cs typeface="Tahoma"/>
                        </a:rPr>
                        <a:t>No.</a:t>
                      </a:r>
                      <a:r>
                        <a:rPr sz="1800" b="1" spc="-7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b="1" spc="-60" dirty="0">
                          <a:latin typeface="Tahoma"/>
                          <a:cs typeface="Tahoma"/>
                        </a:rPr>
                        <a:t>of</a:t>
                      </a:r>
                      <a:r>
                        <a:rPr sz="1800" b="1" spc="-6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b="1" spc="-75" dirty="0">
                          <a:latin typeface="Tahoma"/>
                          <a:cs typeface="Tahoma"/>
                        </a:rPr>
                        <a:t>patients</a:t>
                      </a:r>
                      <a:r>
                        <a:rPr sz="1800" b="1" spc="-5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b="1" spc="-25" dirty="0">
                          <a:latin typeface="Tahoma"/>
                          <a:cs typeface="Tahoma"/>
                        </a:rPr>
                        <a:t>(X)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1910" marB="0">
                    <a:lnT w="12700">
                      <a:solidFill>
                        <a:srgbClr val="42B996"/>
                      </a:solidFill>
                      <a:prstDash val="solid"/>
                    </a:lnT>
                    <a:lnB w="12700">
                      <a:solidFill>
                        <a:srgbClr val="42B99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b="1" dirty="0">
                          <a:latin typeface="Tahoma"/>
                          <a:cs typeface="Tahoma"/>
                        </a:rPr>
                        <a:t>0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1910" marB="0">
                    <a:lnT w="12700">
                      <a:solidFill>
                        <a:srgbClr val="42B996"/>
                      </a:solidFill>
                      <a:prstDash val="solid"/>
                    </a:lnT>
                    <a:lnB w="12700">
                      <a:solidFill>
                        <a:srgbClr val="42B99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242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b="1" dirty="0">
                          <a:latin typeface="Tahoma"/>
                          <a:cs typeface="Tahoma"/>
                        </a:rPr>
                        <a:t>1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1910" marB="0">
                    <a:lnT w="12700">
                      <a:solidFill>
                        <a:srgbClr val="42B996"/>
                      </a:solidFill>
                      <a:prstDash val="solid"/>
                    </a:lnT>
                    <a:lnB w="12700">
                      <a:solidFill>
                        <a:srgbClr val="42B99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242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b="1" dirty="0">
                          <a:latin typeface="Tahoma"/>
                          <a:cs typeface="Tahoma"/>
                        </a:rPr>
                        <a:t>2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1910" marB="0">
                    <a:lnT w="12700">
                      <a:solidFill>
                        <a:srgbClr val="42B996"/>
                      </a:solidFill>
                      <a:prstDash val="solid"/>
                    </a:lnT>
                    <a:lnB w="12700">
                      <a:solidFill>
                        <a:srgbClr val="42B99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592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b="1" dirty="0">
                          <a:latin typeface="Tahoma"/>
                          <a:cs typeface="Tahoma"/>
                        </a:rPr>
                        <a:t>3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1910" marB="0">
                    <a:lnT w="12700">
                      <a:solidFill>
                        <a:srgbClr val="42B996"/>
                      </a:solidFill>
                      <a:prstDash val="solid"/>
                    </a:lnT>
                    <a:lnB w="12700">
                      <a:solidFill>
                        <a:srgbClr val="42B99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529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b="1" dirty="0">
                          <a:latin typeface="Tahoma"/>
                          <a:cs typeface="Tahoma"/>
                        </a:rPr>
                        <a:t>4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1910" marB="0">
                    <a:lnT w="12700">
                      <a:solidFill>
                        <a:srgbClr val="42B996"/>
                      </a:solidFill>
                      <a:prstDash val="solid"/>
                    </a:lnT>
                    <a:lnB w="12700">
                      <a:solidFill>
                        <a:srgbClr val="42B99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592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b="1" dirty="0">
                          <a:latin typeface="Tahoma"/>
                          <a:cs typeface="Tahoma"/>
                        </a:rPr>
                        <a:t>5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1910" marB="0">
                    <a:lnT w="12700">
                      <a:solidFill>
                        <a:srgbClr val="42B996"/>
                      </a:solidFill>
                      <a:prstDash val="solid"/>
                    </a:lnT>
                    <a:lnB w="12700">
                      <a:solidFill>
                        <a:srgbClr val="42B99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7815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b="1" spc="-305" dirty="0">
                          <a:latin typeface="Tahoma"/>
                          <a:cs typeface="Tahoma"/>
                        </a:rPr>
                        <a:t>6+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1910" marB="0">
                    <a:lnT w="12700">
                      <a:solidFill>
                        <a:srgbClr val="42B996"/>
                      </a:solidFill>
                      <a:prstDash val="solid"/>
                    </a:lnT>
                    <a:lnB w="12700">
                      <a:solidFill>
                        <a:srgbClr val="42B99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b="1" spc="-40" dirty="0">
                          <a:latin typeface="Verdana"/>
                          <a:cs typeface="Verdana"/>
                        </a:rPr>
                        <a:t>No.</a:t>
                      </a:r>
                      <a:r>
                        <a:rPr sz="1800" b="1" spc="-114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b="1" dirty="0">
                          <a:latin typeface="Verdana"/>
                          <a:cs typeface="Verdana"/>
                        </a:rPr>
                        <a:t>of</a:t>
                      </a:r>
                      <a:r>
                        <a:rPr sz="1800" b="1" spc="-1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b="1" spc="-35" dirty="0">
                          <a:latin typeface="Verdana"/>
                          <a:cs typeface="Verdana"/>
                        </a:rPr>
                        <a:t>days</a:t>
                      </a:r>
                      <a:r>
                        <a:rPr sz="1800" b="1" spc="-10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b="1" spc="-25" dirty="0">
                          <a:latin typeface="Verdana"/>
                          <a:cs typeface="Verdana"/>
                        </a:rPr>
                        <a:t>(f)</a:t>
                      </a:r>
                      <a:endParaRPr sz="1800" b="1" dirty="0">
                        <a:latin typeface="Verdana"/>
                        <a:cs typeface="Verdana"/>
                      </a:endParaRPr>
                    </a:p>
                  </a:txBody>
                  <a:tcPr marL="0" marR="0" marT="41275" marB="0">
                    <a:lnT w="12700">
                      <a:solidFill>
                        <a:srgbClr val="42B996"/>
                      </a:solidFill>
                      <a:prstDash val="solid"/>
                    </a:lnT>
                    <a:lnB w="12700">
                      <a:solidFill>
                        <a:srgbClr val="42B996"/>
                      </a:solidFill>
                      <a:prstDash val="solid"/>
                    </a:lnB>
                    <a:solidFill>
                      <a:srgbClr val="42B996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25" dirty="0">
                          <a:latin typeface="Verdana"/>
                          <a:cs typeface="Verdana"/>
                        </a:rPr>
                        <a:t>153</a:t>
                      </a:r>
                      <a:endParaRPr sz="1800" dirty="0">
                        <a:latin typeface="Verdana"/>
                        <a:cs typeface="Verdana"/>
                      </a:endParaRPr>
                    </a:p>
                  </a:txBody>
                  <a:tcPr marL="0" marR="0" marT="41275" marB="0">
                    <a:lnT w="12700">
                      <a:solidFill>
                        <a:srgbClr val="42B996"/>
                      </a:solidFill>
                      <a:prstDash val="solid"/>
                    </a:lnT>
                    <a:lnB w="12700">
                      <a:solidFill>
                        <a:srgbClr val="42B996"/>
                      </a:solidFill>
                      <a:prstDash val="solid"/>
                    </a:lnB>
                    <a:solidFill>
                      <a:srgbClr val="42B996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5242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25" dirty="0">
                          <a:latin typeface="Verdana"/>
                          <a:cs typeface="Verdana"/>
                        </a:rPr>
                        <a:t>169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275" marB="0">
                    <a:lnT w="12700">
                      <a:solidFill>
                        <a:srgbClr val="42B996"/>
                      </a:solidFill>
                      <a:prstDash val="solid"/>
                    </a:lnT>
                    <a:lnB w="12700">
                      <a:solidFill>
                        <a:srgbClr val="42B996"/>
                      </a:solidFill>
                      <a:prstDash val="solid"/>
                    </a:lnB>
                    <a:solidFill>
                      <a:srgbClr val="42B996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5242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25" dirty="0">
                          <a:latin typeface="Verdana"/>
                          <a:cs typeface="Verdana"/>
                        </a:rPr>
                        <a:t>72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275" marB="0">
                    <a:lnT w="12700">
                      <a:solidFill>
                        <a:srgbClr val="42B996"/>
                      </a:solidFill>
                      <a:prstDash val="solid"/>
                    </a:lnT>
                    <a:lnB w="12700">
                      <a:solidFill>
                        <a:srgbClr val="42B996"/>
                      </a:solidFill>
                      <a:prstDash val="solid"/>
                    </a:lnB>
                    <a:solidFill>
                      <a:srgbClr val="42B996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41592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25" dirty="0">
                          <a:latin typeface="Verdana"/>
                          <a:cs typeface="Verdana"/>
                        </a:rPr>
                        <a:t>31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275" marB="0">
                    <a:lnT w="12700">
                      <a:solidFill>
                        <a:srgbClr val="42B996"/>
                      </a:solidFill>
                      <a:prstDash val="solid"/>
                    </a:lnT>
                    <a:lnB w="12700">
                      <a:solidFill>
                        <a:srgbClr val="42B996"/>
                      </a:solidFill>
                      <a:prstDash val="solid"/>
                    </a:lnB>
                    <a:solidFill>
                      <a:srgbClr val="42B996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41529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25" dirty="0">
                          <a:latin typeface="Verdana"/>
                          <a:cs typeface="Verdana"/>
                        </a:rPr>
                        <a:t>12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275" marB="0">
                    <a:lnT w="12700">
                      <a:solidFill>
                        <a:srgbClr val="42B996"/>
                      </a:solidFill>
                      <a:prstDash val="solid"/>
                    </a:lnT>
                    <a:lnB w="12700">
                      <a:solidFill>
                        <a:srgbClr val="42B996"/>
                      </a:solidFill>
                      <a:prstDash val="solid"/>
                    </a:lnB>
                    <a:solidFill>
                      <a:srgbClr val="42B996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41592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6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275" marB="0">
                    <a:lnT w="12700">
                      <a:solidFill>
                        <a:srgbClr val="42B996"/>
                      </a:solidFill>
                      <a:prstDash val="solid"/>
                    </a:lnT>
                    <a:lnB w="12700">
                      <a:solidFill>
                        <a:srgbClr val="42B996"/>
                      </a:solidFill>
                      <a:prstDash val="solid"/>
                    </a:lnB>
                    <a:solidFill>
                      <a:srgbClr val="42B996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47815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2</a:t>
                      </a:r>
                    </a:p>
                  </a:txBody>
                  <a:tcPr marL="0" marR="0" marT="41275" marB="0">
                    <a:lnT w="12700">
                      <a:solidFill>
                        <a:srgbClr val="42B996"/>
                      </a:solidFill>
                      <a:prstDash val="solid"/>
                    </a:lnT>
                    <a:lnB w="12700">
                      <a:solidFill>
                        <a:srgbClr val="42B996"/>
                      </a:solidFill>
                      <a:prstDash val="solid"/>
                    </a:lnB>
                    <a:solidFill>
                      <a:srgbClr val="42B996">
                        <a:alpha val="1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FC6F48-C5B5-38F1-791F-C00C67505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ECED9-65A3-468D-8AB9-72105F83F18A}" type="datetime1">
              <a:rPr lang="en-US" smtClean="0"/>
              <a:t>7/22/2024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B3C083-8F20-DA81-2DFE-795E26AC40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6656" y="457200"/>
                <a:ext cx="10753725" cy="5943600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b="1" dirty="0"/>
                  <a:t>Solution:</a:t>
                </a:r>
              </a:p>
              <a:p>
                <a:pPr marL="0" indent="0">
                  <a:buNone/>
                </a:pPr>
                <a:r>
                  <a:rPr lang="en-US" dirty="0"/>
                  <a:t>Here, X =  Number of patients visiting the clinic</a:t>
                </a:r>
              </a:p>
              <a:p>
                <a:pPr marL="0" indent="0">
                  <a:buNone/>
                </a:pPr>
                <a:r>
                  <a:rPr lang="en-US" dirty="0"/>
                  <a:t>The frequency distribution of arrival is given below: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 distribution to be fitted is Poisson which has following probability mass function.</a:t>
                </a:r>
              </a:p>
              <a:p>
                <a:pPr marL="0" indent="0">
                  <a:buNone/>
                </a:pPr>
                <a:r>
                  <a:rPr lang="en-US" dirty="0"/>
                  <a:t>	P(X = x)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sup>
                        </m:sSup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!</m:t>
                        </m:r>
                      </m:den>
                    </m:f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 P.D. has only one parameter i.e. λ which has to be estimated from sample data.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:r>
                  <a:rPr lang="en-US" sz="24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 Mean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sz="2400" b="0" i="1" smtClean="0">
                        <a:effectLst/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sz="2400" b="0" i="1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n-US" sz="2400" b="0" i="1" smtClean="0">
                                <a:effectLst/>
                                <a:latin typeface="Cambria Math" panose="02040503050406030204" pitchFamily="18" charset="0"/>
                              </a:rPr>
                              <m:t>𝑓𝑥</m:t>
                            </m:r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sz="2400" b="0" i="1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n-US" sz="2400" b="0" i="1" smtClean="0">
                                <a:effectLst/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nary>
                      </m:den>
                    </m:f>
                  </m:oMath>
                </a14:m>
                <a:r>
                  <a:rPr lang="en-US" sz="24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</a:rPr>
                          <m:t>496</m:t>
                        </m:r>
                      </m:num>
                      <m:den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</a:rPr>
                          <m:t>445</m:t>
                        </m:r>
                      </m:den>
                    </m:f>
                  </m:oMath>
                </a14:m>
                <a:r>
                  <a:rPr lang="en-US" sz="24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 = </a:t>
                </a:r>
                <a:r>
                  <a:rPr lang="en-US" dirty="0">
                    <a:latin typeface="Calibri" panose="020F0502020204030204" pitchFamily="34" charset="0"/>
                    <a:ea typeface="Times New Roman" panose="02020603050405020304" pitchFamily="18" charset="0"/>
                  </a:rPr>
                  <a:t>1.1146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Calibri" panose="020F0502020204030204" pitchFamily="34" charset="0"/>
                  </a:rPr>
                  <a:t>The estimated average no. of arrival per day is,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Calibri" panose="020F0502020204030204" pitchFamily="34" charset="0"/>
                  </a:rPr>
                  <a:t>	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</m:acc>
                  </m:oMath>
                </a14:m>
                <a:r>
                  <a:rPr lang="en-US" dirty="0"/>
                  <a:t> =1.1146</a:t>
                </a:r>
              </a:p>
              <a:p>
                <a:pPr marL="0" indent="0">
                  <a:buNone/>
                </a:pPr>
                <a:r>
                  <a:rPr lang="en-US" dirty="0"/>
                  <a:t>Hence,</a:t>
                </a:r>
              </a:p>
              <a:p>
                <a:pPr marL="0" indent="0">
                  <a:buNone/>
                </a:pPr>
                <a:r>
                  <a:rPr lang="en-US" dirty="0"/>
                  <a:t>	 P(X = x)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2.7183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−1.1146</m:t>
                            </m:r>
                          </m:sup>
                        </m:sSup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∗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1.1146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!</m:t>
                        </m:r>
                      </m:den>
                    </m:f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B3C083-8F20-DA81-2DFE-795E26AC40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6656" y="457200"/>
                <a:ext cx="10753725" cy="5943600"/>
              </a:xfrm>
              <a:blipFill>
                <a:blip r:embed="rId2"/>
                <a:stretch>
                  <a:fillRect l="-737" t="-23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9264AA3-D33E-7CC3-4166-29FE9AB1E6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0464613"/>
              </p:ext>
            </p:extLst>
          </p:nvPr>
        </p:nvGraphicFramePr>
        <p:xfrm>
          <a:off x="838200" y="1524000"/>
          <a:ext cx="7315200" cy="111252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395287362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101102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14525727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17697646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63012822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52763987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78885043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02388416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2917610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8236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0002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fX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3065329"/>
                  </a:ext>
                </a:extLst>
              </a:tr>
            </a:tbl>
          </a:graphicData>
        </a:graphic>
      </p:graphicFrame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071C04-D6C4-E420-0D1B-54E22D94E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F0B10-9B27-40DC-B7B7-A8660793326A}" type="datetime1">
              <a:rPr lang="en-US" smtClean="0"/>
              <a:t>7/22/2024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3CEDD-CF33-C2EC-DBB2-E3FB7F689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35"/>
              <a:t>Copyright:</a:t>
            </a:r>
            <a:r>
              <a:rPr lang="en-US" spc="-15"/>
              <a:t> </a:t>
            </a:r>
            <a:r>
              <a:rPr lang="en-US" spc="-55"/>
              <a:t>Santosh</a:t>
            </a:r>
            <a:r>
              <a:rPr lang="en-US" spc="-35"/>
              <a:t> </a:t>
            </a:r>
            <a:r>
              <a:rPr lang="en-US" spc="-10"/>
              <a:t>Chhatkuli</a:t>
            </a:r>
            <a:endParaRPr lang="en-US" spc="-10" dirty="0"/>
          </a:p>
        </p:txBody>
      </p:sp>
    </p:spTree>
    <p:extLst>
      <p:ext uri="{BB962C8B-B14F-4D97-AF65-F5344CB8AC3E}">
        <p14:creationId xmlns:p14="http://schemas.microsoft.com/office/powerpoint/2010/main" val="10464680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878B78E-ABE6-CA5E-FEFA-550D214446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8474565"/>
              </p:ext>
            </p:extLst>
          </p:nvPr>
        </p:nvGraphicFramePr>
        <p:xfrm>
          <a:off x="990600" y="342900"/>
          <a:ext cx="7924800" cy="6047752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148804">
                  <a:extLst>
                    <a:ext uri="{9D8B030D-6E8A-4147-A177-3AD203B41FA5}">
                      <a16:colId xmlns:a16="http://schemas.microsoft.com/office/drawing/2014/main" val="2610179075"/>
                    </a:ext>
                  </a:extLst>
                </a:gridCol>
                <a:gridCol w="2621246">
                  <a:extLst>
                    <a:ext uri="{9D8B030D-6E8A-4147-A177-3AD203B41FA5}">
                      <a16:colId xmlns:a16="http://schemas.microsoft.com/office/drawing/2014/main" val="35665632"/>
                    </a:ext>
                  </a:extLst>
                </a:gridCol>
                <a:gridCol w="1769616">
                  <a:extLst>
                    <a:ext uri="{9D8B030D-6E8A-4147-A177-3AD203B41FA5}">
                      <a16:colId xmlns:a16="http://schemas.microsoft.com/office/drawing/2014/main" val="321741359"/>
                    </a:ext>
                  </a:extLst>
                </a:gridCol>
                <a:gridCol w="2385134">
                  <a:extLst>
                    <a:ext uri="{9D8B030D-6E8A-4147-A177-3AD203B41FA5}">
                      <a16:colId xmlns:a16="http://schemas.microsoft.com/office/drawing/2014/main" val="4058735270"/>
                    </a:ext>
                  </a:extLst>
                </a:gridCol>
              </a:tblGrid>
              <a:tr h="878828">
                <a:tc>
                  <a:txBody>
                    <a:bodyPr/>
                    <a:lstStyle/>
                    <a:p>
                      <a:r>
                        <a:rPr lang="en-US" sz="28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Observed Frequency (</a:t>
                      </a:r>
                      <a:r>
                        <a:rPr lang="en-US" sz="2800" dirty="0" err="1"/>
                        <a:t>fo</a:t>
                      </a:r>
                      <a:r>
                        <a:rPr lang="en-US" sz="28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P(X=x)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Estimated Frequency (</a:t>
                      </a:r>
                      <a:r>
                        <a:rPr lang="en-US" sz="2800" dirty="0" err="1"/>
                        <a:t>fe</a:t>
                      </a:r>
                      <a:r>
                        <a:rPr lang="en-US" sz="28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756861"/>
                  </a:ext>
                </a:extLst>
              </a:tr>
              <a:tr h="63785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0.3280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145.9807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986260476"/>
                  </a:ext>
                </a:extLst>
              </a:tr>
              <a:tr h="63785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0.3656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162.7101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85433530"/>
                  </a:ext>
                </a:extLst>
              </a:tr>
              <a:tr h="63785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0.2038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90.6783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556953668"/>
                  </a:ext>
                </a:extLst>
              </a:tr>
              <a:tr h="63785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0.0757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33.6900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98615941"/>
                  </a:ext>
                </a:extLst>
              </a:tr>
              <a:tr h="63785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0.0211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9.3877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133464196"/>
                  </a:ext>
                </a:extLst>
              </a:tr>
              <a:tr h="63785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0.0047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2.0927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599796160"/>
                  </a:ext>
                </a:extLst>
              </a:tr>
              <a:tr h="63785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0.0010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0.4605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552107245"/>
                  </a:ext>
                </a:extLst>
              </a:tr>
              <a:tr h="63785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445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445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015589560"/>
                  </a:ext>
                </a:extLst>
              </a:tr>
            </a:tbl>
          </a:graphicData>
        </a:graphic>
      </p:graphicFrame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A4C029-21F1-1FC5-4F86-C5114C2EF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3043C-7060-4FFF-B792-74DFF7377876}" type="datetime1">
              <a:rPr lang="en-US" smtClean="0"/>
              <a:t>7/22/2024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CEA65B-860F-6644-DDCA-FC5BF497A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35"/>
              <a:t>Copyright:</a:t>
            </a:r>
            <a:r>
              <a:rPr lang="en-US" spc="-15"/>
              <a:t> </a:t>
            </a:r>
            <a:r>
              <a:rPr lang="en-US" spc="-55"/>
              <a:t>Santosh</a:t>
            </a:r>
            <a:r>
              <a:rPr lang="en-US" spc="-35"/>
              <a:t> </a:t>
            </a:r>
            <a:r>
              <a:rPr lang="en-US" spc="-10"/>
              <a:t>Chhatkuli</a:t>
            </a:r>
            <a:endParaRPr lang="en-US" spc="-10" dirty="0"/>
          </a:p>
        </p:txBody>
      </p:sp>
    </p:spTree>
    <p:extLst>
      <p:ext uri="{BB962C8B-B14F-4D97-AF65-F5344CB8AC3E}">
        <p14:creationId xmlns:p14="http://schemas.microsoft.com/office/powerpoint/2010/main" val="13735823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8697" y="638936"/>
            <a:ext cx="3815715" cy="802640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800" b="1" spc="-100" dirty="0">
                <a:latin typeface="Tahoma"/>
                <a:cs typeface="Tahoma"/>
              </a:rPr>
              <a:t>Using</a:t>
            </a:r>
            <a:r>
              <a:rPr sz="1800" b="1" spc="-30" dirty="0">
                <a:latin typeface="Tahoma"/>
                <a:cs typeface="Tahoma"/>
              </a:rPr>
              <a:t> </a:t>
            </a:r>
            <a:r>
              <a:rPr sz="1800" b="1" spc="-25" dirty="0">
                <a:latin typeface="Tahoma"/>
                <a:cs typeface="Tahoma"/>
              </a:rPr>
              <a:t>Recurrence</a:t>
            </a:r>
            <a:r>
              <a:rPr sz="1800" b="1" spc="-40" dirty="0">
                <a:latin typeface="Tahoma"/>
                <a:cs typeface="Tahoma"/>
              </a:rPr>
              <a:t> </a:t>
            </a:r>
            <a:r>
              <a:rPr sz="1800" b="1" spc="-10" dirty="0">
                <a:latin typeface="Tahoma"/>
                <a:cs typeface="Tahoma"/>
              </a:rPr>
              <a:t>Relation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800" spc="-114" dirty="0">
                <a:latin typeface="Verdana"/>
                <a:cs typeface="Verdana"/>
              </a:rPr>
              <a:t>The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recurrence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spc="-50" dirty="0">
                <a:latin typeface="Verdana"/>
                <a:cs typeface="Verdana"/>
              </a:rPr>
              <a:t>relation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spc="-190" dirty="0">
                <a:latin typeface="Verdana"/>
                <a:cs typeface="Verdana"/>
              </a:rPr>
              <a:t>is</a:t>
            </a:r>
            <a:r>
              <a:rPr sz="1800" spc="-14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given</a:t>
            </a:r>
            <a:r>
              <a:rPr sz="1800" spc="-145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by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086229" y="1702816"/>
            <a:ext cx="902335" cy="282575"/>
          </a:xfrm>
          <a:custGeom>
            <a:avLst/>
            <a:gdLst/>
            <a:ahLst/>
            <a:cxnLst/>
            <a:rect l="l" t="t" r="r" b="b"/>
            <a:pathLst>
              <a:path w="902335" h="282575">
                <a:moveTo>
                  <a:pt x="811910" y="0"/>
                </a:moveTo>
                <a:lnTo>
                  <a:pt x="807973" y="11557"/>
                </a:lnTo>
                <a:lnTo>
                  <a:pt x="824281" y="18631"/>
                </a:lnTo>
                <a:lnTo>
                  <a:pt x="838326" y="28432"/>
                </a:lnTo>
                <a:lnTo>
                  <a:pt x="866870" y="73925"/>
                </a:lnTo>
                <a:lnTo>
                  <a:pt x="875252" y="115732"/>
                </a:lnTo>
                <a:lnTo>
                  <a:pt x="876300" y="139826"/>
                </a:lnTo>
                <a:lnTo>
                  <a:pt x="875252" y="164707"/>
                </a:lnTo>
                <a:lnTo>
                  <a:pt x="866870" y="207656"/>
                </a:lnTo>
                <a:lnTo>
                  <a:pt x="838374" y="253857"/>
                </a:lnTo>
                <a:lnTo>
                  <a:pt x="808354" y="270891"/>
                </a:lnTo>
                <a:lnTo>
                  <a:pt x="811910" y="282321"/>
                </a:lnTo>
                <a:lnTo>
                  <a:pt x="850471" y="264302"/>
                </a:lnTo>
                <a:lnTo>
                  <a:pt x="878839" y="233045"/>
                </a:lnTo>
                <a:lnTo>
                  <a:pt x="896207" y="191135"/>
                </a:lnTo>
                <a:lnTo>
                  <a:pt x="901953" y="141224"/>
                </a:lnTo>
                <a:lnTo>
                  <a:pt x="900501" y="115359"/>
                </a:lnTo>
                <a:lnTo>
                  <a:pt x="888880" y="69536"/>
                </a:lnTo>
                <a:lnTo>
                  <a:pt x="865828" y="32146"/>
                </a:lnTo>
                <a:lnTo>
                  <a:pt x="832439" y="7381"/>
                </a:lnTo>
                <a:lnTo>
                  <a:pt x="811910" y="0"/>
                </a:lnTo>
                <a:close/>
              </a:path>
              <a:path w="902335" h="282575">
                <a:moveTo>
                  <a:pt x="90043" y="0"/>
                </a:moveTo>
                <a:lnTo>
                  <a:pt x="51657" y="18097"/>
                </a:lnTo>
                <a:lnTo>
                  <a:pt x="23368" y="49530"/>
                </a:lnTo>
                <a:lnTo>
                  <a:pt x="5826" y="91471"/>
                </a:lnTo>
                <a:lnTo>
                  <a:pt x="0" y="141224"/>
                </a:lnTo>
                <a:lnTo>
                  <a:pt x="1452" y="167179"/>
                </a:lnTo>
                <a:lnTo>
                  <a:pt x="13073" y="213090"/>
                </a:lnTo>
                <a:lnTo>
                  <a:pt x="36125" y="250334"/>
                </a:lnTo>
                <a:lnTo>
                  <a:pt x="69514" y="274960"/>
                </a:lnTo>
                <a:lnTo>
                  <a:pt x="90043" y="282321"/>
                </a:lnTo>
                <a:lnTo>
                  <a:pt x="93598" y="270891"/>
                </a:lnTo>
                <a:lnTo>
                  <a:pt x="77549" y="263773"/>
                </a:lnTo>
                <a:lnTo>
                  <a:pt x="63690" y="253857"/>
                </a:lnTo>
                <a:lnTo>
                  <a:pt x="35210" y="207656"/>
                </a:lnTo>
                <a:lnTo>
                  <a:pt x="26828" y="164707"/>
                </a:lnTo>
                <a:lnTo>
                  <a:pt x="25781" y="139826"/>
                </a:lnTo>
                <a:lnTo>
                  <a:pt x="26828" y="115732"/>
                </a:lnTo>
                <a:lnTo>
                  <a:pt x="35210" y="73925"/>
                </a:lnTo>
                <a:lnTo>
                  <a:pt x="63801" y="28432"/>
                </a:lnTo>
                <a:lnTo>
                  <a:pt x="94106" y="11557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873376" y="1613153"/>
            <a:ext cx="14662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12420" algn="l"/>
                <a:tab pos="1225550" algn="l"/>
              </a:tabLst>
            </a:pPr>
            <a:r>
              <a:rPr sz="2400" spc="-50" dirty="0">
                <a:latin typeface="Cambria Math"/>
                <a:cs typeface="Cambria Math"/>
              </a:rPr>
              <a:t>𝑝</a:t>
            </a:r>
            <a:r>
              <a:rPr sz="2400" dirty="0">
                <a:latin typeface="Cambria Math"/>
                <a:cs typeface="Cambria Math"/>
              </a:rPr>
              <a:t>	𝑥</a:t>
            </a:r>
            <a:r>
              <a:rPr sz="2400" spc="7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+</a:t>
            </a:r>
            <a:r>
              <a:rPr sz="2400" spc="-1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1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=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476752" y="1834133"/>
            <a:ext cx="428625" cy="20320"/>
          </a:xfrm>
          <a:custGeom>
            <a:avLst/>
            <a:gdLst/>
            <a:ahLst/>
            <a:cxnLst/>
            <a:rect l="l" t="t" r="r" b="b"/>
            <a:pathLst>
              <a:path w="428625" h="20319">
                <a:moveTo>
                  <a:pt x="428244" y="0"/>
                </a:moveTo>
                <a:lnTo>
                  <a:pt x="0" y="0"/>
                </a:lnTo>
                <a:lnTo>
                  <a:pt x="0" y="19812"/>
                </a:lnTo>
                <a:lnTo>
                  <a:pt x="428244" y="19812"/>
                </a:lnTo>
                <a:lnTo>
                  <a:pt x="4282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610736" y="1517142"/>
            <a:ext cx="15494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55" dirty="0">
                <a:latin typeface="Cambria Math"/>
                <a:cs typeface="Cambria Math"/>
              </a:rPr>
              <a:t>𝜆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64433" y="1849374"/>
            <a:ext cx="454659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25" dirty="0">
                <a:latin typeface="Cambria Math"/>
                <a:cs typeface="Cambria Math"/>
              </a:rPr>
              <a:t>𝑥+1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157345" y="1702816"/>
            <a:ext cx="370205" cy="282575"/>
          </a:xfrm>
          <a:custGeom>
            <a:avLst/>
            <a:gdLst/>
            <a:ahLst/>
            <a:cxnLst/>
            <a:rect l="l" t="t" r="r" b="b"/>
            <a:pathLst>
              <a:path w="370204" h="282575">
                <a:moveTo>
                  <a:pt x="280034" y="0"/>
                </a:moveTo>
                <a:lnTo>
                  <a:pt x="276097" y="11557"/>
                </a:lnTo>
                <a:lnTo>
                  <a:pt x="292405" y="18631"/>
                </a:lnTo>
                <a:lnTo>
                  <a:pt x="306450" y="28432"/>
                </a:lnTo>
                <a:lnTo>
                  <a:pt x="334994" y="73925"/>
                </a:lnTo>
                <a:lnTo>
                  <a:pt x="343376" y="115732"/>
                </a:lnTo>
                <a:lnTo>
                  <a:pt x="344424" y="139826"/>
                </a:lnTo>
                <a:lnTo>
                  <a:pt x="343376" y="164707"/>
                </a:lnTo>
                <a:lnTo>
                  <a:pt x="334994" y="207656"/>
                </a:lnTo>
                <a:lnTo>
                  <a:pt x="306498" y="253857"/>
                </a:lnTo>
                <a:lnTo>
                  <a:pt x="276478" y="270891"/>
                </a:lnTo>
                <a:lnTo>
                  <a:pt x="280034" y="282321"/>
                </a:lnTo>
                <a:lnTo>
                  <a:pt x="318595" y="264302"/>
                </a:lnTo>
                <a:lnTo>
                  <a:pt x="346963" y="233045"/>
                </a:lnTo>
                <a:lnTo>
                  <a:pt x="364331" y="191135"/>
                </a:lnTo>
                <a:lnTo>
                  <a:pt x="370077" y="141224"/>
                </a:lnTo>
                <a:lnTo>
                  <a:pt x="368625" y="115359"/>
                </a:lnTo>
                <a:lnTo>
                  <a:pt x="357004" y="69536"/>
                </a:lnTo>
                <a:lnTo>
                  <a:pt x="333952" y="32146"/>
                </a:lnTo>
                <a:lnTo>
                  <a:pt x="300563" y="7381"/>
                </a:lnTo>
                <a:lnTo>
                  <a:pt x="280034" y="0"/>
                </a:lnTo>
                <a:close/>
              </a:path>
              <a:path w="370204" h="282575">
                <a:moveTo>
                  <a:pt x="90042" y="0"/>
                </a:moveTo>
                <a:lnTo>
                  <a:pt x="51657" y="18097"/>
                </a:lnTo>
                <a:lnTo>
                  <a:pt x="23367" y="49530"/>
                </a:lnTo>
                <a:lnTo>
                  <a:pt x="5826" y="91471"/>
                </a:lnTo>
                <a:lnTo>
                  <a:pt x="0" y="141224"/>
                </a:lnTo>
                <a:lnTo>
                  <a:pt x="1452" y="167179"/>
                </a:lnTo>
                <a:lnTo>
                  <a:pt x="13073" y="213090"/>
                </a:lnTo>
                <a:lnTo>
                  <a:pt x="36125" y="250334"/>
                </a:lnTo>
                <a:lnTo>
                  <a:pt x="69514" y="274960"/>
                </a:lnTo>
                <a:lnTo>
                  <a:pt x="90042" y="282321"/>
                </a:lnTo>
                <a:lnTo>
                  <a:pt x="93599" y="270891"/>
                </a:lnTo>
                <a:lnTo>
                  <a:pt x="77549" y="263773"/>
                </a:lnTo>
                <a:lnTo>
                  <a:pt x="63690" y="253857"/>
                </a:lnTo>
                <a:lnTo>
                  <a:pt x="35210" y="207656"/>
                </a:lnTo>
                <a:lnTo>
                  <a:pt x="26828" y="164707"/>
                </a:lnTo>
                <a:lnTo>
                  <a:pt x="25780" y="139826"/>
                </a:lnTo>
                <a:lnTo>
                  <a:pt x="26828" y="115732"/>
                </a:lnTo>
                <a:lnTo>
                  <a:pt x="35210" y="73925"/>
                </a:lnTo>
                <a:lnTo>
                  <a:pt x="63801" y="28432"/>
                </a:lnTo>
                <a:lnTo>
                  <a:pt x="94106" y="11557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944492" y="1613153"/>
            <a:ext cx="4883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13055" algn="l"/>
              </a:tabLst>
            </a:pPr>
            <a:r>
              <a:rPr sz="2400" spc="-50" dirty="0">
                <a:latin typeface="Cambria Math"/>
                <a:cs typeface="Cambria Math"/>
              </a:rPr>
              <a:t>𝑝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𝑥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751327" y="2465070"/>
            <a:ext cx="2165985" cy="17145"/>
          </a:xfrm>
          <a:custGeom>
            <a:avLst/>
            <a:gdLst/>
            <a:ahLst/>
            <a:cxnLst/>
            <a:rect l="l" t="t" r="r" b="b"/>
            <a:pathLst>
              <a:path w="2165985" h="17144">
                <a:moveTo>
                  <a:pt x="2165604" y="0"/>
                </a:moveTo>
                <a:lnTo>
                  <a:pt x="0" y="0"/>
                </a:lnTo>
                <a:lnTo>
                  <a:pt x="0" y="16763"/>
                </a:lnTo>
                <a:lnTo>
                  <a:pt x="2165604" y="16763"/>
                </a:lnTo>
                <a:lnTo>
                  <a:pt x="21656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835276" y="2129789"/>
            <a:ext cx="4201795" cy="59499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647825">
              <a:lnSpc>
                <a:spcPts val="590"/>
              </a:lnSpc>
              <a:spcBef>
                <a:spcPts val="365"/>
              </a:spcBef>
              <a:tabLst>
                <a:tab pos="2984500" algn="l"/>
              </a:tabLst>
            </a:pPr>
            <a:r>
              <a:rPr sz="1200" spc="-10" dirty="0">
                <a:latin typeface="Cambria Math"/>
                <a:cs typeface="Cambria Math"/>
              </a:rPr>
              <a:t>−1.1146</a:t>
            </a:r>
            <a:r>
              <a:rPr sz="1200" dirty="0">
                <a:latin typeface="Cambria Math"/>
                <a:cs typeface="Cambria Math"/>
              </a:rPr>
              <a:t>	</a:t>
            </a:r>
            <a:r>
              <a:rPr sz="1200" spc="-50" dirty="0">
                <a:latin typeface="Cambria Math"/>
                <a:cs typeface="Cambria Math"/>
              </a:rPr>
              <a:t>0</a:t>
            </a:r>
            <a:endParaRPr sz="1200">
              <a:latin typeface="Cambria Math"/>
              <a:cs typeface="Cambria Math"/>
            </a:endParaRPr>
          </a:p>
          <a:p>
            <a:pPr marL="50800">
              <a:lnSpc>
                <a:spcPts val="1550"/>
              </a:lnSpc>
              <a:tabLst>
                <a:tab pos="2252980" algn="l"/>
                <a:tab pos="3152140" algn="l"/>
              </a:tabLst>
            </a:pPr>
            <a:r>
              <a:rPr sz="3000" spc="165" baseline="-33333" dirty="0">
                <a:latin typeface="Verdana"/>
                <a:cs typeface="Verdana"/>
              </a:rPr>
              <a:t>p</a:t>
            </a:r>
            <a:r>
              <a:rPr sz="3000" spc="-232" baseline="-33333" dirty="0">
                <a:latin typeface="Verdana"/>
                <a:cs typeface="Verdana"/>
              </a:rPr>
              <a:t> </a:t>
            </a:r>
            <a:r>
              <a:rPr sz="3000" spc="-300" baseline="-33333" dirty="0">
                <a:latin typeface="Verdana"/>
                <a:cs typeface="Verdana"/>
              </a:rPr>
              <a:t>(0)</a:t>
            </a:r>
            <a:r>
              <a:rPr sz="3000" spc="-150" baseline="-33333" dirty="0">
                <a:latin typeface="Verdana"/>
                <a:cs typeface="Verdana"/>
              </a:rPr>
              <a:t> </a:t>
            </a:r>
            <a:r>
              <a:rPr sz="3000" spc="-644" baseline="-33333" dirty="0">
                <a:latin typeface="Verdana"/>
                <a:cs typeface="Verdana"/>
              </a:rPr>
              <a:t>=</a:t>
            </a:r>
            <a:r>
              <a:rPr sz="3000" spc="-209" baseline="-33333" dirty="0">
                <a:latin typeface="Verdana"/>
                <a:cs typeface="Verdana"/>
              </a:rPr>
              <a:t> </a:t>
            </a:r>
            <a:r>
              <a:rPr sz="1450" spc="-10" dirty="0">
                <a:latin typeface="Cambria Math"/>
                <a:cs typeface="Cambria Math"/>
              </a:rPr>
              <a:t>(2.7183)</a:t>
            </a:r>
            <a:r>
              <a:rPr sz="1450" dirty="0">
                <a:latin typeface="Cambria Math"/>
                <a:cs typeface="Cambria Math"/>
              </a:rPr>
              <a:t>	</a:t>
            </a:r>
            <a:r>
              <a:rPr sz="1450" spc="-10" dirty="0">
                <a:latin typeface="Cambria Math"/>
                <a:cs typeface="Cambria Math"/>
              </a:rPr>
              <a:t>(1.1146)</a:t>
            </a:r>
            <a:r>
              <a:rPr sz="1450" dirty="0">
                <a:latin typeface="Cambria Math"/>
                <a:cs typeface="Cambria Math"/>
              </a:rPr>
              <a:t>	</a:t>
            </a:r>
            <a:r>
              <a:rPr sz="3000" spc="-644" baseline="-33333" dirty="0">
                <a:latin typeface="Verdana"/>
                <a:cs typeface="Verdana"/>
              </a:rPr>
              <a:t>=</a:t>
            </a:r>
            <a:r>
              <a:rPr sz="3000" spc="-254" baseline="-33333" dirty="0">
                <a:latin typeface="Verdana"/>
                <a:cs typeface="Verdana"/>
              </a:rPr>
              <a:t> </a:t>
            </a:r>
            <a:r>
              <a:rPr sz="3000" spc="-165" baseline="-33333" dirty="0">
                <a:latin typeface="Verdana"/>
                <a:cs typeface="Verdana"/>
              </a:rPr>
              <a:t>0.3241</a:t>
            </a:r>
            <a:endParaRPr sz="3000" baseline="-33333">
              <a:latin typeface="Verdana"/>
              <a:cs typeface="Verdana"/>
            </a:endParaRPr>
          </a:p>
          <a:p>
            <a:pPr marR="193675" algn="ctr">
              <a:lnSpc>
                <a:spcPct val="100000"/>
              </a:lnSpc>
              <a:spcBef>
                <a:spcPts val="330"/>
              </a:spcBef>
            </a:pPr>
            <a:r>
              <a:rPr sz="1450" spc="-25" dirty="0">
                <a:latin typeface="Cambria Math"/>
                <a:cs typeface="Cambria Math"/>
              </a:rPr>
              <a:t>0!</a:t>
            </a:r>
            <a:endParaRPr sz="145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751327" y="3012185"/>
            <a:ext cx="577850" cy="17145"/>
          </a:xfrm>
          <a:custGeom>
            <a:avLst/>
            <a:gdLst/>
            <a:ahLst/>
            <a:cxnLst/>
            <a:rect l="l" t="t" r="r" b="b"/>
            <a:pathLst>
              <a:path w="577850" h="17144">
                <a:moveTo>
                  <a:pt x="577596" y="0"/>
                </a:moveTo>
                <a:lnTo>
                  <a:pt x="0" y="0"/>
                </a:lnTo>
                <a:lnTo>
                  <a:pt x="0" y="16763"/>
                </a:lnTo>
                <a:lnTo>
                  <a:pt x="577596" y="16763"/>
                </a:lnTo>
                <a:lnTo>
                  <a:pt x="5775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973704" y="3022549"/>
            <a:ext cx="133350" cy="2489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450" spc="45" dirty="0">
                <a:latin typeface="Cambria Math"/>
                <a:cs typeface="Cambria Math"/>
              </a:rPr>
              <a:t>1</a:t>
            </a:r>
            <a:endParaRPr sz="145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47976" y="2825953"/>
            <a:ext cx="362648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spc="110" dirty="0">
                <a:latin typeface="Verdana"/>
                <a:cs typeface="Verdana"/>
              </a:rPr>
              <a:t>p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spc="-200" dirty="0">
                <a:latin typeface="Verdana"/>
                <a:cs typeface="Verdana"/>
              </a:rPr>
              <a:t>(1)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spc="-430" dirty="0">
                <a:latin typeface="Verdana"/>
                <a:cs typeface="Verdana"/>
              </a:rPr>
              <a:t>=</a:t>
            </a:r>
            <a:r>
              <a:rPr sz="2000" spc="-114" dirty="0">
                <a:latin typeface="Verdana"/>
                <a:cs typeface="Verdana"/>
              </a:rPr>
              <a:t> </a:t>
            </a:r>
            <a:r>
              <a:rPr sz="2175" baseline="45977" dirty="0">
                <a:latin typeface="Cambria Math"/>
                <a:cs typeface="Cambria Math"/>
              </a:rPr>
              <a:t>1.1146</a:t>
            </a:r>
            <a:r>
              <a:rPr sz="2175" spc="382" baseline="45977" dirty="0">
                <a:latin typeface="Cambria Math"/>
                <a:cs typeface="Cambria Math"/>
              </a:rPr>
              <a:t> </a:t>
            </a:r>
            <a:r>
              <a:rPr sz="2000" spc="-229" dirty="0">
                <a:latin typeface="Verdana"/>
                <a:cs typeface="Verdana"/>
              </a:rPr>
              <a:t>x</a:t>
            </a:r>
            <a:r>
              <a:rPr sz="2000" spc="-114" dirty="0">
                <a:latin typeface="Verdana"/>
                <a:cs typeface="Verdana"/>
              </a:rPr>
              <a:t> </a:t>
            </a:r>
            <a:r>
              <a:rPr sz="2000" spc="-175" dirty="0">
                <a:latin typeface="Verdana"/>
                <a:cs typeface="Verdana"/>
              </a:rPr>
              <a:t>0.3241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spc="-430" dirty="0">
                <a:latin typeface="Verdana"/>
                <a:cs typeface="Verdana"/>
              </a:rPr>
              <a:t>=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spc="-100" dirty="0">
                <a:latin typeface="Verdana"/>
                <a:cs typeface="Verdana"/>
              </a:rPr>
              <a:t>0.3612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681223" y="3557778"/>
            <a:ext cx="577850" cy="17145"/>
          </a:xfrm>
          <a:custGeom>
            <a:avLst/>
            <a:gdLst/>
            <a:ahLst/>
            <a:cxnLst/>
            <a:rect l="l" t="t" r="r" b="b"/>
            <a:pathLst>
              <a:path w="577850" h="17145">
                <a:moveTo>
                  <a:pt x="577596" y="0"/>
                </a:moveTo>
                <a:lnTo>
                  <a:pt x="0" y="0"/>
                </a:lnTo>
                <a:lnTo>
                  <a:pt x="0" y="16763"/>
                </a:lnTo>
                <a:lnTo>
                  <a:pt x="577596" y="16763"/>
                </a:lnTo>
                <a:lnTo>
                  <a:pt x="5775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781680" y="3568700"/>
            <a:ext cx="377190" cy="2489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spc="-25" dirty="0">
                <a:latin typeface="Cambria Math"/>
                <a:cs typeface="Cambria Math"/>
              </a:rPr>
              <a:t>1+1</a:t>
            </a:r>
            <a:endParaRPr sz="145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Copyright:</a:t>
            </a:r>
            <a:r>
              <a:rPr spc="-15" dirty="0"/>
              <a:t> </a:t>
            </a:r>
            <a:r>
              <a:rPr spc="-55" dirty="0"/>
              <a:t>Santosh</a:t>
            </a:r>
            <a:r>
              <a:rPr spc="-35" dirty="0"/>
              <a:t> </a:t>
            </a:r>
            <a:r>
              <a:rPr spc="-10" dirty="0"/>
              <a:t>Chhatkuli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847976" y="3372103"/>
            <a:ext cx="35566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spc="-125" dirty="0">
                <a:latin typeface="Verdana"/>
                <a:cs typeface="Verdana"/>
              </a:rPr>
              <a:t>p(2)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spc="-430" dirty="0">
                <a:latin typeface="Verdana"/>
                <a:cs typeface="Verdana"/>
              </a:rPr>
              <a:t>=</a:t>
            </a:r>
            <a:r>
              <a:rPr sz="2000" spc="-110" dirty="0">
                <a:latin typeface="Verdana"/>
                <a:cs typeface="Verdana"/>
              </a:rPr>
              <a:t> </a:t>
            </a:r>
            <a:r>
              <a:rPr sz="2175" baseline="45977" dirty="0">
                <a:latin typeface="Cambria Math"/>
                <a:cs typeface="Cambria Math"/>
              </a:rPr>
              <a:t>1.1146</a:t>
            </a:r>
            <a:r>
              <a:rPr sz="2175" spc="390" baseline="45977" dirty="0">
                <a:latin typeface="Cambria Math"/>
                <a:cs typeface="Cambria Math"/>
              </a:rPr>
              <a:t> </a:t>
            </a:r>
            <a:r>
              <a:rPr sz="2000" spc="-229" dirty="0">
                <a:latin typeface="Verdana"/>
                <a:cs typeface="Verdana"/>
              </a:rPr>
              <a:t>x</a:t>
            </a:r>
            <a:r>
              <a:rPr sz="2000" spc="-105" dirty="0">
                <a:latin typeface="Verdana"/>
                <a:cs typeface="Verdana"/>
              </a:rPr>
              <a:t> </a:t>
            </a:r>
            <a:r>
              <a:rPr sz="2000" spc="-175" dirty="0">
                <a:latin typeface="Verdana"/>
                <a:cs typeface="Verdana"/>
              </a:rPr>
              <a:t>0.3612</a:t>
            </a:r>
            <a:r>
              <a:rPr sz="2000" spc="-110" dirty="0">
                <a:latin typeface="Verdana"/>
                <a:cs typeface="Verdana"/>
              </a:rPr>
              <a:t> </a:t>
            </a:r>
            <a:r>
              <a:rPr sz="2000" spc="-430" dirty="0">
                <a:latin typeface="Verdana"/>
                <a:cs typeface="Verdana"/>
              </a:rPr>
              <a:t>=</a:t>
            </a:r>
            <a:r>
              <a:rPr sz="2000" spc="-105" dirty="0">
                <a:latin typeface="Verdana"/>
                <a:cs typeface="Verdana"/>
              </a:rPr>
              <a:t> </a:t>
            </a:r>
            <a:r>
              <a:rPr sz="2000" spc="-100" dirty="0">
                <a:latin typeface="Verdana"/>
                <a:cs typeface="Verdana"/>
              </a:rPr>
              <a:t>0.2013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873376" y="3750665"/>
            <a:ext cx="751205" cy="1702435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2000" spc="-125" dirty="0">
                <a:latin typeface="Verdana"/>
                <a:cs typeface="Verdana"/>
              </a:rPr>
              <a:t>p(3)</a:t>
            </a:r>
            <a:r>
              <a:rPr sz="2000" spc="-90" dirty="0">
                <a:latin typeface="Verdana"/>
                <a:cs typeface="Verdana"/>
              </a:rPr>
              <a:t> </a:t>
            </a:r>
            <a:r>
              <a:rPr sz="2000" spc="-490" dirty="0">
                <a:latin typeface="Verdana"/>
                <a:cs typeface="Verdana"/>
              </a:rPr>
              <a:t>=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2000" spc="-125" dirty="0">
                <a:latin typeface="Verdana"/>
                <a:cs typeface="Verdana"/>
              </a:rPr>
              <a:t>p(4)</a:t>
            </a:r>
            <a:r>
              <a:rPr sz="2000" spc="-90" dirty="0">
                <a:latin typeface="Verdana"/>
                <a:cs typeface="Verdana"/>
              </a:rPr>
              <a:t> </a:t>
            </a:r>
            <a:r>
              <a:rPr sz="2000" spc="-490" dirty="0">
                <a:latin typeface="Verdana"/>
                <a:cs typeface="Verdana"/>
              </a:rPr>
              <a:t>=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2000" spc="-125" dirty="0">
                <a:latin typeface="Verdana"/>
                <a:cs typeface="Verdana"/>
              </a:rPr>
              <a:t>p(5)</a:t>
            </a:r>
            <a:r>
              <a:rPr sz="2000" spc="-90" dirty="0">
                <a:latin typeface="Verdana"/>
                <a:cs typeface="Verdana"/>
              </a:rPr>
              <a:t> </a:t>
            </a:r>
            <a:r>
              <a:rPr sz="2000" spc="-490" dirty="0">
                <a:latin typeface="Verdana"/>
                <a:cs typeface="Verdana"/>
              </a:rPr>
              <a:t>=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2000" spc="-125" dirty="0">
                <a:latin typeface="Verdana"/>
                <a:cs typeface="Verdana"/>
              </a:rPr>
              <a:t>p(6)</a:t>
            </a:r>
            <a:r>
              <a:rPr sz="2000" spc="-90" dirty="0">
                <a:latin typeface="Verdana"/>
                <a:cs typeface="Verdana"/>
              </a:rPr>
              <a:t> </a:t>
            </a:r>
            <a:r>
              <a:rPr sz="2000" spc="-490" dirty="0">
                <a:latin typeface="Verdana"/>
                <a:cs typeface="Verdana"/>
              </a:rPr>
              <a:t>=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30EF0590-1C91-0FE4-0666-1D636888B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A5E87-6209-4FCE-BB56-10FEFB2D2E39}" type="datetime1">
              <a:rPr lang="en-US" smtClean="0"/>
              <a:t>7/22/2024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80059" y="437035"/>
            <a:ext cx="142811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25" dirty="0"/>
              <a:t>Numerical</a:t>
            </a:r>
            <a:endParaRPr sz="2200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Copyright:</a:t>
            </a:r>
            <a:r>
              <a:rPr spc="-15" dirty="0"/>
              <a:t> </a:t>
            </a:r>
            <a:r>
              <a:rPr spc="-55" dirty="0"/>
              <a:t>Santosh</a:t>
            </a:r>
            <a:r>
              <a:rPr spc="-35" dirty="0"/>
              <a:t> </a:t>
            </a:r>
            <a:r>
              <a:rPr spc="-10" dirty="0"/>
              <a:t>Chhatkuli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80059" y="2962147"/>
            <a:ext cx="1422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252525"/>
                </a:solidFill>
                <a:latin typeface="Calibri"/>
                <a:cs typeface="Calibri"/>
              </a:rPr>
              <a:t>2.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0059" y="3618992"/>
            <a:ext cx="1397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252525"/>
                </a:solidFill>
                <a:latin typeface="Times New Roman"/>
                <a:cs typeface="Times New Roman"/>
              </a:rPr>
              <a:t>3.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80059" y="1408938"/>
            <a:ext cx="10321341" cy="4396716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355600" marR="293370" indent="-343535">
              <a:lnSpc>
                <a:spcPts val="1720"/>
              </a:lnSpc>
              <a:spcBef>
                <a:spcPts val="225"/>
              </a:spcBef>
              <a:buClr>
                <a:srgbClr val="252525"/>
              </a:buClr>
              <a:buSzPct val="80000"/>
              <a:buAutoNum type="arabicPeriod"/>
              <a:tabLst>
                <a:tab pos="355600" algn="l"/>
                <a:tab pos="356235" algn="l"/>
              </a:tabLst>
            </a:pP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9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large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chain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retailer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purchases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certain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kind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electronic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device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from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manufacturer.</a:t>
            </a:r>
            <a:r>
              <a:rPr sz="1500" spc="-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manufacturer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indicates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that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Times New Roman"/>
                <a:cs typeface="Times New Roman"/>
              </a:rPr>
              <a:t>the </a:t>
            </a:r>
            <a:r>
              <a:rPr sz="1500" dirty="0">
                <a:latin typeface="Times New Roman"/>
                <a:cs typeface="Times New Roman"/>
              </a:rPr>
              <a:t>defective</a:t>
            </a:r>
            <a:r>
              <a:rPr sz="1500" spc="-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rate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device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is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Times New Roman"/>
                <a:cs typeface="Times New Roman"/>
              </a:rPr>
              <a:t>3%.</a:t>
            </a:r>
            <a:endParaRPr sz="1500" dirty="0">
              <a:latin typeface="Times New Roman"/>
              <a:cs typeface="Times New Roman"/>
            </a:endParaRPr>
          </a:p>
          <a:p>
            <a:pPr marL="756285" lvl="1" indent="-287020">
              <a:lnSpc>
                <a:spcPts val="1614"/>
              </a:lnSpc>
              <a:buClr>
                <a:srgbClr val="252525"/>
              </a:buClr>
              <a:buSzPct val="80000"/>
              <a:buAutoNum type="alphaLcParenR"/>
              <a:tabLst>
                <a:tab pos="756285" algn="l"/>
                <a:tab pos="756920" algn="l"/>
              </a:tabLst>
            </a:pPr>
            <a:r>
              <a:rPr sz="1500" spc="-40" dirty="0">
                <a:latin typeface="Times New Roman"/>
                <a:cs typeface="Times New Roman"/>
              </a:rPr>
              <a:t>The</a:t>
            </a:r>
            <a:r>
              <a:rPr sz="1500" spc="-60" dirty="0">
                <a:latin typeface="Times New Roman"/>
                <a:cs typeface="Times New Roman"/>
              </a:rPr>
              <a:t> </a:t>
            </a:r>
            <a:r>
              <a:rPr sz="1500" spc="-35" dirty="0">
                <a:latin typeface="Times New Roman"/>
                <a:cs typeface="Times New Roman"/>
              </a:rPr>
              <a:t>inspector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35" dirty="0">
                <a:latin typeface="Times New Roman"/>
                <a:cs typeface="Times New Roman"/>
              </a:rPr>
              <a:t>randomly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spc="-30" dirty="0">
                <a:latin typeface="Times New Roman"/>
                <a:cs typeface="Times New Roman"/>
              </a:rPr>
              <a:t>picks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20</a:t>
            </a:r>
            <a:r>
              <a:rPr sz="1500" spc="-55" dirty="0">
                <a:latin typeface="Times New Roman"/>
                <a:cs typeface="Times New Roman"/>
              </a:rPr>
              <a:t> </a:t>
            </a:r>
            <a:r>
              <a:rPr sz="1500" spc="-30" dirty="0">
                <a:latin typeface="Times New Roman"/>
                <a:cs typeface="Times New Roman"/>
              </a:rPr>
              <a:t>items</a:t>
            </a:r>
            <a:r>
              <a:rPr sz="1500" spc="-25" dirty="0">
                <a:latin typeface="Times New Roman"/>
                <a:cs typeface="Times New Roman"/>
              </a:rPr>
              <a:t> from</a:t>
            </a:r>
            <a:r>
              <a:rPr sz="1500" spc="-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50" dirty="0">
                <a:latin typeface="Times New Roman"/>
                <a:cs typeface="Times New Roman"/>
              </a:rPr>
              <a:t> </a:t>
            </a:r>
            <a:r>
              <a:rPr sz="1500" spc="-40" dirty="0">
                <a:latin typeface="Times New Roman"/>
                <a:cs typeface="Times New Roman"/>
              </a:rPr>
              <a:t>shipment.</a:t>
            </a:r>
            <a:r>
              <a:rPr sz="1500" spc="-65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Times New Roman"/>
                <a:cs typeface="Times New Roman"/>
              </a:rPr>
              <a:t>What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is</a:t>
            </a:r>
            <a:r>
              <a:rPr sz="1500" spc="-50" dirty="0">
                <a:latin typeface="Times New Roman"/>
                <a:cs typeface="Times New Roman"/>
              </a:rPr>
              <a:t> </a:t>
            </a:r>
            <a:r>
              <a:rPr sz="1500" spc="-30" dirty="0">
                <a:latin typeface="Times New Roman"/>
                <a:cs typeface="Times New Roman"/>
              </a:rPr>
              <a:t>the</a:t>
            </a:r>
            <a:r>
              <a:rPr sz="1500" spc="-65" dirty="0">
                <a:latin typeface="Times New Roman"/>
                <a:cs typeface="Times New Roman"/>
              </a:rPr>
              <a:t> </a:t>
            </a:r>
            <a:r>
              <a:rPr sz="1500" spc="-40" dirty="0">
                <a:latin typeface="Times New Roman"/>
                <a:cs typeface="Times New Roman"/>
              </a:rPr>
              <a:t>probability</a:t>
            </a:r>
            <a:r>
              <a:rPr sz="1500" spc="-90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Times New Roman"/>
                <a:cs typeface="Times New Roman"/>
              </a:rPr>
              <a:t>that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spc="-30" dirty="0">
                <a:latin typeface="Times New Roman"/>
                <a:cs typeface="Times New Roman"/>
              </a:rPr>
              <a:t>there</a:t>
            </a:r>
            <a:r>
              <a:rPr sz="1500" spc="-50" dirty="0">
                <a:latin typeface="Times New Roman"/>
                <a:cs typeface="Times New Roman"/>
              </a:rPr>
              <a:t> </a:t>
            </a:r>
            <a:r>
              <a:rPr sz="1500" spc="-30" dirty="0">
                <a:latin typeface="Times New Roman"/>
                <a:cs typeface="Times New Roman"/>
              </a:rPr>
              <a:t>will</a:t>
            </a:r>
            <a:r>
              <a:rPr sz="1500" spc="-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be</a:t>
            </a:r>
            <a:r>
              <a:rPr sz="1500" spc="-50" dirty="0">
                <a:latin typeface="Times New Roman"/>
                <a:cs typeface="Times New Roman"/>
              </a:rPr>
              <a:t> </a:t>
            </a:r>
            <a:r>
              <a:rPr sz="1500" spc="-20" dirty="0">
                <a:latin typeface="Times New Roman"/>
                <a:cs typeface="Times New Roman"/>
              </a:rPr>
              <a:t>at</a:t>
            </a:r>
            <a:r>
              <a:rPr sz="1500" spc="-55" dirty="0">
                <a:latin typeface="Times New Roman"/>
                <a:cs typeface="Times New Roman"/>
              </a:rPr>
              <a:t> </a:t>
            </a:r>
            <a:r>
              <a:rPr sz="1500" spc="-40" dirty="0">
                <a:latin typeface="Times New Roman"/>
                <a:cs typeface="Times New Roman"/>
              </a:rPr>
              <a:t>least </a:t>
            </a:r>
            <a:r>
              <a:rPr sz="1500" spc="-20" dirty="0">
                <a:latin typeface="Times New Roman"/>
                <a:cs typeface="Times New Roman"/>
              </a:rPr>
              <a:t>one</a:t>
            </a:r>
            <a:r>
              <a:rPr sz="1500" spc="-55" dirty="0">
                <a:latin typeface="Times New Roman"/>
                <a:cs typeface="Times New Roman"/>
              </a:rPr>
              <a:t> </a:t>
            </a:r>
            <a:r>
              <a:rPr sz="1500" spc="-35" dirty="0">
                <a:latin typeface="Times New Roman"/>
                <a:cs typeface="Times New Roman"/>
              </a:rPr>
              <a:t>defective </a:t>
            </a:r>
            <a:r>
              <a:rPr sz="1500" spc="-20" dirty="0">
                <a:latin typeface="Times New Roman"/>
                <a:cs typeface="Times New Roman"/>
              </a:rPr>
              <a:t>item</a:t>
            </a:r>
            <a:endParaRPr sz="1500" dirty="0">
              <a:latin typeface="Times New Roman"/>
              <a:cs typeface="Times New Roman"/>
            </a:endParaRPr>
          </a:p>
          <a:p>
            <a:pPr marL="756285">
              <a:lnSpc>
                <a:spcPts val="1710"/>
              </a:lnSpc>
            </a:pPr>
            <a:r>
              <a:rPr sz="1500" spc="-25" dirty="0">
                <a:latin typeface="Times New Roman"/>
                <a:cs typeface="Times New Roman"/>
              </a:rPr>
              <a:t>among</a:t>
            </a:r>
            <a:r>
              <a:rPr sz="1500" spc="-65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Times New Roman"/>
                <a:cs typeface="Times New Roman"/>
              </a:rPr>
              <a:t>these</a:t>
            </a:r>
            <a:r>
              <a:rPr sz="1500" spc="-70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Times New Roman"/>
                <a:cs typeface="Times New Roman"/>
              </a:rPr>
              <a:t>20?</a:t>
            </a:r>
            <a:endParaRPr sz="1500" dirty="0">
              <a:latin typeface="Times New Roman"/>
              <a:cs typeface="Times New Roman"/>
            </a:endParaRPr>
          </a:p>
          <a:p>
            <a:pPr marL="756285" marR="5080" lvl="1" indent="-287020">
              <a:lnSpc>
                <a:spcPct val="95000"/>
              </a:lnSpc>
              <a:spcBef>
                <a:spcPts val="40"/>
              </a:spcBef>
              <a:buClr>
                <a:srgbClr val="252525"/>
              </a:buClr>
              <a:buSzPct val="80000"/>
              <a:buAutoNum type="alphaLcParenR" startAt="2"/>
              <a:tabLst>
                <a:tab pos="756285" algn="l"/>
                <a:tab pos="756920" algn="l"/>
              </a:tabLst>
            </a:pPr>
            <a:r>
              <a:rPr sz="1500" spc="-30" dirty="0">
                <a:latin typeface="Times New Roman"/>
                <a:cs typeface="Times New Roman"/>
              </a:rPr>
              <a:t>Suppose</a:t>
            </a:r>
            <a:r>
              <a:rPr sz="1500" spc="-60" dirty="0">
                <a:latin typeface="Times New Roman"/>
                <a:cs typeface="Times New Roman"/>
              </a:rPr>
              <a:t> </a:t>
            </a:r>
            <a:r>
              <a:rPr sz="1500" spc="-35" dirty="0">
                <a:latin typeface="Times New Roman"/>
                <a:cs typeface="Times New Roman"/>
              </a:rPr>
              <a:t>that</a:t>
            </a:r>
            <a:r>
              <a:rPr sz="1500" spc="-55" dirty="0">
                <a:latin typeface="Times New Roman"/>
                <a:cs typeface="Times New Roman"/>
              </a:rPr>
              <a:t> </a:t>
            </a:r>
            <a:r>
              <a:rPr sz="1500" spc="-20" dirty="0">
                <a:latin typeface="Times New Roman"/>
                <a:cs typeface="Times New Roman"/>
              </a:rPr>
              <a:t>the</a:t>
            </a:r>
            <a:r>
              <a:rPr sz="1500" spc="-60" dirty="0">
                <a:latin typeface="Times New Roman"/>
                <a:cs typeface="Times New Roman"/>
              </a:rPr>
              <a:t> </a:t>
            </a:r>
            <a:r>
              <a:rPr sz="1500" spc="-35" dirty="0">
                <a:latin typeface="Times New Roman"/>
                <a:cs typeface="Times New Roman"/>
              </a:rPr>
              <a:t>retailer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35" dirty="0">
                <a:latin typeface="Times New Roman"/>
                <a:cs typeface="Times New Roman"/>
              </a:rPr>
              <a:t>receives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10</a:t>
            </a:r>
            <a:r>
              <a:rPr sz="1500" spc="-70" dirty="0">
                <a:latin typeface="Times New Roman"/>
                <a:cs typeface="Times New Roman"/>
              </a:rPr>
              <a:t> </a:t>
            </a:r>
            <a:r>
              <a:rPr sz="1500" spc="-35" dirty="0">
                <a:latin typeface="Times New Roman"/>
                <a:cs typeface="Times New Roman"/>
              </a:rPr>
              <a:t>shipments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in</a:t>
            </a:r>
            <a:r>
              <a:rPr sz="1500" spc="-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70" dirty="0">
                <a:latin typeface="Times New Roman"/>
                <a:cs typeface="Times New Roman"/>
              </a:rPr>
              <a:t> </a:t>
            </a:r>
            <a:r>
              <a:rPr sz="1500" spc="-30" dirty="0">
                <a:latin typeface="Times New Roman"/>
                <a:cs typeface="Times New Roman"/>
              </a:rPr>
              <a:t>month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spc="-30" dirty="0">
                <a:latin typeface="Times New Roman"/>
                <a:cs typeface="Times New Roman"/>
              </a:rPr>
              <a:t>and</a:t>
            </a:r>
            <a:r>
              <a:rPr sz="1500" spc="-55" dirty="0">
                <a:latin typeface="Times New Roman"/>
                <a:cs typeface="Times New Roman"/>
              </a:rPr>
              <a:t> </a:t>
            </a:r>
            <a:r>
              <a:rPr sz="1500" spc="-20" dirty="0">
                <a:latin typeface="Times New Roman"/>
                <a:cs typeface="Times New Roman"/>
              </a:rPr>
              <a:t>the</a:t>
            </a:r>
            <a:r>
              <a:rPr sz="1500" spc="-60" dirty="0">
                <a:latin typeface="Times New Roman"/>
                <a:cs typeface="Times New Roman"/>
              </a:rPr>
              <a:t> </a:t>
            </a:r>
            <a:r>
              <a:rPr sz="1500" spc="-35" dirty="0">
                <a:latin typeface="Times New Roman"/>
                <a:cs typeface="Times New Roman"/>
              </a:rPr>
              <a:t>inspector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spc="-35" dirty="0">
                <a:latin typeface="Times New Roman"/>
                <a:cs typeface="Times New Roman"/>
              </a:rPr>
              <a:t>randomly </a:t>
            </a:r>
            <a:r>
              <a:rPr sz="1500" spc="-30" dirty="0">
                <a:latin typeface="Times New Roman"/>
                <a:cs typeface="Times New Roman"/>
              </a:rPr>
              <a:t>tests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20</a:t>
            </a:r>
            <a:r>
              <a:rPr sz="1500" spc="-55" dirty="0">
                <a:latin typeface="Times New Roman"/>
                <a:cs typeface="Times New Roman"/>
              </a:rPr>
              <a:t> </a:t>
            </a:r>
            <a:r>
              <a:rPr sz="1500" spc="-35" dirty="0">
                <a:latin typeface="Times New Roman"/>
                <a:cs typeface="Times New Roman"/>
              </a:rPr>
              <a:t>devices </a:t>
            </a:r>
            <a:r>
              <a:rPr sz="1500" spc="-20" dirty="0">
                <a:latin typeface="Times New Roman"/>
                <a:cs typeface="Times New Roman"/>
              </a:rPr>
              <a:t>per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spc="-40" dirty="0">
                <a:latin typeface="Times New Roman"/>
                <a:cs typeface="Times New Roman"/>
              </a:rPr>
              <a:t>shipment.</a:t>
            </a:r>
            <a:r>
              <a:rPr sz="1500" spc="-65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Times New Roman"/>
                <a:cs typeface="Times New Roman"/>
              </a:rPr>
              <a:t>What</a:t>
            </a:r>
            <a:r>
              <a:rPr sz="1500" spc="-50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Times New Roman"/>
                <a:cs typeface="Times New Roman"/>
              </a:rPr>
              <a:t>is</a:t>
            </a:r>
            <a:r>
              <a:rPr sz="1500" spc="500" dirty="0">
                <a:latin typeface="Times New Roman"/>
                <a:cs typeface="Times New Roman"/>
              </a:rPr>
              <a:t> </a:t>
            </a:r>
            <a:r>
              <a:rPr sz="1500" spc="-30" dirty="0">
                <a:latin typeface="Times New Roman"/>
                <a:cs typeface="Times New Roman"/>
              </a:rPr>
              <a:t>the</a:t>
            </a:r>
            <a:r>
              <a:rPr sz="1500" spc="-70" dirty="0">
                <a:latin typeface="Times New Roman"/>
                <a:cs typeface="Times New Roman"/>
              </a:rPr>
              <a:t> </a:t>
            </a:r>
            <a:r>
              <a:rPr sz="1500" spc="-35" dirty="0">
                <a:latin typeface="Times New Roman"/>
                <a:cs typeface="Times New Roman"/>
              </a:rPr>
              <a:t>probability</a:t>
            </a:r>
            <a:r>
              <a:rPr sz="1500" spc="-55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Times New Roman"/>
                <a:cs typeface="Times New Roman"/>
              </a:rPr>
              <a:t>that</a:t>
            </a:r>
            <a:r>
              <a:rPr sz="1500" spc="-50" dirty="0">
                <a:latin typeface="Times New Roman"/>
                <a:cs typeface="Times New Roman"/>
              </a:rPr>
              <a:t> </a:t>
            </a:r>
            <a:r>
              <a:rPr sz="1500" spc="-30" dirty="0">
                <a:latin typeface="Times New Roman"/>
                <a:cs typeface="Times New Roman"/>
              </a:rPr>
              <a:t>there</a:t>
            </a:r>
            <a:r>
              <a:rPr sz="1500" spc="-55" dirty="0">
                <a:latin typeface="Times New Roman"/>
                <a:cs typeface="Times New Roman"/>
              </a:rPr>
              <a:t> </a:t>
            </a:r>
            <a:r>
              <a:rPr sz="1500" spc="-30" dirty="0">
                <a:latin typeface="Times New Roman"/>
                <a:cs typeface="Times New Roman"/>
              </a:rPr>
              <a:t>will</a:t>
            </a:r>
            <a:r>
              <a:rPr sz="1500" spc="-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be</a:t>
            </a:r>
            <a:r>
              <a:rPr sz="1500" spc="-55" dirty="0">
                <a:latin typeface="Times New Roman"/>
                <a:cs typeface="Times New Roman"/>
              </a:rPr>
              <a:t> </a:t>
            </a:r>
            <a:r>
              <a:rPr sz="1500" spc="-35" dirty="0">
                <a:latin typeface="Times New Roman"/>
                <a:cs typeface="Times New Roman"/>
              </a:rPr>
              <a:t>exactly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3</a:t>
            </a:r>
            <a:r>
              <a:rPr sz="1500" spc="-60" dirty="0">
                <a:latin typeface="Times New Roman"/>
                <a:cs typeface="Times New Roman"/>
              </a:rPr>
              <a:t> </a:t>
            </a:r>
            <a:r>
              <a:rPr sz="1500" spc="-35" dirty="0">
                <a:latin typeface="Times New Roman"/>
                <a:cs typeface="Times New Roman"/>
              </a:rPr>
              <a:t>shipments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Times New Roman"/>
                <a:cs typeface="Times New Roman"/>
              </a:rPr>
              <a:t>each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35" dirty="0">
                <a:latin typeface="Times New Roman"/>
                <a:cs typeface="Times New Roman"/>
              </a:rPr>
              <a:t>containing</a:t>
            </a:r>
            <a:r>
              <a:rPr sz="1500" spc="-5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at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spc="-40" dirty="0">
                <a:latin typeface="Times New Roman"/>
                <a:cs typeface="Times New Roman"/>
              </a:rPr>
              <a:t>least</a:t>
            </a:r>
            <a:r>
              <a:rPr sz="1500" spc="-50" dirty="0">
                <a:latin typeface="Times New Roman"/>
                <a:cs typeface="Times New Roman"/>
              </a:rPr>
              <a:t> </a:t>
            </a:r>
            <a:r>
              <a:rPr sz="1500" spc="-20" dirty="0">
                <a:latin typeface="Times New Roman"/>
                <a:cs typeface="Times New Roman"/>
              </a:rPr>
              <a:t>one</a:t>
            </a:r>
            <a:r>
              <a:rPr sz="1500" spc="-55" dirty="0">
                <a:latin typeface="Times New Roman"/>
                <a:cs typeface="Times New Roman"/>
              </a:rPr>
              <a:t> </a:t>
            </a:r>
            <a:r>
              <a:rPr sz="1500" spc="-35" dirty="0">
                <a:latin typeface="Times New Roman"/>
                <a:cs typeface="Times New Roman"/>
              </a:rPr>
              <a:t>defective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spc="-30" dirty="0">
                <a:latin typeface="Times New Roman"/>
                <a:cs typeface="Times New Roman"/>
              </a:rPr>
              <a:t>device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Times New Roman"/>
                <a:cs typeface="Times New Roman"/>
              </a:rPr>
              <a:t>among the</a:t>
            </a:r>
            <a:r>
              <a:rPr sz="1500" spc="-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20</a:t>
            </a:r>
            <a:r>
              <a:rPr sz="1500" spc="-55" dirty="0">
                <a:latin typeface="Times New Roman"/>
                <a:cs typeface="Times New Roman"/>
              </a:rPr>
              <a:t> </a:t>
            </a:r>
            <a:r>
              <a:rPr sz="1500" spc="-35" dirty="0">
                <a:latin typeface="Times New Roman"/>
                <a:cs typeface="Times New Roman"/>
              </a:rPr>
              <a:t>that</a:t>
            </a:r>
            <a:r>
              <a:rPr sz="1500" spc="-60" dirty="0">
                <a:latin typeface="Times New Roman"/>
                <a:cs typeface="Times New Roman"/>
              </a:rPr>
              <a:t> </a:t>
            </a:r>
            <a:r>
              <a:rPr sz="1500" spc="-35" dirty="0">
                <a:latin typeface="Times New Roman"/>
                <a:cs typeface="Times New Roman"/>
              </a:rPr>
              <a:t>are</a:t>
            </a:r>
            <a:r>
              <a:rPr sz="1500" spc="-85" dirty="0">
                <a:latin typeface="Times New Roman"/>
                <a:cs typeface="Times New Roman"/>
              </a:rPr>
              <a:t> </a:t>
            </a:r>
            <a:r>
              <a:rPr sz="1500" spc="-20" dirty="0">
                <a:latin typeface="Times New Roman"/>
                <a:cs typeface="Times New Roman"/>
              </a:rPr>
              <a:t>selected </a:t>
            </a:r>
            <a:r>
              <a:rPr sz="1500" spc="-25" dirty="0">
                <a:latin typeface="Times New Roman"/>
                <a:cs typeface="Times New Roman"/>
              </a:rPr>
              <a:t>and</a:t>
            </a:r>
            <a:r>
              <a:rPr sz="1500" spc="-70" dirty="0">
                <a:latin typeface="Times New Roman"/>
                <a:cs typeface="Times New Roman"/>
              </a:rPr>
              <a:t> </a:t>
            </a:r>
            <a:r>
              <a:rPr sz="1500" spc="-30" dirty="0">
                <a:latin typeface="Times New Roman"/>
                <a:cs typeface="Times New Roman"/>
              </a:rPr>
              <a:t>tested</a:t>
            </a:r>
            <a:r>
              <a:rPr sz="1500" spc="-65" dirty="0">
                <a:latin typeface="Times New Roman"/>
                <a:cs typeface="Times New Roman"/>
              </a:rPr>
              <a:t> </a:t>
            </a:r>
            <a:r>
              <a:rPr sz="1500" spc="-30" dirty="0">
                <a:latin typeface="Times New Roman"/>
                <a:cs typeface="Times New Roman"/>
              </a:rPr>
              <a:t>from</a:t>
            </a:r>
            <a:r>
              <a:rPr sz="1500" spc="-7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the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shipment?</a:t>
            </a:r>
            <a:endParaRPr sz="1500" dirty="0">
              <a:latin typeface="Times New Roman"/>
              <a:cs typeface="Times New Roman"/>
            </a:endParaRPr>
          </a:p>
          <a:p>
            <a:pPr marL="469900">
              <a:lnSpc>
                <a:spcPts val="1630"/>
              </a:lnSpc>
            </a:pPr>
            <a:r>
              <a:rPr sz="1500" spc="-35" dirty="0">
                <a:latin typeface="Calibri"/>
                <a:cs typeface="Calibri"/>
              </a:rPr>
              <a:t>Ten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percent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tools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produced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certain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manufacturing</a:t>
            </a:r>
            <a:r>
              <a:rPr sz="1500" spc="-5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process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turn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out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be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defective.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Find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probability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that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spc="-50" dirty="0">
                <a:latin typeface="Calibri"/>
                <a:cs typeface="Calibri"/>
              </a:rPr>
              <a:t>a</a:t>
            </a:r>
            <a:endParaRPr sz="1500" dirty="0">
              <a:latin typeface="Calibri"/>
              <a:cs typeface="Calibri"/>
            </a:endParaRPr>
          </a:p>
          <a:p>
            <a:pPr marL="469900" marR="362585">
              <a:lnSpc>
                <a:spcPts val="1700"/>
              </a:lnSpc>
              <a:spcBef>
                <a:spcPts val="100"/>
              </a:spcBef>
            </a:pPr>
            <a:r>
              <a:rPr sz="1500" dirty="0">
                <a:latin typeface="Calibri"/>
                <a:cs typeface="Calibri"/>
              </a:rPr>
              <a:t>sample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10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tools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chosen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at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random,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exactly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two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will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be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defective by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using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(a)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Binomial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distribution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(b)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Poisson approximation</a:t>
            </a:r>
            <a:r>
              <a:rPr sz="1500" spc="-5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-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binomial</a:t>
            </a:r>
            <a:r>
              <a:rPr sz="1500" spc="-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distribution.</a:t>
            </a:r>
            <a:endParaRPr sz="1500" dirty="0">
              <a:latin typeface="Calibri"/>
              <a:cs typeface="Calibri"/>
            </a:endParaRPr>
          </a:p>
          <a:p>
            <a:pPr marL="469900" marR="709295">
              <a:lnSpc>
                <a:spcPct val="95000"/>
              </a:lnSpc>
              <a:spcBef>
                <a:spcPts val="5"/>
              </a:spcBef>
            </a:pPr>
            <a:r>
              <a:rPr sz="1500" dirty="0">
                <a:latin typeface="Times New Roman"/>
                <a:cs typeface="Times New Roman"/>
              </a:rPr>
              <a:t>Contamination</a:t>
            </a:r>
            <a:r>
              <a:rPr sz="1500" spc="-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is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problem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manufacture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magnetic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storage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disks.</a:t>
            </a:r>
            <a:r>
              <a:rPr sz="1500" spc="-10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Assume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that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number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particles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Times New Roman"/>
                <a:cs typeface="Times New Roman"/>
              </a:rPr>
              <a:t>of </a:t>
            </a:r>
            <a:r>
              <a:rPr sz="1500" dirty="0">
                <a:latin typeface="Times New Roman"/>
                <a:cs typeface="Times New Roman"/>
              </a:rPr>
              <a:t>contamination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that</a:t>
            </a:r>
            <a:r>
              <a:rPr sz="1500" spc="-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occur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on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disk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has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Poisson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distribution,</a:t>
            </a:r>
            <a:r>
              <a:rPr sz="1500" spc="-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average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number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particles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per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square </a:t>
            </a:r>
            <a:r>
              <a:rPr sz="1500" dirty="0">
                <a:latin typeface="Times New Roman"/>
                <a:cs typeface="Times New Roman"/>
              </a:rPr>
              <a:t>centimeter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media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is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spc="-20" dirty="0">
                <a:latin typeface="Times New Roman"/>
                <a:cs typeface="Times New Roman"/>
              </a:rPr>
              <a:t>0.1.</a:t>
            </a:r>
            <a:endParaRPr sz="1500" dirty="0">
              <a:latin typeface="Times New Roman"/>
              <a:cs typeface="Times New Roman"/>
            </a:endParaRPr>
          </a:p>
          <a:p>
            <a:pPr marL="812800" indent="-343535">
              <a:lnSpc>
                <a:spcPts val="1670"/>
              </a:lnSpc>
              <a:buClr>
                <a:srgbClr val="252525"/>
              </a:buClr>
              <a:buSzPct val="80000"/>
              <a:buAutoNum type="alphaLcParenBoth"/>
              <a:tabLst>
                <a:tab pos="812800" algn="l"/>
                <a:tab pos="813435" algn="l"/>
              </a:tabLst>
            </a:pP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area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disk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under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study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100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square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centimeters.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Determine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probability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that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12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particles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occur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area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Times New Roman"/>
                <a:cs typeface="Times New Roman"/>
              </a:rPr>
              <a:t>of</a:t>
            </a:r>
            <a:endParaRPr sz="1500" dirty="0">
              <a:latin typeface="Times New Roman"/>
              <a:cs typeface="Times New Roman"/>
            </a:endParaRPr>
          </a:p>
          <a:p>
            <a:pPr marL="812800">
              <a:lnSpc>
                <a:spcPts val="1710"/>
              </a:lnSpc>
            </a:pP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disk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under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study.</a:t>
            </a:r>
            <a:endParaRPr sz="1500" dirty="0">
              <a:latin typeface="Times New Roman"/>
              <a:cs typeface="Times New Roman"/>
            </a:endParaRPr>
          </a:p>
          <a:p>
            <a:pPr marL="812800" indent="-343535">
              <a:lnSpc>
                <a:spcPts val="1710"/>
              </a:lnSpc>
              <a:buClr>
                <a:srgbClr val="252525"/>
              </a:buClr>
              <a:buSzPct val="80000"/>
              <a:buAutoNum type="alphaLcParenBoth" startAt="2"/>
              <a:tabLst>
                <a:tab pos="812800" algn="l"/>
                <a:tab pos="813435" algn="l"/>
              </a:tabLst>
            </a:pPr>
            <a:r>
              <a:rPr sz="1500" dirty="0">
                <a:latin typeface="Times New Roman"/>
                <a:cs typeface="Times New Roman"/>
              </a:rPr>
              <a:t>Determine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probability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that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12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or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fewer particles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occur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area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disk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under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study.</a:t>
            </a:r>
            <a:endParaRPr sz="1500" dirty="0">
              <a:latin typeface="Times New Roman"/>
              <a:cs typeface="Times New Roman"/>
            </a:endParaRPr>
          </a:p>
          <a:p>
            <a:pPr marL="469900" marR="258445" indent="-457834">
              <a:lnSpc>
                <a:spcPts val="1720"/>
              </a:lnSpc>
              <a:spcBef>
                <a:spcPts val="75"/>
              </a:spcBef>
              <a:buAutoNum type="arabicPeriod" startAt="4"/>
              <a:tabLst>
                <a:tab pos="469900" algn="l"/>
                <a:tab pos="470534" algn="l"/>
              </a:tabLst>
            </a:pP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number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cracks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section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interstate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highway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that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are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significant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enough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require</a:t>
            </a:r>
            <a:r>
              <a:rPr sz="1500" spc="-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repair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is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assumed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follow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spc="-50" dirty="0">
                <a:latin typeface="Times New Roman"/>
                <a:cs typeface="Times New Roman"/>
              </a:rPr>
              <a:t>a </a:t>
            </a:r>
            <a:r>
              <a:rPr sz="1500" dirty="0">
                <a:latin typeface="Times New Roman"/>
                <a:cs typeface="Times New Roman"/>
              </a:rPr>
              <a:t>Poisson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distribution</a:t>
            </a:r>
            <a:r>
              <a:rPr sz="1500" spc="-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with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mean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two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cracks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per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mile.</a:t>
            </a:r>
            <a:endParaRPr sz="1500" dirty="0">
              <a:latin typeface="Times New Roman"/>
              <a:cs typeface="Times New Roman"/>
            </a:endParaRPr>
          </a:p>
          <a:p>
            <a:pPr marL="725805" lvl="1" indent="-256540">
              <a:lnSpc>
                <a:spcPts val="1614"/>
              </a:lnSpc>
              <a:buAutoNum type="alphaLcParenBoth"/>
              <a:tabLst>
                <a:tab pos="726440" algn="l"/>
              </a:tabLst>
            </a:pPr>
            <a:r>
              <a:rPr sz="1500" dirty="0">
                <a:latin typeface="Times New Roman"/>
                <a:cs typeface="Times New Roman"/>
              </a:rPr>
              <a:t>What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is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probability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that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there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are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no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cracks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that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require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repair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5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miles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highway?</a:t>
            </a:r>
            <a:endParaRPr sz="1500" dirty="0">
              <a:latin typeface="Times New Roman"/>
              <a:cs typeface="Times New Roman"/>
            </a:endParaRPr>
          </a:p>
          <a:p>
            <a:pPr marL="736600" lvl="1" indent="-267335">
              <a:lnSpc>
                <a:spcPts val="1760"/>
              </a:lnSpc>
              <a:buAutoNum type="alphaLcParenBoth"/>
              <a:tabLst>
                <a:tab pos="737235" algn="l"/>
              </a:tabLst>
            </a:pPr>
            <a:r>
              <a:rPr sz="1500" dirty="0">
                <a:latin typeface="Times New Roman"/>
                <a:cs typeface="Times New Roman"/>
              </a:rPr>
              <a:t>What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is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probability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that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least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one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crack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requires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repair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half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mile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highway?</a:t>
            </a:r>
            <a:endParaRPr sz="1500" dirty="0">
              <a:latin typeface="Times New Roman"/>
              <a:cs typeface="Times New Roman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684901-835D-3077-890F-0EE158E51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E3E1D-DA2A-478C-8612-C61B644DECB5}" type="datetime1">
              <a:rPr lang="en-US" smtClean="0"/>
              <a:t>7/22/2024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0636" y="632840"/>
            <a:ext cx="993775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65" dirty="0">
                <a:latin typeface="Verdana"/>
                <a:cs typeface="Verdana"/>
              </a:rPr>
              <a:t>5.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spc="-100" dirty="0">
                <a:latin typeface="Verdana"/>
                <a:cs typeface="Verdana"/>
              </a:rPr>
              <a:t>Twenty</a:t>
            </a:r>
            <a:r>
              <a:rPr sz="1800" spc="-60" dirty="0">
                <a:latin typeface="Verdana"/>
                <a:cs typeface="Verdana"/>
              </a:rPr>
              <a:t> </a:t>
            </a:r>
            <a:r>
              <a:rPr sz="1800" spc="-90" dirty="0">
                <a:latin typeface="Verdana"/>
                <a:cs typeface="Verdana"/>
              </a:rPr>
              <a:t>sheets</a:t>
            </a:r>
            <a:r>
              <a:rPr sz="1800" spc="-7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spc="-60" dirty="0">
                <a:latin typeface="Verdana"/>
                <a:cs typeface="Verdana"/>
              </a:rPr>
              <a:t>Aluminum</a:t>
            </a:r>
            <a:r>
              <a:rPr sz="1800" spc="-140" dirty="0">
                <a:latin typeface="Verdana"/>
                <a:cs typeface="Verdana"/>
              </a:rPr>
              <a:t> </a:t>
            </a:r>
            <a:r>
              <a:rPr sz="1800" spc="-35" dirty="0">
                <a:latin typeface="Verdana"/>
                <a:cs typeface="Verdana"/>
              </a:rPr>
              <a:t>alloy</a:t>
            </a:r>
            <a:r>
              <a:rPr sz="1800" spc="-15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were</a:t>
            </a:r>
            <a:r>
              <a:rPr sz="1800" spc="-7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examined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spc="-80" dirty="0">
                <a:latin typeface="Verdana"/>
                <a:cs typeface="Verdana"/>
              </a:rPr>
              <a:t>for</a:t>
            </a:r>
            <a:r>
              <a:rPr sz="1800" spc="-140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surface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spc="-90" dirty="0">
                <a:latin typeface="Verdana"/>
                <a:cs typeface="Verdana"/>
              </a:rPr>
              <a:t>flaws. </a:t>
            </a:r>
            <a:r>
              <a:rPr sz="1800" spc="-114" dirty="0">
                <a:latin typeface="Verdana"/>
                <a:cs typeface="Verdana"/>
              </a:rPr>
              <a:t>The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frequency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125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the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Verdana"/>
                <a:cs typeface="Verdana"/>
              </a:rPr>
              <a:t>no.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135" dirty="0">
                <a:latin typeface="Verdana"/>
                <a:cs typeface="Verdana"/>
              </a:rPr>
              <a:t> </a:t>
            </a:r>
            <a:r>
              <a:rPr sz="1800" spc="-90" dirty="0">
                <a:latin typeface="Verdana"/>
                <a:cs typeface="Verdana"/>
              </a:rPr>
              <a:t>sheets</a:t>
            </a:r>
            <a:r>
              <a:rPr sz="1800" spc="-70" dirty="0">
                <a:latin typeface="Verdana"/>
                <a:cs typeface="Verdana"/>
              </a:rPr>
              <a:t> </a:t>
            </a:r>
            <a:r>
              <a:rPr sz="1800" spc="-80" dirty="0">
                <a:latin typeface="Verdana"/>
                <a:cs typeface="Verdana"/>
              </a:rPr>
              <a:t>with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the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given</a:t>
            </a:r>
            <a:r>
              <a:rPr sz="1800" spc="-150" dirty="0">
                <a:latin typeface="Verdana"/>
                <a:cs typeface="Verdana"/>
              </a:rPr>
              <a:t> </a:t>
            </a:r>
            <a:r>
              <a:rPr sz="1800" spc="-50" dirty="0">
                <a:latin typeface="Verdana"/>
                <a:cs typeface="Verdana"/>
              </a:rPr>
              <a:t>no.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135" dirty="0">
                <a:latin typeface="Verdana"/>
                <a:cs typeface="Verdana"/>
              </a:rPr>
              <a:t> </a:t>
            </a:r>
            <a:r>
              <a:rPr sz="1800" spc="-70" dirty="0">
                <a:latin typeface="Verdana"/>
                <a:cs typeface="Verdana"/>
              </a:rPr>
              <a:t>flaws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per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spc="-50" dirty="0">
                <a:latin typeface="Verdana"/>
                <a:cs typeface="Verdana"/>
              </a:rPr>
              <a:t>sheet</a:t>
            </a:r>
            <a:r>
              <a:rPr sz="1800" spc="-75" dirty="0">
                <a:latin typeface="Verdana"/>
                <a:cs typeface="Verdana"/>
              </a:rPr>
              <a:t> </a:t>
            </a:r>
            <a:r>
              <a:rPr sz="1800" spc="-65" dirty="0">
                <a:latin typeface="Verdana"/>
                <a:cs typeface="Verdana"/>
              </a:rPr>
              <a:t>as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follows: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Copyright:</a:t>
            </a:r>
            <a:r>
              <a:rPr spc="-15" dirty="0"/>
              <a:t> </a:t>
            </a:r>
            <a:r>
              <a:rPr spc="-55" dirty="0"/>
              <a:t>Santosh</a:t>
            </a:r>
            <a:r>
              <a:rPr spc="-35" dirty="0"/>
              <a:t> </a:t>
            </a:r>
            <a:r>
              <a:rPr spc="-10" dirty="0"/>
              <a:t>Chhatkuli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70636" y="2461716"/>
            <a:ext cx="10132060" cy="2838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252525"/>
              </a:buClr>
              <a:buAutoNum type="alphaLcParenBoth"/>
              <a:tabLst>
                <a:tab pos="355600" algn="l"/>
              </a:tabLst>
            </a:pPr>
            <a:r>
              <a:rPr sz="1800" spc="-25" dirty="0">
                <a:latin typeface="Verdana"/>
                <a:cs typeface="Verdana"/>
              </a:rPr>
              <a:t>What</a:t>
            </a:r>
            <a:r>
              <a:rPr sz="1800" spc="-70" dirty="0">
                <a:latin typeface="Verdana"/>
                <a:cs typeface="Verdana"/>
              </a:rPr>
              <a:t> </a:t>
            </a:r>
            <a:r>
              <a:rPr sz="1800" spc="-185" dirty="0">
                <a:latin typeface="Verdana"/>
                <a:cs typeface="Verdana"/>
              </a:rPr>
              <a:t>is</a:t>
            </a:r>
            <a:r>
              <a:rPr sz="1800" spc="-14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the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spc="-40" dirty="0">
                <a:latin typeface="Verdana"/>
                <a:cs typeface="Verdana"/>
              </a:rPr>
              <a:t>probability</a:t>
            </a:r>
            <a:r>
              <a:rPr sz="1800" spc="-1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spc="-40" dirty="0">
                <a:latin typeface="Verdana"/>
                <a:cs typeface="Verdana"/>
              </a:rPr>
              <a:t>finding</a:t>
            </a:r>
            <a:r>
              <a:rPr sz="1800" spc="-155" dirty="0">
                <a:latin typeface="Verdana"/>
                <a:cs typeface="Verdana"/>
              </a:rPr>
              <a:t> </a:t>
            </a:r>
            <a:r>
              <a:rPr sz="1800" spc="140" dirty="0">
                <a:latin typeface="Verdana"/>
                <a:cs typeface="Verdana"/>
              </a:rPr>
              <a:t>a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spc="-50" dirty="0">
                <a:latin typeface="Verdana"/>
                <a:cs typeface="Verdana"/>
              </a:rPr>
              <a:t>sheet</a:t>
            </a:r>
            <a:r>
              <a:rPr sz="1800" spc="-7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chosen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at</a:t>
            </a:r>
            <a:r>
              <a:rPr sz="1800" spc="-12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random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which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contains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spc="-155" dirty="0">
                <a:latin typeface="Verdana"/>
                <a:cs typeface="Verdana"/>
              </a:rPr>
              <a:t>3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spc="-80" dirty="0">
                <a:latin typeface="Verdana"/>
                <a:cs typeface="Verdana"/>
              </a:rPr>
              <a:t>or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more</a:t>
            </a:r>
            <a:endParaRPr sz="1800">
              <a:latin typeface="Verdana"/>
              <a:cs typeface="Verdana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1800" spc="-25" dirty="0">
                <a:latin typeface="Verdana"/>
                <a:cs typeface="Verdana"/>
              </a:rPr>
              <a:t>surface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flaws?</a:t>
            </a:r>
            <a:endParaRPr sz="180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900"/>
              </a:spcBef>
              <a:buClr>
                <a:srgbClr val="252525"/>
              </a:buClr>
              <a:buAutoNum type="alphaLcParenBoth" startAt="2"/>
              <a:tabLst>
                <a:tab pos="355600" algn="l"/>
              </a:tabLst>
            </a:pPr>
            <a:r>
              <a:rPr sz="1800" spc="-135" dirty="0">
                <a:latin typeface="Verdana"/>
                <a:cs typeface="Verdana"/>
              </a:rPr>
              <a:t>Fit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spc="140" dirty="0">
                <a:latin typeface="Verdana"/>
                <a:cs typeface="Verdana"/>
              </a:rPr>
              <a:t>a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spc="-85" dirty="0">
                <a:latin typeface="Verdana"/>
                <a:cs typeface="Verdana"/>
              </a:rPr>
              <a:t>Poisson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spc="-95" dirty="0">
                <a:latin typeface="Verdana"/>
                <a:cs typeface="Verdana"/>
              </a:rPr>
              <a:t>Distribution</a:t>
            </a:r>
            <a:r>
              <a:rPr sz="1800" spc="-145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to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spc="-135" dirty="0">
                <a:latin typeface="Verdana"/>
                <a:cs typeface="Verdana"/>
              </a:rPr>
              <a:t>this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spc="40" dirty="0">
                <a:latin typeface="Verdana"/>
                <a:cs typeface="Verdana"/>
              </a:rPr>
              <a:t>data</a:t>
            </a:r>
            <a:endParaRPr sz="180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900"/>
              </a:spcBef>
              <a:buClr>
                <a:srgbClr val="252525"/>
              </a:buClr>
              <a:buAutoNum type="alphaLcParenBoth" startAt="2"/>
              <a:tabLst>
                <a:tab pos="355600" algn="l"/>
              </a:tabLst>
            </a:pPr>
            <a:r>
              <a:rPr sz="1800" spc="-114" dirty="0">
                <a:latin typeface="Verdana"/>
                <a:cs typeface="Verdana"/>
              </a:rPr>
              <a:t>Using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the</a:t>
            </a:r>
            <a:r>
              <a:rPr sz="1800" spc="-7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lambda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value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spc="45" dirty="0">
                <a:latin typeface="Verdana"/>
                <a:cs typeface="Verdana"/>
              </a:rPr>
              <a:t>calculated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spc="-90" dirty="0">
                <a:latin typeface="Verdana"/>
                <a:cs typeface="Verdana"/>
              </a:rPr>
              <a:t>in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spc="-50" dirty="0">
                <a:latin typeface="Verdana"/>
                <a:cs typeface="Verdana"/>
              </a:rPr>
              <a:t>step</a:t>
            </a:r>
            <a:r>
              <a:rPr sz="1800" spc="-75" dirty="0">
                <a:latin typeface="Verdana"/>
                <a:cs typeface="Verdana"/>
              </a:rPr>
              <a:t> </a:t>
            </a:r>
            <a:r>
              <a:rPr sz="1800" spc="-170" dirty="0">
                <a:latin typeface="Verdana"/>
                <a:cs typeface="Verdana"/>
              </a:rPr>
              <a:t>(2)</a:t>
            </a:r>
            <a:r>
              <a:rPr sz="1800" spc="-70" dirty="0">
                <a:latin typeface="Verdana"/>
                <a:cs typeface="Verdana"/>
              </a:rPr>
              <a:t> </a:t>
            </a:r>
            <a:r>
              <a:rPr sz="1800" spc="-40" dirty="0">
                <a:latin typeface="Verdana"/>
                <a:cs typeface="Verdana"/>
              </a:rPr>
              <a:t>find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the</a:t>
            </a:r>
            <a:r>
              <a:rPr sz="1800" spc="-75" dirty="0">
                <a:latin typeface="Verdana"/>
                <a:cs typeface="Verdana"/>
              </a:rPr>
              <a:t> </a:t>
            </a:r>
            <a:r>
              <a:rPr sz="1800" spc="-40" dirty="0">
                <a:latin typeface="Verdana"/>
                <a:cs typeface="Verdana"/>
              </a:rPr>
              <a:t>probability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(a)</a:t>
            </a:r>
            <a:endParaRPr sz="180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  <a:spcBef>
                <a:spcPts val="900"/>
              </a:spcBef>
            </a:pPr>
            <a:r>
              <a:rPr sz="1800" spc="-165" dirty="0">
                <a:latin typeface="Verdana"/>
                <a:cs typeface="Verdana"/>
              </a:rPr>
              <a:t>6.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spc="95" dirty="0">
                <a:latin typeface="Verdana"/>
                <a:cs typeface="Verdana"/>
              </a:rPr>
              <a:t>A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certain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spc="-50" dirty="0">
                <a:latin typeface="Verdana"/>
                <a:cs typeface="Verdana"/>
              </a:rPr>
              <a:t>hospital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spc="-35" dirty="0">
                <a:latin typeface="Verdana"/>
                <a:cs typeface="Verdana"/>
              </a:rPr>
              <a:t>annually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spc="-60" dirty="0">
                <a:latin typeface="Verdana"/>
                <a:cs typeface="Verdana"/>
              </a:rPr>
              <a:t>admits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spc="-160" dirty="0">
                <a:latin typeface="Verdana"/>
                <a:cs typeface="Verdana"/>
              </a:rPr>
              <a:t>50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spc="-45" dirty="0">
                <a:latin typeface="Verdana"/>
                <a:cs typeface="Verdana"/>
              </a:rPr>
              <a:t>patients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per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day.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On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average,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spc="-155" dirty="0">
                <a:latin typeface="Verdana"/>
                <a:cs typeface="Verdana"/>
              </a:rPr>
              <a:t>3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spc="-545" dirty="0">
                <a:latin typeface="Verdana"/>
                <a:cs typeface="Verdana"/>
              </a:rPr>
              <a:t>%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incoming </a:t>
            </a:r>
            <a:r>
              <a:rPr sz="1800" spc="-45" dirty="0">
                <a:latin typeface="Verdana"/>
                <a:cs typeface="Verdana"/>
              </a:rPr>
              <a:t>patients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spc="-55" dirty="0">
                <a:latin typeface="Verdana"/>
                <a:cs typeface="Verdana"/>
              </a:rPr>
              <a:t>require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spc="-85" dirty="0">
                <a:latin typeface="Verdana"/>
                <a:cs typeface="Verdana"/>
              </a:rPr>
              <a:t>rooms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provided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spc="-80" dirty="0">
                <a:latin typeface="Verdana"/>
                <a:cs typeface="Verdana"/>
              </a:rPr>
              <a:t>with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special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spc="-65" dirty="0">
                <a:latin typeface="Verdana"/>
                <a:cs typeface="Verdana"/>
              </a:rPr>
              <a:t>facilities.</a:t>
            </a:r>
            <a:r>
              <a:rPr sz="1800" spc="-1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On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the</a:t>
            </a:r>
            <a:r>
              <a:rPr sz="1800" spc="-75" dirty="0">
                <a:latin typeface="Verdana"/>
                <a:cs typeface="Verdana"/>
              </a:rPr>
              <a:t> </a:t>
            </a:r>
            <a:r>
              <a:rPr sz="1800" spc="-60" dirty="0">
                <a:latin typeface="Verdana"/>
                <a:cs typeface="Verdana"/>
              </a:rPr>
              <a:t>morning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spc="140" dirty="0">
                <a:latin typeface="Verdana"/>
                <a:cs typeface="Verdana"/>
              </a:rPr>
              <a:t>a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given</a:t>
            </a:r>
            <a:r>
              <a:rPr sz="1800" spc="-14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day,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spc="-110" dirty="0">
                <a:latin typeface="Verdana"/>
                <a:cs typeface="Verdana"/>
              </a:rPr>
              <a:t>it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is </a:t>
            </a:r>
            <a:r>
              <a:rPr sz="1800" dirty="0">
                <a:latin typeface="Verdana"/>
                <a:cs typeface="Verdana"/>
              </a:rPr>
              <a:t>found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spc="-45" dirty="0">
                <a:latin typeface="Verdana"/>
                <a:cs typeface="Verdana"/>
              </a:rPr>
              <a:t>that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spc="-45" dirty="0">
                <a:latin typeface="Verdana"/>
                <a:cs typeface="Verdana"/>
              </a:rPr>
              <a:t>three</a:t>
            </a:r>
            <a:r>
              <a:rPr sz="1800" spc="-80" dirty="0">
                <a:latin typeface="Verdana"/>
                <a:cs typeface="Verdana"/>
              </a:rPr>
              <a:t> rooms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spc="-85" dirty="0">
                <a:latin typeface="Verdana"/>
                <a:cs typeface="Verdana"/>
              </a:rPr>
              <a:t>with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special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spc="-60" dirty="0">
                <a:latin typeface="Verdana"/>
                <a:cs typeface="Verdana"/>
              </a:rPr>
              <a:t>facilities</a:t>
            </a:r>
            <a:r>
              <a:rPr sz="1800" spc="-1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are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available.</a:t>
            </a:r>
            <a:r>
              <a:rPr sz="1800" spc="-140" dirty="0">
                <a:latin typeface="Verdana"/>
                <a:cs typeface="Verdana"/>
              </a:rPr>
              <a:t> </a:t>
            </a:r>
            <a:r>
              <a:rPr sz="1800" spc="-80" dirty="0">
                <a:latin typeface="Verdana"/>
                <a:cs typeface="Verdana"/>
              </a:rPr>
              <a:t>Assuming</a:t>
            </a:r>
            <a:r>
              <a:rPr sz="1800" spc="-135" dirty="0">
                <a:latin typeface="Verdana"/>
                <a:cs typeface="Verdana"/>
              </a:rPr>
              <a:t> </a:t>
            </a:r>
            <a:r>
              <a:rPr sz="1800" spc="-35" dirty="0">
                <a:latin typeface="Verdana"/>
                <a:cs typeface="Verdana"/>
              </a:rPr>
              <a:t>that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spc="-160" dirty="0">
                <a:latin typeface="Verdana"/>
                <a:cs typeface="Verdana"/>
              </a:rPr>
              <a:t>50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spc="-45" dirty="0">
                <a:latin typeface="Verdana"/>
                <a:cs typeface="Verdana"/>
              </a:rPr>
              <a:t>patients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spc="-105" dirty="0">
                <a:latin typeface="Verdana"/>
                <a:cs typeface="Verdana"/>
              </a:rPr>
              <a:t>will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spc="65" dirty="0">
                <a:latin typeface="Verdana"/>
                <a:cs typeface="Verdana"/>
              </a:rPr>
              <a:t>be </a:t>
            </a:r>
            <a:r>
              <a:rPr sz="1800" dirty="0">
                <a:latin typeface="Verdana"/>
                <a:cs typeface="Verdana"/>
              </a:rPr>
              <a:t>admitted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on</a:t>
            </a:r>
            <a:r>
              <a:rPr sz="1800" spc="-135" dirty="0">
                <a:latin typeface="Verdana"/>
                <a:cs typeface="Verdana"/>
              </a:rPr>
              <a:t> </a:t>
            </a:r>
            <a:r>
              <a:rPr sz="1800" spc="-40" dirty="0">
                <a:latin typeface="Verdana"/>
                <a:cs typeface="Verdana"/>
              </a:rPr>
              <a:t>that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day,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what</a:t>
            </a:r>
            <a:r>
              <a:rPr sz="1800" spc="-70" dirty="0">
                <a:latin typeface="Verdana"/>
                <a:cs typeface="Verdana"/>
              </a:rPr>
              <a:t> </a:t>
            </a:r>
            <a:r>
              <a:rPr sz="1800" spc="-190" dirty="0">
                <a:latin typeface="Verdana"/>
                <a:cs typeface="Verdana"/>
              </a:rPr>
              <a:t>is</a:t>
            </a:r>
            <a:r>
              <a:rPr sz="1800" spc="-15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the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spc="-40" dirty="0">
                <a:latin typeface="Verdana"/>
                <a:cs typeface="Verdana"/>
              </a:rPr>
              <a:t>probability</a:t>
            </a:r>
            <a:r>
              <a:rPr sz="1800" spc="-150" dirty="0">
                <a:latin typeface="Verdana"/>
                <a:cs typeface="Verdana"/>
              </a:rPr>
              <a:t> </a:t>
            </a:r>
            <a:r>
              <a:rPr sz="1800" spc="-45" dirty="0">
                <a:latin typeface="Verdana"/>
                <a:cs typeface="Verdana"/>
              </a:rPr>
              <a:t>that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spc="-40" dirty="0">
                <a:latin typeface="Verdana"/>
                <a:cs typeface="Verdana"/>
              </a:rPr>
              <a:t>more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than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spc="-45" dirty="0">
                <a:latin typeface="Verdana"/>
                <a:cs typeface="Verdana"/>
              </a:rPr>
              <a:t>three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spc="-45" dirty="0">
                <a:latin typeface="Verdana"/>
                <a:cs typeface="Verdana"/>
              </a:rPr>
              <a:t>patients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spc="-110" dirty="0">
                <a:latin typeface="Verdana"/>
                <a:cs typeface="Verdana"/>
              </a:rPr>
              <a:t>will </a:t>
            </a:r>
            <a:r>
              <a:rPr sz="1800" spc="-10" dirty="0">
                <a:latin typeface="Verdana"/>
                <a:cs typeface="Verdana"/>
              </a:rPr>
              <a:t>require </a:t>
            </a:r>
            <a:r>
              <a:rPr sz="1800" dirty="0">
                <a:latin typeface="Verdana"/>
                <a:cs typeface="Verdana"/>
              </a:rPr>
              <a:t>special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rooms?</a:t>
            </a:r>
            <a:endParaRPr sz="1800">
              <a:latin typeface="Verdana"/>
              <a:cs typeface="Verdan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60170" y="1516380"/>
          <a:ext cx="8126724" cy="7410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05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05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05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05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05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05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059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No.</a:t>
                      </a:r>
                      <a:r>
                        <a:rPr sz="1800" b="1" spc="-114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800" b="1" spc="-5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of</a:t>
                      </a:r>
                      <a:r>
                        <a:rPr sz="1800" b="1" spc="-8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flaws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CACE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CACE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CACE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CACE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3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CACE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4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CACE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5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CACE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6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CAC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10" dirty="0">
                          <a:latin typeface="Verdana"/>
                          <a:cs typeface="Verdana"/>
                        </a:rPr>
                        <a:t>Frequency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4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3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5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2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4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DBDBD34-C947-8741-F0CF-F6B42DFE4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956FB-D133-41F0-8033-983B299A6575}" type="datetime1">
              <a:rPr lang="en-US" smtClean="0"/>
              <a:t>7/22/2024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F03B5E"/>
      </a:accent1>
      <a:accent2>
        <a:srgbClr val="DC6FEC"/>
      </a:accent2>
      <a:accent3>
        <a:srgbClr val="60B1F2"/>
      </a:accent3>
      <a:accent4>
        <a:srgbClr val="6AD5BB"/>
      </a:accent4>
      <a:accent5>
        <a:srgbClr val="E8AB4E"/>
      </a:accent5>
      <a:accent6>
        <a:srgbClr val="F56447"/>
      </a:accent6>
      <a:hlink>
        <a:srgbClr val="8F8F8F"/>
      </a:hlink>
      <a:folHlink>
        <a:srgbClr val="A5A5A5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33ACF124-275F-44F2-8DE0-0A755069829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Metropolitan</Template>
  <TotalTime>455</TotalTime>
  <Words>2559</Words>
  <Application>Microsoft Office PowerPoint</Application>
  <PresentationFormat>Widescreen</PresentationFormat>
  <Paragraphs>313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9" baseType="lpstr">
      <vt:lpstr>Arial</vt:lpstr>
      <vt:lpstr>Calibri</vt:lpstr>
      <vt:lpstr>Calibri Light</vt:lpstr>
      <vt:lpstr>Cambria Math</vt:lpstr>
      <vt:lpstr>Garamond</vt:lpstr>
      <vt:lpstr>Symbol</vt:lpstr>
      <vt:lpstr>Tahoma</vt:lpstr>
      <vt:lpstr>Times New Roman</vt:lpstr>
      <vt:lpstr>Verdana</vt:lpstr>
      <vt:lpstr>Wingdings</vt:lpstr>
      <vt:lpstr>Metropolitan</vt:lpstr>
      <vt:lpstr>POISSON DISTRIBUTION</vt:lpstr>
      <vt:lpstr>Introduction</vt:lpstr>
      <vt:lpstr>Some phenomena that follows PD</vt:lpstr>
      <vt:lpstr>Difference between BD and PD</vt:lpstr>
      <vt:lpstr>Characteristic of Poisson Distribution (Conditions for Poisson Distribution)</vt:lpstr>
      <vt:lpstr>Poisson Formula</vt:lpstr>
      <vt:lpstr>Mean and Variance of PD</vt:lpstr>
      <vt:lpstr>Example: Customers arrive at a photocopying machine at an average rate of two every 10 mins interval. The no. of arrivals is distributed according to a PD. What is the probability that:</vt:lpstr>
      <vt:lpstr>Poisson distribution as an approximation of the Binomial distribution:</vt:lpstr>
      <vt:lpstr>Example: In a certain factory turning out optical lenses, there is a small chance 1/500 for a lens to be defective. The lenses are supplied in a packet of 10. Use Poisson distribution to calculate the approximate number of packets containing no defective, one defective and two defective lenses in a consignment of 20,000 packets.</vt:lpstr>
      <vt:lpstr>(a) Probability of zero defective = P (X = 0) = (2.7183) (0.02) = 0.9802</vt:lpstr>
      <vt:lpstr>Numerical: For the case of the thin copper wire, suppose that the number of flaws follows a Poisson distribution with a mean of 2.3 flaws per millimeter.</vt:lpstr>
      <vt:lpstr>PowerPoint Presentation</vt:lpstr>
      <vt:lpstr>PowerPoint Presentation</vt:lpstr>
      <vt:lpstr>PowerPoint Presentation</vt:lpstr>
      <vt:lpstr>PowerPoint Presentation</vt:lpstr>
      <vt:lpstr>Numerical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POISSON DISTRIBUTION</dc:title>
  <dc:creator>Santosh Chhatkuli</dc:creator>
  <cp:lastModifiedBy>Santosh Chhatkuli</cp:lastModifiedBy>
  <cp:revision>19</cp:revision>
  <dcterms:created xsi:type="dcterms:W3CDTF">2022-07-22T14:02:24Z</dcterms:created>
  <dcterms:modified xsi:type="dcterms:W3CDTF">2024-07-22T03:36:13Z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2020-11-24T00:00:00Z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2022-07-22T00:00:00Z</vt:filetime>
  </property>
  <property fmtid="{D5CDD505-2E9C-101B-9397-08002B2CF9AE}" pid="5" name="Producer">
    <vt:lpwstr>Microsoft® PowerPoint® 2016</vt:lpwstr>
  </property>
</Properties>
</file>