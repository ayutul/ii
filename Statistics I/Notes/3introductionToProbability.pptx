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31" r:id="rId4"/>
  </p:sldMasterIdLst>
  <p:notesMasterIdLst>
    <p:notesMasterId r:id="rId39"/>
  </p:notesMasterIdLst>
  <p:sldIdLst>
    <p:sldId id="266" r:id="rId5"/>
    <p:sldId id="309" r:id="rId6"/>
    <p:sldId id="310" r:id="rId7"/>
    <p:sldId id="311" r:id="rId8"/>
    <p:sldId id="313" r:id="rId9"/>
    <p:sldId id="314" r:id="rId10"/>
    <p:sldId id="315" r:id="rId11"/>
    <p:sldId id="312" r:id="rId12"/>
    <p:sldId id="316" r:id="rId13"/>
    <p:sldId id="317" r:id="rId14"/>
    <p:sldId id="318" r:id="rId15"/>
    <p:sldId id="319" r:id="rId16"/>
    <p:sldId id="320" r:id="rId17"/>
    <p:sldId id="321" r:id="rId18"/>
    <p:sldId id="322" r:id="rId19"/>
    <p:sldId id="323" r:id="rId20"/>
    <p:sldId id="325" r:id="rId21"/>
    <p:sldId id="326" r:id="rId22"/>
    <p:sldId id="324" r:id="rId23"/>
    <p:sldId id="339" r:id="rId24"/>
    <p:sldId id="327" r:id="rId25"/>
    <p:sldId id="328" r:id="rId26"/>
    <p:sldId id="330" r:id="rId27"/>
    <p:sldId id="329" r:id="rId28"/>
    <p:sldId id="331" r:id="rId29"/>
    <p:sldId id="333" r:id="rId30"/>
    <p:sldId id="342" r:id="rId31"/>
    <p:sldId id="341" r:id="rId32"/>
    <p:sldId id="332" r:id="rId33"/>
    <p:sldId id="335" r:id="rId34"/>
    <p:sldId id="334" r:id="rId35"/>
    <p:sldId id="336" r:id="rId36"/>
    <p:sldId id="337" r:id="rId37"/>
    <p:sldId id="338"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tosh Chhatkuli" initials="SC" lastIdx="1" clrIdx="0">
    <p:extLst>
      <p:ext uri="{19B8F6BF-5375-455C-9EA6-DF929625EA0E}">
        <p15:presenceInfo xmlns:p15="http://schemas.microsoft.com/office/powerpoint/2012/main" userId="Santosh Chhatku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9" autoAdjust="0"/>
  </p:normalViewPr>
  <p:slideViewPr>
    <p:cSldViewPr snapToGrid="0">
      <p:cViewPr varScale="1">
        <p:scale>
          <a:sx n="63" d="100"/>
          <a:sy n="63" d="100"/>
        </p:scale>
        <p:origin x="69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32A07D-F976-4E9F-8114-345B690EB3E0}"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CBA8647-CAC3-4170-BF8E-37A800EE28E9}">
      <dgm:prSet phldrT="[Text]"/>
      <dgm:spPr/>
      <dgm:t>
        <a:bodyPr/>
        <a:lstStyle/>
        <a:p>
          <a:r>
            <a:rPr lang="en-US" dirty="0"/>
            <a:t>Events</a:t>
          </a:r>
        </a:p>
      </dgm:t>
    </dgm:pt>
    <dgm:pt modelId="{3F16FE91-B636-4493-BE8B-3E4DEF66E169}" type="parTrans" cxnId="{AA4561AC-B6A4-45A5-89EC-1F929787FC24}">
      <dgm:prSet/>
      <dgm:spPr/>
      <dgm:t>
        <a:bodyPr/>
        <a:lstStyle/>
        <a:p>
          <a:endParaRPr lang="en-US"/>
        </a:p>
      </dgm:t>
    </dgm:pt>
    <dgm:pt modelId="{CBEBC820-1556-445A-AD1E-122286735688}" type="sibTrans" cxnId="{AA4561AC-B6A4-45A5-89EC-1F929787FC24}">
      <dgm:prSet/>
      <dgm:spPr/>
      <dgm:t>
        <a:bodyPr/>
        <a:lstStyle/>
        <a:p>
          <a:endParaRPr lang="en-US"/>
        </a:p>
      </dgm:t>
    </dgm:pt>
    <dgm:pt modelId="{91115B19-90FB-47D3-AE42-232240156764}">
      <dgm:prSet phldrT="[Text]"/>
      <dgm:spPr/>
      <dgm:t>
        <a:bodyPr/>
        <a:lstStyle/>
        <a:p>
          <a:r>
            <a:rPr lang="en-US" dirty="0"/>
            <a:t>Simple Events</a:t>
          </a:r>
        </a:p>
      </dgm:t>
    </dgm:pt>
    <dgm:pt modelId="{0113C83E-F3FD-445E-984C-818F7E457DBB}" type="parTrans" cxnId="{8516B1AD-D23A-4A34-9FAB-42D358ABF928}">
      <dgm:prSet/>
      <dgm:spPr/>
      <dgm:t>
        <a:bodyPr/>
        <a:lstStyle/>
        <a:p>
          <a:endParaRPr lang="en-US"/>
        </a:p>
      </dgm:t>
    </dgm:pt>
    <dgm:pt modelId="{D443C553-A718-4BF7-B589-36A5D8354AE0}" type="sibTrans" cxnId="{8516B1AD-D23A-4A34-9FAB-42D358ABF928}">
      <dgm:prSet/>
      <dgm:spPr/>
      <dgm:t>
        <a:bodyPr/>
        <a:lstStyle/>
        <a:p>
          <a:endParaRPr lang="en-US"/>
        </a:p>
      </dgm:t>
    </dgm:pt>
    <dgm:pt modelId="{0B03112D-EFD5-4A67-BCBD-2894C7CC12B9}">
      <dgm:prSet phldrT="[Text]"/>
      <dgm:spPr/>
      <dgm:t>
        <a:bodyPr/>
        <a:lstStyle/>
        <a:p>
          <a:r>
            <a:rPr lang="en-US" dirty="0"/>
            <a:t>Compound Events</a:t>
          </a:r>
        </a:p>
      </dgm:t>
    </dgm:pt>
    <dgm:pt modelId="{0A858E36-976E-4B0E-A2EA-0D9F50EF4A4C}" type="parTrans" cxnId="{68DD4DD2-4198-4B1D-8DF8-A41BD405EDAD}">
      <dgm:prSet/>
      <dgm:spPr/>
      <dgm:t>
        <a:bodyPr/>
        <a:lstStyle/>
        <a:p>
          <a:endParaRPr lang="en-US"/>
        </a:p>
      </dgm:t>
    </dgm:pt>
    <dgm:pt modelId="{098C5DAC-3739-464A-9CA2-8C07A2EFF9D2}" type="sibTrans" cxnId="{68DD4DD2-4198-4B1D-8DF8-A41BD405EDAD}">
      <dgm:prSet/>
      <dgm:spPr/>
      <dgm:t>
        <a:bodyPr/>
        <a:lstStyle/>
        <a:p>
          <a:endParaRPr lang="en-US"/>
        </a:p>
      </dgm:t>
    </dgm:pt>
    <dgm:pt modelId="{82CE2EA5-040A-46BD-B5AB-C5AEBF390BA9}">
      <dgm:prSet phldrT="[Text]"/>
      <dgm:spPr/>
      <dgm:t>
        <a:bodyPr/>
        <a:lstStyle/>
        <a:p>
          <a:r>
            <a:rPr lang="en-US" dirty="0"/>
            <a:t>Mutually Exclusive Events</a:t>
          </a:r>
        </a:p>
      </dgm:t>
    </dgm:pt>
    <dgm:pt modelId="{C90E8EAF-9BC1-4567-82EA-111AB05BF906}" type="parTrans" cxnId="{58636BFA-041D-4EC7-824C-97812827CE74}">
      <dgm:prSet/>
      <dgm:spPr/>
      <dgm:t>
        <a:bodyPr/>
        <a:lstStyle/>
        <a:p>
          <a:endParaRPr lang="en-US"/>
        </a:p>
      </dgm:t>
    </dgm:pt>
    <dgm:pt modelId="{088F1F27-BE7B-402B-8D88-A8E75D105C62}" type="sibTrans" cxnId="{58636BFA-041D-4EC7-824C-97812827CE74}">
      <dgm:prSet/>
      <dgm:spPr/>
      <dgm:t>
        <a:bodyPr/>
        <a:lstStyle/>
        <a:p>
          <a:endParaRPr lang="en-US"/>
        </a:p>
      </dgm:t>
    </dgm:pt>
    <dgm:pt modelId="{B40D7715-D278-4125-AC35-F62441DDB953}">
      <dgm:prSet/>
      <dgm:spPr/>
      <dgm:t>
        <a:bodyPr/>
        <a:lstStyle/>
        <a:p>
          <a:r>
            <a:rPr lang="en-US" dirty="0"/>
            <a:t>Equally Likely Events</a:t>
          </a:r>
        </a:p>
      </dgm:t>
    </dgm:pt>
    <dgm:pt modelId="{81839F23-626C-449D-A360-64180E5A8A97}" type="parTrans" cxnId="{40555358-64A8-4B13-AD89-9939349FAEE9}">
      <dgm:prSet/>
      <dgm:spPr/>
      <dgm:t>
        <a:bodyPr/>
        <a:lstStyle/>
        <a:p>
          <a:endParaRPr lang="en-US"/>
        </a:p>
      </dgm:t>
    </dgm:pt>
    <dgm:pt modelId="{A6910780-562E-4224-978D-ED0B339DE2EF}" type="sibTrans" cxnId="{40555358-64A8-4B13-AD89-9939349FAEE9}">
      <dgm:prSet/>
      <dgm:spPr/>
      <dgm:t>
        <a:bodyPr/>
        <a:lstStyle/>
        <a:p>
          <a:endParaRPr lang="en-US"/>
        </a:p>
      </dgm:t>
    </dgm:pt>
    <dgm:pt modelId="{A69828C8-B3D0-46ED-BF4D-CDBE0FD21780}">
      <dgm:prSet/>
      <dgm:spPr/>
      <dgm:t>
        <a:bodyPr/>
        <a:lstStyle/>
        <a:p>
          <a:r>
            <a:rPr lang="en-US" dirty="0"/>
            <a:t>Independent Events</a:t>
          </a:r>
        </a:p>
      </dgm:t>
    </dgm:pt>
    <dgm:pt modelId="{7FA4AFA1-C4FB-4BA5-B5AD-33887D57EABF}" type="parTrans" cxnId="{48EEE399-7A1B-48D9-9187-04C3A844997F}">
      <dgm:prSet/>
      <dgm:spPr/>
      <dgm:t>
        <a:bodyPr/>
        <a:lstStyle/>
        <a:p>
          <a:endParaRPr lang="en-US"/>
        </a:p>
      </dgm:t>
    </dgm:pt>
    <dgm:pt modelId="{636F0EBD-6620-4F60-89E6-5F7DDE3E1940}" type="sibTrans" cxnId="{48EEE399-7A1B-48D9-9187-04C3A844997F}">
      <dgm:prSet/>
      <dgm:spPr/>
      <dgm:t>
        <a:bodyPr/>
        <a:lstStyle/>
        <a:p>
          <a:endParaRPr lang="en-US"/>
        </a:p>
      </dgm:t>
    </dgm:pt>
    <dgm:pt modelId="{ADC1DB8C-9CC0-4370-AB2D-97700E3A3539}">
      <dgm:prSet/>
      <dgm:spPr/>
      <dgm:t>
        <a:bodyPr/>
        <a:lstStyle/>
        <a:p>
          <a:r>
            <a:rPr lang="en-US" dirty="0"/>
            <a:t>Exhaustive Events</a:t>
          </a:r>
        </a:p>
      </dgm:t>
    </dgm:pt>
    <dgm:pt modelId="{64F86378-58AB-48E4-ABD1-FF61A0464ADE}" type="parTrans" cxnId="{05BD3C6C-7CBE-4CA2-AA91-1214B81356C1}">
      <dgm:prSet/>
      <dgm:spPr/>
      <dgm:t>
        <a:bodyPr/>
        <a:lstStyle/>
        <a:p>
          <a:endParaRPr lang="en-US"/>
        </a:p>
      </dgm:t>
    </dgm:pt>
    <dgm:pt modelId="{A6762C54-6C38-4629-939A-B12E0D28F245}" type="sibTrans" cxnId="{05BD3C6C-7CBE-4CA2-AA91-1214B81356C1}">
      <dgm:prSet/>
      <dgm:spPr/>
      <dgm:t>
        <a:bodyPr/>
        <a:lstStyle/>
        <a:p>
          <a:endParaRPr lang="en-US"/>
        </a:p>
      </dgm:t>
    </dgm:pt>
    <dgm:pt modelId="{3684E444-BFBD-4AE3-806C-6DC9E78E2C39}">
      <dgm:prSet/>
      <dgm:spPr/>
      <dgm:t>
        <a:bodyPr/>
        <a:lstStyle/>
        <a:p>
          <a:r>
            <a:rPr lang="en-US" dirty="0"/>
            <a:t>Dependent Events</a:t>
          </a:r>
        </a:p>
      </dgm:t>
    </dgm:pt>
    <dgm:pt modelId="{DD79ABAA-8D02-44B4-929A-6C913C98607B}" type="parTrans" cxnId="{AE2E655F-983C-4E25-BDBC-BAD4A10A0163}">
      <dgm:prSet/>
      <dgm:spPr/>
      <dgm:t>
        <a:bodyPr/>
        <a:lstStyle/>
        <a:p>
          <a:endParaRPr lang="en-US"/>
        </a:p>
      </dgm:t>
    </dgm:pt>
    <dgm:pt modelId="{2A9A4989-D7A0-4C72-9722-E8D50D0C5AF6}" type="sibTrans" cxnId="{AE2E655F-983C-4E25-BDBC-BAD4A10A0163}">
      <dgm:prSet/>
      <dgm:spPr/>
      <dgm:t>
        <a:bodyPr/>
        <a:lstStyle/>
        <a:p>
          <a:endParaRPr lang="en-US"/>
        </a:p>
      </dgm:t>
    </dgm:pt>
    <dgm:pt modelId="{BA23F81A-6059-4C66-BC6A-0ED06778BD9F}" type="pres">
      <dgm:prSet presAssocID="{BB32A07D-F976-4E9F-8114-345B690EB3E0}" presName="hierChild1" presStyleCnt="0">
        <dgm:presLayoutVars>
          <dgm:orgChart val="1"/>
          <dgm:chPref val="1"/>
          <dgm:dir/>
          <dgm:animOne val="branch"/>
          <dgm:animLvl val="lvl"/>
          <dgm:resizeHandles/>
        </dgm:presLayoutVars>
      </dgm:prSet>
      <dgm:spPr/>
    </dgm:pt>
    <dgm:pt modelId="{05E608EC-9CFB-4ACC-90F7-3F578EF14011}" type="pres">
      <dgm:prSet presAssocID="{6CBA8647-CAC3-4170-BF8E-37A800EE28E9}" presName="hierRoot1" presStyleCnt="0">
        <dgm:presLayoutVars>
          <dgm:hierBranch val="init"/>
        </dgm:presLayoutVars>
      </dgm:prSet>
      <dgm:spPr/>
    </dgm:pt>
    <dgm:pt modelId="{80896198-B696-4750-9DFC-A8FE598EF6D4}" type="pres">
      <dgm:prSet presAssocID="{6CBA8647-CAC3-4170-BF8E-37A800EE28E9}" presName="rootComposite1" presStyleCnt="0"/>
      <dgm:spPr/>
    </dgm:pt>
    <dgm:pt modelId="{76D90EEE-F736-455C-93C5-CA3679733B59}" type="pres">
      <dgm:prSet presAssocID="{6CBA8647-CAC3-4170-BF8E-37A800EE28E9}" presName="rootText1" presStyleLbl="node0" presStyleIdx="0" presStyleCnt="1">
        <dgm:presLayoutVars>
          <dgm:chPref val="3"/>
        </dgm:presLayoutVars>
      </dgm:prSet>
      <dgm:spPr/>
    </dgm:pt>
    <dgm:pt modelId="{4D8F53BF-743B-4F92-8829-7170EF236B25}" type="pres">
      <dgm:prSet presAssocID="{6CBA8647-CAC3-4170-BF8E-37A800EE28E9}" presName="rootConnector1" presStyleLbl="node1" presStyleIdx="0" presStyleCnt="0"/>
      <dgm:spPr/>
    </dgm:pt>
    <dgm:pt modelId="{0E325332-F409-46C6-A73E-ACC9BBED3977}" type="pres">
      <dgm:prSet presAssocID="{6CBA8647-CAC3-4170-BF8E-37A800EE28E9}" presName="hierChild2" presStyleCnt="0"/>
      <dgm:spPr/>
    </dgm:pt>
    <dgm:pt modelId="{69A7C712-7C49-45A2-A843-6EAACC7945F8}" type="pres">
      <dgm:prSet presAssocID="{0113C83E-F3FD-445E-984C-818F7E457DBB}" presName="Name37" presStyleLbl="parChTrans1D2" presStyleIdx="0" presStyleCnt="7"/>
      <dgm:spPr/>
    </dgm:pt>
    <dgm:pt modelId="{C306C56D-E2BB-47C0-9DC3-31ACA9E0856B}" type="pres">
      <dgm:prSet presAssocID="{91115B19-90FB-47D3-AE42-232240156764}" presName="hierRoot2" presStyleCnt="0">
        <dgm:presLayoutVars>
          <dgm:hierBranch val="init"/>
        </dgm:presLayoutVars>
      </dgm:prSet>
      <dgm:spPr/>
    </dgm:pt>
    <dgm:pt modelId="{44485C33-5D3B-4E6D-BF67-07A8184B6B6B}" type="pres">
      <dgm:prSet presAssocID="{91115B19-90FB-47D3-AE42-232240156764}" presName="rootComposite" presStyleCnt="0"/>
      <dgm:spPr/>
    </dgm:pt>
    <dgm:pt modelId="{8E4B0FB9-4A44-4EF1-BF03-362D2542C876}" type="pres">
      <dgm:prSet presAssocID="{91115B19-90FB-47D3-AE42-232240156764}" presName="rootText" presStyleLbl="node2" presStyleIdx="0" presStyleCnt="7">
        <dgm:presLayoutVars>
          <dgm:chPref val="3"/>
        </dgm:presLayoutVars>
      </dgm:prSet>
      <dgm:spPr/>
    </dgm:pt>
    <dgm:pt modelId="{ED670C73-A756-4F0E-A11C-F8117DF93A8D}" type="pres">
      <dgm:prSet presAssocID="{91115B19-90FB-47D3-AE42-232240156764}" presName="rootConnector" presStyleLbl="node2" presStyleIdx="0" presStyleCnt="7"/>
      <dgm:spPr/>
    </dgm:pt>
    <dgm:pt modelId="{94FC0FEB-3475-40C3-BFD1-6F1AE68AEB83}" type="pres">
      <dgm:prSet presAssocID="{91115B19-90FB-47D3-AE42-232240156764}" presName="hierChild4" presStyleCnt="0"/>
      <dgm:spPr/>
    </dgm:pt>
    <dgm:pt modelId="{03F80D34-3DAE-4CBB-BADC-6F7C0AD15452}" type="pres">
      <dgm:prSet presAssocID="{91115B19-90FB-47D3-AE42-232240156764}" presName="hierChild5" presStyleCnt="0"/>
      <dgm:spPr/>
    </dgm:pt>
    <dgm:pt modelId="{6B3C5D19-D84E-4792-8182-784339629552}" type="pres">
      <dgm:prSet presAssocID="{0A858E36-976E-4B0E-A2EA-0D9F50EF4A4C}" presName="Name37" presStyleLbl="parChTrans1D2" presStyleIdx="1" presStyleCnt="7"/>
      <dgm:spPr/>
    </dgm:pt>
    <dgm:pt modelId="{3C99B925-562F-40AA-BE60-96CA6FA54896}" type="pres">
      <dgm:prSet presAssocID="{0B03112D-EFD5-4A67-BCBD-2894C7CC12B9}" presName="hierRoot2" presStyleCnt="0">
        <dgm:presLayoutVars>
          <dgm:hierBranch val="init"/>
        </dgm:presLayoutVars>
      </dgm:prSet>
      <dgm:spPr/>
    </dgm:pt>
    <dgm:pt modelId="{B74E8652-A82D-4B47-814E-0183125ECC42}" type="pres">
      <dgm:prSet presAssocID="{0B03112D-EFD5-4A67-BCBD-2894C7CC12B9}" presName="rootComposite" presStyleCnt="0"/>
      <dgm:spPr/>
    </dgm:pt>
    <dgm:pt modelId="{B28134B1-822B-4C18-A70D-327F8C3A9D75}" type="pres">
      <dgm:prSet presAssocID="{0B03112D-EFD5-4A67-BCBD-2894C7CC12B9}" presName="rootText" presStyleLbl="node2" presStyleIdx="1" presStyleCnt="7">
        <dgm:presLayoutVars>
          <dgm:chPref val="3"/>
        </dgm:presLayoutVars>
      </dgm:prSet>
      <dgm:spPr/>
    </dgm:pt>
    <dgm:pt modelId="{8CCF30B3-2540-48E7-9190-EC06548F4D7A}" type="pres">
      <dgm:prSet presAssocID="{0B03112D-EFD5-4A67-BCBD-2894C7CC12B9}" presName="rootConnector" presStyleLbl="node2" presStyleIdx="1" presStyleCnt="7"/>
      <dgm:spPr/>
    </dgm:pt>
    <dgm:pt modelId="{E7D56817-8A0E-4C16-A327-10A3087F0723}" type="pres">
      <dgm:prSet presAssocID="{0B03112D-EFD5-4A67-BCBD-2894C7CC12B9}" presName="hierChild4" presStyleCnt="0"/>
      <dgm:spPr/>
    </dgm:pt>
    <dgm:pt modelId="{4172CB2F-971D-4C9A-B80B-2BED4F26D874}" type="pres">
      <dgm:prSet presAssocID="{0B03112D-EFD5-4A67-BCBD-2894C7CC12B9}" presName="hierChild5" presStyleCnt="0"/>
      <dgm:spPr/>
    </dgm:pt>
    <dgm:pt modelId="{23EA9A9F-1ED4-4FCF-BA0B-AF88F0751148}" type="pres">
      <dgm:prSet presAssocID="{C90E8EAF-9BC1-4567-82EA-111AB05BF906}" presName="Name37" presStyleLbl="parChTrans1D2" presStyleIdx="2" presStyleCnt="7"/>
      <dgm:spPr/>
    </dgm:pt>
    <dgm:pt modelId="{154286DC-A084-4F77-91DC-66AE8EF3BABB}" type="pres">
      <dgm:prSet presAssocID="{82CE2EA5-040A-46BD-B5AB-C5AEBF390BA9}" presName="hierRoot2" presStyleCnt="0">
        <dgm:presLayoutVars>
          <dgm:hierBranch val="init"/>
        </dgm:presLayoutVars>
      </dgm:prSet>
      <dgm:spPr/>
    </dgm:pt>
    <dgm:pt modelId="{EC57879E-638C-400C-854B-047BA4984FAC}" type="pres">
      <dgm:prSet presAssocID="{82CE2EA5-040A-46BD-B5AB-C5AEBF390BA9}" presName="rootComposite" presStyleCnt="0"/>
      <dgm:spPr/>
    </dgm:pt>
    <dgm:pt modelId="{9318A767-3F22-447F-B74D-E5B37487A93C}" type="pres">
      <dgm:prSet presAssocID="{82CE2EA5-040A-46BD-B5AB-C5AEBF390BA9}" presName="rootText" presStyleLbl="node2" presStyleIdx="2" presStyleCnt="7">
        <dgm:presLayoutVars>
          <dgm:chPref val="3"/>
        </dgm:presLayoutVars>
      </dgm:prSet>
      <dgm:spPr/>
    </dgm:pt>
    <dgm:pt modelId="{2E102FE4-C370-420E-9B38-3737843D7636}" type="pres">
      <dgm:prSet presAssocID="{82CE2EA5-040A-46BD-B5AB-C5AEBF390BA9}" presName="rootConnector" presStyleLbl="node2" presStyleIdx="2" presStyleCnt="7"/>
      <dgm:spPr/>
    </dgm:pt>
    <dgm:pt modelId="{7E03A3C0-8EB6-4D31-9367-41FA2D687CC8}" type="pres">
      <dgm:prSet presAssocID="{82CE2EA5-040A-46BD-B5AB-C5AEBF390BA9}" presName="hierChild4" presStyleCnt="0"/>
      <dgm:spPr/>
    </dgm:pt>
    <dgm:pt modelId="{F0C45BAE-D4C2-4AC9-A670-85950599A11D}" type="pres">
      <dgm:prSet presAssocID="{82CE2EA5-040A-46BD-B5AB-C5AEBF390BA9}" presName="hierChild5" presStyleCnt="0"/>
      <dgm:spPr/>
    </dgm:pt>
    <dgm:pt modelId="{5B84D4F0-EB35-4245-AD20-26014B38E061}" type="pres">
      <dgm:prSet presAssocID="{81839F23-626C-449D-A360-64180E5A8A97}" presName="Name37" presStyleLbl="parChTrans1D2" presStyleIdx="3" presStyleCnt="7"/>
      <dgm:spPr/>
    </dgm:pt>
    <dgm:pt modelId="{A1C01EE3-2A78-4729-964A-4C1CE45BC888}" type="pres">
      <dgm:prSet presAssocID="{B40D7715-D278-4125-AC35-F62441DDB953}" presName="hierRoot2" presStyleCnt="0">
        <dgm:presLayoutVars>
          <dgm:hierBranch val="init"/>
        </dgm:presLayoutVars>
      </dgm:prSet>
      <dgm:spPr/>
    </dgm:pt>
    <dgm:pt modelId="{F5BF27F0-73CD-40A4-BB54-77BBEAB5A3E0}" type="pres">
      <dgm:prSet presAssocID="{B40D7715-D278-4125-AC35-F62441DDB953}" presName="rootComposite" presStyleCnt="0"/>
      <dgm:spPr/>
    </dgm:pt>
    <dgm:pt modelId="{798ECF23-7882-4E97-84CF-CE510055978B}" type="pres">
      <dgm:prSet presAssocID="{B40D7715-D278-4125-AC35-F62441DDB953}" presName="rootText" presStyleLbl="node2" presStyleIdx="3" presStyleCnt="7">
        <dgm:presLayoutVars>
          <dgm:chPref val="3"/>
        </dgm:presLayoutVars>
      </dgm:prSet>
      <dgm:spPr/>
    </dgm:pt>
    <dgm:pt modelId="{6C9663BD-4B3F-4866-937F-E7C816467D6A}" type="pres">
      <dgm:prSet presAssocID="{B40D7715-D278-4125-AC35-F62441DDB953}" presName="rootConnector" presStyleLbl="node2" presStyleIdx="3" presStyleCnt="7"/>
      <dgm:spPr/>
    </dgm:pt>
    <dgm:pt modelId="{2A7757A7-6BFB-497F-B0F2-A7DD628A195C}" type="pres">
      <dgm:prSet presAssocID="{B40D7715-D278-4125-AC35-F62441DDB953}" presName="hierChild4" presStyleCnt="0"/>
      <dgm:spPr/>
    </dgm:pt>
    <dgm:pt modelId="{C390AD13-F43F-48C7-911E-240AFBC8ADEC}" type="pres">
      <dgm:prSet presAssocID="{B40D7715-D278-4125-AC35-F62441DDB953}" presName="hierChild5" presStyleCnt="0"/>
      <dgm:spPr/>
    </dgm:pt>
    <dgm:pt modelId="{C4EE97F8-76CE-4C62-9C40-3DFEDAB53B70}" type="pres">
      <dgm:prSet presAssocID="{64F86378-58AB-48E4-ABD1-FF61A0464ADE}" presName="Name37" presStyleLbl="parChTrans1D2" presStyleIdx="4" presStyleCnt="7"/>
      <dgm:spPr/>
    </dgm:pt>
    <dgm:pt modelId="{6973D714-D07E-4937-A61D-F230C22EE9E7}" type="pres">
      <dgm:prSet presAssocID="{ADC1DB8C-9CC0-4370-AB2D-97700E3A3539}" presName="hierRoot2" presStyleCnt="0">
        <dgm:presLayoutVars>
          <dgm:hierBranch val="init"/>
        </dgm:presLayoutVars>
      </dgm:prSet>
      <dgm:spPr/>
    </dgm:pt>
    <dgm:pt modelId="{E0B49A6D-70E3-4E8A-A240-7121A76DFACB}" type="pres">
      <dgm:prSet presAssocID="{ADC1DB8C-9CC0-4370-AB2D-97700E3A3539}" presName="rootComposite" presStyleCnt="0"/>
      <dgm:spPr/>
    </dgm:pt>
    <dgm:pt modelId="{628334BB-A314-4289-915F-DF9AA8280245}" type="pres">
      <dgm:prSet presAssocID="{ADC1DB8C-9CC0-4370-AB2D-97700E3A3539}" presName="rootText" presStyleLbl="node2" presStyleIdx="4" presStyleCnt="7">
        <dgm:presLayoutVars>
          <dgm:chPref val="3"/>
        </dgm:presLayoutVars>
      </dgm:prSet>
      <dgm:spPr/>
    </dgm:pt>
    <dgm:pt modelId="{559DA952-BE8E-4F07-86AC-69747C057FB6}" type="pres">
      <dgm:prSet presAssocID="{ADC1DB8C-9CC0-4370-AB2D-97700E3A3539}" presName="rootConnector" presStyleLbl="node2" presStyleIdx="4" presStyleCnt="7"/>
      <dgm:spPr/>
    </dgm:pt>
    <dgm:pt modelId="{DAA19731-EFBE-43DD-9A79-03E86EFB27B0}" type="pres">
      <dgm:prSet presAssocID="{ADC1DB8C-9CC0-4370-AB2D-97700E3A3539}" presName="hierChild4" presStyleCnt="0"/>
      <dgm:spPr/>
    </dgm:pt>
    <dgm:pt modelId="{7B25B32B-E1EB-4AAF-96AA-4170C91EBC14}" type="pres">
      <dgm:prSet presAssocID="{ADC1DB8C-9CC0-4370-AB2D-97700E3A3539}" presName="hierChild5" presStyleCnt="0"/>
      <dgm:spPr/>
    </dgm:pt>
    <dgm:pt modelId="{303EFF7A-3295-45AA-9AF1-61545F9729AF}" type="pres">
      <dgm:prSet presAssocID="{7FA4AFA1-C4FB-4BA5-B5AD-33887D57EABF}" presName="Name37" presStyleLbl="parChTrans1D2" presStyleIdx="5" presStyleCnt="7"/>
      <dgm:spPr/>
    </dgm:pt>
    <dgm:pt modelId="{DC7D426F-E873-4052-9B91-D0FF9B0D06F6}" type="pres">
      <dgm:prSet presAssocID="{A69828C8-B3D0-46ED-BF4D-CDBE0FD21780}" presName="hierRoot2" presStyleCnt="0">
        <dgm:presLayoutVars>
          <dgm:hierBranch val="init"/>
        </dgm:presLayoutVars>
      </dgm:prSet>
      <dgm:spPr/>
    </dgm:pt>
    <dgm:pt modelId="{A7DBBD44-0038-47F6-AA12-04727E1A1DB6}" type="pres">
      <dgm:prSet presAssocID="{A69828C8-B3D0-46ED-BF4D-CDBE0FD21780}" presName="rootComposite" presStyleCnt="0"/>
      <dgm:spPr/>
    </dgm:pt>
    <dgm:pt modelId="{DEC3B598-A50D-4EE3-830A-AC1985016833}" type="pres">
      <dgm:prSet presAssocID="{A69828C8-B3D0-46ED-BF4D-CDBE0FD21780}" presName="rootText" presStyleLbl="node2" presStyleIdx="5" presStyleCnt="7">
        <dgm:presLayoutVars>
          <dgm:chPref val="3"/>
        </dgm:presLayoutVars>
      </dgm:prSet>
      <dgm:spPr/>
    </dgm:pt>
    <dgm:pt modelId="{3445F3AB-9AF5-4093-BF48-F50BA99D92CA}" type="pres">
      <dgm:prSet presAssocID="{A69828C8-B3D0-46ED-BF4D-CDBE0FD21780}" presName="rootConnector" presStyleLbl="node2" presStyleIdx="5" presStyleCnt="7"/>
      <dgm:spPr/>
    </dgm:pt>
    <dgm:pt modelId="{A6762925-597A-4E69-AD79-77272778E4CD}" type="pres">
      <dgm:prSet presAssocID="{A69828C8-B3D0-46ED-BF4D-CDBE0FD21780}" presName="hierChild4" presStyleCnt="0"/>
      <dgm:spPr/>
    </dgm:pt>
    <dgm:pt modelId="{44EF6522-1453-454D-95AA-B80986FCCB80}" type="pres">
      <dgm:prSet presAssocID="{A69828C8-B3D0-46ED-BF4D-CDBE0FD21780}" presName="hierChild5" presStyleCnt="0"/>
      <dgm:spPr/>
    </dgm:pt>
    <dgm:pt modelId="{EA5F649C-DBBA-4B76-AA74-E2D73D8EE2A4}" type="pres">
      <dgm:prSet presAssocID="{DD79ABAA-8D02-44B4-929A-6C913C98607B}" presName="Name37" presStyleLbl="parChTrans1D2" presStyleIdx="6" presStyleCnt="7"/>
      <dgm:spPr/>
    </dgm:pt>
    <dgm:pt modelId="{AA24822D-1E20-49D9-BC94-D0266B8F4A0B}" type="pres">
      <dgm:prSet presAssocID="{3684E444-BFBD-4AE3-806C-6DC9E78E2C39}" presName="hierRoot2" presStyleCnt="0">
        <dgm:presLayoutVars>
          <dgm:hierBranch val="init"/>
        </dgm:presLayoutVars>
      </dgm:prSet>
      <dgm:spPr/>
    </dgm:pt>
    <dgm:pt modelId="{D1A610B8-A617-4075-A7CC-D56926EF86BF}" type="pres">
      <dgm:prSet presAssocID="{3684E444-BFBD-4AE3-806C-6DC9E78E2C39}" presName="rootComposite" presStyleCnt="0"/>
      <dgm:spPr/>
    </dgm:pt>
    <dgm:pt modelId="{6917F73F-C9D2-4F13-B561-BAE8E58ED172}" type="pres">
      <dgm:prSet presAssocID="{3684E444-BFBD-4AE3-806C-6DC9E78E2C39}" presName="rootText" presStyleLbl="node2" presStyleIdx="6" presStyleCnt="7">
        <dgm:presLayoutVars>
          <dgm:chPref val="3"/>
        </dgm:presLayoutVars>
      </dgm:prSet>
      <dgm:spPr/>
    </dgm:pt>
    <dgm:pt modelId="{131FF522-FF60-41D1-9658-58BDB10A8863}" type="pres">
      <dgm:prSet presAssocID="{3684E444-BFBD-4AE3-806C-6DC9E78E2C39}" presName="rootConnector" presStyleLbl="node2" presStyleIdx="6" presStyleCnt="7"/>
      <dgm:spPr/>
    </dgm:pt>
    <dgm:pt modelId="{4EA07C10-D630-4BA3-90A3-15DB291FA956}" type="pres">
      <dgm:prSet presAssocID="{3684E444-BFBD-4AE3-806C-6DC9E78E2C39}" presName="hierChild4" presStyleCnt="0"/>
      <dgm:spPr/>
    </dgm:pt>
    <dgm:pt modelId="{ADCA2E37-CC11-41B9-A071-7A1E13A7EB62}" type="pres">
      <dgm:prSet presAssocID="{3684E444-BFBD-4AE3-806C-6DC9E78E2C39}" presName="hierChild5" presStyleCnt="0"/>
      <dgm:spPr/>
    </dgm:pt>
    <dgm:pt modelId="{34FF2F27-AA21-42F1-9C19-0313DA0867B5}" type="pres">
      <dgm:prSet presAssocID="{6CBA8647-CAC3-4170-BF8E-37A800EE28E9}" presName="hierChild3" presStyleCnt="0"/>
      <dgm:spPr/>
    </dgm:pt>
  </dgm:ptLst>
  <dgm:cxnLst>
    <dgm:cxn modelId="{CD80F317-12ED-465F-BF50-7F1BEAFD073C}" type="presOf" srcId="{82CE2EA5-040A-46BD-B5AB-C5AEBF390BA9}" destId="{9318A767-3F22-447F-B74D-E5B37487A93C}" srcOrd="0" destOrd="0" presId="urn:microsoft.com/office/officeart/2005/8/layout/orgChart1"/>
    <dgm:cxn modelId="{3FD53534-EEBB-4D38-9E9D-ED7D854A4DDA}" type="presOf" srcId="{81839F23-626C-449D-A360-64180E5A8A97}" destId="{5B84D4F0-EB35-4245-AD20-26014B38E061}" srcOrd="0" destOrd="0" presId="urn:microsoft.com/office/officeart/2005/8/layout/orgChart1"/>
    <dgm:cxn modelId="{67AB7938-B54E-4FF3-9118-8EC472EAD909}" type="presOf" srcId="{64F86378-58AB-48E4-ABD1-FF61A0464ADE}" destId="{C4EE97F8-76CE-4C62-9C40-3DFEDAB53B70}" srcOrd="0" destOrd="0" presId="urn:microsoft.com/office/officeart/2005/8/layout/orgChart1"/>
    <dgm:cxn modelId="{D314133D-B1A1-4203-84E6-1034278E5524}" type="presOf" srcId="{ADC1DB8C-9CC0-4370-AB2D-97700E3A3539}" destId="{628334BB-A314-4289-915F-DF9AA8280245}" srcOrd="0" destOrd="0" presId="urn:microsoft.com/office/officeart/2005/8/layout/orgChart1"/>
    <dgm:cxn modelId="{806CFB3D-C152-47DE-803B-75D2EC0AE149}" type="presOf" srcId="{0B03112D-EFD5-4A67-BCBD-2894C7CC12B9}" destId="{8CCF30B3-2540-48E7-9190-EC06548F4D7A}" srcOrd="1" destOrd="0" presId="urn:microsoft.com/office/officeart/2005/8/layout/orgChart1"/>
    <dgm:cxn modelId="{EB6DCA3E-13E7-4D45-991C-4C6FDC9C95E4}" type="presOf" srcId="{A69828C8-B3D0-46ED-BF4D-CDBE0FD21780}" destId="{3445F3AB-9AF5-4093-BF48-F50BA99D92CA}" srcOrd="1" destOrd="0" presId="urn:microsoft.com/office/officeart/2005/8/layout/orgChart1"/>
    <dgm:cxn modelId="{AE2E655F-983C-4E25-BDBC-BAD4A10A0163}" srcId="{6CBA8647-CAC3-4170-BF8E-37A800EE28E9}" destId="{3684E444-BFBD-4AE3-806C-6DC9E78E2C39}" srcOrd="6" destOrd="0" parTransId="{DD79ABAA-8D02-44B4-929A-6C913C98607B}" sibTransId="{2A9A4989-D7A0-4C72-9722-E8D50D0C5AF6}"/>
    <dgm:cxn modelId="{70879142-6AC0-4418-A6C3-968CFFE2CB09}" type="presOf" srcId="{91115B19-90FB-47D3-AE42-232240156764}" destId="{8E4B0FB9-4A44-4EF1-BF03-362D2542C876}" srcOrd="0" destOrd="0" presId="urn:microsoft.com/office/officeart/2005/8/layout/orgChart1"/>
    <dgm:cxn modelId="{B08FFB48-DD6A-4637-920B-DFD81F66C519}" type="presOf" srcId="{7FA4AFA1-C4FB-4BA5-B5AD-33887D57EABF}" destId="{303EFF7A-3295-45AA-9AF1-61545F9729AF}" srcOrd="0" destOrd="0" presId="urn:microsoft.com/office/officeart/2005/8/layout/orgChart1"/>
    <dgm:cxn modelId="{05BD3C6C-7CBE-4CA2-AA91-1214B81356C1}" srcId="{6CBA8647-CAC3-4170-BF8E-37A800EE28E9}" destId="{ADC1DB8C-9CC0-4370-AB2D-97700E3A3539}" srcOrd="4" destOrd="0" parTransId="{64F86378-58AB-48E4-ABD1-FF61A0464ADE}" sibTransId="{A6762C54-6C38-4629-939A-B12E0D28F245}"/>
    <dgm:cxn modelId="{86E0196D-4975-44AA-BC2F-85EBA2F9E5E0}" type="presOf" srcId="{DD79ABAA-8D02-44B4-929A-6C913C98607B}" destId="{EA5F649C-DBBA-4B76-AA74-E2D73D8EE2A4}" srcOrd="0" destOrd="0" presId="urn:microsoft.com/office/officeart/2005/8/layout/orgChart1"/>
    <dgm:cxn modelId="{B24D2A70-A211-4DC4-A302-216D2A2FD4D1}" type="presOf" srcId="{BB32A07D-F976-4E9F-8114-345B690EB3E0}" destId="{BA23F81A-6059-4C66-BC6A-0ED06778BD9F}" srcOrd="0" destOrd="0" presId="urn:microsoft.com/office/officeart/2005/8/layout/orgChart1"/>
    <dgm:cxn modelId="{042E8C51-73A6-4E3C-91EE-99C9631B2D47}" type="presOf" srcId="{3684E444-BFBD-4AE3-806C-6DC9E78E2C39}" destId="{131FF522-FF60-41D1-9658-58BDB10A8863}" srcOrd="1" destOrd="0" presId="urn:microsoft.com/office/officeart/2005/8/layout/orgChart1"/>
    <dgm:cxn modelId="{EA160155-AE39-4BD4-9DBB-45A1A14C7598}" type="presOf" srcId="{0A858E36-976E-4B0E-A2EA-0D9F50EF4A4C}" destId="{6B3C5D19-D84E-4792-8182-784339629552}" srcOrd="0" destOrd="0" presId="urn:microsoft.com/office/officeart/2005/8/layout/orgChart1"/>
    <dgm:cxn modelId="{743D1876-9993-403F-A659-41591C582FB4}" type="presOf" srcId="{C90E8EAF-9BC1-4567-82EA-111AB05BF906}" destId="{23EA9A9F-1ED4-4FCF-BA0B-AF88F0751148}" srcOrd="0" destOrd="0" presId="urn:microsoft.com/office/officeart/2005/8/layout/orgChart1"/>
    <dgm:cxn modelId="{43C16757-56B3-4E48-A640-D1EAFB1A50D9}" type="presOf" srcId="{B40D7715-D278-4125-AC35-F62441DDB953}" destId="{798ECF23-7882-4E97-84CF-CE510055978B}" srcOrd="0" destOrd="0" presId="urn:microsoft.com/office/officeart/2005/8/layout/orgChart1"/>
    <dgm:cxn modelId="{40555358-64A8-4B13-AD89-9939349FAEE9}" srcId="{6CBA8647-CAC3-4170-BF8E-37A800EE28E9}" destId="{B40D7715-D278-4125-AC35-F62441DDB953}" srcOrd="3" destOrd="0" parTransId="{81839F23-626C-449D-A360-64180E5A8A97}" sibTransId="{A6910780-562E-4224-978D-ED0B339DE2EF}"/>
    <dgm:cxn modelId="{EE67358A-7013-408E-8747-F598AD17DB4F}" type="presOf" srcId="{0113C83E-F3FD-445E-984C-818F7E457DBB}" destId="{69A7C712-7C49-45A2-A843-6EAACC7945F8}" srcOrd="0" destOrd="0" presId="urn:microsoft.com/office/officeart/2005/8/layout/orgChart1"/>
    <dgm:cxn modelId="{E0C3448D-E844-4CCB-973D-12DC76088440}" type="presOf" srcId="{82CE2EA5-040A-46BD-B5AB-C5AEBF390BA9}" destId="{2E102FE4-C370-420E-9B38-3737843D7636}" srcOrd="1" destOrd="0" presId="urn:microsoft.com/office/officeart/2005/8/layout/orgChart1"/>
    <dgm:cxn modelId="{48EEE399-7A1B-48D9-9187-04C3A844997F}" srcId="{6CBA8647-CAC3-4170-BF8E-37A800EE28E9}" destId="{A69828C8-B3D0-46ED-BF4D-CDBE0FD21780}" srcOrd="5" destOrd="0" parTransId="{7FA4AFA1-C4FB-4BA5-B5AD-33887D57EABF}" sibTransId="{636F0EBD-6620-4F60-89E6-5F7DDE3E1940}"/>
    <dgm:cxn modelId="{AA4561AC-B6A4-45A5-89EC-1F929787FC24}" srcId="{BB32A07D-F976-4E9F-8114-345B690EB3E0}" destId="{6CBA8647-CAC3-4170-BF8E-37A800EE28E9}" srcOrd="0" destOrd="0" parTransId="{3F16FE91-B636-4493-BE8B-3E4DEF66E169}" sibTransId="{CBEBC820-1556-445A-AD1E-122286735688}"/>
    <dgm:cxn modelId="{8516B1AD-D23A-4A34-9FAB-42D358ABF928}" srcId="{6CBA8647-CAC3-4170-BF8E-37A800EE28E9}" destId="{91115B19-90FB-47D3-AE42-232240156764}" srcOrd="0" destOrd="0" parTransId="{0113C83E-F3FD-445E-984C-818F7E457DBB}" sibTransId="{D443C553-A718-4BF7-B589-36A5D8354AE0}"/>
    <dgm:cxn modelId="{2C63DFAE-9005-45E3-831A-40000D38D912}" type="presOf" srcId="{0B03112D-EFD5-4A67-BCBD-2894C7CC12B9}" destId="{B28134B1-822B-4C18-A70D-327F8C3A9D75}" srcOrd="0" destOrd="0" presId="urn:microsoft.com/office/officeart/2005/8/layout/orgChart1"/>
    <dgm:cxn modelId="{FB0487B0-F1F8-405A-836C-C71A0320D397}" type="presOf" srcId="{3684E444-BFBD-4AE3-806C-6DC9E78E2C39}" destId="{6917F73F-C9D2-4F13-B561-BAE8E58ED172}" srcOrd="0" destOrd="0" presId="urn:microsoft.com/office/officeart/2005/8/layout/orgChart1"/>
    <dgm:cxn modelId="{974A47B6-FFFD-4237-AA4A-094138866D1D}" type="presOf" srcId="{6CBA8647-CAC3-4170-BF8E-37A800EE28E9}" destId="{76D90EEE-F736-455C-93C5-CA3679733B59}" srcOrd="0" destOrd="0" presId="urn:microsoft.com/office/officeart/2005/8/layout/orgChart1"/>
    <dgm:cxn modelId="{3220DDBE-18BF-4041-A929-F93736AB8C60}" type="presOf" srcId="{6CBA8647-CAC3-4170-BF8E-37A800EE28E9}" destId="{4D8F53BF-743B-4F92-8829-7170EF236B25}" srcOrd="1" destOrd="0" presId="urn:microsoft.com/office/officeart/2005/8/layout/orgChart1"/>
    <dgm:cxn modelId="{8422CED0-0463-412E-B75B-417FF17DB2C5}" type="presOf" srcId="{A69828C8-B3D0-46ED-BF4D-CDBE0FD21780}" destId="{DEC3B598-A50D-4EE3-830A-AC1985016833}" srcOrd="0" destOrd="0" presId="urn:microsoft.com/office/officeart/2005/8/layout/orgChart1"/>
    <dgm:cxn modelId="{68DD4DD2-4198-4B1D-8DF8-A41BD405EDAD}" srcId="{6CBA8647-CAC3-4170-BF8E-37A800EE28E9}" destId="{0B03112D-EFD5-4A67-BCBD-2894C7CC12B9}" srcOrd="1" destOrd="0" parTransId="{0A858E36-976E-4B0E-A2EA-0D9F50EF4A4C}" sibTransId="{098C5DAC-3739-464A-9CA2-8C07A2EFF9D2}"/>
    <dgm:cxn modelId="{5230C5E9-943C-4393-B3D8-4DC6610026FE}" type="presOf" srcId="{ADC1DB8C-9CC0-4370-AB2D-97700E3A3539}" destId="{559DA952-BE8E-4F07-86AC-69747C057FB6}" srcOrd="1" destOrd="0" presId="urn:microsoft.com/office/officeart/2005/8/layout/orgChart1"/>
    <dgm:cxn modelId="{F5EC87F5-4A1C-4AFB-97C1-B5B7C29CC811}" type="presOf" srcId="{B40D7715-D278-4125-AC35-F62441DDB953}" destId="{6C9663BD-4B3F-4866-937F-E7C816467D6A}" srcOrd="1" destOrd="0" presId="urn:microsoft.com/office/officeart/2005/8/layout/orgChart1"/>
    <dgm:cxn modelId="{E9B7EEF7-2EB8-4DE7-BA16-2527ADD3C31E}" type="presOf" srcId="{91115B19-90FB-47D3-AE42-232240156764}" destId="{ED670C73-A756-4F0E-A11C-F8117DF93A8D}" srcOrd="1" destOrd="0" presId="urn:microsoft.com/office/officeart/2005/8/layout/orgChart1"/>
    <dgm:cxn modelId="{58636BFA-041D-4EC7-824C-97812827CE74}" srcId="{6CBA8647-CAC3-4170-BF8E-37A800EE28E9}" destId="{82CE2EA5-040A-46BD-B5AB-C5AEBF390BA9}" srcOrd="2" destOrd="0" parTransId="{C90E8EAF-9BC1-4567-82EA-111AB05BF906}" sibTransId="{088F1F27-BE7B-402B-8D88-A8E75D105C62}"/>
    <dgm:cxn modelId="{C84F7AF3-58AF-4585-AE25-086456ED2BA3}" type="presParOf" srcId="{BA23F81A-6059-4C66-BC6A-0ED06778BD9F}" destId="{05E608EC-9CFB-4ACC-90F7-3F578EF14011}" srcOrd="0" destOrd="0" presId="urn:microsoft.com/office/officeart/2005/8/layout/orgChart1"/>
    <dgm:cxn modelId="{6DB38682-8A8C-46B3-B3ED-AB268A5D1D1C}" type="presParOf" srcId="{05E608EC-9CFB-4ACC-90F7-3F578EF14011}" destId="{80896198-B696-4750-9DFC-A8FE598EF6D4}" srcOrd="0" destOrd="0" presId="urn:microsoft.com/office/officeart/2005/8/layout/orgChart1"/>
    <dgm:cxn modelId="{5265BACD-EBAF-4C84-BC7E-671140941ED6}" type="presParOf" srcId="{80896198-B696-4750-9DFC-A8FE598EF6D4}" destId="{76D90EEE-F736-455C-93C5-CA3679733B59}" srcOrd="0" destOrd="0" presId="urn:microsoft.com/office/officeart/2005/8/layout/orgChart1"/>
    <dgm:cxn modelId="{7B92D7C4-35A5-4470-8107-D1B686F5A862}" type="presParOf" srcId="{80896198-B696-4750-9DFC-A8FE598EF6D4}" destId="{4D8F53BF-743B-4F92-8829-7170EF236B25}" srcOrd="1" destOrd="0" presId="urn:microsoft.com/office/officeart/2005/8/layout/orgChart1"/>
    <dgm:cxn modelId="{D82D6AE8-DFAC-40EC-A666-1788E890098C}" type="presParOf" srcId="{05E608EC-9CFB-4ACC-90F7-3F578EF14011}" destId="{0E325332-F409-46C6-A73E-ACC9BBED3977}" srcOrd="1" destOrd="0" presId="urn:microsoft.com/office/officeart/2005/8/layout/orgChart1"/>
    <dgm:cxn modelId="{04973A2E-2323-4947-9631-6B8659FDB833}" type="presParOf" srcId="{0E325332-F409-46C6-A73E-ACC9BBED3977}" destId="{69A7C712-7C49-45A2-A843-6EAACC7945F8}" srcOrd="0" destOrd="0" presId="urn:microsoft.com/office/officeart/2005/8/layout/orgChart1"/>
    <dgm:cxn modelId="{91778B1D-807B-4E70-A6CC-4F5BC9F69F85}" type="presParOf" srcId="{0E325332-F409-46C6-A73E-ACC9BBED3977}" destId="{C306C56D-E2BB-47C0-9DC3-31ACA9E0856B}" srcOrd="1" destOrd="0" presId="urn:microsoft.com/office/officeart/2005/8/layout/orgChart1"/>
    <dgm:cxn modelId="{9C5A5CDA-35F6-4D43-B557-32C567EA89EA}" type="presParOf" srcId="{C306C56D-E2BB-47C0-9DC3-31ACA9E0856B}" destId="{44485C33-5D3B-4E6D-BF67-07A8184B6B6B}" srcOrd="0" destOrd="0" presId="urn:microsoft.com/office/officeart/2005/8/layout/orgChart1"/>
    <dgm:cxn modelId="{8A549629-2401-408F-91F7-97EE5D7CD8FD}" type="presParOf" srcId="{44485C33-5D3B-4E6D-BF67-07A8184B6B6B}" destId="{8E4B0FB9-4A44-4EF1-BF03-362D2542C876}" srcOrd="0" destOrd="0" presId="urn:microsoft.com/office/officeart/2005/8/layout/orgChart1"/>
    <dgm:cxn modelId="{462AE7A8-361F-4A6C-A96F-868C959B7B5D}" type="presParOf" srcId="{44485C33-5D3B-4E6D-BF67-07A8184B6B6B}" destId="{ED670C73-A756-4F0E-A11C-F8117DF93A8D}" srcOrd="1" destOrd="0" presId="urn:microsoft.com/office/officeart/2005/8/layout/orgChart1"/>
    <dgm:cxn modelId="{FBEBA3A9-EDD1-45C9-8F3C-EB40667C52D6}" type="presParOf" srcId="{C306C56D-E2BB-47C0-9DC3-31ACA9E0856B}" destId="{94FC0FEB-3475-40C3-BFD1-6F1AE68AEB83}" srcOrd="1" destOrd="0" presId="urn:microsoft.com/office/officeart/2005/8/layout/orgChart1"/>
    <dgm:cxn modelId="{16DFA8E1-060B-4E2D-A623-CAECC5E28142}" type="presParOf" srcId="{C306C56D-E2BB-47C0-9DC3-31ACA9E0856B}" destId="{03F80D34-3DAE-4CBB-BADC-6F7C0AD15452}" srcOrd="2" destOrd="0" presId="urn:microsoft.com/office/officeart/2005/8/layout/orgChart1"/>
    <dgm:cxn modelId="{5FC7B3A8-E3C5-49B3-A461-B10F4BF6E5CC}" type="presParOf" srcId="{0E325332-F409-46C6-A73E-ACC9BBED3977}" destId="{6B3C5D19-D84E-4792-8182-784339629552}" srcOrd="2" destOrd="0" presId="urn:microsoft.com/office/officeart/2005/8/layout/orgChart1"/>
    <dgm:cxn modelId="{63A6EA3C-552D-4761-9FE3-F099DE00CC72}" type="presParOf" srcId="{0E325332-F409-46C6-A73E-ACC9BBED3977}" destId="{3C99B925-562F-40AA-BE60-96CA6FA54896}" srcOrd="3" destOrd="0" presId="urn:microsoft.com/office/officeart/2005/8/layout/orgChart1"/>
    <dgm:cxn modelId="{4BD7604A-467D-4577-9C99-86DA7DB61472}" type="presParOf" srcId="{3C99B925-562F-40AA-BE60-96CA6FA54896}" destId="{B74E8652-A82D-4B47-814E-0183125ECC42}" srcOrd="0" destOrd="0" presId="urn:microsoft.com/office/officeart/2005/8/layout/orgChart1"/>
    <dgm:cxn modelId="{8F20935B-75D0-466C-A9A3-00FF53D60F24}" type="presParOf" srcId="{B74E8652-A82D-4B47-814E-0183125ECC42}" destId="{B28134B1-822B-4C18-A70D-327F8C3A9D75}" srcOrd="0" destOrd="0" presId="urn:microsoft.com/office/officeart/2005/8/layout/orgChart1"/>
    <dgm:cxn modelId="{7BB5E389-A71F-45AD-B7D9-E01794E6A23D}" type="presParOf" srcId="{B74E8652-A82D-4B47-814E-0183125ECC42}" destId="{8CCF30B3-2540-48E7-9190-EC06548F4D7A}" srcOrd="1" destOrd="0" presId="urn:microsoft.com/office/officeart/2005/8/layout/orgChart1"/>
    <dgm:cxn modelId="{32AB038C-3487-4104-A23B-2475BABCF9F6}" type="presParOf" srcId="{3C99B925-562F-40AA-BE60-96CA6FA54896}" destId="{E7D56817-8A0E-4C16-A327-10A3087F0723}" srcOrd="1" destOrd="0" presId="urn:microsoft.com/office/officeart/2005/8/layout/orgChart1"/>
    <dgm:cxn modelId="{87008815-22D7-4059-9B0E-94A3C13756ED}" type="presParOf" srcId="{3C99B925-562F-40AA-BE60-96CA6FA54896}" destId="{4172CB2F-971D-4C9A-B80B-2BED4F26D874}" srcOrd="2" destOrd="0" presId="urn:microsoft.com/office/officeart/2005/8/layout/orgChart1"/>
    <dgm:cxn modelId="{F630EEAF-738D-4373-B033-D64C926C5322}" type="presParOf" srcId="{0E325332-F409-46C6-A73E-ACC9BBED3977}" destId="{23EA9A9F-1ED4-4FCF-BA0B-AF88F0751148}" srcOrd="4" destOrd="0" presId="urn:microsoft.com/office/officeart/2005/8/layout/orgChart1"/>
    <dgm:cxn modelId="{DA9D4E66-FB69-4B69-88CA-7484FEA81586}" type="presParOf" srcId="{0E325332-F409-46C6-A73E-ACC9BBED3977}" destId="{154286DC-A084-4F77-91DC-66AE8EF3BABB}" srcOrd="5" destOrd="0" presId="urn:microsoft.com/office/officeart/2005/8/layout/orgChart1"/>
    <dgm:cxn modelId="{3DFF6221-E9B6-4A58-931B-97D322A23AB5}" type="presParOf" srcId="{154286DC-A084-4F77-91DC-66AE8EF3BABB}" destId="{EC57879E-638C-400C-854B-047BA4984FAC}" srcOrd="0" destOrd="0" presId="urn:microsoft.com/office/officeart/2005/8/layout/orgChart1"/>
    <dgm:cxn modelId="{C2D38BD2-3110-443E-AF63-9A6BA07A70F0}" type="presParOf" srcId="{EC57879E-638C-400C-854B-047BA4984FAC}" destId="{9318A767-3F22-447F-B74D-E5B37487A93C}" srcOrd="0" destOrd="0" presId="urn:microsoft.com/office/officeart/2005/8/layout/orgChart1"/>
    <dgm:cxn modelId="{07AFB11C-71C6-4BAB-96CC-841900909085}" type="presParOf" srcId="{EC57879E-638C-400C-854B-047BA4984FAC}" destId="{2E102FE4-C370-420E-9B38-3737843D7636}" srcOrd="1" destOrd="0" presId="urn:microsoft.com/office/officeart/2005/8/layout/orgChart1"/>
    <dgm:cxn modelId="{1A9949B3-9F30-45FC-A0BC-26B0F4101C08}" type="presParOf" srcId="{154286DC-A084-4F77-91DC-66AE8EF3BABB}" destId="{7E03A3C0-8EB6-4D31-9367-41FA2D687CC8}" srcOrd="1" destOrd="0" presId="urn:microsoft.com/office/officeart/2005/8/layout/orgChart1"/>
    <dgm:cxn modelId="{92D1620D-0F77-402D-9B44-E5A5065BFC88}" type="presParOf" srcId="{154286DC-A084-4F77-91DC-66AE8EF3BABB}" destId="{F0C45BAE-D4C2-4AC9-A670-85950599A11D}" srcOrd="2" destOrd="0" presId="urn:microsoft.com/office/officeart/2005/8/layout/orgChart1"/>
    <dgm:cxn modelId="{6AA94A5D-76D4-41C1-9515-C0A65E487798}" type="presParOf" srcId="{0E325332-F409-46C6-A73E-ACC9BBED3977}" destId="{5B84D4F0-EB35-4245-AD20-26014B38E061}" srcOrd="6" destOrd="0" presId="urn:microsoft.com/office/officeart/2005/8/layout/orgChart1"/>
    <dgm:cxn modelId="{6B52A161-5276-4442-90FE-BD8FB8DE293A}" type="presParOf" srcId="{0E325332-F409-46C6-A73E-ACC9BBED3977}" destId="{A1C01EE3-2A78-4729-964A-4C1CE45BC888}" srcOrd="7" destOrd="0" presId="urn:microsoft.com/office/officeart/2005/8/layout/orgChart1"/>
    <dgm:cxn modelId="{20F6227F-10A8-4B5A-BBDA-2A8D7423C6EA}" type="presParOf" srcId="{A1C01EE3-2A78-4729-964A-4C1CE45BC888}" destId="{F5BF27F0-73CD-40A4-BB54-77BBEAB5A3E0}" srcOrd="0" destOrd="0" presId="urn:microsoft.com/office/officeart/2005/8/layout/orgChart1"/>
    <dgm:cxn modelId="{681982C6-B4CB-4929-9E53-93EC531E3096}" type="presParOf" srcId="{F5BF27F0-73CD-40A4-BB54-77BBEAB5A3E0}" destId="{798ECF23-7882-4E97-84CF-CE510055978B}" srcOrd="0" destOrd="0" presId="urn:microsoft.com/office/officeart/2005/8/layout/orgChart1"/>
    <dgm:cxn modelId="{562EFFD1-4AEC-4E51-A475-4C47DD83BBAE}" type="presParOf" srcId="{F5BF27F0-73CD-40A4-BB54-77BBEAB5A3E0}" destId="{6C9663BD-4B3F-4866-937F-E7C816467D6A}" srcOrd="1" destOrd="0" presId="urn:microsoft.com/office/officeart/2005/8/layout/orgChart1"/>
    <dgm:cxn modelId="{119F281F-3F56-4D91-B43D-6ED4F8E9FF25}" type="presParOf" srcId="{A1C01EE3-2A78-4729-964A-4C1CE45BC888}" destId="{2A7757A7-6BFB-497F-B0F2-A7DD628A195C}" srcOrd="1" destOrd="0" presId="urn:microsoft.com/office/officeart/2005/8/layout/orgChart1"/>
    <dgm:cxn modelId="{A71D06AD-5319-457B-A280-F099C24D8BD7}" type="presParOf" srcId="{A1C01EE3-2A78-4729-964A-4C1CE45BC888}" destId="{C390AD13-F43F-48C7-911E-240AFBC8ADEC}" srcOrd="2" destOrd="0" presId="urn:microsoft.com/office/officeart/2005/8/layout/orgChart1"/>
    <dgm:cxn modelId="{D03D7605-270E-4052-A482-B495A5B66C6B}" type="presParOf" srcId="{0E325332-F409-46C6-A73E-ACC9BBED3977}" destId="{C4EE97F8-76CE-4C62-9C40-3DFEDAB53B70}" srcOrd="8" destOrd="0" presId="urn:microsoft.com/office/officeart/2005/8/layout/orgChart1"/>
    <dgm:cxn modelId="{B84390E6-7CA7-4BBA-8ED5-537DC46720EE}" type="presParOf" srcId="{0E325332-F409-46C6-A73E-ACC9BBED3977}" destId="{6973D714-D07E-4937-A61D-F230C22EE9E7}" srcOrd="9" destOrd="0" presId="urn:microsoft.com/office/officeart/2005/8/layout/orgChart1"/>
    <dgm:cxn modelId="{E5B7B110-2E1D-4F32-95DE-F11A87ACF2A8}" type="presParOf" srcId="{6973D714-D07E-4937-A61D-F230C22EE9E7}" destId="{E0B49A6D-70E3-4E8A-A240-7121A76DFACB}" srcOrd="0" destOrd="0" presId="urn:microsoft.com/office/officeart/2005/8/layout/orgChart1"/>
    <dgm:cxn modelId="{AD680601-4FEE-41EC-A2DB-73581B375AA0}" type="presParOf" srcId="{E0B49A6D-70E3-4E8A-A240-7121A76DFACB}" destId="{628334BB-A314-4289-915F-DF9AA8280245}" srcOrd="0" destOrd="0" presId="urn:microsoft.com/office/officeart/2005/8/layout/orgChart1"/>
    <dgm:cxn modelId="{F69E0B0F-282F-4802-8153-1DABC112454B}" type="presParOf" srcId="{E0B49A6D-70E3-4E8A-A240-7121A76DFACB}" destId="{559DA952-BE8E-4F07-86AC-69747C057FB6}" srcOrd="1" destOrd="0" presId="urn:microsoft.com/office/officeart/2005/8/layout/orgChart1"/>
    <dgm:cxn modelId="{8184D970-24F0-4B7D-9C7B-BFBA11DA4362}" type="presParOf" srcId="{6973D714-D07E-4937-A61D-F230C22EE9E7}" destId="{DAA19731-EFBE-43DD-9A79-03E86EFB27B0}" srcOrd="1" destOrd="0" presId="urn:microsoft.com/office/officeart/2005/8/layout/orgChart1"/>
    <dgm:cxn modelId="{079751E6-8235-4565-AA15-761C74B647C1}" type="presParOf" srcId="{6973D714-D07E-4937-A61D-F230C22EE9E7}" destId="{7B25B32B-E1EB-4AAF-96AA-4170C91EBC14}" srcOrd="2" destOrd="0" presId="urn:microsoft.com/office/officeart/2005/8/layout/orgChart1"/>
    <dgm:cxn modelId="{C4D0A8FD-9FA0-41C2-96B8-5E1A5B57D26E}" type="presParOf" srcId="{0E325332-F409-46C6-A73E-ACC9BBED3977}" destId="{303EFF7A-3295-45AA-9AF1-61545F9729AF}" srcOrd="10" destOrd="0" presId="urn:microsoft.com/office/officeart/2005/8/layout/orgChart1"/>
    <dgm:cxn modelId="{6A5326BB-AAA1-493C-BC71-3992215E6014}" type="presParOf" srcId="{0E325332-F409-46C6-A73E-ACC9BBED3977}" destId="{DC7D426F-E873-4052-9B91-D0FF9B0D06F6}" srcOrd="11" destOrd="0" presId="urn:microsoft.com/office/officeart/2005/8/layout/orgChart1"/>
    <dgm:cxn modelId="{0651049B-E64B-45F0-8F09-D4DEA971CEAE}" type="presParOf" srcId="{DC7D426F-E873-4052-9B91-D0FF9B0D06F6}" destId="{A7DBBD44-0038-47F6-AA12-04727E1A1DB6}" srcOrd="0" destOrd="0" presId="urn:microsoft.com/office/officeart/2005/8/layout/orgChart1"/>
    <dgm:cxn modelId="{3B0A3287-E863-4CFC-B1E4-CD9560DEFA77}" type="presParOf" srcId="{A7DBBD44-0038-47F6-AA12-04727E1A1DB6}" destId="{DEC3B598-A50D-4EE3-830A-AC1985016833}" srcOrd="0" destOrd="0" presId="urn:microsoft.com/office/officeart/2005/8/layout/orgChart1"/>
    <dgm:cxn modelId="{C3356123-68A8-4D4D-8635-012DB74A0301}" type="presParOf" srcId="{A7DBBD44-0038-47F6-AA12-04727E1A1DB6}" destId="{3445F3AB-9AF5-4093-BF48-F50BA99D92CA}" srcOrd="1" destOrd="0" presId="urn:microsoft.com/office/officeart/2005/8/layout/orgChart1"/>
    <dgm:cxn modelId="{EEC3F000-E7AB-4B4B-B0FC-8514F04CD96C}" type="presParOf" srcId="{DC7D426F-E873-4052-9B91-D0FF9B0D06F6}" destId="{A6762925-597A-4E69-AD79-77272778E4CD}" srcOrd="1" destOrd="0" presId="urn:microsoft.com/office/officeart/2005/8/layout/orgChart1"/>
    <dgm:cxn modelId="{5951F7FF-5918-47D4-995D-68FFDE1CC42B}" type="presParOf" srcId="{DC7D426F-E873-4052-9B91-D0FF9B0D06F6}" destId="{44EF6522-1453-454D-95AA-B80986FCCB80}" srcOrd="2" destOrd="0" presId="urn:microsoft.com/office/officeart/2005/8/layout/orgChart1"/>
    <dgm:cxn modelId="{6D679647-2E13-40B3-85DE-6ED95B2E2D80}" type="presParOf" srcId="{0E325332-F409-46C6-A73E-ACC9BBED3977}" destId="{EA5F649C-DBBA-4B76-AA74-E2D73D8EE2A4}" srcOrd="12" destOrd="0" presId="urn:microsoft.com/office/officeart/2005/8/layout/orgChart1"/>
    <dgm:cxn modelId="{9B44B8A9-8397-4B05-A8B6-07210D47D7FE}" type="presParOf" srcId="{0E325332-F409-46C6-A73E-ACC9BBED3977}" destId="{AA24822D-1E20-49D9-BC94-D0266B8F4A0B}" srcOrd="13" destOrd="0" presId="urn:microsoft.com/office/officeart/2005/8/layout/orgChart1"/>
    <dgm:cxn modelId="{7817F9EB-51EA-4907-ACE9-E9FFB4D67761}" type="presParOf" srcId="{AA24822D-1E20-49D9-BC94-D0266B8F4A0B}" destId="{D1A610B8-A617-4075-A7CC-D56926EF86BF}" srcOrd="0" destOrd="0" presId="urn:microsoft.com/office/officeart/2005/8/layout/orgChart1"/>
    <dgm:cxn modelId="{8F305238-8D37-46CC-B1D8-43E464495138}" type="presParOf" srcId="{D1A610B8-A617-4075-A7CC-D56926EF86BF}" destId="{6917F73F-C9D2-4F13-B561-BAE8E58ED172}" srcOrd="0" destOrd="0" presId="urn:microsoft.com/office/officeart/2005/8/layout/orgChart1"/>
    <dgm:cxn modelId="{6B593D65-1837-40EE-A970-8DF0348B6965}" type="presParOf" srcId="{D1A610B8-A617-4075-A7CC-D56926EF86BF}" destId="{131FF522-FF60-41D1-9658-58BDB10A8863}" srcOrd="1" destOrd="0" presId="urn:microsoft.com/office/officeart/2005/8/layout/orgChart1"/>
    <dgm:cxn modelId="{3A62DDB3-AFBE-471A-90F4-D2156D4B07EC}" type="presParOf" srcId="{AA24822D-1E20-49D9-BC94-D0266B8F4A0B}" destId="{4EA07C10-D630-4BA3-90A3-15DB291FA956}" srcOrd="1" destOrd="0" presId="urn:microsoft.com/office/officeart/2005/8/layout/orgChart1"/>
    <dgm:cxn modelId="{B48E6578-4565-422F-8C1C-08CDFE12E521}" type="presParOf" srcId="{AA24822D-1E20-49D9-BC94-D0266B8F4A0B}" destId="{ADCA2E37-CC11-41B9-A071-7A1E13A7EB62}" srcOrd="2" destOrd="0" presId="urn:microsoft.com/office/officeart/2005/8/layout/orgChart1"/>
    <dgm:cxn modelId="{D429B7E6-9A77-4BFF-890B-A4D1DA7ABAAF}" type="presParOf" srcId="{05E608EC-9CFB-4ACC-90F7-3F578EF14011}" destId="{34FF2F27-AA21-42F1-9C19-0313DA0867B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5F649C-DBBA-4B76-AA74-E2D73D8EE2A4}">
      <dsp:nvSpPr>
        <dsp:cNvPr id="0" name=""/>
        <dsp:cNvSpPr/>
      </dsp:nvSpPr>
      <dsp:spPr>
        <a:xfrm>
          <a:off x="5392947" y="554259"/>
          <a:ext cx="4020665" cy="232600"/>
        </a:xfrm>
        <a:custGeom>
          <a:avLst/>
          <a:gdLst/>
          <a:ahLst/>
          <a:cxnLst/>
          <a:rect l="0" t="0" r="0" b="0"/>
          <a:pathLst>
            <a:path>
              <a:moveTo>
                <a:pt x="0" y="0"/>
              </a:moveTo>
              <a:lnTo>
                <a:pt x="0" y="116300"/>
              </a:lnTo>
              <a:lnTo>
                <a:pt x="4020665" y="116300"/>
              </a:lnTo>
              <a:lnTo>
                <a:pt x="4020665" y="23260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3EFF7A-3295-45AA-9AF1-61545F9729AF}">
      <dsp:nvSpPr>
        <dsp:cNvPr id="0" name=""/>
        <dsp:cNvSpPr/>
      </dsp:nvSpPr>
      <dsp:spPr>
        <a:xfrm>
          <a:off x="5392947" y="554259"/>
          <a:ext cx="2680443" cy="232600"/>
        </a:xfrm>
        <a:custGeom>
          <a:avLst/>
          <a:gdLst/>
          <a:ahLst/>
          <a:cxnLst/>
          <a:rect l="0" t="0" r="0" b="0"/>
          <a:pathLst>
            <a:path>
              <a:moveTo>
                <a:pt x="0" y="0"/>
              </a:moveTo>
              <a:lnTo>
                <a:pt x="0" y="116300"/>
              </a:lnTo>
              <a:lnTo>
                <a:pt x="2680443" y="116300"/>
              </a:lnTo>
              <a:lnTo>
                <a:pt x="2680443" y="23260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EE97F8-76CE-4C62-9C40-3DFEDAB53B70}">
      <dsp:nvSpPr>
        <dsp:cNvPr id="0" name=""/>
        <dsp:cNvSpPr/>
      </dsp:nvSpPr>
      <dsp:spPr>
        <a:xfrm>
          <a:off x="5392947" y="554259"/>
          <a:ext cx="1340221" cy="232600"/>
        </a:xfrm>
        <a:custGeom>
          <a:avLst/>
          <a:gdLst/>
          <a:ahLst/>
          <a:cxnLst/>
          <a:rect l="0" t="0" r="0" b="0"/>
          <a:pathLst>
            <a:path>
              <a:moveTo>
                <a:pt x="0" y="0"/>
              </a:moveTo>
              <a:lnTo>
                <a:pt x="0" y="116300"/>
              </a:lnTo>
              <a:lnTo>
                <a:pt x="1340221" y="116300"/>
              </a:lnTo>
              <a:lnTo>
                <a:pt x="1340221" y="23260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84D4F0-EB35-4245-AD20-26014B38E061}">
      <dsp:nvSpPr>
        <dsp:cNvPr id="0" name=""/>
        <dsp:cNvSpPr/>
      </dsp:nvSpPr>
      <dsp:spPr>
        <a:xfrm>
          <a:off x="5347226" y="554259"/>
          <a:ext cx="91440" cy="232600"/>
        </a:xfrm>
        <a:custGeom>
          <a:avLst/>
          <a:gdLst/>
          <a:ahLst/>
          <a:cxnLst/>
          <a:rect l="0" t="0" r="0" b="0"/>
          <a:pathLst>
            <a:path>
              <a:moveTo>
                <a:pt x="45720" y="0"/>
              </a:moveTo>
              <a:lnTo>
                <a:pt x="45720" y="23260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EA9A9F-1ED4-4FCF-BA0B-AF88F0751148}">
      <dsp:nvSpPr>
        <dsp:cNvPr id="0" name=""/>
        <dsp:cNvSpPr/>
      </dsp:nvSpPr>
      <dsp:spPr>
        <a:xfrm>
          <a:off x="4052725" y="554259"/>
          <a:ext cx="1340221" cy="232600"/>
        </a:xfrm>
        <a:custGeom>
          <a:avLst/>
          <a:gdLst/>
          <a:ahLst/>
          <a:cxnLst/>
          <a:rect l="0" t="0" r="0" b="0"/>
          <a:pathLst>
            <a:path>
              <a:moveTo>
                <a:pt x="1340221" y="0"/>
              </a:moveTo>
              <a:lnTo>
                <a:pt x="1340221" y="116300"/>
              </a:lnTo>
              <a:lnTo>
                <a:pt x="0" y="116300"/>
              </a:lnTo>
              <a:lnTo>
                <a:pt x="0" y="23260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B3C5D19-D84E-4792-8182-784339629552}">
      <dsp:nvSpPr>
        <dsp:cNvPr id="0" name=""/>
        <dsp:cNvSpPr/>
      </dsp:nvSpPr>
      <dsp:spPr>
        <a:xfrm>
          <a:off x="2712503" y="554259"/>
          <a:ext cx="2680443" cy="232600"/>
        </a:xfrm>
        <a:custGeom>
          <a:avLst/>
          <a:gdLst/>
          <a:ahLst/>
          <a:cxnLst/>
          <a:rect l="0" t="0" r="0" b="0"/>
          <a:pathLst>
            <a:path>
              <a:moveTo>
                <a:pt x="2680443" y="0"/>
              </a:moveTo>
              <a:lnTo>
                <a:pt x="2680443" y="116300"/>
              </a:lnTo>
              <a:lnTo>
                <a:pt x="0" y="116300"/>
              </a:lnTo>
              <a:lnTo>
                <a:pt x="0" y="23260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A7C712-7C49-45A2-A843-6EAACC7945F8}">
      <dsp:nvSpPr>
        <dsp:cNvPr id="0" name=""/>
        <dsp:cNvSpPr/>
      </dsp:nvSpPr>
      <dsp:spPr>
        <a:xfrm>
          <a:off x="1372281" y="554259"/>
          <a:ext cx="4020665" cy="232600"/>
        </a:xfrm>
        <a:custGeom>
          <a:avLst/>
          <a:gdLst/>
          <a:ahLst/>
          <a:cxnLst/>
          <a:rect l="0" t="0" r="0" b="0"/>
          <a:pathLst>
            <a:path>
              <a:moveTo>
                <a:pt x="4020665" y="0"/>
              </a:moveTo>
              <a:lnTo>
                <a:pt x="4020665" y="116300"/>
              </a:lnTo>
              <a:lnTo>
                <a:pt x="0" y="116300"/>
              </a:lnTo>
              <a:lnTo>
                <a:pt x="0" y="23260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D90EEE-F736-455C-93C5-CA3679733B59}">
      <dsp:nvSpPr>
        <dsp:cNvPr id="0" name=""/>
        <dsp:cNvSpPr/>
      </dsp:nvSpPr>
      <dsp:spPr>
        <a:xfrm>
          <a:off x="4839136" y="448"/>
          <a:ext cx="1107621" cy="55381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Events</a:t>
          </a:r>
        </a:p>
      </dsp:txBody>
      <dsp:txXfrm>
        <a:off x="4839136" y="448"/>
        <a:ext cx="1107621" cy="553810"/>
      </dsp:txXfrm>
    </dsp:sp>
    <dsp:sp modelId="{8E4B0FB9-4A44-4EF1-BF03-362D2542C876}">
      <dsp:nvSpPr>
        <dsp:cNvPr id="0" name=""/>
        <dsp:cNvSpPr/>
      </dsp:nvSpPr>
      <dsp:spPr>
        <a:xfrm>
          <a:off x="818471" y="786859"/>
          <a:ext cx="1107621" cy="55381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Simple Events</a:t>
          </a:r>
        </a:p>
      </dsp:txBody>
      <dsp:txXfrm>
        <a:off x="818471" y="786859"/>
        <a:ext cx="1107621" cy="553810"/>
      </dsp:txXfrm>
    </dsp:sp>
    <dsp:sp modelId="{B28134B1-822B-4C18-A70D-327F8C3A9D75}">
      <dsp:nvSpPr>
        <dsp:cNvPr id="0" name=""/>
        <dsp:cNvSpPr/>
      </dsp:nvSpPr>
      <dsp:spPr>
        <a:xfrm>
          <a:off x="2158692" y="786859"/>
          <a:ext cx="1107621" cy="55381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Compound Events</a:t>
          </a:r>
        </a:p>
      </dsp:txBody>
      <dsp:txXfrm>
        <a:off x="2158692" y="786859"/>
        <a:ext cx="1107621" cy="553810"/>
      </dsp:txXfrm>
    </dsp:sp>
    <dsp:sp modelId="{9318A767-3F22-447F-B74D-E5B37487A93C}">
      <dsp:nvSpPr>
        <dsp:cNvPr id="0" name=""/>
        <dsp:cNvSpPr/>
      </dsp:nvSpPr>
      <dsp:spPr>
        <a:xfrm>
          <a:off x="3498914" y="786859"/>
          <a:ext cx="1107621" cy="55381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Mutually Exclusive Events</a:t>
          </a:r>
        </a:p>
      </dsp:txBody>
      <dsp:txXfrm>
        <a:off x="3498914" y="786859"/>
        <a:ext cx="1107621" cy="553810"/>
      </dsp:txXfrm>
    </dsp:sp>
    <dsp:sp modelId="{798ECF23-7882-4E97-84CF-CE510055978B}">
      <dsp:nvSpPr>
        <dsp:cNvPr id="0" name=""/>
        <dsp:cNvSpPr/>
      </dsp:nvSpPr>
      <dsp:spPr>
        <a:xfrm>
          <a:off x="4839136" y="786859"/>
          <a:ext cx="1107621" cy="55381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Equally Likely Events</a:t>
          </a:r>
        </a:p>
      </dsp:txBody>
      <dsp:txXfrm>
        <a:off x="4839136" y="786859"/>
        <a:ext cx="1107621" cy="553810"/>
      </dsp:txXfrm>
    </dsp:sp>
    <dsp:sp modelId="{628334BB-A314-4289-915F-DF9AA8280245}">
      <dsp:nvSpPr>
        <dsp:cNvPr id="0" name=""/>
        <dsp:cNvSpPr/>
      </dsp:nvSpPr>
      <dsp:spPr>
        <a:xfrm>
          <a:off x="6179358" y="786859"/>
          <a:ext cx="1107621" cy="55381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Exhaustive Events</a:t>
          </a:r>
        </a:p>
      </dsp:txBody>
      <dsp:txXfrm>
        <a:off x="6179358" y="786859"/>
        <a:ext cx="1107621" cy="553810"/>
      </dsp:txXfrm>
    </dsp:sp>
    <dsp:sp modelId="{DEC3B598-A50D-4EE3-830A-AC1985016833}">
      <dsp:nvSpPr>
        <dsp:cNvPr id="0" name=""/>
        <dsp:cNvSpPr/>
      </dsp:nvSpPr>
      <dsp:spPr>
        <a:xfrm>
          <a:off x="7519579" y="786859"/>
          <a:ext cx="1107621" cy="55381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Independent Events</a:t>
          </a:r>
        </a:p>
      </dsp:txBody>
      <dsp:txXfrm>
        <a:off x="7519579" y="786859"/>
        <a:ext cx="1107621" cy="553810"/>
      </dsp:txXfrm>
    </dsp:sp>
    <dsp:sp modelId="{6917F73F-C9D2-4F13-B561-BAE8E58ED172}">
      <dsp:nvSpPr>
        <dsp:cNvPr id="0" name=""/>
        <dsp:cNvSpPr/>
      </dsp:nvSpPr>
      <dsp:spPr>
        <a:xfrm>
          <a:off x="8859801" y="786859"/>
          <a:ext cx="1107621" cy="55381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Dependent Events</a:t>
          </a:r>
        </a:p>
      </dsp:txBody>
      <dsp:txXfrm>
        <a:off x="8859801" y="786859"/>
        <a:ext cx="1107621" cy="55381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ACC7EB-790B-4C52-AE5A-97CEB0233C49}" type="datetimeFigureOut">
              <a:rPr lang="en-US" smtClean="0"/>
              <a:t>6/23/2024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F9D419-D8E4-4505-87EF-C87C67831D02}" type="slidenum">
              <a:rPr lang="en-US" smtClean="0"/>
              <a:t>‹#›</a:t>
            </a:fld>
            <a:endParaRPr lang="en-US"/>
          </a:p>
        </p:txBody>
      </p:sp>
    </p:spTree>
    <p:extLst>
      <p:ext uri="{BB962C8B-B14F-4D97-AF65-F5344CB8AC3E}">
        <p14:creationId xmlns:p14="http://schemas.microsoft.com/office/powerpoint/2010/main" val="3553623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3F9D9D32-0B33-48F1-8D47-3DB22D25F64E}" type="datetime1">
              <a:rPr lang="en-US" smtClean="0"/>
              <a:t>6/23/2024</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r>
              <a:rPr lang="en-US"/>
              <a:t>Copy Right  (C)  Santosh Chhatkuli</a:t>
            </a:r>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97833357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8C1BEC-5A72-4DDC-81FF-830E700564BE}" type="datetime1">
              <a:rPr lang="en-US" smtClean="0"/>
              <a:t>6/23/2024</a:t>
            </a:fld>
            <a:endParaRPr lang="en-US" dirty="0"/>
          </a:p>
        </p:txBody>
      </p:sp>
      <p:sp>
        <p:nvSpPr>
          <p:cNvPr id="8" name="Footer Placeholder 7"/>
          <p:cNvSpPr>
            <a:spLocks noGrp="1"/>
          </p:cNvSpPr>
          <p:nvPr>
            <p:ph type="ftr" sz="quarter" idx="11"/>
          </p:nvPr>
        </p:nvSpPr>
        <p:spPr/>
        <p:txBody>
          <a:bodyPr/>
          <a:lstStyle/>
          <a:p>
            <a:r>
              <a:rPr lang="en-US"/>
              <a:t>Copy Right  (C)  Santosh Chhatkuli</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22862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6BE503CA-1ED2-4BB8-B965-0944E3AEA0C7}" type="datetime1">
              <a:rPr lang="en-US" smtClean="0"/>
              <a:t>6/23/2024</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r>
              <a:rPr lang="en-US"/>
              <a:t>Copy Right  (C)  Santosh Chhatkuli</a:t>
            </a:r>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771878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D95406-535E-4E15-AF8F-F2F789DA8474}" type="datetime1">
              <a:rPr lang="en-US" smtClean="0"/>
              <a:t>6/23/2024</a:t>
            </a:fld>
            <a:endParaRPr lang="en-US" dirty="0"/>
          </a:p>
        </p:txBody>
      </p:sp>
      <p:sp>
        <p:nvSpPr>
          <p:cNvPr id="6" name="Footer Placeholder 5"/>
          <p:cNvSpPr>
            <a:spLocks noGrp="1"/>
          </p:cNvSpPr>
          <p:nvPr>
            <p:ph type="ftr" sz="quarter" idx="11"/>
          </p:nvPr>
        </p:nvSpPr>
        <p:spPr/>
        <p:txBody>
          <a:bodyPr/>
          <a:lstStyle/>
          <a:p>
            <a:r>
              <a:rPr lang="en-US"/>
              <a:t>Copy Right  (C)  Santosh Chhatkuli</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847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6B604F-9D89-4ED9-BA68-1A1ABE994C00}" type="datetime1">
              <a:rPr lang="en-US" smtClean="0"/>
              <a:t>6/23/2024</a:t>
            </a:fld>
            <a:endParaRPr lang="en-US" dirty="0"/>
          </a:p>
        </p:txBody>
      </p:sp>
      <p:sp>
        <p:nvSpPr>
          <p:cNvPr id="8" name="Footer Placeholder 7"/>
          <p:cNvSpPr>
            <a:spLocks noGrp="1"/>
          </p:cNvSpPr>
          <p:nvPr>
            <p:ph type="ftr" sz="quarter" idx="11"/>
          </p:nvPr>
        </p:nvSpPr>
        <p:spPr/>
        <p:txBody>
          <a:bodyPr/>
          <a:lstStyle/>
          <a:p>
            <a:r>
              <a:rPr lang="en-US"/>
              <a:t>Copy Right  (C)  Santosh Chhatkuli</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88789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F8CB5A-31DC-43EB-A1A9-95A3E1426A89}" type="datetime1">
              <a:rPr lang="en-US" smtClean="0"/>
              <a:t>6/23/2024</a:t>
            </a:fld>
            <a:endParaRPr lang="en-US" dirty="0"/>
          </a:p>
        </p:txBody>
      </p:sp>
      <p:sp>
        <p:nvSpPr>
          <p:cNvPr id="4" name="Footer Placeholder 3"/>
          <p:cNvSpPr>
            <a:spLocks noGrp="1"/>
          </p:cNvSpPr>
          <p:nvPr>
            <p:ph type="ftr" sz="quarter" idx="11"/>
          </p:nvPr>
        </p:nvSpPr>
        <p:spPr/>
        <p:txBody>
          <a:bodyPr/>
          <a:lstStyle/>
          <a:p>
            <a:r>
              <a:rPr lang="en-US"/>
              <a:t>Copy Right  (C)  Santosh Chhatkuli</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5910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F74B06-DA2F-4B5D-B778-C84FAA6A2A9A}" type="datetime1">
              <a:rPr lang="en-US" smtClean="0"/>
              <a:t>6/23/2024</a:t>
            </a:fld>
            <a:endParaRPr lang="en-US" dirty="0"/>
          </a:p>
        </p:txBody>
      </p:sp>
      <p:sp>
        <p:nvSpPr>
          <p:cNvPr id="3" name="Footer Placeholder 2"/>
          <p:cNvSpPr>
            <a:spLocks noGrp="1"/>
          </p:cNvSpPr>
          <p:nvPr>
            <p:ph type="ftr" sz="quarter" idx="11"/>
          </p:nvPr>
        </p:nvSpPr>
        <p:spPr/>
        <p:txBody>
          <a:bodyPr/>
          <a:lstStyle/>
          <a:p>
            <a:r>
              <a:rPr lang="en-US"/>
              <a:t>Copy Right  (C)  Santosh Chhatkuli</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7558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96718C1E-1D6A-441B-8E05-0782B932A787}" type="datetime1">
              <a:rPr lang="en-US" smtClean="0"/>
              <a:t>6/23/2024</a:t>
            </a:fld>
            <a:endParaRPr lang="en-US" dirty="0"/>
          </a:p>
        </p:txBody>
      </p:sp>
      <p:sp>
        <p:nvSpPr>
          <p:cNvPr id="9" name="Footer Placeholder 8"/>
          <p:cNvSpPr>
            <a:spLocks noGrp="1"/>
          </p:cNvSpPr>
          <p:nvPr>
            <p:ph type="ftr" sz="quarter" idx="11"/>
          </p:nvPr>
        </p:nvSpPr>
        <p:spPr/>
        <p:txBody>
          <a:bodyPr/>
          <a:lstStyle>
            <a:lvl1pPr algn="r">
              <a:defRPr/>
            </a:lvl1pPr>
          </a:lstStyle>
          <a:p>
            <a:r>
              <a:rPr lang="en-US"/>
              <a:t>Copy Right  (C)  Santosh Chhatkuli</a:t>
            </a:r>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3A98EE3D-8CD1-4C3F-BD1C-C98C9596463C}" type="slidenum">
              <a:rPr lang="en-US" smtClean="0"/>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38241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FC11B662-D1DC-4150-83BB-D59612911490}" type="datetime1">
              <a:rPr lang="en-US" smtClean="0"/>
              <a:t>6/23/2024</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pPr algn="l"/>
            <a:r>
              <a:rPr lang="en-US"/>
              <a:t>Copy Right  (C)  Santosh Chhatkuli</a:t>
            </a:r>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3A98EE3D-8CD1-4C3F-BD1C-C98C9596463C}" type="slidenum">
              <a:rPr lang="en-US" smtClean="0"/>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41394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D21865-F6EC-43B0-8FA9-D5E88E3D91A6}" type="datetime1">
              <a:rPr lang="en-US" smtClean="0"/>
              <a:t>6/23/2024</a:t>
            </a:fld>
            <a:endParaRPr lang="en-US" dirty="0"/>
          </a:p>
        </p:txBody>
      </p:sp>
      <p:sp>
        <p:nvSpPr>
          <p:cNvPr id="5" name="Footer Placeholder 4"/>
          <p:cNvSpPr>
            <a:spLocks noGrp="1"/>
          </p:cNvSpPr>
          <p:nvPr>
            <p:ph type="ftr" sz="quarter" idx="11"/>
          </p:nvPr>
        </p:nvSpPr>
        <p:spPr/>
        <p:txBody>
          <a:bodyPr/>
          <a:lstStyle/>
          <a:p>
            <a:r>
              <a:rPr lang="en-US"/>
              <a:t>Copy Right  (C)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33534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BECA3E-188D-4B9C-8445-5A420164F0B0}" type="datetime1">
              <a:rPr lang="en-US" smtClean="0"/>
              <a:t>6/23/2024</a:t>
            </a:fld>
            <a:endParaRPr lang="en-US" dirty="0"/>
          </a:p>
        </p:txBody>
      </p:sp>
      <p:sp>
        <p:nvSpPr>
          <p:cNvPr id="5" name="Footer Placeholder 4"/>
          <p:cNvSpPr>
            <a:spLocks noGrp="1"/>
          </p:cNvSpPr>
          <p:nvPr>
            <p:ph type="ftr" sz="quarter" idx="11"/>
          </p:nvPr>
        </p:nvSpPr>
        <p:spPr/>
        <p:txBody>
          <a:bodyPr/>
          <a:lstStyle/>
          <a:p>
            <a:r>
              <a:rPr lang="en-US"/>
              <a:t>Copy Right  (C)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854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369A94E9-B798-4C84-B089-ED0180F1CCB8}" type="datetime1">
              <a:rPr lang="en-US" smtClean="0"/>
              <a:t>6/23/2024</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r>
              <a:rPr lang="en-US"/>
              <a:t>Copy Right  (C)  Santosh Chhatkuli</a:t>
            </a:r>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253642126"/>
      </p:ext>
    </p:extLst>
  </p:cSld>
  <p:clrMap bg1="lt1" tx1="dk1" bg2="lt2" tx2="dk2" accent1="accent1" accent2="accent2" accent3="accent3" accent4="accent4" accent5="accent5" accent6="accent6" hlink="hlink" folHlink="folHlink"/>
  <p:sldLayoutIdLst>
    <p:sldLayoutId id="2147484032" r:id="rId1"/>
    <p:sldLayoutId id="2147484033" r:id="rId2"/>
    <p:sldLayoutId id="2147484034" r:id="rId3"/>
    <p:sldLayoutId id="2147484035" r:id="rId4"/>
    <p:sldLayoutId id="2147484036" r:id="rId5"/>
    <p:sldLayoutId id="2147484037" r:id="rId6"/>
    <p:sldLayoutId id="2147484038" r:id="rId7"/>
    <p:sldLayoutId id="2147484039" r:id="rId8"/>
    <p:sldLayoutId id="2147484040" r:id="rId9"/>
    <p:sldLayoutId id="2147484041" r:id="rId10"/>
    <p:sldLayoutId id="2147484042" r:id="rId11"/>
  </p:sldLayoutIdLst>
  <p:hf sldNum="0" hd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commons.wikimedia.org/wiki/File:Dice-3-b.svg" TargetMode="External"/><Relationship Id="rId13" Type="http://schemas.openxmlformats.org/officeDocument/2006/relationships/image" Target="../media/image10.png"/><Relationship Id="rId3" Type="http://schemas.openxmlformats.org/officeDocument/2006/relationships/hyperlink" Target="https://commons.wikimedia.org/wiki/File:Dice-1-b.svg" TargetMode="External"/><Relationship Id="rId7" Type="http://schemas.openxmlformats.org/officeDocument/2006/relationships/image" Target="../media/image7.png"/><Relationship Id="rId12" Type="http://schemas.openxmlformats.org/officeDocument/2006/relationships/hyperlink" Target="https://commons.wikimedia.org/wiki/File:Dice-5-b.svg" TargetMode="Externa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commons.wikimedia.org/wiki/File:Dice-2-b.svg"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commons.wikimedia.org/wiki/File:Dice-4-b.svg" TargetMode="External"/><Relationship Id="rId4" Type="http://schemas.openxmlformats.org/officeDocument/2006/relationships/hyperlink" Target="https://creativecommons.org/licenses/by-sa/3.0/" TargetMode="External"/><Relationship Id="rId9" Type="http://schemas.openxmlformats.org/officeDocument/2006/relationships/image" Target="../media/image8.png"/><Relationship Id="rId14" Type="http://schemas.openxmlformats.org/officeDocument/2006/relationships/hyperlink" Target="http://commons.wikimedia.org/wiki/File:Dice-6-b.sv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18789" y="2191109"/>
            <a:ext cx="3710547" cy="724619"/>
          </a:xfrm>
        </p:spPr>
        <p:txBody>
          <a:bodyPr>
            <a:normAutofit/>
          </a:bodyPr>
          <a:lstStyle/>
          <a:p>
            <a:r>
              <a:rPr lang="en-US" sz="4000" b="1" dirty="0" err="1"/>
              <a:t>PROBABiLITY</a:t>
            </a:r>
            <a:endParaRPr lang="en-US" sz="4000" b="1" dirty="0"/>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601488" y="3677050"/>
            <a:ext cx="3945147" cy="530445"/>
          </a:xfrm>
        </p:spPr>
        <p:txBody>
          <a:bodyPr>
            <a:normAutofit/>
          </a:bodyPr>
          <a:lstStyle/>
          <a:p>
            <a:r>
              <a:rPr lang="en-US" sz="2800" b="1" dirty="0"/>
              <a:t>Santosh Chhatkuli</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0"/>
            <a:ext cx="6096000" cy="6857990"/>
          </a:xfrm>
          <a:prstGeom prst="rect">
            <a:avLst/>
          </a:prstGeom>
        </p:spPr>
      </p:pic>
      <p:sp>
        <p:nvSpPr>
          <p:cNvPr id="4" name="Footer Placeholder 3">
            <a:extLst>
              <a:ext uri="{FF2B5EF4-FFF2-40B4-BE49-F238E27FC236}">
                <a16:creationId xmlns:a16="http://schemas.microsoft.com/office/drawing/2014/main" id="{61927263-1FDB-4142-8194-84905D89B81C}"/>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E0EFB-9E1C-426A-B916-49FED408EFDC}"/>
              </a:ext>
            </a:extLst>
          </p:cNvPr>
          <p:cNvSpPr>
            <a:spLocks noGrp="1"/>
          </p:cNvSpPr>
          <p:nvPr>
            <p:ph type="title"/>
          </p:nvPr>
        </p:nvSpPr>
        <p:spPr>
          <a:xfrm>
            <a:off x="802257" y="583540"/>
            <a:ext cx="10058400" cy="478840"/>
          </a:xfrm>
        </p:spPr>
        <p:txBody>
          <a:bodyPr>
            <a:normAutofit fontScale="90000"/>
          </a:bodyPr>
          <a:lstStyle/>
          <a:p>
            <a:r>
              <a:rPr lang="en-US" sz="2800" b="1" dirty="0">
                <a:latin typeface="Garamond" panose="02020404030301010803" pitchFamily="18" charset="0"/>
              </a:rPr>
              <a:t>Terminology used in probability</a:t>
            </a:r>
          </a:p>
        </p:txBody>
      </p:sp>
      <p:sp>
        <p:nvSpPr>
          <p:cNvPr id="3" name="Content Placeholder 2">
            <a:extLst>
              <a:ext uri="{FF2B5EF4-FFF2-40B4-BE49-F238E27FC236}">
                <a16:creationId xmlns:a16="http://schemas.microsoft.com/office/drawing/2014/main" id="{E7A19939-3719-47A1-93A3-08BC8A247A85}"/>
              </a:ext>
            </a:extLst>
          </p:cNvPr>
          <p:cNvSpPr>
            <a:spLocks noGrp="1"/>
          </p:cNvSpPr>
          <p:nvPr>
            <p:ph idx="1"/>
          </p:nvPr>
        </p:nvSpPr>
        <p:spPr>
          <a:xfrm>
            <a:off x="802257" y="1250830"/>
            <a:ext cx="10696754" cy="4784210"/>
          </a:xfrm>
        </p:spPr>
        <p:txBody>
          <a:bodyPr>
            <a:normAutofit fontScale="92500"/>
          </a:bodyPr>
          <a:lstStyle/>
          <a:p>
            <a:pPr marL="0" indent="0">
              <a:buNone/>
            </a:pPr>
            <a:r>
              <a:rPr lang="en-US" sz="2400" b="1" dirty="0">
                <a:solidFill>
                  <a:srgbClr val="00B0F0"/>
                </a:solidFill>
              </a:rPr>
              <a:t>Probability</a:t>
            </a:r>
            <a:r>
              <a:rPr lang="en-US" sz="2400" dirty="0"/>
              <a:t>: It is the chance or likelihood that a particular event will occur</a:t>
            </a:r>
          </a:p>
          <a:p>
            <a:pPr marL="0" indent="0">
              <a:buNone/>
            </a:pPr>
            <a:r>
              <a:rPr lang="en-US" sz="2400" b="1" dirty="0">
                <a:solidFill>
                  <a:srgbClr val="00B0F0"/>
                </a:solidFill>
              </a:rPr>
              <a:t>Random Experiment or Probability Experiment</a:t>
            </a:r>
            <a:r>
              <a:rPr lang="en-US" sz="2400" dirty="0"/>
              <a:t> </a:t>
            </a:r>
            <a:r>
              <a:rPr lang="en-US" sz="2400" b="1" dirty="0">
                <a:solidFill>
                  <a:srgbClr val="00B0F0"/>
                </a:solidFill>
              </a:rPr>
              <a:t>or Statistical Experiment</a:t>
            </a:r>
            <a:r>
              <a:rPr lang="en-US" sz="2400" dirty="0"/>
              <a:t>: It is the chance process that leads to well defined result called outcomes.</a:t>
            </a:r>
          </a:p>
          <a:p>
            <a:pPr marL="0" indent="0">
              <a:buNone/>
            </a:pPr>
            <a:r>
              <a:rPr lang="en-US" sz="2400" b="1" dirty="0">
                <a:solidFill>
                  <a:srgbClr val="00B0F0"/>
                </a:solidFill>
              </a:rPr>
              <a:t>Outcomes</a:t>
            </a:r>
            <a:r>
              <a:rPr lang="en-US" sz="2400" dirty="0"/>
              <a:t>: An outcome is the result of a single trial of a random experiment.</a:t>
            </a:r>
          </a:p>
          <a:p>
            <a:pPr marL="0" indent="0">
              <a:buNone/>
            </a:pPr>
            <a:r>
              <a:rPr lang="en-US" sz="2400" b="1" dirty="0">
                <a:solidFill>
                  <a:srgbClr val="00B0F0"/>
                </a:solidFill>
              </a:rPr>
              <a:t>Trial</a:t>
            </a:r>
            <a:r>
              <a:rPr lang="en-US" sz="2400" dirty="0"/>
              <a:t>: A single performance of a random experiment is called a trial.</a:t>
            </a:r>
          </a:p>
          <a:p>
            <a:pPr marL="0" indent="0">
              <a:buNone/>
            </a:pPr>
            <a:r>
              <a:rPr lang="en-US" sz="2400" b="1" dirty="0">
                <a:solidFill>
                  <a:srgbClr val="00B0F0"/>
                </a:solidFill>
              </a:rPr>
              <a:t>Event</a:t>
            </a:r>
            <a:r>
              <a:rPr lang="en-US" sz="2400" dirty="0"/>
              <a:t>: An event is one or more of possible outcome of random experiment. It can be one outcome or more than one outcome. It is the subset of sample space.</a:t>
            </a:r>
          </a:p>
          <a:p>
            <a:pPr marL="0" indent="0">
              <a:buNone/>
            </a:pPr>
            <a:r>
              <a:rPr lang="en-US" sz="2400" b="1" dirty="0">
                <a:solidFill>
                  <a:srgbClr val="00B0F0"/>
                </a:solidFill>
              </a:rPr>
              <a:t>Sample Space</a:t>
            </a:r>
            <a:r>
              <a:rPr lang="en-US" sz="2400" dirty="0"/>
              <a:t>: It is the set of all possible outcomes of a random experiment. It is denoted by symbol ‘S’</a:t>
            </a:r>
          </a:p>
          <a:p>
            <a:pPr marL="0" indent="0">
              <a:buNone/>
            </a:pPr>
            <a:endParaRPr lang="en-US" dirty="0"/>
          </a:p>
        </p:txBody>
      </p:sp>
      <p:sp>
        <p:nvSpPr>
          <p:cNvPr id="4" name="Footer Placeholder 3">
            <a:extLst>
              <a:ext uri="{FF2B5EF4-FFF2-40B4-BE49-F238E27FC236}">
                <a16:creationId xmlns:a16="http://schemas.microsoft.com/office/drawing/2014/main" id="{BB56FCDB-80F0-4E69-9349-528D13688E05}"/>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2666438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C63C7-CD35-432F-B614-CDB7A4621ED4}"/>
              </a:ext>
            </a:extLst>
          </p:cNvPr>
          <p:cNvSpPr>
            <a:spLocks noGrp="1"/>
          </p:cNvSpPr>
          <p:nvPr>
            <p:ph idx="1"/>
          </p:nvPr>
        </p:nvSpPr>
        <p:spPr>
          <a:xfrm>
            <a:off x="796506" y="741872"/>
            <a:ext cx="10685252" cy="5293168"/>
          </a:xfrm>
        </p:spPr>
        <p:txBody>
          <a:bodyPr/>
          <a:lstStyle/>
          <a:p>
            <a:pPr marL="0" indent="0">
              <a:buNone/>
            </a:pPr>
            <a:r>
              <a:rPr lang="en-US" b="1" dirty="0"/>
              <a:t>Example of sample space</a:t>
            </a:r>
          </a:p>
          <a:p>
            <a:pPr marL="0" indent="0">
              <a:buNone/>
            </a:pPr>
            <a:endParaRPr lang="en-US" dirty="0"/>
          </a:p>
        </p:txBody>
      </p:sp>
      <p:graphicFrame>
        <p:nvGraphicFramePr>
          <p:cNvPr id="4" name="Table 4">
            <a:extLst>
              <a:ext uri="{FF2B5EF4-FFF2-40B4-BE49-F238E27FC236}">
                <a16:creationId xmlns:a16="http://schemas.microsoft.com/office/drawing/2014/main" id="{7A41089A-7537-4E23-B1A9-8263BFEB4ED4}"/>
              </a:ext>
            </a:extLst>
          </p:cNvPr>
          <p:cNvGraphicFramePr>
            <a:graphicFrameLocks noGrp="1"/>
          </p:cNvGraphicFramePr>
          <p:nvPr>
            <p:extLst>
              <p:ext uri="{D42A27DB-BD31-4B8C-83A1-F6EECF244321}">
                <p14:modId xmlns:p14="http://schemas.microsoft.com/office/powerpoint/2010/main" val="2870775372"/>
              </p:ext>
            </p:extLst>
          </p:nvPr>
        </p:nvGraphicFramePr>
        <p:xfrm>
          <a:off x="974785" y="1375274"/>
          <a:ext cx="10420710" cy="4765840"/>
        </p:xfrm>
        <a:graphic>
          <a:graphicData uri="http://schemas.openxmlformats.org/drawingml/2006/table">
            <a:tbl>
              <a:tblPr firstRow="1" bandRow="1">
                <a:tableStyleId>{69012ECD-51FC-41F1-AA8D-1B2483CD663E}</a:tableStyleId>
              </a:tblPr>
              <a:tblGrid>
                <a:gridCol w="5210355">
                  <a:extLst>
                    <a:ext uri="{9D8B030D-6E8A-4147-A177-3AD203B41FA5}">
                      <a16:colId xmlns:a16="http://schemas.microsoft.com/office/drawing/2014/main" val="4052655263"/>
                    </a:ext>
                  </a:extLst>
                </a:gridCol>
                <a:gridCol w="5210355">
                  <a:extLst>
                    <a:ext uri="{9D8B030D-6E8A-4147-A177-3AD203B41FA5}">
                      <a16:colId xmlns:a16="http://schemas.microsoft.com/office/drawing/2014/main" val="2251538194"/>
                    </a:ext>
                  </a:extLst>
                </a:gridCol>
              </a:tblGrid>
              <a:tr h="534008">
                <a:tc>
                  <a:txBody>
                    <a:bodyPr/>
                    <a:lstStyle/>
                    <a:p>
                      <a:r>
                        <a:rPr lang="en-US" dirty="0"/>
                        <a:t>Random Experiment</a:t>
                      </a:r>
                    </a:p>
                  </a:txBody>
                  <a:tcPr/>
                </a:tc>
                <a:tc>
                  <a:txBody>
                    <a:bodyPr/>
                    <a:lstStyle/>
                    <a:p>
                      <a:r>
                        <a:rPr lang="en-US" dirty="0"/>
                        <a:t>Sample Space</a:t>
                      </a:r>
                    </a:p>
                  </a:txBody>
                  <a:tcPr/>
                </a:tc>
                <a:extLst>
                  <a:ext uri="{0D108BD9-81ED-4DB2-BD59-A6C34878D82A}">
                    <a16:rowId xmlns:a16="http://schemas.microsoft.com/office/drawing/2014/main" val="4073430304"/>
                  </a:ext>
                </a:extLst>
              </a:tr>
              <a:tr h="534008">
                <a:tc>
                  <a:txBody>
                    <a:bodyPr/>
                    <a:lstStyle/>
                    <a:p>
                      <a:r>
                        <a:rPr lang="en-US" dirty="0"/>
                        <a:t>Tossing two coins simultaneously</a:t>
                      </a:r>
                    </a:p>
                  </a:txBody>
                  <a:tcPr/>
                </a:tc>
                <a:tc>
                  <a:txBody>
                    <a:bodyPr/>
                    <a:lstStyle/>
                    <a:p>
                      <a:r>
                        <a:rPr lang="en-US" dirty="0"/>
                        <a:t>S = {HH, HT, TH, TT}</a:t>
                      </a:r>
                    </a:p>
                  </a:txBody>
                  <a:tcPr/>
                </a:tc>
                <a:extLst>
                  <a:ext uri="{0D108BD9-81ED-4DB2-BD59-A6C34878D82A}">
                    <a16:rowId xmlns:a16="http://schemas.microsoft.com/office/drawing/2014/main" val="2326825404"/>
                  </a:ext>
                </a:extLst>
              </a:tr>
              <a:tr h="921712">
                <a:tc>
                  <a:txBody>
                    <a:bodyPr/>
                    <a:lstStyle/>
                    <a:p>
                      <a:r>
                        <a:rPr lang="en-US" dirty="0"/>
                        <a:t>Rolling a dice</a:t>
                      </a:r>
                    </a:p>
                    <a:p>
                      <a:endParaRPr lang="en-US" dirty="0"/>
                    </a:p>
                  </a:txBody>
                  <a:tcPr/>
                </a:tc>
                <a:tc>
                  <a:txBody>
                    <a:bodyPr/>
                    <a:lstStyle/>
                    <a:p>
                      <a:r>
                        <a:rPr lang="en-US" dirty="0"/>
                        <a:t>S = {                                                                 }</a:t>
                      </a:r>
                    </a:p>
                  </a:txBody>
                  <a:tcPr/>
                </a:tc>
                <a:extLst>
                  <a:ext uri="{0D108BD9-81ED-4DB2-BD59-A6C34878D82A}">
                    <a16:rowId xmlns:a16="http://schemas.microsoft.com/office/drawing/2014/main" val="2211532634"/>
                  </a:ext>
                </a:extLst>
              </a:tr>
              <a:tr h="534008">
                <a:tc>
                  <a:txBody>
                    <a:bodyPr/>
                    <a:lstStyle/>
                    <a:p>
                      <a:r>
                        <a:rPr lang="en-US" dirty="0"/>
                        <a:t>Blood Typing</a:t>
                      </a:r>
                    </a:p>
                  </a:txBody>
                  <a:tcPr/>
                </a:tc>
                <a:tc>
                  <a:txBody>
                    <a:bodyPr/>
                    <a:lstStyle/>
                    <a:p>
                      <a:r>
                        <a:rPr lang="en-US" dirty="0"/>
                        <a:t>S = {A, B, O, AB}</a:t>
                      </a:r>
                    </a:p>
                  </a:txBody>
                  <a:tcPr/>
                </a:tc>
                <a:extLst>
                  <a:ext uri="{0D108BD9-81ED-4DB2-BD59-A6C34878D82A}">
                    <a16:rowId xmlns:a16="http://schemas.microsoft.com/office/drawing/2014/main" val="2425435755"/>
                  </a:ext>
                </a:extLst>
              </a:tr>
              <a:tr h="534008">
                <a:tc>
                  <a:txBody>
                    <a:bodyPr/>
                    <a:lstStyle/>
                    <a:p>
                      <a:r>
                        <a:rPr lang="en-US" dirty="0"/>
                        <a:t>Result of diagnostic test</a:t>
                      </a:r>
                    </a:p>
                  </a:txBody>
                  <a:tcPr/>
                </a:tc>
                <a:tc>
                  <a:txBody>
                    <a:bodyPr/>
                    <a:lstStyle/>
                    <a:p>
                      <a:r>
                        <a:rPr lang="en-US" dirty="0"/>
                        <a:t>S = { positive, negative}</a:t>
                      </a:r>
                    </a:p>
                  </a:txBody>
                  <a:tcPr/>
                </a:tc>
                <a:extLst>
                  <a:ext uri="{0D108BD9-81ED-4DB2-BD59-A6C34878D82A}">
                    <a16:rowId xmlns:a16="http://schemas.microsoft.com/office/drawing/2014/main" val="1067579758"/>
                  </a:ext>
                </a:extLst>
              </a:tr>
              <a:tr h="534008">
                <a:tc>
                  <a:txBody>
                    <a:bodyPr/>
                    <a:lstStyle/>
                    <a:p>
                      <a:r>
                        <a:rPr lang="en-US" dirty="0"/>
                        <a:t>No. of goals in the match</a:t>
                      </a:r>
                    </a:p>
                  </a:txBody>
                  <a:tcPr/>
                </a:tc>
                <a:tc>
                  <a:txBody>
                    <a:bodyPr/>
                    <a:lstStyle/>
                    <a:p>
                      <a:r>
                        <a:rPr lang="en-US" dirty="0"/>
                        <a:t>S = {0, 1, 2, 3, ….}</a:t>
                      </a:r>
                    </a:p>
                  </a:txBody>
                  <a:tcPr/>
                </a:tc>
                <a:extLst>
                  <a:ext uri="{0D108BD9-81ED-4DB2-BD59-A6C34878D82A}">
                    <a16:rowId xmlns:a16="http://schemas.microsoft.com/office/drawing/2014/main" val="176676622"/>
                  </a:ext>
                </a:extLst>
              </a:tr>
              <a:tr h="534008">
                <a:tc>
                  <a:txBody>
                    <a:bodyPr/>
                    <a:lstStyle/>
                    <a:p>
                      <a:r>
                        <a:rPr lang="en-US" dirty="0"/>
                        <a:t>Entrance score of students (Qualifying mark is 40 suppose)</a:t>
                      </a:r>
                    </a:p>
                  </a:txBody>
                  <a:tcPr/>
                </a:tc>
                <a:tc>
                  <a:txBody>
                    <a:bodyPr/>
                    <a:lstStyle/>
                    <a:p>
                      <a:r>
                        <a:rPr lang="en-US" dirty="0"/>
                        <a:t>S = {40, 40.1, …., 99.9, 100}</a:t>
                      </a:r>
                    </a:p>
                  </a:txBody>
                  <a:tcPr/>
                </a:tc>
                <a:extLst>
                  <a:ext uri="{0D108BD9-81ED-4DB2-BD59-A6C34878D82A}">
                    <a16:rowId xmlns:a16="http://schemas.microsoft.com/office/drawing/2014/main" val="50363911"/>
                  </a:ext>
                </a:extLst>
              </a:tr>
              <a:tr h="534008">
                <a:tc>
                  <a:txBody>
                    <a:bodyPr/>
                    <a:lstStyle/>
                    <a:p>
                      <a:r>
                        <a:rPr lang="en-US" dirty="0"/>
                        <a:t>Browsing time in minutes per visit</a:t>
                      </a:r>
                    </a:p>
                  </a:txBody>
                  <a:tcPr/>
                </a:tc>
                <a:tc>
                  <a:txBody>
                    <a:bodyPr/>
                    <a:lstStyle/>
                    <a:p>
                      <a:r>
                        <a:rPr lang="en-US" dirty="0"/>
                        <a:t>S = {0, 0.1, …, 1, 1.1, …}</a:t>
                      </a:r>
                    </a:p>
                  </a:txBody>
                  <a:tcPr/>
                </a:tc>
                <a:extLst>
                  <a:ext uri="{0D108BD9-81ED-4DB2-BD59-A6C34878D82A}">
                    <a16:rowId xmlns:a16="http://schemas.microsoft.com/office/drawing/2014/main" val="2502331439"/>
                  </a:ext>
                </a:extLst>
              </a:tr>
            </a:tbl>
          </a:graphicData>
        </a:graphic>
      </p:graphicFrame>
      <p:pic>
        <p:nvPicPr>
          <p:cNvPr id="11" name="Picture 10">
            <a:extLst>
              <a:ext uri="{FF2B5EF4-FFF2-40B4-BE49-F238E27FC236}">
                <a16:creationId xmlns:a16="http://schemas.microsoft.com/office/drawing/2014/main" id="{8CBE4FDD-E928-40E9-A1F8-1BD6BAEDEF5C}"/>
              </a:ext>
            </a:extLst>
          </p:cNvPr>
          <p:cNvPicPr>
            <a:picLocks noChangeAspect="1"/>
          </p:cNvPicPr>
          <p:nvPr/>
        </p:nvPicPr>
        <p:blipFill>
          <a:blip r:embed="rId2"/>
          <a:stretch>
            <a:fillRect/>
          </a:stretch>
        </p:blipFill>
        <p:spPr>
          <a:xfrm>
            <a:off x="6832680" y="2570159"/>
            <a:ext cx="3984844" cy="690626"/>
          </a:xfrm>
          <a:prstGeom prst="rect">
            <a:avLst/>
          </a:prstGeom>
        </p:spPr>
      </p:pic>
      <p:sp>
        <p:nvSpPr>
          <p:cNvPr id="2" name="Footer Placeholder 1">
            <a:extLst>
              <a:ext uri="{FF2B5EF4-FFF2-40B4-BE49-F238E27FC236}">
                <a16:creationId xmlns:a16="http://schemas.microsoft.com/office/drawing/2014/main" id="{96DCF9C6-DF85-42AE-B25B-53F13EE5986C}"/>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619610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EF226-2D4D-4D64-880D-F9A07D914DCC}"/>
              </a:ext>
            </a:extLst>
          </p:cNvPr>
          <p:cNvSpPr>
            <a:spLocks noGrp="1"/>
          </p:cNvSpPr>
          <p:nvPr>
            <p:ph type="title"/>
          </p:nvPr>
        </p:nvSpPr>
        <p:spPr>
          <a:xfrm>
            <a:off x="790755" y="413993"/>
            <a:ext cx="10058400" cy="349444"/>
          </a:xfrm>
        </p:spPr>
        <p:txBody>
          <a:bodyPr>
            <a:noAutofit/>
          </a:bodyPr>
          <a:lstStyle/>
          <a:p>
            <a:r>
              <a:rPr lang="en-US" sz="2400" b="1" dirty="0"/>
              <a:t>Types of Events</a:t>
            </a:r>
          </a:p>
        </p:txBody>
      </p:sp>
      <p:sp>
        <p:nvSpPr>
          <p:cNvPr id="3" name="Content Placeholder 2">
            <a:extLst>
              <a:ext uri="{FF2B5EF4-FFF2-40B4-BE49-F238E27FC236}">
                <a16:creationId xmlns:a16="http://schemas.microsoft.com/office/drawing/2014/main" id="{EF673F5C-E090-405C-9444-7A715737CEAB}"/>
              </a:ext>
            </a:extLst>
          </p:cNvPr>
          <p:cNvSpPr>
            <a:spLocks noGrp="1"/>
          </p:cNvSpPr>
          <p:nvPr>
            <p:ph idx="1"/>
          </p:nvPr>
        </p:nvSpPr>
        <p:spPr>
          <a:xfrm>
            <a:off x="790755" y="854015"/>
            <a:ext cx="10785894" cy="5430403"/>
          </a:xfrm>
        </p:spPr>
        <p:txBody>
          <a:bodyPr/>
          <a:lstStyle/>
          <a:p>
            <a:pPr marL="0" indent="0">
              <a:buNone/>
            </a:pPr>
            <a:endParaRPr lang="en-US" b="1" dirty="0">
              <a:solidFill>
                <a:srgbClr val="00B0F0"/>
              </a:solidFill>
            </a:endParaRPr>
          </a:p>
          <a:p>
            <a:pPr marL="0" indent="0">
              <a:buNone/>
            </a:pPr>
            <a:endParaRPr lang="en-US" b="1" dirty="0">
              <a:solidFill>
                <a:srgbClr val="00B0F0"/>
              </a:solidFill>
            </a:endParaRPr>
          </a:p>
          <a:p>
            <a:pPr marL="0" indent="0">
              <a:buNone/>
            </a:pPr>
            <a:endParaRPr lang="en-US" b="1" dirty="0">
              <a:solidFill>
                <a:srgbClr val="00B0F0"/>
              </a:solidFill>
            </a:endParaRPr>
          </a:p>
          <a:p>
            <a:pPr marL="0" indent="0">
              <a:buNone/>
            </a:pPr>
            <a:endParaRPr lang="en-US" sz="1600" b="1" dirty="0">
              <a:solidFill>
                <a:srgbClr val="00B0F0"/>
              </a:solidFill>
            </a:endParaRPr>
          </a:p>
          <a:p>
            <a:pPr marL="342900" indent="-342900">
              <a:buAutoNum type="arabicPeriod"/>
            </a:pPr>
            <a:r>
              <a:rPr lang="en-US" sz="1600" b="1" dirty="0">
                <a:solidFill>
                  <a:srgbClr val="00B0F0"/>
                </a:solidFill>
              </a:rPr>
              <a:t>Sure Event</a:t>
            </a:r>
            <a:r>
              <a:rPr lang="en-US" sz="1600" dirty="0"/>
              <a:t>: A event is said to sure if its occurrence is 100 % sure. Prob (sure event) = 1</a:t>
            </a:r>
          </a:p>
          <a:p>
            <a:pPr marL="342900" indent="-342900">
              <a:buAutoNum type="arabicPeriod"/>
            </a:pPr>
            <a:r>
              <a:rPr lang="en-US" sz="1600" b="1" dirty="0">
                <a:solidFill>
                  <a:srgbClr val="00B0F0"/>
                </a:solidFill>
              </a:rPr>
              <a:t>Impossible Event</a:t>
            </a:r>
            <a:r>
              <a:rPr lang="en-US" sz="1600" dirty="0"/>
              <a:t>: An event is said to be impossible if it can never occur. Prob (</a:t>
            </a:r>
            <a:r>
              <a:rPr lang="en-US" sz="1600"/>
              <a:t>impossible event) = 0</a:t>
            </a:r>
            <a:endParaRPr lang="en-US" sz="1600" dirty="0"/>
          </a:p>
          <a:p>
            <a:pPr marL="342900" indent="-342900">
              <a:buAutoNum type="arabicPeriod"/>
            </a:pPr>
            <a:r>
              <a:rPr lang="en-US" sz="1600" b="1" dirty="0">
                <a:solidFill>
                  <a:srgbClr val="00B0F0"/>
                </a:solidFill>
              </a:rPr>
              <a:t>Simple Event</a:t>
            </a:r>
            <a:r>
              <a:rPr lang="en-US" sz="1600" dirty="0"/>
              <a:t>: An event which can’t be decomposed into two or more different simple events. It is one event.</a:t>
            </a:r>
          </a:p>
          <a:p>
            <a:pPr marL="342900" indent="-342900">
              <a:buAutoNum type="arabicPeriod"/>
            </a:pPr>
            <a:r>
              <a:rPr lang="en-US" sz="1600" b="1" dirty="0">
                <a:solidFill>
                  <a:srgbClr val="00B0F0"/>
                </a:solidFill>
              </a:rPr>
              <a:t>Compound Event</a:t>
            </a:r>
            <a:r>
              <a:rPr lang="en-US" sz="1600" dirty="0"/>
              <a:t>: An event is said to be compound if it consists of two or more simple events.</a:t>
            </a:r>
          </a:p>
          <a:p>
            <a:pPr marL="0" indent="0">
              <a:buNone/>
            </a:pPr>
            <a:r>
              <a:rPr lang="en-US" dirty="0"/>
              <a:t>	</a:t>
            </a:r>
          </a:p>
        </p:txBody>
      </p:sp>
      <p:graphicFrame>
        <p:nvGraphicFramePr>
          <p:cNvPr id="4" name="Table 4">
            <a:extLst>
              <a:ext uri="{FF2B5EF4-FFF2-40B4-BE49-F238E27FC236}">
                <a16:creationId xmlns:a16="http://schemas.microsoft.com/office/drawing/2014/main" id="{52C8B1F3-82F6-4510-ABDB-3749DBC625E5}"/>
              </a:ext>
            </a:extLst>
          </p:cNvPr>
          <p:cNvGraphicFramePr>
            <a:graphicFrameLocks noGrp="1"/>
          </p:cNvGraphicFramePr>
          <p:nvPr>
            <p:extLst>
              <p:ext uri="{D42A27DB-BD31-4B8C-83A1-F6EECF244321}">
                <p14:modId xmlns:p14="http://schemas.microsoft.com/office/powerpoint/2010/main" val="3444958365"/>
              </p:ext>
            </p:extLst>
          </p:nvPr>
        </p:nvGraphicFramePr>
        <p:xfrm>
          <a:off x="1264249" y="4178711"/>
          <a:ext cx="8128001" cy="1341120"/>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2632269493"/>
                    </a:ext>
                  </a:extLst>
                </a:gridCol>
                <a:gridCol w="1161143">
                  <a:extLst>
                    <a:ext uri="{9D8B030D-6E8A-4147-A177-3AD203B41FA5}">
                      <a16:colId xmlns:a16="http://schemas.microsoft.com/office/drawing/2014/main" val="4019289959"/>
                    </a:ext>
                  </a:extLst>
                </a:gridCol>
                <a:gridCol w="1161143">
                  <a:extLst>
                    <a:ext uri="{9D8B030D-6E8A-4147-A177-3AD203B41FA5}">
                      <a16:colId xmlns:a16="http://schemas.microsoft.com/office/drawing/2014/main" val="599968014"/>
                    </a:ext>
                  </a:extLst>
                </a:gridCol>
                <a:gridCol w="1161143">
                  <a:extLst>
                    <a:ext uri="{9D8B030D-6E8A-4147-A177-3AD203B41FA5}">
                      <a16:colId xmlns:a16="http://schemas.microsoft.com/office/drawing/2014/main" val="3378061473"/>
                    </a:ext>
                  </a:extLst>
                </a:gridCol>
                <a:gridCol w="1161143">
                  <a:extLst>
                    <a:ext uri="{9D8B030D-6E8A-4147-A177-3AD203B41FA5}">
                      <a16:colId xmlns:a16="http://schemas.microsoft.com/office/drawing/2014/main" val="3652095556"/>
                    </a:ext>
                  </a:extLst>
                </a:gridCol>
                <a:gridCol w="1161143">
                  <a:extLst>
                    <a:ext uri="{9D8B030D-6E8A-4147-A177-3AD203B41FA5}">
                      <a16:colId xmlns:a16="http://schemas.microsoft.com/office/drawing/2014/main" val="3502347236"/>
                    </a:ext>
                  </a:extLst>
                </a:gridCol>
                <a:gridCol w="1161143">
                  <a:extLst>
                    <a:ext uri="{9D8B030D-6E8A-4147-A177-3AD203B41FA5}">
                      <a16:colId xmlns:a16="http://schemas.microsoft.com/office/drawing/2014/main" val="4149100305"/>
                    </a:ext>
                  </a:extLst>
                </a:gridCol>
              </a:tblGrid>
              <a:tr h="245909">
                <a:tc rowSpan="2">
                  <a:txBody>
                    <a:bodyPr/>
                    <a:lstStyle/>
                    <a:p>
                      <a:r>
                        <a:rPr lang="en-US" sz="1600" dirty="0"/>
                        <a:t>Coin</a:t>
                      </a:r>
                    </a:p>
                  </a:txBody>
                  <a:tcPr/>
                </a:tc>
                <a:tc gridSpan="6">
                  <a:txBody>
                    <a:bodyPr/>
                    <a:lstStyle/>
                    <a:p>
                      <a:pPr algn="ctr"/>
                      <a:r>
                        <a:rPr lang="en-US" sz="1600" dirty="0"/>
                        <a:t>DIE</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59067677"/>
                  </a:ext>
                </a:extLst>
              </a:tr>
              <a:tr h="245909">
                <a:tc vMerge="1">
                  <a:txBody>
                    <a:bodyPr/>
                    <a:lstStyle/>
                    <a:p>
                      <a:endParaRPr lang="en-US" dirty="0"/>
                    </a:p>
                  </a:txBody>
                  <a:tcPr/>
                </a:tc>
                <a:tc>
                  <a:txBody>
                    <a:bodyPr/>
                    <a:lstStyle/>
                    <a:p>
                      <a:r>
                        <a:rPr lang="en-US" sz="1600" dirty="0"/>
                        <a:t>1</a:t>
                      </a:r>
                    </a:p>
                  </a:txBody>
                  <a:tcPr>
                    <a:solidFill>
                      <a:srgbClr val="FFFF00">
                        <a:alpha val="20000"/>
                      </a:srgbClr>
                    </a:solidFill>
                  </a:tcPr>
                </a:tc>
                <a:tc>
                  <a:txBody>
                    <a:bodyPr/>
                    <a:lstStyle/>
                    <a:p>
                      <a:r>
                        <a:rPr lang="en-US" sz="1600" dirty="0"/>
                        <a:t>2</a:t>
                      </a:r>
                    </a:p>
                  </a:txBody>
                  <a:tcPr>
                    <a:solidFill>
                      <a:srgbClr val="FFFF00">
                        <a:alpha val="20000"/>
                      </a:srgbClr>
                    </a:solidFill>
                  </a:tcPr>
                </a:tc>
                <a:tc>
                  <a:txBody>
                    <a:bodyPr/>
                    <a:lstStyle/>
                    <a:p>
                      <a:r>
                        <a:rPr lang="en-US" sz="1600" dirty="0"/>
                        <a:t>3</a:t>
                      </a:r>
                    </a:p>
                  </a:txBody>
                  <a:tcPr>
                    <a:solidFill>
                      <a:srgbClr val="FFFF00">
                        <a:alpha val="20000"/>
                      </a:srgbClr>
                    </a:solidFill>
                  </a:tcPr>
                </a:tc>
                <a:tc>
                  <a:txBody>
                    <a:bodyPr/>
                    <a:lstStyle/>
                    <a:p>
                      <a:r>
                        <a:rPr lang="en-US" sz="1600" dirty="0"/>
                        <a:t>4</a:t>
                      </a:r>
                    </a:p>
                  </a:txBody>
                  <a:tcPr>
                    <a:solidFill>
                      <a:srgbClr val="FFFF00">
                        <a:alpha val="20000"/>
                      </a:srgbClr>
                    </a:solidFill>
                  </a:tcPr>
                </a:tc>
                <a:tc>
                  <a:txBody>
                    <a:bodyPr/>
                    <a:lstStyle/>
                    <a:p>
                      <a:r>
                        <a:rPr lang="en-US" sz="1600" dirty="0"/>
                        <a:t>5</a:t>
                      </a:r>
                    </a:p>
                  </a:txBody>
                  <a:tcPr>
                    <a:solidFill>
                      <a:srgbClr val="FFFF00">
                        <a:alpha val="20000"/>
                      </a:srgbClr>
                    </a:solidFill>
                  </a:tcPr>
                </a:tc>
                <a:tc>
                  <a:txBody>
                    <a:bodyPr/>
                    <a:lstStyle/>
                    <a:p>
                      <a:r>
                        <a:rPr lang="en-US" sz="1600" dirty="0"/>
                        <a:t>6</a:t>
                      </a:r>
                    </a:p>
                  </a:txBody>
                  <a:tcPr>
                    <a:solidFill>
                      <a:srgbClr val="FFFF00">
                        <a:alpha val="20000"/>
                      </a:srgbClr>
                    </a:solidFill>
                  </a:tcPr>
                </a:tc>
                <a:extLst>
                  <a:ext uri="{0D108BD9-81ED-4DB2-BD59-A6C34878D82A}">
                    <a16:rowId xmlns:a16="http://schemas.microsoft.com/office/drawing/2014/main" val="2940340020"/>
                  </a:ext>
                </a:extLst>
              </a:tr>
              <a:tr h="245909">
                <a:tc>
                  <a:txBody>
                    <a:bodyPr/>
                    <a:lstStyle/>
                    <a:p>
                      <a:r>
                        <a:rPr lang="en-US" sz="1600" dirty="0">
                          <a:solidFill>
                            <a:sysClr val="windowText" lastClr="000000"/>
                          </a:solidFill>
                        </a:rPr>
                        <a:t>H</a:t>
                      </a:r>
                    </a:p>
                  </a:txBody>
                  <a:tcPr>
                    <a:solidFill>
                      <a:schemeClr val="bg1"/>
                    </a:solidFill>
                  </a:tcPr>
                </a:tc>
                <a:tc>
                  <a:txBody>
                    <a:bodyPr/>
                    <a:lstStyle/>
                    <a:p>
                      <a:r>
                        <a:rPr lang="en-US" sz="1600" dirty="0"/>
                        <a:t>H1</a:t>
                      </a:r>
                    </a:p>
                  </a:txBody>
                  <a:tcPr/>
                </a:tc>
                <a:tc>
                  <a:txBody>
                    <a:bodyPr/>
                    <a:lstStyle/>
                    <a:p>
                      <a:r>
                        <a:rPr lang="en-US" sz="1600" dirty="0"/>
                        <a:t>H2</a:t>
                      </a:r>
                    </a:p>
                  </a:txBody>
                  <a:tcPr/>
                </a:tc>
                <a:tc>
                  <a:txBody>
                    <a:bodyPr/>
                    <a:lstStyle/>
                    <a:p>
                      <a:r>
                        <a:rPr lang="en-US" sz="1600" dirty="0"/>
                        <a:t>H3</a:t>
                      </a:r>
                    </a:p>
                  </a:txBody>
                  <a:tcPr/>
                </a:tc>
                <a:tc>
                  <a:txBody>
                    <a:bodyPr/>
                    <a:lstStyle/>
                    <a:p>
                      <a:r>
                        <a:rPr lang="en-US" sz="1600" dirty="0"/>
                        <a:t>H4</a:t>
                      </a:r>
                    </a:p>
                  </a:txBody>
                  <a:tcPr/>
                </a:tc>
                <a:tc>
                  <a:txBody>
                    <a:bodyPr/>
                    <a:lstStyle/>
                    <a:p>
                      <a:r>
                        <a:rPr lang="en-US" sz="1600" dirty="0"/>
                        <a:t>H5</a:t>
                      </a:r>
                    </a:p>
                  </a:txBody>
                  <a:tcPr/>
                </a:tc>
                <a:tc>
                  <a:txBody>
                    <a:bodyPr/>
                    <a:lstStyle/>
                    <a:p>
                      <a:r>
                        <a:rPr lang="en-US" sz="1600" dirty="0"/>
                        <a:t>H6</a:t>
                      </a:r>
                    </a:p>
                  </a:txBody>
                  <a:tcPr/>
                </a:tc>
                <a:extLst>
                  <a:ext uri="{0D108BD9-81ED-4DB2-BD59-A6C34878D82A}">
                    <a16:rowId xmlns:a16="http://schemas.microsoft.com/office/drawing/2014/main" val="2716437543"/>
                  </a:ext>
                </a:extLst>
              </a:tr>
              <a:tr h="245909">
                <a:tc>
                  <a:txBody>
                    <a:bodyPr/>
                    <a:lstStyle/>
                    <a:p>
                      <a:r>
                        <a:rPr lang="en-US" sz="1600" dirty="0">
                          <a:solidFill>
                            <a:sysClr val="windowText" lastClr="000000"/>
                          </a:solidFill>
                        </a:rPr>
                        <a:t>T</a:t>
                      </a:r>
                    </a:p>
                  </a:txBody>
                  <a:tcPr>
                    <a:solidFill>
                      <a:schemeClr val="bg1"/>
                    </a:solidFill>
                  </a:tcPr>
                </a:tc>
                <a:tc>
                  <a:txBody>
                    <a:bodyPr/>
                    <a:lstStyle/>
                    <a:p>
                      <a:r>
                        <a:rPr lang="en-US" sz="1600" dirty="0"/>
                        <a:t>T1</a:t>
                      </a:r>
                    </a:p>
                  </a:txBody>
                  <a:tcPr>
                    <a:solidFill>
                      <a:schemeClr val="bg1">
                        <a:alpha val="20000"/>
                      </a:schemeClr>
                    </a:solidFill>
                  </a:tcPr>
                </a:tc>
                <a:tc>
                  <a:txBody>
                    <a:bodyPr/>
                    <a:lstStyle/>
                    <a:p>
                      <a:r>
                        <a:rPr lang="en-US" sz="1600" dirty="0"/>
                        <a:t>T2</a:t>
                      </a:r>
                    </a:p>
                  </a:txBody>
                  <a:tcPr>
                    <a:solidFill>
                      <a:schemeClr val="bg1">
                        <a:alpha val="20000"/>
                      </a:schemeClr>
                    </a:solidFill>
                  </a:tcPr>
                </a:tc>
                <a:tc>
                  <a:txBody>
                    <a:bodyPr/>
                    <a:lstStyle/>
                    <a:p>
                      <a:r>
                        <a:rPr lang="en-US" sz="1600" dirty="0"/>
                        <a:t>T3</a:t>
                      </a:r>
                    </a:p>
                  </a:txBody>
                  <a:tcPr>
                    <a:solidFill>
                      <a:schemeClr val="bg1">
                        <a:alpha val="20000"/>
                      </a:schemeClr>
                    </a:solidFill>
                  </a:tcPr>
                </a:tc>
                <a:tc>
                  <a:txBody>
                    <a:bodyPr/>
                    <a:lstStyle/>
                    <a:p>
                      <a:r>
                        <a:rPr lang="en-US" sz="1600" dirty="0"/>
                        <a:t>T4</a:t>
                      </a:r>
                    </a:p>
                  </a:txBody>
                  <a:tcPr>
                    <a:solidFill>
                      <a:schemeClr val="bg1">
                        <a:alpha val="20000"/>
                      </a:schemeClr>
                    </a:solidFill>
                  </a:tcPr>
                </a:tc>
                <a:tc>
                  <a:txBody>
                    <a:bodyPr/>
                    <a:lstStyle/>
                    <a:p>
                      <a:r>
                        <a:rPr lang="en-US" sz="1600" dirty="0"/>
                        <a:t>T5</a:t>
                      </a:r>
                    </a:p>
                  </a:txBody>
                  <a:tcPr>
                    <a:solidFill>
                      <a:schemeClr val="bg1">
                        <a:alpha val="20000"/>
                      </a:schemeClr>
                    </a:solidFill>
                  </a:tcPr>
                </a:tc>
                <a:tc>
                  <a:txBody>
                    <a:bodyPr/>
                    <a:lstStyle/>
                    <a:p>
                      <a:r>
                        <a:rPr lang="en-US" sz="1600" dirty="0"/>
                        <a:t>T6</a:t>
                      </a:r>
                    </a:p>
                  </a:txBody>
                  <a:tcPr>
                    <a:solidFill>
                      <a:schemeClr val="bg1">
                        <a:alpha val="20000"/>
                      </a:schemeClr>
                    </a:solidFill>
                  </a:tcPr>
                </a:tc>
                <a:extLst>
                  <a:ext uri="{0D108BD9-81ED-4DB2-BD59-A6C34878D82A}">
                    <a16:rowId xmlns:a16="http://schemas.microsoft.com/office/drawing/2014/main" val="1598522603"/>
                  </a:ext>
                </a:extLst>
              </a:tr>
            </a:tbl>
          </a:graphicData>
        </a:graphic>
      </p:graphicFrame>
      <p:graphicFrame>
        <p:nvGraphicFramePr>
          <p:cNvPr id="6" name="Diagram 5">
            <a:extLst>
              <a:ext uri="{FF2B5EF4-FFF2-40B4-BE49-F238E27FC236}">
                <a16:creationId xmlns:a16="http://schemas.microsoft.com/office/drawing/2014/main" id="{AC93D40C-0328-4315-86DC-D9F52D2CAAF0}"/>
              </a:ext>
            </a:extLst>
          </p:cNvPr>
          <p:cNvGraphicFramePr/>
          <p:nvPr>
            <p:extLst>
              <p:ext uri="{D42A27DB-BD31-4B8C-83A1-F6EECF244321}">
                <p14:modId xmlns:p14="http://schemas.microsoft.com/office/powerpoint/2010/main" val="1382821706"/>
              </p:ext>
            </p:extLst>
          </p:nvPr>
        </p:nvGraphicFramePr>
        <p:xfrm>
          <a:off x="703053" y="863715"/>
          <a:ext cx="10785894" cy="13411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Footer Placeholder 6">
            <a:extLst>
              <a:ext uri="{FF2B5EF4-FFF2-40B4-BE49-F238E27FC236}">
                <a16:creationId xmlns:a16="http://schemas.microsoft.com/office/drawing/2014/main" id="{08B7F604-BA9E-48F7-8DC5-756FA5959500}"/>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2928958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03555E-5F62-407D-A072-49E5732A2FE4}"/>
              </a:ext>
            </a:extLst>
          </p:cNvPr>
          <p:cNvSpPr>
            <a:spLocks noGrp="1"/>
          </p:cNvSpPr>
          <p:nvPr>
            <p:ph idx="1"/>
          </p:nvPr>
        </p:nvSpPr>
        <p:spPr>
          <a:xfrm>
            <a:off x="793629" y="672860"/>
            <a:ext cx="10791645" cy="5362180"/>
          </a:xfrm>
        </p:spPr>
        <p:txBody>
          <a:bodyPr numCol="2"/>
          <a:lstStyle/>
          <a:p>
            <a:pPr marL="0" indent="0">
              <a:buNone/>
            </a:pPr>
            <a:r>
              <a:rPr lang="en-US" dirty="0"/>
              <a:t>5. </a:t>
            </a:r>
            <a:r>
              <a:rPr lang="en-US" sz="1600" b="1" dirty="0">
                <a:solidFill>
                  <a:srgbClr val="00B0F0"/>
                </a:solidFill>
              </a:rPr>
              <a:t>Mutually Exclusive Events</a:t>
            </a:r>
            <a:r>
              <a:rPr lang="en-US" sz="1600" dirty="0"/>
              <a:t>: Two or more events are called mutually exclusive if they can’t occur together.</a:t>
            </a:r>
          </a:p>
          <a:p>
            <a:pPr marL="0" indent="0">
              <a:buNone/>
            </a:pPr>
            <a:r>
              <a:rPr lang="en-US" sz="1600" b="1" dirty="0">
                <a:solidFill>
                  <a:srgbClr val="00B0F0"/>
                </a:solidFill>
              </a:rPr>
              <a:t>Example 1</a:t>
            </a:r>
            <a:r>
              <a:rPr lang="en-US" sz="1600" dirty="0"/>
              <a:t>: Tossing a coin</a:t>
            </a:r>
          </a:p>
          <a:p>
            <a:pPr marL="0" indent="0">
              <a:buNone/>
            </a:pPr>
            <a:r>
              <a:rPr lang="en-US" sz="1600" dirty="0"/>
              <a:t>Event H = Getting a head</a:t>
            </a:r>
          </a:p>
          <a:p>
            <a:pPr marL="0" indent="0">
              <a:buNone/>
            </a:pPr>
            <a:r>
              <a:rPr lang="en-US" sz="1600" dirty="0"/>
              <a:t>Event T = Getting a tail</a:t>
            </a:r>
          </a:p>
          <a:p>
            <a:pPr marL="0" indent="0">
              <a:buNone/>
            </a:pPr>
            <a:r>
              <a:rPr lang="en-US" sz="1600" b="1" dirty="0">
                <a:solidFill>
                  <a:srgbClr val="00B0F0"/>
                </a:solidFill>
              </a:rPr>
              <a:t>Example 2</a:t>
            </a:r>
            <a:r>
              <a:rPr lang="en-US" sz="1600" dirty="0"/>
              <a:t>: Randomly selecting a person</a:t>
            </a:r>
          </a:p>
          <a:p>
            <a:pPr marL="0" indent="0">
              <a:buNone/>
            </a:pPr>
            <a:r>
              <a:rPr lang="en-US" sz="1600" dirty="0"/>
              <a:t>Event S = A person is smoker</a:t>
            </a:r>
          </a:p>
          <a:p>
            <a:pPr marL="0" indent="0">
              <a:buNone/>
            </a:pPr>
            <a:r>
              <a:rPr lang="en-US" sz="1600" dirty="0"/>
              <a:t>Event N = A person is non-smoker</a:t>
            </a:r>
          </a:p>
          <a:p>
            <a:pPr marL="0" indent="0">
              <a:buNone/>
            </a:pPr>
            <a:r>
              <a:rPr lang="en-US" sz="1600" b="1" dirty="0">
                <a:solidFill>
                  <a:srgbClr val="00B0F0"/>
                </a:solidFill>
              </a:rPr>
              <a:t>Example 3</a:t>
            </a:r>
            <a:r>
              <a:rPr lang="en-US" sz="1600" dirty="0"/>
              <a:t>: Randomly selecting a person</a:t>
            </a:r>
          </a:p>
          <a:p>
            <a:pPr marL="0" indent="0">
              <a:buNone/>
            </a:pPr>
            <a:r>
              <a:rPr lang="en-US" sz="1600" dirty="0"/>
              <a:t>Event D = A person is drinker</a:t>
            </a:r>
          </a:p>
          <a:p>
            <a:pPr marL="0" indent="0">
              <a:buNone/>
            </a:pPr>
            <a:r>
              <a:rPr lang="en-US" sz="1600" dirty="0"/>
              <a:t>Event S = A person is smoker</a:t>
            </a:r>
          </a:p>
          <a:p>
            <a:pPr marL="0" indent="0">
              <a:buNone/>
            </a:pPr>
            <a:r>
              <a:rPr lang="en-US" sz="1600" b="1" dirty="0">
                <a:solidFill>
                  <a:srgbClr val="00B0F0"/>
                </a:solidFill>
              </a:rPr>
              <a:t>Example 4</a:t>
            </a:r>
            <a:r>
              <a:rPr lang="en-US" sz="1600" dirty="0"/>
              <a:t>: Result of exam</a:t>
            </a:r>
          </a:p>
          <a:p>
            <a:pPr marL="0" indent="0">
              <a:buNone/>
            </a:pPr>
            <a:r>
              <a:rPr lang="en-US" sz="1600" dirty="0"/>
              <a:t>Event P = Passing an exam</a:t>
            </a:r>
          </a:p>
          <a:p>
            <a:pPr marL="0" indent="0">
              <a:buNone/>
            </a:pPr>
            <a:r>
              <a:rPr lang="en-US" dirty="0"/>
              <a:t>Event F = Failing an exam</a:t>
            </a:r>
          </a:p>
          <a:p>
            <a:pPr marL="690563" indent="0">
              <a:buNone/>
            </a:pPr>
            <a:r>
              <a:rPr lang="en-US" b="1" dirty="0">
                <a:solidFill>
                  <a:srgbClr val="00B0F0"/>
                </a:solidFill>
              </a:rPr>
              <a:t>Example 5</a:t>
            </a:r>
            <a:r>
              <a:rPr lang="en-US" dirty="0"/>
              <a:t>: Lab test of blood sample</a:t>
            </a:r>
          </a:p>
          <a:p>
            <a:pPr marL="690563" indent="0">
              <a:buNone/>
            </a:pPr>
            <a:r>
              <a:rPr lang="en-US" dirty="0"/>
              <a:t>Event P = Test result is positive</a:t>
            </a:r>
          </a:p>
          <a:p>
            <a:pPr marL="690563" indent="0">
              <a:buNone/>
            </a:pPr>
            <a:r>
              <a:rPr lang="en-US" dirty="0"/>
              <a:t>Event N = Test result is negative</a:t>
            </a:r>
          </a:p>
          <a:p>
            <a:pPr marL="690563" indent="0">
              <a:buNone/>
            </a:pPr>
            <a:r>
              <a:rPr lang="en-US" b="1" dirty="0">
                <a:solidFill>
                  <a:srgbClr val="00B0F0"/>
                </a:solidFill>
              </a:rPr>
              <a:t>Example 6</a:t>
            </a:r>
            <a:r>
              <a:rPr lang="en-US" dirty="0"/>
              <a:t>: Applying for two jobs</a:t>
            </a:r>
          </a:p>
          <a:p>
            <a:pPr marL="690563" indent="0">
              <a:buNone/>
            </a:pPr>
            <a:r>
              <a:rPr lang="en-US" dirty="0"/>
              <a:t>Event E1: Selecting in the first job</a:t>
            </a:r>
          </a:p>
          <a:p>
            <a:pPr marL="690563" indent="0">
              <a:buNone/>
            </a:pPr>
            <a:r>
              <a:rPr lang="en-US" dirty="0"/>
              <a:t>Event E2: Selecting in the second job</a:t>
            </a:r>
          </a:p>
          <a:p>
            <a:pPr marL="690563" indent="0">
              <a:buNone/>
            </a:pPr>
            <a:r>
              <a:rPr lang="en-US" b="1" dirty="0">
                <a:solidFill>
                  <a:srgbClr val="00B0F0"/>
                </a:solidFill>
              </a:rPr>
              <a:t>Example 7</a:t>
            </a:r>
            <a:r>
              <a:rPr lang="en-US" dirty="0"/>
              <a:t>: Skill of job applicant</a:t>
            </a:r>
          </a:p>
          <a:p>
            <a:pPr marL="690563" indent="0">
              <a:buNone/>
            </a:pPr>
            <a:r>
              <a:rPr lang="en-US" dirty="0"/>
              <a:t>Event C = Knows C programming</a:t>
            </a:r>
          </a:p>
          <a:p>
            <a:pPr marL="690563" indent="0">
              <a:buNone/>
            </a:pPr>
            <a:r>
              <a:rPr lang="en-US" dirty="0"/>
              <a:t>Event P = Knows Python</a:t>
            </a:r>
          </a:p>
          <a:p>
            <a:pPr marL="690563" indent="0">
              <a:buNone/>
            </a:pPr>
            <a:r>
              <a:rPr lang="en-US" dirty="0"/>
              <a:t>Event J = Knows Java</a:t>
            </a:r>
          </a:p>
        </p:txBody>
      </p:sp>
      <p:sp>
        <p:nvSpPr>
          <p:cNvPr id="4" name="Footer Placeholder 3">
            <a:extLst>
              <a:ext uri="{FF2B5EF4-FFF2-40B4-BE49-F238E27FC236}">
                <a16:creationId xmlns:a16="http://schemas.microsoft.com/office/drawing/2014/main" id="{2F1F389E-AFFA-40EF-B74E-0F9C96FCC198}"/>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1553302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E01D8-605C-4FC0-AD54-EC3DA95F51E3}"/>
              </a:ext>
            </a:extLst>
          </p:cNvPr>
          <p:cNvSpPr>
            <a:spLocks noGrp="1"/>
          </p:cNvSpPr>
          <p:nvPr>
            <p:ph idx="1"/>
          </p:nvPr>
        </p:nvSpPr>
        <p:spPr>
          <a:xfrm>
            <a:off x="715991" y="655608"/>
            <a:ext cx="10783019" cy="5581290"/>
          </a:xfrm>
        </p:spPr>
        <p:txBody>
          <a:bodyPr/>
          <a:lstStyle/>
          <a:p>
            <a:pPr marL="0" indent="0">
              <a:buNone/>
            </a:pPr>
            <a:r>
              <a:rPr lang="en-US" dirty="0"/>
              <a:t>6. </a:t>
            </a:r>
            <a:r>
              <a:rPr lang="en-US" b="1" dirty="0">
                <a:solidFill>
                  <a:srgbClr val="00B0F0"/>
                </a:solidFill>
              </a:rPr>
              <a:t>Equally Likely Events</a:t>
            </a:r>
            <a:r>
              <a:rPr lang="en-US" dirty="0"/>
              <a:t>: Events are equally likely if they have same chance of happening.</a:t>
            </a:r>
          </a:p>
          <a:p>
            <a:pPr marL="0" indent="0">
              <a:buNone/>
            </a:pPr>
            <a:r>
              <a:rPr lang="en-US" b="1" dirty="0">
                <a:solidFill>
                  <a:srgbClr val="00B0F0"/>
                </a:solidFill>
              </a:rPr>
              <a:t>Example 1</a:t>
            </a:r>
            <a:r>
              <a:rPr lang="en-US" dirty="0"/>
              <a:t>: Suppose there are 48 students in a class of IT students, out of them there are 32 male students and 16 female students. </a:t>
            </a:r>
          </a:p>
          <a:p>
            <a:pPr marL="0" indent="0">
              <a:buNone/>
            </a:pPr>
            <a:r>
              <a:rPr lang="en-US" dirty="0"/>
              <a:t>Prob (male student) = 32/48 = 0.67</a:t>
            </a:r>
          </a:p>
          <a:p>
            <a:pPr marL="0" indent="0">
              <a:buNone/>
            </a:pPr>
            <a:r>
              <a:rPr lang="en-US" dirty="0"/>
              <a:t>					Event of a student being male and female are not 					equally likely</a:t>
            </a:r>
          </a:p>
          <a:p>
            <a:pPr marL="0" indent="0">
              <a:buNone/>
            </a:pPr>
            <a:r>
              <a:rPr lang="en-US" dirty="0"/>
              <a:t>Prob (female student) = 16/48 = 0.33</a:t>
            </a:r>
          </a:p>
          <a:p>
            <a:pPr marL="0" indent="0">
              <a:buNone/>
            </a:pPr>
            <a:endParaRPr lang="en-US" dirty="0"/>
          </a:p>
          <a:p>
            <a:pPr marL="0" indent="0">
              <a:buNone/>
            </a:pPr>
            <a:r>
              <a:rPr lang="en-US" b="1" dirty="0">
                <a:solidFill>
                  <a:srgbClr val="00B0F0"/>
                </a:solidFill>
              </a:rPr>
              <a:t>Example 2</a:t>
            </a:r>
            <a:r>
              <a:rPr lang="en-US" dirty="0"/>
              <a:t>: Rolling a dice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Events are equally likely. </a:t>
            </a:r>
          </a:p>
          <a:p>
            <a:pPr marL="0" indent="0">
              <a:buNone/>
            </a:pPr>
            <a:endParaRPr lang="en-US" dirty="0"/>
          </a:p>
        </p:txBody>
      </p:sp>
      <p:sp>
        <p:nvSpPr>
          <p:cNvPr id="4" name="Right Brace 3">
            <a:extLst>
              <a:ext uri="{FF2B5EF4-FFF2-40B4-BE49-F238E27FC236}">
                <a16:creationId xmlns:a16="http://schemas.microsoft.com/office/drawing/2014/main" id="{A1F23E52-A29B-48E1-AA6B-FEE8DE6C2BE0}"/>
              </a:ext>
            </a:extLst>
          </p:cNvPr>
          <p:cNvSpPr/>
          <p:nvPr/>
        </p:nvSpPr>
        <p:spPr>
          <a:xfrm>
            <a:off x="5063706" y="1794293"/>
            <a:ext cx="224286" cy="119907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5" name="Table 5">
            <a:extLst>
              <a:ext uri="{FF2B5EF4-FFF2-40B4-BE49-F238E27FC236}">
                <a16:creationId xmlns:a16="http://schemas.microsoft.com/office/drawing/2014/main" id="{2F54E989-694B-4D81-A86E-2020C5111CDC}"/>
              </a:ext>
            </a:extLst>
          </p:cNvPr>
          <p:cNvGraphicFramePr>
            <a:graphicFrameLocks noGrp="1"/>
          </p:cNvGraphicFramePr>
          <p:nvPr>
            <p:extLst>
              <p:ext uri="{D42A27DB-BD31-4B8C-83A1-F6EECF244321}">
                <p14:modId xmlns:p14="http://schemas.microsoft.com/office/powerpoint/2010/main" val="861626213"/>
              </p:ext>
            </p:extLst>
          </p:nvPr>
        </p:nvGraphicFramePr>
        <p:xfrm>
          <a:off x="834366" y="4103056"/>
          <a:ext cx="10010476" cy="1367928"/>
        </p:xfrm>
        <a:graphic>
          <a:graphicData uri="http://schemas.openxmlformats.org/drawingml/2006/table">
            <a:tbl>
              <a:tblPr firstRow="1" bandRow="1">
                <a:tableStyleId>{5C22544A-7EE6-4342-B048-85BDC9FD1C3A}</a:tableStyleId>
              </a:tblPr>
              <a:tblGrid>
                <a:gridCol w="1430068">
                  <a:extLst>
                    <a:ext uri="{9D8B030D-6E8A-4147-A177-3AD203B41FA5}">
                      <a16:colId xmlns:a16="http://schemas.microsoft.com/office/drawing/2014/main" val="3854852038"/>
                    </a:ext>
                  </a:extLst>
                </a:gridCol>
                <a:gridCol w="1430068">
                  <a:extLst>
                    <a:ext uri="{9D8B030D-6E8A-4147-A177-3AD203B41FA5}">
                      <a16:colId xmlns:a16="http://schemas.microsoft.com/office/drawing/2014/main" val="3894082363"/>
                    </a:ext>
                  </a:extLst>
                </a:gridCol>
                <a:gridCol w="1430068">
                  <a:extLst>
                    <a:ext uri="{9D8B030D-6E8A-4147-A177-3AD203B41FA5}">
                      <a16:colId xmlns:a16="http://schemas.microsoft.com/office/drawing/2014/main" val="2023348971"/>
                    </a:ext>
                  </a:extLst>
                </a:gridCol>
                <a:gridCol w="1430068">
                  <a:extLst>
                    <a:ext uri="{9D8B030D-6E8A-4147-A177-3AD203B41FA5}">
                      <a16:colId xmlns:a16="http://schemas.microsoft.com/office/drawing/2014/main" val="1033508514"/>
                    </a:ext>
                  </a:extLst>
                </a:gridCol>
                <a:gridCol w="1430068">
                  <a:extLst>
                    <a:ext uri="{9D8B030D-6E8A-4147-A177-3AD203B41FA5}">
                      <a16:colId xmlns:a16="http://schemas.microsoft.com/office/drawing/2014/main" val="757344151"/>
                    </a:ext>
                  </a:extLst>
                </a:gridCol>
                <a:gridCol w="1430068">
                  <a:extLst>
                    <a:ext uri="{9D8B030D-6E8A-4147-A177-3AD203B41FA5}">
                      <a16:colId xmlns:a16="http://schemas.microsoft.com/office/drawing/2014/main" val="368196642"/>
                    </a:ext>
                  </a:extLst>
                </a:gridCol>
                <a:gridCol w="1430068">
                  <a:extLst>
                    <a:ext uri="{9D8B030D-6E8A-4147-A177-3AD203B41FA5}">
                      <a16:colId xmlns:a16="http://schemas.microsoft.com/office/drawing/2014/main" val="1437746243"/>
                    </a:ext>
                  </a:extLst>
                </a:gridCol>
              </a:tblGrid>
              <a:tr h="661595">
                <a:tc>
                  <a:txBody>
                    <a:bodyPr/>
                    <a:lstStyle/>
                    <a:p>
                      <a:r>
                        <a:rPr lang="en-US" dirty="0"/>
                        <a:t>Outcome</a:t>
                      </a:r>
                    </a:p>
                  </a:txBody>
                  <a:tcPr/>
                </a:tc>
                <a:tc>
                  <a:txBody>
                    <a:bodyPr/>
                    <a:lstStyle/>
                    <a:p>
                      <a:endParaRPr lang="en-US" dirty="0"/>
                    </a:p>
                  </a:txBody>
                  <a:tcPr>
                    <a:solidFill>
                      <a:schemeClr val="bg1">
                        <a:lumMod val="95000"/>
                      </a:schemeClr>
                    </a:solidFill>
                  </a:tcPr>
                </a:tc>
                <a:tc>
                  <a:txBody>
                    <a:bodyPr/>
                    <a:lstStyle/>
                    <a:p>
                      <a:endParaRPr lang="en-US" dirty="0"/>
                    </a:p>
                  </a:txBody>
                  <a:tcPr>
                    <a:solidFill>
                      <a:schemeClr val="bg1">
                        <a:lumMod val="95000"/>
                      </a:schemeClr>
                    </a:solidFill>
                  </a:tcPr>
                </a:tc>
                <a:tc>
                  <a:txBody>
                    <a:bodyPr/>
                    <a:lstStyle/>
                    <a:p>
                      <a:endParaRPr lang="en-US" dirty="0"/>
                    </a:p>
                  </a:txBody>
                  <a:tcPr>
                    <a:solidFill>
                      <a:schemeClr val="bg1">
                        <a:lumMod val="95000"/>
                      </a:schemeClr>
                    </a:solidFill>
                  </a:tcPr>
                </a:tc>
                <a:tc>
                  <a:txBody>
                    <a:bodyPr/>
                    <a:lstStyle/>
                    <a:p>
                      <a:endParaRPr lang="en-US" dirty="0"/>
                    </a:p>
                  </a:txBody>
                  <a:tcPr>
                    <a:solidFill>
                      <a:schemeClr val="bg1">
                        <a:lumMod val="95000"/>
                      </a:schemeClr>
                    </a:solidFill>
                  </a:tcPr>
                </a:tc>
                <a:tc>
                  <a:txBody>
                    <a:bodyPr/>
                    <a:lstStyle/>
                    <a:p>
                      <a:endParaRPr lang="en-US" dirty="0"/>
                    </a:p>
                  </a:txBody>
                  <a:tcPr>
                    <a:solidFill>
                      <a:schemeClr val="bg1">
                        <a:lumMod val="95000"/>
                      </a:schemeClr>
                    </a:solidFill>
                  </a:tcPr>
                </a:tc>
                <a:tc>
                  <a:txBody>
                    <a:bodyPr/>
                    <a:lstStyle/>
                    <a:p>
                      <a:endParaRPr lang="en-US" dirty="0"/>
                    </a:p>
                  </a:txBody>
                  <a:tcPr>
                    <a:solidFill>
                      <a:schemeClr val="bg1">
                        <a:lumMod val="95000"/>
                      </a:schemeClr>
                    </a:solidFill>
                  </a:tcPr>
                </a:tc>
                <a:extLst>
                  <a:ext uri="{0D108BD9-81ED-4DB2-BD59-A6C34878D82A}">
                    <a16:rowId xmlns:a16="http://schemas.microsoft.com/office/drawing/2014/main" val="1030150752"/>
                  </a:ext>
                </a:extLst>
              </a:tr>
              <a:tr h="706333">
                <a:tc>
                  <a:txBody>
                    <a:bodyPr/>
                    <a:lstStyle/>
                    <a:p>
                      <a:r>
                        <a:rPr lang="en-US" dirty="0"/>
                        <a:t>Probability</a:t>
                      </a:r>
                    </a:p>
                  </a:txBody>
                  <a:tcPr/>
                </a:tc>
                <a:tc>
                  <a:txBody>
                    <a:bodyPr/>
                    <a:lstStyle/>
                    <a:p>
                      <a:pPr algn="ctr"/>
                      <a:r>
                        <a:rPr lang="en-US" dirty="0"/>
                        <a:t>1/6</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1/6</a:t>
                      </a:r>
                    </a:p>
                    <a:p>
                      <a:pPr algn="ctr"/>
                      <a:endParaRPr lang="en-US" dirty="0"/>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1/6</a:t>
                      </a:r>
                    </a:p>
                    <a:p>
                      <a:pPr algn="ctr"/>
                      <a:endParaRPr lang="en-US" dirty="0"/>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1/6</a:t>
                      </a:r>
                    </a:p>
                    <a:p>
                      <a:pPr algn="ctr"/>
                      <a:endParaRPr lang="en-US" dirty="0"/>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1/6</a:t>
                      </a:r>
                    </a:p>
                    <a:p>
                      <a:pPr algn="ctr"/>
                      <a:endParaRPr lang="en-US" dirty="0"/>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1/6</a:t>
                      </a:r>
                    </a:p>
                    <a:p>
                      <a:pPr algn="ctr"/>
                      <a:endParaRPr lang="en-US" dirty="0"/>
                    </a:p>
                  </a:txBody>
                  <a:tcPr>
                    <a:solidFill>
                      <a:schemeClr val="bg1">
                        <a:lumMod val="95000"/>
                      </a:schemeClr>
                    </a:solidFill>
                  </a:tcPr>
                </a:tc>
                <a:extLst>
                  <a:ext uri="{0D108BD9-81ED-4DB2-BD59-A6C34878D82A}">
                    <a16:rowId xmlns:a16="http://schemas.microsoft.com/office/drawing/2014/main" val="3337701967"/>
                  </a:ext>
                </a:extLst>
              </a:tr>
            </a:tbl>
          </a:graphicData>
        </a:graphic>
      </p:graphicFrame>
      <p:pic>
        <p:nvPicPr>
          <p:cNvPr id="7" name="Picture 6">
            <a:extLst>
              <a:ext uri="{FF2B5EF4-FFF2-40B4-BE49-F238E27FC236}">
                <a16:creationId xmlns:a16="http://schemas.microsoft.com/office/drawing/2014/main" id="{38338835-E255-4AA1-AD8B-FD25342269F8}"/>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738167" y="4229359"/>
            <a:ext cx="457200" cy="457373"/>
          </a:xfrm>
          <a:prstGeom prst="rect">
            <a:avLst/>
          </a:prstGeom>
        </p:spPr>
      </p:pic>
      <p:sp>
        <p:nvSpPr>
          <p:cNvPr id="8" name="TextBox 7">
            <a:extLst>
              <a:ext uri="{FF2B5EF4-FFF2-40B4-BE49-F238E27FC236}">
                <a16:creationId xmlns:a16="http://schemas.microsoft.com/office/drawing/2014/main" id="{1D359D22-AF79-4F0D-B6B0-620A1F4BE483}"/>
              </a:ext>
            </a:extLst>
          </p:cNvPr>
          <p:cNvSpPr txBox="1"/>
          <p:nvPr/>
        </p:nvSpPr>
        <p:spPr>
          <a:xfrm>
            <a:off x="2738167" y="9921894"/>
            <a:ext cx="457200" cy="230832"/>
          </a:xfrm>
          <a:prstGeom prst="rect">
            <a:avLst/>
          </a:prstGeom>
          <a:noFill/>
        </p:spPr>
        <p:txBody>
          <a:bodyPr wrap="square" rtlCol="0">
            <a:spAutoFit/>
          </a:bodyPr>
          <a:lstStyle/>
          <a:p>
            <a:r>
              <a:rPr lang="en-US" sz="900">
                <a:hlinkClick r:id="rId3" tooltip="https://commons.wikimedia.org/wiki/File:Dice-1-b.svg"/>
              </a:rPr>
              <a:t>This Photo</a:t>
            </a:r>
            <a:r>
              <a:rPr lang="en-US" sz="900"/>
              <a:t> by Unknown Author is licensed under </a:t>
            </a:r>
            <a:r>
              <a:rPr lang="en-US" sz="900">
                <a:hlinkClick r:id="rId4" tooltip="https://creativecommons.org/licenses/by-sa/3.0/"/>
              </a:rPr>
              <a:t>CC BY-SA</a:t>
            </a:r>
            <a:endParaRPr lang="en-US" sz="900"/>
          </a:p>
        </p:txBody>
      </p:sp>
      <p:pic>
        <p:nvPicPr>
          <p:cNvPr id="10" name="Picture 9">
            <a:extLst>
              <a:ext uri="{FF2B5EF4-FFF2-40B4-BE49-F238E27FC236}">
                <a16:creationId xmlns:a16="http://schemas.microsoft.com/office/drawing/2014/main" id="{7834B636-1A6B-46D5-9596-A6C490EEF729}"/>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184170" y="4229359"/>
            <a:ext cx="457200" cy="457200"/>
          </a:xfrm>
          <a:prstGeom prst="rect">
            <a:avLst/>
          </a:prstGeom>
        </p:spPr>
      </p:pic>
      <p:sp>
        <p:nvSpPr>
          <p:cNvPr id="11" name="TextBox 10">
            <a:extLst>
              <a:ext uri="{FF2B5EF4-FFF2-40B4-BE49-F238E27FC236}">
                <a16:creationId xmlns:a16="http://schemas.microsoft.com/office/drawing/2014/main" id="{38B02A65-962C-4B16-A19E-697DD6D3E9F9}"/>
              </a:ext>
            </a:extLst>
          </p:cNvPr>
          <p:cNvSpPr txBox="1"/>
          <p:nvPr/>
        </p:nvSpPr>
        <p:spPr>
          <a:xfrm>
            <a:off x="4262887" y="11192307"/>
            <a:ext cx="457200" cy="230832"/>
          </a:xfrm>
          <a:prstGeom prst="rect">
            <a:avLst/>
          </a:prstGeom>
          <a:noFill/>
        </p:spPr>
        <p:txBody>
          <a:bodyPr wrap="square" rtlCol="0">
            <a:spAutoFit/>
          </a:bodyPr>
          <a:lstStyle/>
          <a:p>
            <a:r>
              <a:rPr lang="en-US" sz="900">
                <a:hlinkClick r:id="rId6" tooltip="https://commons.wikimedia.org/wiki/File:Dice-2-b.svg"/>
              </a:rPr>
              <a:t>This Photo</a:t>
            </a:r>
            <a:r>
              <a:rPr lang="en-US" sz="900"/>
              <a:t> by Unknown Author is licensed under </a:t>
            </a:r>
            <a:r>
              <a:rPr lang="en-US" sz="900">
                <a:hlinkClick r:id="rId4" tooltip="https://creativecommons.org/licenses/by-sa/3.0/"/>
              </a:rPr>
              <a:t>CC BY-SA</a:t>
            </a:r>
            <a:endParaRPr lang="en-US" sz="900"/>
          </a:p>
        </p:txBody>
      </p:sp>
      <p:pic>
        <p:nvPicPr>
          <p:cNvPr id="13" name="Picture 12">
            <a:extLst>
              <a:ext uri="{FF2B5EF4-FFF2-40B4-BE49-F238E27FC236}">
                <a16:creationId xmlns:a16="http://schemas.microsoft.com/office/drawing/2014/main" id="{F001C187-BAD0-4D37-9606-62A9F1BCF565}"/>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5611004" y="4229359"/>
            <a:ext cx="457200" cy="457200"/>
          </a:xfrm>
          <a:prstGeom prst="rect">
            <a:avLst/>
          </a:prstGeom>
        </p:spPr>
      </p:pic>
      <p:sp>
        <p:nvSpPr>
          <p:cNvPr id="14" name="TextBox 13">
            <a:extLst>
              <a:ext uri="{FF2B5EF4-FFF2-40B4-BE49-F238E27FC236}">
                <a16:creationId xmlns:a16="http://schemas.microsoft.com/office/drawing/2014/main" id="{3E26A5E0-9BBA-47F1-9080-572F2A14E9B3}"/>
              </a:ext>
            </a:extLst>
          </p:cNvPr>
          <p:cNvSpPr txBox="1"/>
          <p:nvPr/>
        </p:nvSpPr>
        <p:spPr>
          <a:xfrm>
            <a:off x="5702060" y="11192134"/>
            <a:ext cx="457200" cy="230832"/>
          </a:xfrm>
          <a:prstGeom prst="rect">
            <a:avLst/>
          </a:prstGeom>
          <a:noFill/>
        </p:spPr>
        <p:txBody>
          <a:bodyPr wrap="square" rtlCol="0">
            <a:spAutoFit/>
          </a:bodyPr>
          <a:lstStyle/>
          <a:p>
            <a:r>
              <a:rPr lang="en-US" sz="900">
                <a:hlinkClick r:id="rId8" tooltip="https://commons.wikimedia.org/wiki/File:Dice-3-b.svg"/>
              </a:rPr>
              <a:t>This Photo</a:t>
            </a:r>
            <a:r>
              <a:rPr lang="en-US" sz="900"/>
              <a:t> by Unknown Author is licensed under </a:t>
            </a:r>
            <a:r>
              <a:rPr lang="en-US" sz="900">
                <a:hlinkClick r:id="rId4" tooltip="https://creativecommons.org/licenses/by-sa/3.0/"/>
              </a:rPr>
              <a:t>CC BY-SA</a:t>
            </a:r>
            <a:endParaRPr lang="en-US" sz="900"/>
          </a:p>
        </p:txBody>
      </p:sp>
      <p:pic>
        <p:nvPicPr>
          <p:cNvPr id="16" name="Picture 15">
            <a:extLst>
              <a:ext uri="{FF2B5EF4-FFF2-40B4-BE49-F238E27FC236}">
                <a16:creationId xmlns:a16="http://schemas.microsoft.com/office/drawing/2014/main" id="{B8872C36-2146-41B6-BBD5-AA7BD00F63CA}"/>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7037838" y="4229359"/>
            <a:ext cx="457200" cy="457200"/>
          </a:xfrm>
          <a:prstGeom prst="rect">
            <a:avLst/>
          </a:prstGeom>
        </p:spPr>
      </p:pic>
      <p:sp>
        <p:nvSpPr>
          <p:cNvPr id="17" name="TextBox 16">
            <a:extLst>
              <a:ext uri="{FF2B5EF4-FFF2-40B4-BE49-F238E27FC236}">
                <a16:creationId xmlns:a16="http://schemas.microsoft.com/office/drawing/2014/main" id="{9116CEA6-DDAC-43E1-A456-83E9A3E8A79C}"/>
              </a:ext>
            </a:extLst>
          </p:cNvPr>
          <p:cNvSpPr txBox="1"/>
          <p:nvPr/>
        </p:nvSpPr>
        <p:spPr>
          <a:xfrm>
            <a:off x="7114636" y="11192134"/>
            <a:ext cx="457200" cy="230832"/>
          </a:xfrm>
          <a:prstGeom prst="rect">
            <a:avLst/>
          </a:prstGeom>
          <a:noFill/>
        </p:spPr>
        <p:txBody>
          <a:bodyPr wrap="square" rtlCol="0">
            <a:spAutoFit/>
          </a:bodyPr>
          <a:lstStyle/>
          <a:p>
            <a:r>
              <a:rPr lang="en-US" sz="900">
                <a:hlinkClick r:id="rId10" tooltip="http://commons.wikimedia.org/wiki/File:Dice-4-b.svg"/>
              </a:rPr>
              <a:t>This Photo</a:t>
            </a:r>
            <a:r>
              <a:rPr lang="en-US" sz="900"/>
              <a:t> by Unknown Author is licensed under </a:t>
            </a:r>
            <a:r>
              <a:rPr lang="en-US" sz="900">
                <a:hlinkClick r:id="rId4" tooltip="https://creativecommons.org/licenses/by-sa/3.0/"/>
              </a:rPr>
              <a:t>CC BY-SA</a:t>
            </a:r>
            <a:endParaRPr lang="en-US" sz="900"/>
          </a:p>
        </p:txBody>
      </p:sp>
      <p:pic>
        <p:nvPicPr>
          <p:cNvPr id="19" name="Picture 18">
            <a:extLst>
              <a:ext uri="{FF2B5EF4-FFF2-40B4-BE49-F238E27FC236}">
                <a16:creationId xmlns:a16="http://schemas.microsoft.com/office/drawing/2014/main" id="{F1A4D0E5-D34E-487C-A87A-7686275C7C54}"/>
              </a:ext>
            </a:extLst>
          </p:cNvPr>
          <p:cNvPicPr>
            <a:picLocks noChangeAspect="1"/>
          </p:cNvPicPr>
          <p:nvPr/>
        </p:nvPicPr>
        <p:blipFill>
          <a:blip r:embed="rId11">
            <a:extLst>
              <a:ext uri="{837473B0-CC2E-450A-ABE3-18F120FF3D39}">
                <a1611:picAttrSrcUrl xmlns:a1611="http://schemas.microsoft.com/office/drawing/2016/11/main" r:id="rId12"/>
              </a:ext>
            </a:extLst>
          </a:blip>
          <a:stretch>
            <a:fillRect/>
          </a:stretch>
        </p:blipFill>
        <p:spPr>
          <a:xfrm>
            <a:off x="8464672" y="4210568"/>
            <a:ext cx="457200" cy="457200"/>
          </a:xfrm>
          <a:prstGeom prst="rect">
            <a:avLst/>
          </a:prstGeom>
        </p:spPr>
      </p:pic>
      <p:sp>
        <p:nvSpPr>
          <p:cNvPr id="20" name="TextBox 19">
            <a:extLst>
              <a:ext uri="{FF2B5EF4-FFF2-40B4-BE49-F238E27FC236}">
                <a16:creationId xmlns:a16="http://schemas.microsoft.com/office/drawing/2014/main" id="{DBD77190-9FDD-41F9-BFA8-E6A47BADD0A7}"/>
              </a:ext>
            </a:extLst>
          </p:cNvPr>
          <p:cNvSpPr txBox="1"/>
          <p:nvPr/>
        </p:nvSpPr>
        <p:spPr>
          <a:xfrm>
            <a:off x="8560639" y="11192134"/>
            <a:ext cx="457200" cy="230832"/>
          </a:xfrm>
          <a:prstGeom prst="rect">
            <a:avLst/>
          </a:prstGeom>
          <a:noFill/>
        </p:spPr>
        <p:txBody>
          <a:bodyPr wrap="square" rtlCol="0">
            <a:spAutoFit/>
          </a:bodyPr>
          <a:lstStyle/>
          <a:p>
            <a:r>
              <a:rPr lang="en-US" sz="900">
                <a:hlinkClick r:id="rId12" tooltip="https://commons.wikimedia.org/wiki/File:Dice-5-b.svg"/>
              </a:rPr>
              <a:t>This Photo</a:t>
            </a:r>
            <a:r>
              <a:rPr lang="en-US" sz="900"/>
              <a:t> by Unknown Author is licensed under </a:t>
            </a:r>
            <a:r>
              <a:rPr lang="en-US" sz="900">
                <a:hlinkClick r:id="rId4" tooltip="https://creativecommons.org/licenses/by-sa/3.0/"/>
              </a:rPr>
              <a:t>CC BY-SA</a:t>
            </a:r>
            <a:endParaRPr lang="en-US" sz="900"/>
          </a:p>
        </p:txBody>
      </p:sp>
      <p:pic>
        <p:nvPicPr>
          <p:cNvPr id="22" name="Picture 21">
            <a:extLst>
              <a:ext uri="{FF2B5EF4-FFF2-40B4-BE49-F238E27FC236}">
                <a16:creationId xmlns:a16="http://schemas.microsoft.com/office/drawing/2014/main" id="{3FDFD589-DF74-425E-9031-F99196A015F6}"/>
              </a:ext>
            </a:extLst>
          </p:cNvPr>
          <p:cNvPicPr>
            <a:picLocks noChangeAspect="1"/>
          </p:cNvPicPr>
          <p:nvPr/>
        </p:nvPicPr>
        <p:blipFill>
          <a:blip r:embed="rId13">
            <a:extLst>
              <a:ext uri="{837473B0-CC2E-450A-ABE3-18F120FF3D39}">
                <a1611:picAttrSrcUrl xmlns:a1611="http://schemas.microsoft.com/office/drawing/2016/11/main" r:id="rId14"/>
              </a:ext>
            </a:extLst>
          </a:blip>
          <a:stretch>
            <a:fillRect/>
          </a:stretch>
        </p:blipFill>
        <p:spPr>
          <a:xfrm>
            <a:off x="9891506" y="4239143"/>
            <a:ext cx="457200" cy="457200"/>
          </a:xfrm>
          <a:prstGeom prst="rect">
            <a:avLst/>
          </a:prstGeom>
        </p:spPr>
      </p:pic>
      <p:sp>
        <p:nvSpPr>
          <p:cNvPr id="23" name="TextBox 22">
            <a:extLst>
              <a:ext uri="{FF2B5EF4-FFF2-40B4-BE49-F238E27FC236}">
                <a16:creationId xmlns:a16="http://schemas.microsoft.com/office/drawing/2014/main" id="{DA5B2C03-9096-406E-AF66-5A97615F3440}"/>
              </a:ext>
            </a:extLst>
          </p:cNvPr>
          <p:cNvSpPr txBox="1"/>
          <p:nvPr/>
        </p:nvSpPr>
        <p:spPr>
          <a:xfrm>
            <a:off x="9939068" y="11192134"/>
            <a:ext cx="457200" cy="230832"/>
          </a:xfrm>
          <a:prstGeom prst="rect">
            <a:avLst/>
          </a:prstGeom>
          <a:noFill/>
        </p:spPr>
        <p:txBody>
          <a:bodyPr wrap="square" rtlCol="0">
            <a:spAutoFit/>
          </a:bodyPr>
          <a:lstStyle/>
          <a:p>
            <a:r>
              <a:rPr lang="en-US" sz="900">
                <a:hlinkClick r:id="rId14" tooltip="http://commons.wikimedia.org/wiki/File:Dice-6-b.svg"/>
              </a:rPr>
              <a:t>This Photo</a:t>
            </a:r>
            <a:r>
              <a:rPr lang="en-US" sz="900"/>
              <a:t> by Unknown Author is licensed under </a:t>
            </a:r>
            <a:r>
              <a:rPr lang="en-US" sz="900">
                <a:hlinkClick r:id="rId4" tooltip="https://creativecommons.org/licenses/by-sa/3.0/"/>
              </a:rPr>
              <a:t>CC BY-SA</a:t>
            </a:r>
            <a:endParaRPr lang="en-US" sz="900"/>
          </a:p>
        </p:txBody>
      </p:sp>
      <p:sp>
        <p:nvSpPr>
          <p:cNvPr id="24" name="Footer Placeholder 23">
            <a:extLst>
              <a:ext uri="{FF2B5EF4-FFF2-40B4-BE49-F238E27FC236}">
                <a16:creationId xmlns:a16="http://schemas.microsoft.com/office/drawing/2014/main" id="{37B82F00-4854-45DE-863A-36AB8207DAAD}"/>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3488910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1459E9-336B-4ECC-9DA9-C9CC2EE49548}"/>
              </a:ext>
            </a:extLst>
          </p:cNvPr>
          <p:cNvSpPr>
            <a:spLocks noGrp="1"/>
          </p:cNvSpPr>
          <p:nvPr>
            <p:ph idx="1"/>
          </p:nvPr>
        </p:nvSpPr>
        <p:spPr>
          <a:xfrm>
            <a:off x="690113" y="543464"/>
            <a:ext cx="10843404" cy="5684808"/>
          </a:xfrm>
        </p:spPr>
        <p:txBody>
          <a:bodyPr/>
          <a:lstStyle/>
          <a:p>
            <a:pPr marL="0" indent="0">
              <a:buNone/>
            </a:pPr>
            <a:r>
              <a:rPr lang="en-US" dirty="0"/>
              <a:t>7. </a:t>
            </a:r>
            <a:r>
              <a:rPr lang="en-US" b="1" dirty="0">
                <a:solidFill>
                  <a:srgbClr val="00B0F0"/>
                </a:solidFill>
              </a:rPr>
              <a:t>Dependent / Independent Events</a:t>
            </a:r>
          </a:p>
          <a:p>
            <a:pPr marL="0" indent="0">
              <a:buNone/>
            </a:pPr>
            <a:r>
              <a:rPr lang="en-US" sz="1600" dirty="0"/>
              <a:t>Several events are said to be independent if the occurrence of one event doesn’t affect the outcome of other.</a:t>
            </a:r>
          </a:p>
          <a:p>
            <a:pPr marL="0" indent="0">
              <a:buNone/>
            </a:pPr>
            <a:r>
              <a:rPr lang="en-US" sz="1600" dirty="0"/>
              <a:t>If the occurrence of one event is dependent on or affected by the occurrence of some other event the events are called dependent.</a:t>
            </a:r>
          </a:p>
          <a:p>
            <a:pPr marL="0" indent="0">
              <a:buNone/>
            </a:pPr>
            <a:r>
              <a:rPr lang="en-US" sz="1600" b="1" dirty="0">
                <a:solidFill>
                  <a:srgbClr val="00B0F0"/>
                </a:solidFill>
              </a:rPr>
              <a:t>Example 1</a:t>
            </a:r>
            <a:r>
              <a:rPr lang="en-US" sz="1600" dirty="0"/>
              <a:t>: Tossing a coin</a:t>
            </a:r>
          </a:p>
          <a:p>
            <a:pPr marL="0" indent="0">
              <a:buNone/>
            </a:pPr>
            <a:r>
              <a:rPr lang="en-US" sz="1600" dirty="0"/>
              <a:t>Event H = Getting a head</a:t>
            </a:r>
          </a:p>
          <a:p>
            <a:pPr marL="0" indent="0">
              <a:buNone/>
            </a:pPr>
            <a:r>
              <a:rPr lang="en-US" sz="1600" dirty="0"/>
              <a:t>Event T = Getting a tail</a:t>
            </a:r>
          </a:p>
          <a:p>
            <a:pPr marL="0" indent="0">
              <a:buNone/>
            </a:pPr>
            <a:r>
              <a:rPr lang="en-US" sz="1600" dirty="0"/>
              <a:t>These two events are independent of each other</a:t>
            </a:r>
          </a:p>
          <a:p>
            <a:pPr marL="0" indent="0">
              <a:buNone/>
            </a:pPr>
            <a:r>
              <a:rPr lang="en-US" sz="1600" b="1" dirty="0">
                <a:solidFill>
                  <a:srgbClr val="00B0F0"/>
                </a:solidFill>
              </a:rPr>
              <a:t>Example 2</a:t>
            </a:r>
            <a:r>
              <a:rPr lang="en-US" sz="1600" dirty="0"/>
              <a:t>: Suppose a survey was conducted and among many questions two questions that were asked are: what is your gender? and Do you enjoy shopping? Suppose we have following result.</a:t>
            </a:r>
          </a:p>
          <a:p>
            <a:pPr marL="0" indent="0">
              <a:buNone/>
            </a:pPr>
            <a:endParaRPr lang="en-US" sz="1600" dirty="0"/>
          </a:p>
          <a:p>
            <a:pPr marL="0" indent="0">
              <a:buNone/>
            </a:pPr>
            <a:r>
              <a:rPr lang="en-US" sz="1600" dirty="0"/>
              <a:t>Prob (Yes) = 145/250 = 0.58 or 58 % =1/1.72</a:t>
            </a:r>
          </a:p>
          <a:p>
            <a:pPr marL="0" indent="0">
              <a:buNone/>
            </a:pPr>
            <a:r>
              <a:rPr lang="en-US" dirty="0"/>
              <a:t>Prob (No) = 105/250 = 0.42 or 42 % or 1/2.38</a:t>
            </a:r>
          </a:p>
          <a:p>
            <a:pPr marL="0" indent="0">
              <a:buNone/>
            </a:pPr>
            <a:r>
              <a:rPr lang="en-US" dirty="0"/>
              <a:t>Prob (Yes/Male) = 25/100 = 0.25 or 25 %</a:t>
            </a:r>
          </a:p>
          <a:p>
            <a:pPr marL="0" indent="0">
              <a:buNone/>
            </a:pPr>
            <a:r>
              <a:rPr lang="en-US" dirty="0"/>
              <a:t>Prob (Yes/Female) = 120 / 150 = 0.8 or 80 % </a:t>
            </a:r>
          </a:p>
        </p:txBody>
      </p:sp>
      <p:graphicFrame>
        <p:nvGraphicFramePr>
          <p:cNvPr id="4" name="Table 4">
            <a:extLst>
              <a:ext uri="{FF2B5EF4-FFF2-40B4-BE49-F238E27FC236}">
                <a16:creationId xmlns:a16="http://schemas.microsoft.com/office/drawing/2014/main" id="{B172E672-9DC8-47A5-AEE8-43AB3E514AA3}"/>
              </a:ext>
            </a:extLst>
          </p:cNvPr>
          <p:cNvGraphicFramePr>
            <a:graphicFrameLocks noGrp="1"/>
          </p:cNvGraphicFramePr>
          <p:nvPr>
            <p:extLst>
              <p:ext uri="{D42A27DB-BD31-4B8C-83A1-F6EECF244321}">
                <p14:modId xmlns:p14="http://schemas.microsoft.com/office/powerpoint/2010/main" val="3845280452"/>
              </p:ext>
            </p:extLst>
          </p:nvPr>
        </p:nvGraphicFramePr>
        <p:xfrm>
          <a:off x="6362462" y="4384519"/>
          <a:ext cx="4291164" cy="1676400"/>
        </p:xfrm>
        <a:graphic>
          <a:graphicData uri="http://schemas.openxmlformats.org/drawingml/2006/table">
            <a:tbl>
              <a:tblPr firstRow="1" bandRow="1">
                <a:tableStyleId>{3B4B98B0-60AC-42C2-AFA5-B58CD77FA1E5}</a:tableStyleId>
              </a:tblPr>
              <a:tblGrid>
                <a:gridCol w="1072791">
                  <a:extLst>
                    <a:ext uri="{9D8B030D-6E8A-4147-A177-3AD203B41FA5}">
                      <a16:colId xmlns:a16="http://schemas.microsoft.com/office/drawing/2014/main" val="1418653932"/>
                    </a:ext>
                  </a:extLst>
                </a:gridCol>
                <a:gridCol w="1072791">
                  <a:extLst>
                    <a:ext uri="{9D8B030D-6E8A-4147-A177-3AD203B41FA5}">
                      <a16:colId xmlns:a16="http://schemas.microsoft.com/office/drawing/2014/main" val="4171932137"/>
                    </a:ext>
                  </a:extLst>
                </a:gridCol>
                <a:gridCol w="1072791">
                  <a:extLst>
                    <a:ext uri="{9D8B030D-6E8A-4147-A177-3AD203B41FA5}">
                      <a16:colId xmlns:a16="http://schemas.microsoft.com/office/drawing/2014/main" val="3004130611"/>
                    </a:ext>
                  </a:extLst>
                </a:gridCol>
                <a:gridCol w="1072791">
                  <a:extLst>
                    <a:ext uri="{9D8B030D-6E8A-4147-A177-3AD203B41FA5}">
                      <a16:colId xmlns:a16="http://schemas.microsoft.com/office/drawing/2014/main" val="1048035026"/>
                    </a:ext>
                  </a:extLst>
                </a:gridCol>
              </a:tblGrid>
              <a:tr h="242178">
                <a:tc rowSpan="2">
                  <a:txBody>
                    <a:bodyPr/>
                    <a:lstStyle/>
                    <a:p>
                      <a:r>
                        <a:rPr lang="en-US" sz="1600" dirty="0"/>
                        <a:t>Gender</a:t>
                      </a:r>
                    </a:p>
                  </a:txBody>
                  <a:tcPr/>
                </a:tc>
                <a:tc gridSpan="2">
                  <a:txBody>
                    <a:bodyPr/>
                    <a:lstStyle/>
                    <a:p>
                      <a:r>
                        <a:rPr lang="en-US" sz="1600" dirty="0"/>
                        <a:t>Enjoy Shopping</a:t>
                      </a:r>
                    </a:p>
                  </a:txBody>
                  <a:tcPr/>
                </a:tc>
                <a:tc hMerge="1">
                  <a:txBody>
                    <a:bodyPr/>
                    <a:lstStyle/>
                    <a:p>
                      <a:endParaRPr lang="en-US" dirty="0"/>
                    </a:p>
                  </a:txBody>
                  <a:tcPr/>
                </a:tc>
                <a:tc rowSpan="2">
                  <a:txBody>
                    <a:bodyPr/>
                    <a:lstStyle/>
                    <a:p>
                      <a:r>
                        <a:rPr lang="en-US" sz="1600" dirty="0"/>
                        <a:t>Total</a:t>
                      </a:r>
                    </a:p>
                  </a:txBody>
                  <a:tcPr/>
                </a:tc>
                <a:extLst>
                  <a:ext uri="{0D108BD9-81ED-4DB2-BD59-A6C34878D82A}">
                    <a16:rowId xmlns:a16="http://schemas.microsoft.com/office/drawing/2014/main" val="4223779750"/>
                  </a:ext>
                </a:extLst>
              </a:tr>
              <a:tr h="242178">
                <a:tc vMerge="1">
                  <a:txBody>
                    <a:bodyPr/>
                    <a:lstStyle/>
                    <a:p>
                      <a:endParaRPr lang="en-US" dirty="0"/>
                    </a:p>
                  </a:txBody>
                  <a:tcPr/>
                </a:tc>
                <a:tc>
                  <a:txBody>
                    <a:bodyPr/>
                    <a:lstStyle/>
                    <a:p>
                      <a:r>
                        <a:rPr lang="en-US" sz="1600" dirty="0"/>
                        <a:t>Yes</a:t>
                      </a:r>
                    </a:p>
                  </a:txBody>
                  <a:tcPr>
                    <a:noFill/>
                  </a:tcPr>
                </a:tc>
                <a:tc>
                  <a:txBody>
                    <a:bodyPr/>
                    <a:lstStyle/>
                    <a:p>
                      <a:r>
                        <a:rPr lang="en-US" sz="1600" dirty="0"/>
                        <a:t>No</a:t>
                      </a:r>
                    </a:p>
                  </a:txBody>
                  <a:tcPr>
                    <a:noFill/>
                  </a:tcPr>
                </a:tc>
                <a:tc vMerge="1">
                  <a:txBody>
                    <a:bodyPr/>
                    <a:lstStyle/>
                    <a:p>
                      <a:endParaRPr lang="en-US" dirty="0"/>
                    </a:p>
                  </a:txBody>
                  <a:tcPr/>
                </a:tc>
                <a:extLst>
                  <a:ext uri="{0D108BD9-81ED-4DB2-BD59-A6C34878D82A}">
                    <a16:rowId xmlns:a16="http://schemas.microsoft.com/office/drawing/2014/main" val="1024124104"/>
                  </a:ext>
                </a:extLst>
              </a:tr>
              <a:tr h="242178">
                <a:tc>
                  <a:txBody>
                    <a:bodyPr/>
                    <a:lstStyle/>
                    <a:p>
                      <a:r>
                        <a:rPr lang="en-US" sz="1600" dirty="0"/>
                        <a:t>Male</a:t>
                      </a:r>
                    </a:p>
                  </a:txBody>
                  <a:tcPr/>
                </a:tc>
                <a:tc>
                  <a:txBody>
                    <a:bodyPr/>
                    <a:lstStyle/>
                    <a:p>
                      <a:r>
                        <a:rPr lang="en-US" sz="1600" dirty="0"/>
                        <a:t>25</a:t>
                      </a:r>
                    </a:p>
                  </a:txBody>
                  <a:tcPr/>
                </a:tc>
                <a:tc>
                  <a:txBody>
                    <a:bodyPr/>
                    <a:lstStyle/>
                    <a:p>
                      <a:r>
                        <a:rPr lang="en-US" sz="1600" dirty="0"/>
                        <a:t>75</a:t>
                      </a:r>
                    </a:p>
                  </a:txBody>
                  <a:tcPr/>
                </a:tc>
                <a:tc>
                  <a:txBody>
                    <a:bodyPr/>
                    <a:lstStyle/>
                    <a:p>
                      <a:r>
                        <a:rPr lang="en-US" sz="1600" dirty="0"/>
                        <a:t>100</a:t>
                      </a:r>
                    </a:p>
                  </a:txBody>
                  <a:tcPr/>
                </a:tc>
                <a:extLst>
                  <a:ext uri="{0D108BD9-81ED-4DB2-BD59-A6C34878D82A}">
                    <a16:rowId xmlns:a16="http://schemas.microsoft.com/office/drawing/2014/main" val="2555370753"/>
                  </a:ext>
                </a:extLst>
              </a:tr>
              <a:tr h="242178">
                <a:tc>
                  <a:txBody>
                    <a:bodyPr/>
                    <a:lstStyle/>
                    <a:p>
                      <a:r>
                        <a:rPr lang="en-US" sz="1600" dirty="0"/>
                        <a:t>Female</a:t>
                      </a:r>
                    </a:p>
                  </a:txBody>
                  <a:tcPr/>
                </a:tc>
                <a:tc>
                  <a:txBody>
                    <a:bodyPr/>
                    <a:lstStyle/>
                    <a:p>
                      <a:r>
                        <a:rPr lang="en-US" sz="1600" dirty="0"/>
                        <a:t>120</a:t>
                      </a:r>
                    </a:p>
                  </a:txBody>
                  <a:tcPr/>
                </a:tc>
                <a:tc>
                  <a:txBody>
                    <a:bodyPr/>
                    <a:lstStyle/>
                    <a:p>
                      <a:r>
                        <a:rPr lang="en-US" sz="1600" dirty="0"/>
                        <a:t>30</a:t>
                      </a:r>
                    </a:p>
                  </a:txBody>
                  <a:tcPr/>
                </a:tc>
                <a:tc>
                  <a:txBody>
                    <a:bodyPr/>
                    <a:lstStyle/>
                    <a:p>
                      <a:r>
                        <a:rPr lang="en-US" sz="1600" dirty="0"/>
                        <a:t>150</a:t>
                      </a:r>
                    </a:p>
                  </a:txBody>
                  <a:tcPr/>
                </a:tc>
                <a:extLst>
                  <a:ext uri="{0D108BD9-81ED-4DB2-BD59-A6C34878D82A}">
                    <a16:rowId xmlns:a16="http://schemas.microsoft.com/office/drawing/2014/main" val="4128556943"/>
                  </a:ext>
                </a:extLst>
              </a:tr>
              <a:tr h="242178">
                <a:tc>
                  <a:txBody>
                    <a:bodyPr/>
                    <a:lstStyle/>
                    <a:p>
                      <a:r>
                        <a:rPr lang="en-US" sz="1600" dirty="0"/>
                        <a:t>Total</a:t>
                      </a:r>
                    </a:p>
                  </a:txBody>
                  <a:tcPr/>
                </a:tc>
                <a:tc>
                  <a:txBody>
                    <a:bodyPr/>
                    <a:lstStyle/>
                    <a:p>
                      <a:r>
                        <a:rPr lang="en-US" sz="1600" dirty="0"/>
                        <a:t>145</a:t>
                      </a:r>
                    </a:p>
                  </a:txBody>
                  <a:tcPr/>
                </a:tc>
                <a:tc>
                  <a:txBody>
                    <a:bodyPr/>
                    <a:lstStyle/>
                    <a:p>
                      <a:r>
                        <a:rPr lang="en-US" sz="1600" dirty="0"/>
                        <a:t>105</a:t>
                      </a:r>
                    </a:p>
                  </a:txBody>
                  <a:tcPr/>
                </a:tc>
                <a:tc>
                  <a:txBody>
                    <a:bodyPr/>
                    <a:lstStyle/>
                    <a:p>
                      <a:r>
                        <a:rPr lang="en-US" sz="1600" dirty="0"/>
                        <a:t>n = 250</a:t>
                      </a:r>
                    </a:p>
                  </a:txBody>
                  <a:tcPr/>
                </a:tc>
                <a:extLst>
                  <a:ext uri="{0D108BD9-81ED-4DB2-BD59-A6C34878D82A}">
                    <a16:rowId xmlns:a16="http://schemas.microsoft.com/office/drawing/2014/main" val="2947588867"/>
                  </a:ext>
                </a:extLst>
              </a:tr>
            </a:tbl>
          </a:graphicData>
        </a:graphic>
      </p:graphicFrame>
      <p:sp>
        <p:nvSpPr>
          <p:cNvPr id="5" name="Footer Placeholder 4">
            <a:extLst>
              <a:ext uri="{FF2B5EF4-FFF2-40B4-BE49-F238E27FC236}">
                <a16:creationId xmlns:a16="http://schemas.microsoft.com/office/drawing/2014/main" id="{9C4BBDF3-28F9-4BB3-B836-70D79471302A}"/>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3007277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135C5-5D54-4FCA-8E8C-8A47A2355921}"/>
              </a:ext>
            </a:extLst>
          </p:cNvPr>
          <p:cNvSpPr>
            <a:spLocks noGrp="1"/>
          </p:cNvSpPr>
          <p:nvPr>
            <p:ph type="title"/>
          </p:nvPr>
        </p:nvSpPr>
        <p:spPr>
          <a:xfrm>
            <a:off x="894271" y="648238"/>
            <a:ext cx="10058400" cy="349444"/>
          </a:xfrm>
        </p:spPr>
        <p:txBody>
          <a:bodyPr>
            <a:normAutofit fontScale="90000"/>
          </a:bodyPr>
          <a:lstStyle/>
          <a:p>
            <a:r>
              <a:rPr lang="en-US" sz="2400" b="1" dirty="0"/>
              <a:t>Basic rule of probability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B120CE-9FCF-410D-A3C7-8054D4871EB1}"/>
                  </a:ext>
                </a:extLst>
              </p:cNvPr>
              <p:cNvSpPr>
                <a:spLocks noGrp="1"/>
              </p:cNvSpPr>
              <p:nvPr>
                <p:ph idx="1"/>
              </p:nvPr>
            </p:nvSpPr>
            <p:spPr>
              <a:xfrm>
                <a:off x="894271" y="1224951"/>
                <a:ext cx="10639246" cy="4810089"/>
              </a:xfrm>
            </p:spPr>
            <p:txBody>
              <a:bodyPr/>
              <a:lstStyle/>
              <a:p>
                <a:pPr marL="342900" indent="-342900" algn="l" rtl="0">
                  <a:buFont typeface="+mj-lt"/>
                  <a:buAutoNum type="arabicPeriod"/>
                </a:pPr>
                <a:r>
                  <a:rPr lang="en-US" b="0" i="0" dirty="0">
                    <a:solidFill>
                      <a:srgbClr val="282829"/>
                    </a:solidFill>
                    <a:effectLst/>
                    <a:latin typeface="+mj-lt"/>
                  </a:rPr>
                  <a:t>Probability of any event takes the value between 0 (impossible event) &amp; 1(definite or sure event) - inclusive of  both the values. All the values in between this class interval are probabilistic.</a:t>
                </a:r>
              </a:p>
              <a:p>
                <a:pPr marL="0" indent="0">
                  <a:buNone/>
                </a:pPr>
                <a:r>
                  <a:rPr lang="en-US" dirty="0"/>
                  <a:t>                  0              </a:t>
                </a:r>
                <a:r>
                  <a:rPr lang="en-US" sz="1200" dirty="0"/>
                  <a:t>Less Likely</a:t>
                </a:r>
                <a:r>
                  <a:rPr lang="en-US" dirty="0"/>
                  <a:t>              0.5            </a:t>
                </a:r>
                <a:r>
                  <a:rPr lang="en-US" sz="1200" dirty="0"/>
                  <a:t>More Likely</a:t>
                </a:r>
                <a:r>
                  <a:rPr lang="en-US" dirty="0"/>
                  <a:t>              1</a:t>
                </a:r>
              </a:p>
              <a:p>
                <a:pPr marL="0" indent="0">
                  <a:buNone/>
                </a:pPr>
                <a:endParaRPr lang="en-US" dirty="0"/>
              </a:p>
              <a:p>
                <a:pPr marL="0" indent="0">
                  <a:buNone/>
                </a:pPr>
                <a:endParaRPr lang="en-US" dirty="0"/>
              </a:p>
              <a:p>
                <a:pPr marL="0" indent="0">
                  <a:buNone/>
                </a:pPr>
                <a:r>
                  <a:rPr lang="en-US" dirty="0"/>
                  <a:t>2. Sum of probabilities of outcomes in the sample space is 1 i.e. total probability is 1</a:t>
                </a:r>
              </a:p>
              <a:p>
                <a:pPr marL="0" indent="0">
                  <a:buNone/>
                </a:pPr>
                <a:r>
                  <a:rPr lang="en-US" dirty="0"/>
                  <a:t>3. If E is an event and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𝐸</m:t>
                        </m:r>
                      </m:e>
                    </m:acc>
                  </m:oMath>
                </a14:m>
                <a:r>
                  <a:rPr lang="en-US" dirty="0"/>
                  <a:t> is its complementary event, then following relations are true.</a:t>
                </a:r>
              </a:p>
              <a:p>
                <a:pPr marL="0" indent="0">
                  <a:buNone/>
                </a:pPr>
                <a:r>
                  <a:rPr lang="en-US" dirty="0"/>
                  <a:t>     (a)  P(E) + P(</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𝐸</m:t>
                        </m:r>
                      </m:e>
                    </m:acc>
                  </m:oMath>
                </a14:m>
                <a:r>
                  <a:rPr lang="en-US" dirty="0"/>
                  <a:t>) = 1</a:t>
                </a:r>
              </a:p>
              <a:p>
                <a:pPr marL="0" indent="0">
                  <a:buNone/>
                </a:pPr>
                <a:r>
                  <a:rPr lang="en-US" dirty="0"/>
                  <a:t>     (b)  P(E) = 1 - P(</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𝐸</m:t>
                        </m:r>
                      </m:e>
                    </m:acc>
                  </m:oMath>
                </a14:m>
                <a:r>
                  <a:rPr lang="en-US" dirty="0"/>
                  <a:t>) </a:t>
                </a:r>
              </a:p>
              <a:p>
                <a:pPr marL="0" indent="0">
                  <a:buNone/>
                </a:pPr>
                <a:r>
                  <a:rPr lang="en-US" dirty="0"/>
                  <a:t>     (c)  P(</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𝐸</m:t>
                        </m:r>
                      </m:e>
                    </m:acc>
                  </m:oMath>
                </a14:m>
                <a:r>
                  <a:rPr lang="en-US" dirty="0"/>
                  <a:t>) = 1 – P(E)</a:t>
                </a:r>
              </a:p>
            </p:txBody>
          </p:sp>
        </mc:Choice>
        <mc:Fallback xmlns="">
          <p:sp>
            <p:nvSpPr>
              <p:cNvPr id="3" name="Content Placeholder 2">
                <a:extLst>
                  <a:ext uri="{FF2B5EF4-FFF2-40B4-BE49-F238E27FC236}">
                    <a16:creationId xmlns:a16="http://schemas.microsoft.com/office/drawing/2014/main" id="{87B120CE-9FCF-410D-A3C7-8054D4871EB1}"/>
                  </a:ext>
                </a:extLst>
              </p:cNvPr>
              <p:cNvSpPr>
                <a:spLocks noGrp="1" noRot="1" noChangeAspect="1" noMove="1" noResize="1" noEditPoints="1" noAdjustHandles="1" noChangeArrowheads="1" noChangeShapeType="1" noTextEdit="1"/>
              </p:cNvSpPr>
              <p:nvPr>
                <p:ph idx="1"/>
              </p:nvPr>
            </p:nvSpPr>
            <p:spPr>
              <a:xfrm>
                <a:off x="894271" y="1224951"/>
                <a:ext cx="10639246" cy="4810089"/>
              </a:xfrm>
              <a:blipFill>
                <a:blip r:embed="rId2"/>
                <a:stretch>
                  <a:fillRect l="-516" t="-76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AB22B4A-100A-468C-8EC9-747DC0F2C98C}"/>
              </a:ext>
            </a:extLst>
          </p:cNvPr>
          <p:cNvSpPr>
            <a:spLocks noGrp="1"/>
          </p:cNvSpPr>
          <p:nvPr>
            <p:ph type="ftr" sz="quarter" idx="11"/>
          </p:nvPr>
        </p:nvSpPr>
        <p:spPr/>
        <p:txBody>
          <a:bodyPr/>
          <a:lstStyle/>
          <a:p>
            <a:r>
              <a:rPr lang="en-US"/>
              <a:t>Copy Right  (C)  Santosh Chhatkuli</a:t>
            </a:r>
            <a:endParaRPr lang="en-US" dirty="0"/>
          </a:p>
        </p:txBody>
      </p:sp>
      <p:cxnSp>
        <p:nvCxnSpPr>
          <p:cNvPr id="6" name="Straight Arrow Connector 5">
            <a:extLst>
              <a:ext uri="{FF2B5EF4-FFF2-40B4-BE49-F238E27FC236}">
                <a16:creationId xmlns:a16="http://schemas.microsoft.com/office/drawing/2014/main" id="{C417058F-9DEB-4F0A-AEAD-A391AA8F2608}"/>
              </a:ext>
            </a:extLst>
          </p:cNvPr>
          <p:cNvCxnSpPr/>
          <p:nvPr/>
        </p:nvCxnSpPr>
        <p:spPr>
          <a:xfrm>
            <a:off x="2159476" y="2584510"/>
            <a:ext cx="5486400" cy="0"/>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8" name="Straight Connector 7">
            <a:extLst>
              <a:ext uri="{FF2B5EF4-FFF2-40B4-BE49-F238E27FC236}">
                <a16:creationId xmlns:a16="http://schemas.microsoft.com/office/drawing/2014/main" id="{3892AD5A-4A3C-49C9-998D-5D26E1505802}"/>
              </a:ext>
            </a:extLst>
          </p:cNvPr>
          <p:cNvCxnSpPr/>
          <p:nvPr/>
        </p:nvCxnSpPr>
        <p:spPr>
          <a:xfrm>
            <a:off x="4928553" y="2437862"/>
            <a:ext cx="0" cy="293299"/>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7EE5AB8-5FA2-4852-83D9-20774CC18F47}"/>
              </a:ext>
            </a:extLst>
          </p:cNvPr>
          <p:cNvSpPr/>
          <p:nvPr/>
        </p:nvSpPr>
        <p:spPr>
          <a:xfrm>
            <a:off x="1559941" y="2710496"/>
            <a:ext cx="1199071" cy="3605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Impossible event</a:t>
            </a:r>
          </a:p>
        </p:txBody>
      </p:sp>
      <p:sp>
        <p:nvSpPr>
          <p:cNvPr id="11" name="Rectangle 10">
            <a:extLst>
              <a:ext uri="{FF2B5EF4-FFF2-40B4-BE49-F238E27FC236}">
                <a16:creationId xmlns:a16="http://schemas.microsoft.com/office/drawing/2014/main" id="{85398946-381B-419B-82C7-F033EF13724C}"/>
              </a:ext>
            </a:extLst>
          </p:cNvPr>
          <p:cNvSpPr/>
          <p:nvPr/>
        </p:nvSpPr>
        <p:spPr>
          <a:xfrm>
            <a:off x="7031964" y="2676452"/>
            <a:ext cx="1199071" cy="3605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Sure Event</a:t>
            </a:r>
          </a:p>
        </p:txBody>
      </p:sp>
    </p:spTree>
    <p:extLst>
      <p:ext uri="{BB962C8B-B14F-4D97-AF65-F5344CB8AC3E}">
        <p14:creationId xmlns:p14="http://schemas.microsoft.com/office/powerpoint/2010/main" val="4076615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D9B54-12F1-44E7-88A0-E672648276A6}"/>
              </a:ext>
            </a:extLst>
          </p:cNvPr>
          <p:cNvSpPr>
            <a:spLocks noGrp="1"/>
          </p:cNvSpPr>
          <p:nvPr>
            <p:ph type="title"/>
          </p:nvPr>
        </p:nvSpPr>
        <p:spPr>
          <a:xfrm>
            <a:off x="879893" y="643925"/>
            <a:ext cx="10058400" cy="358070"/>
          </a:xfrm>
        </p:spPr>
        <p:txBody>
          <a:bodyPr>
            <a:normAutofit fontScale="90000"/>
          </a:bodyPr>
          <a:lstStyle/>
          <a:p>
            <a:r>
              <a:rPr lang="en-US" sz="2400" b="1" dirty="0"/>
              <a:t>Approaches in probability</a:t>
            </a:r>
          </a:p>
        </p:txBody>
      </p:sp>
      <p:sp>
        <p:nvSpPr>
          <p:cNvPr id="3" name="Content Placeholder 2">
            <a:extLst>
              <a:ext uri="{FF2B5EF4-FFF2-40B4-BE49-F238E27FC236}">
                <a16:creationId xmlns:a16="http://schemas.microsoft.com/office/drawing/2014/main" id="{66EC7900-28AD-49B3-8224-B9801A6647A3}"/>
              </a:ext>
            </a:extLst>
          </p:cNvPr>
          <p:cNvSpPr>
            <a:spLocks noGrp="1"/>
          </p:cNvSpPr>
          <p:nvPr>
            <p:ph idx="1"/>
          </p:nvPr>
        </p:nvSpPr>
        <p:spPr>
          <a:xfrm>
            <a:off x="879893" y="1449238"/>
            <a:ext cx="10731261" cy="4585802"/>
          </a:xfrm>
        </p:spPr>
        <p:txBody>
          <a:bodyPr>
            <a:normAutofit/>
          </a:bodyPr>
          <a:lstStyle/>
          <a:p>
            <a:pPr marL="0" indent="0">
              <a:buNone/>
            </a:pPr>
            <a:r>
              <a:rPr lang="en-US" sz="2800" dirty="0"/>
              <a:t>There are three approaches in defining a probability of an event. </a:t>
            </a:r>
          </a:p>
          <a:p>
            <a:pPr marL="0" indent="0">
              <a:buNone/>
            </a:pPr>
            <a:endParaRPr lang="en-US" sz="2800" dirty="0"/>
          </a:p>
          <a:p>
            <a:pPr marL="342900" indent="-342900">
              <a:buFont typeface="+mj-lt"/>
              <a:buAutoNum type="arabicPeriod"/>
            </a:pPr>
            <a:r>
              <a:rPr lang="en-US" sz="2800" dirty="0"/>
              <a:t>Classical or Priori Approach</a:t>
            </a:r>
          </a:p>
          <a:p>
            <a:pPr marL="342900" indent="-342900">
              <a:buFont typeface="+mj-lt"/>
              <a:buAutoNum type="arabicPeriod"/>
            </a:pPr>
            <a:r>
              <a:rPr lang="en-US" sz="2800" dirty="0"/>
              <a:t>Relative Frequency or Empirical Approach</a:t>
            </a:r>
          </a:p>
          <a:p>
            <a:pPr marL="342900" indent="-342900">
              <a:buFont typeface="+mj-lt"/>
              <a:buAutoNum type="arabicPeriod"/>
            </a:pPr>
            <a:r>
              <a:rPr lang="en-US" sz="2800" dirty="0"/>
              <a:t>Subjective Approach</a:t>
            </a:r>
          </a:p>
        </p:txBody>
      </p:sp>
      <p:sp>
        <p:nvSpPr>
          <p:cNvPr id="4" name="Footer Placeholder 3">
            <a:extLst>
              <a:ext uri="{FF2B5EF4-FFF2-40B4-BE49-F238E27FC236}">
                <a16:creationId xmlns:a16="http://schemas.microsoft.com/office/drawing/2014/main" id="{CC501708-C42D-4A17-B559-C4FF22884F30}"/>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1844406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559D3-7D8F-40F5-B45E-3606CC6BFFAF}"/>
              </a:ext>
            </a:extLst>
          </p:cNvPr>
          <p:cNvSpPr>
            <a:spLocks noGrp="1"/>
          </p:cNvSpPr>
          <p:nvPr>
            <p:ph type="title"/>
          </p:nvPr>
        </p:nvSpPr>
        <p:spPr>
          <a:xfrm>
            <a:off x="802257" y="477737"/>
            <a:ext cx="10058400" cy="435708"/>
          </a:xfrm>
        </p:spPr>
        <p:txBody>
          <a:bodyPr>
            <a:normAutofit/>
          </a:bodyPr>
          <a:lstStyle/>
          <a:p>
            <a:r>
              <a:rPr lang="en-US" sz="2400" b="1" dirty="0"/>
              <a:t>Classical definition of probability</a:t>
            </a:r>
          </a:p>
        </p:txBody>
      </p:sp>
      <p:sp>
        <p:nvSpPr>
          <p:cNvPr id="3" name="Content Placeholder 2">
            <a:extLst>
              <a:ext uri="{FF2B5EF4-FFF2-40B4-BE49-F238E27FC236}">
                <a16:creationId xmlns:a16="http://schemas.microsoft.com/office/drawing/2014/main" id="{A9304CEC-8FDF-4C08-AAC5-158D47DE92DF}"/>
              </a:ext>
            </a:extLst>
          </p:cNvPr>
          <p:cNvSpPr>
            <a:spLocks noGrp="1"/>
          </p:cNvSpPr>
          <p:nvPr>
            <p:ph idx="1"/>
          </p:nvPr>
        </p:nvSpPr>
        <p:spPr>
          <a:xfrm>
            <a:off x="802258" y="1155940"/>
            <a:ext cx="10735808" cy="5059466"/>
          </a:xfrm>
        </p:spPr>
        <p:txBody>
          <a:bodyPr/>
          <a:lstStyle/>
          <a:p>
            <a:pPr marL="0" indent="0">
              <a:buNone/>
            </a:pPr>
            <a:r>
              <a:rPr lang="en-US" sz="2000" dirty="0"/>
              <a:t>If an experiment can produce ‘N’ exhaustive and mutually exclusive outcome, all of which are equally likely and if ‘n’ of these outcome are </a:t>
            </a:r>
            <a:r>
              <a:rPr lang="en-US" sz="2000" dirty="0">
                <a:effectLst/>
                <a:latin typeface="Calibri" panose="020F0502020204030204" pitchFamily="34" charset="0"/>
                <a:ea typeface="Times New Roman" panose="02020603050405020304" pitchFamily="18" charset="0"/>
              </a:rPr>
              <a:t>favorable to happening of event E, the probability of happening of E is given by, </a:t>
            </a:r>
            <a:endParaRPr lang="en-US" sz="2000" dirty="0">
              <a:effectLst/>
              <a:latin typeface="Times New Roman" panose="02020603050405020304" pitchFamily="18" charset="0"/>
              <a:ea typeface="Times New Roman" panose="02020603050405020304" pitchFamily="18" charset="0"/>
            </a:endParaRPr>
          </a:p>
          <a:p>
            <a:pPr marL="0" indent="0">
              <a:buNone/>
            </a:pPr>
            <a:endParaRPr lang="en-US" sz="2000" dirty="0"/>
          </a:p>
          <a:p>
            <a:pPr marL="0" indent="0">
              <a:buNone/>
            </a:pPr>
            <a:endParaRPr lang="en-US" sz="2000" dirty="0"/>
          </a:p>
          <a:p>
            <a:pPr marL="0" indent="0">
              <a:buNone/>
            </a:pPr>
            <a:endParaRPr lang="en-US" sz="2000" dirty="0"/>
          </a:p>
          <a:p>
            <a:pPr marL="0" marR="0" indent="0">
              <a:spcBef>
                <a:spcPts val="0"/>
              </a:spcBef>
              <a:spcAft>
                <a:spcPts val="0"/>
              </a:spcAft>
              <a:buNone/>
            </a:pPr>
            <a:r>
              <a:rPr lang="en-US" sz="2000" dirty="0">
                <a:effectLst/>
                <a:latin typeface="Calibri" panose="020F0502020204030204" pitchFamily="34" charset="0"/>
                <a:ea typeface="Times New Roman" panose="02020603050405020304" pitchFamily="18" charset="0"/>
              </a:rPr>
              <a:t>Notes:</a:t>
            </a:r>
          </a:p>
          <a:p>
            <a:pPr marR="0">
              <a:spcBef>
                <a:spcPts val="0"/>
              </a:spcBef>
              <a:spcAft>
                <a:spcPts val="0"/>
              </a:spcAft>
              <a:buFont typeface="Wingdings" panose="05000000000000000000" pitchFamily="2" charset="2"/>
              <a:buChar char="ü"/>
            </a:pPr>
            <a:r>
              <a:rPr lang="en-US" sz="2000" dirty="0">
                <a:effectLst/>
                <a:latin typeface="Calibri" panose="020F0502020204030204" pitchFamily="34" charset="0"/>
                <a:ea typeface="Times New Roman" panose="02020603050405020304" pitchFamily="18" charset="0"/>
              </a:rPr>
              <a:t>Classical probability uses sample space to determine the numerical probability that an event will happen. </a:t>
            </a:r>
          </a:p>
          <a:p>
            <a:pPr marR="0">
              <a:spcBef>
                <a:spcPts val="0"/>
              </a:spcBef>
              <a:spcAft>
                <a:spcPts val="0"/>
              </a:spcAft>
              <a:buFont typeface="Wingdings" panose="05000000000000000000" pitchFamily="2" charset="2"/>
              <a:buChar char="ü"/>
            </a:pPr>
            <a:r>
              <a:rPr lang="en-US" sz="2000" dirty="0">
                <a:effectLst/>
                <a:latin typeface="Calibri" panose="020F0502020204030204" pitchFamily="34" charset="0"/>
                <a:ea typeface="Times New Roman" panose="02020603050405020304" pitchFamily="18" charset="0"/>
              </a:rPr>
              <a:t>It assumes that all outcomes in the sample space are equally likely to occur.</a:t>
            </a:r>
            <a:endParaRPr lang="en-US" sz="2000" dirty="0">
              <a:latin typeface="Times New Roman" panose="02020603050405020304" pitchFamily="18" charset="0"/>
              <a:ea typeface="Times New Roman" panose="02020603050405020304" pitchFamily="18" charset="0"/>
            </a:endParaRPr>
          </a:p>
          <a:p>
            <a:pPr marR="0">
              <a:spcBef>
                <a:spcPts val="0"/>
              </a:spcBef>
              <a:spcAft>
                <a:spcPts val="0"/>
              </a:spcAft>
              <a:buFont typeface="Wingdings" panose="05000000000000000000" pitchFamily="2" charset="2"/>
              <a:buChar char="ü"/>
            </a:pPr>
            <a:r>
              <a:rPr lang="en-US" sz="2000" dirty="0">
                <a:effectLst/>
                <a:latin typeface="Calibri" panose="020F0502020204030204" pitchFamily="34" charset="0"/>
                <a:ea typeface="Times New Roman" panose="02020603050405020304" pitchFamily="18" charset="0"/>
              </a:rPr>
              <a:t>Classical probability is also called priori probability because we can state the probability of event in advance (a priori) without performing an experiment, i.e. probability of success is based on prior knowledge of the process involved. </a:t>
            </a:r>
          </a:p>
          <a:p>
            <a:pPr marR="0">
              <a:spcBef>
                <a:spcPts val="0"/>
              </a:spcBef>
              <a:spcAft>
                <a:spcPts val="0"/>
              </a:spcAft>
              <a:buFont typeface="Wingdings" panose="05000000000000000000" pitchFamily="2" charset="2"/>
              <a:buChar char="ü"/>
            </a:pPr>
            <a:r>
              <a:rPr lang="en-US" sz="2000" dirty="0">
                <a:effectLst/>
                <a:latin typeface="Calibri" panose="020F0502020204030204" pitchFamily="34" charset="0"/>
                <a:ea typeface="Times New Roman" panose="02020603050405020304" pitchFamily="18" charset="0"/>
              </a:rPr>
              <a:t>This approach of probability is useful when we deal with card game, dice games, coin tossing etc.</a:t>
            </a:r>
            <a:endParaRPr lang="en-US" sz="2000" dirty="0">
              <a:effectLst/>
              <a:latin typeface="Times New Roman" panose="02020603050405020304" pitchFamily="18" charset="0"/>
              <a:ea typeface="Times New Roman" panose="02020603050405020304" pitchFamily="18" charset="0"/>
            </a:endParaRPr>
          </a:p>
          <a:p>
            <a:pPr marL="0" indent="0">
              <a:buNone/>
            </a:pPr>
            <a:endParaRPr lang="en-US" dirty="0"/>
          </a:p>
        </p:txBody>
      </p:sp>
      <p:sp>
        <p:nvSpPr>
          <p:cNvPr id="4" name="Footer Placeholder 3">
            <a:extLst>
              <a:ext uri="{FF2B5EF4-FFF2-40B4-BE49-F238E27FC236}">
                <a16:creationId xmlns:a16="http://schemas.microsoft.com/office/drawing/2014/main" id="{C2EBD832-1A4C-401C-9718-139837355415}"/>
              </a:ext>
            </a:extLst>
          </p:cNvPr>
          <p:cNvSpPr>
            <a:spLocks noGrp="1"/>
          </p:cNvSpPr>
          <p:nvPr>
            <p:ph type="ftr" sz="quarter" idx="11"/>
          </p:nvPr>
        </p:nvSpPr>
        <p:spPr/>
        <p:txBody>
          <a:bodyPr/>
          <a:lstStyle/>
          <a:p>
            <a:r>
              <a:rPr lang="en-US"/>
              <a:t>Copy Right  (C)  Santosh Chhatkuli</a:t>
            </a:r>
            <a:endParaRPr lang="en-US" dirty="0"/>
          </a:p>
        </p:txBody>
      </p:sp>
      <p:graphicFrame>
        <p:nvGraphicFramePr>
          <p:cNvPr id="9" name="Object 8">
            <a:extLst>
              <a:ext uri="{FF2B5EF4-FFF2-40B4-BE49-F238E27FC236}">
                <a16:creationId xmlns:a16="http://schemas.microsoft.com/office/drawing/2014/main" id="{CCDFA547-D6F7-49F6-8300-13D8E5ABBCF9}"/>
              </a:ext>
            </a:extLst>
          </p:cNvPr>
          <p:cNvGraphicFramePr>
            <a:graphicFrameLocks noChangeAspect="1"/>
          </p:cNvGraphicFramePr>
          <p:nvPr>
            <p:extLst>
              <p:ext uri="{D42A27DB-BD31-4B8C-83A1-F6EECF244321}">
                <p14:modId xmlns:p14="http://schemas.microsoft.com/office/powerpoint/2010/main" val="2164001794"/>
              </p:ext>
            </p:extLst>
          </p:nvPr>
        </p:nvGraphicFramePr>
        <p:xfrm>
          <a:off x="1494790" y="2443163"/>
          <a:ext cx="7312025" cy="642937"/>
        </p:xfrm>
        <a:graphic>
          <a:graphicData uri="http://schemas.openxmlformats.org/presentationml/2006/ole">
            <mc:AlternateContent xmlns:mc="http://schemas.openxmlformats.org/markup-compatibility/2006">
              <mc:Choice xmlns:v="urn:schemas-microsoft-com:vml" Requires="v">
                <p:oleObj name="Equation" r:id="rId2" imgW="4622760" imgH="419040" progId="Equation.DSMT4">
                  <p:embed/>
                </p:oleObj>
              </mc:Choice>
              <mc:Fallback>
                <p:oleObj name="Equation" r:id="rId2" imgW="4622760" imgH="419040" progId="Equation.DSMT4">
                  <p:embed/>
                  <p:pic>
                    <p:nvPicPr>
                      <p:cNvPr id="0" name=""/>
                      <p:cNvPicPr/>
                      <p:nvPr/>
                    </p:nvPicPr>
                    <p:blipFill>
                      <a:blip r:embed="rId3"/>
                      <a:stretch>
                        <a:fillRect/>
                      </a:stretch>
                    </p:blipFill>
                    <p:spPr>
                      <a:xfrm>
                        <a:off x="1494790" y="2443163"/>
                        <a:ext cx="7312025" cy="642937"/>
                      </a:xfrm>
                      <a:prstGeom prst="rect">
                        <a:avLst/>
                      </a:prstGeom>
                    </p:spPr>
                  </p:pic>
                </p:oleObj>
              </mc:Fallback>
            </mc:AlternateContent>
          </a:graphicData>
        </a:graphic>
      </p:graphicFrame>
    </p:spTree>
    <p:extLst>
      <p:ext uri="{BB962C8B-B14F-4D97-AF65-F5344CB8AC3E}">
        <p14:creationId xmlns:p14="http://schemas.microsoft.com/office/powerpoint/2010/main" val="1023641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C7BF9-3AC2-4AB9-A511-1179B07B74C3}"/>
              </a:ext>
            </a:extLst>
          </p:cNvPr>
          <p:cNvSpPr>
            <a:spLocks noGrp="1"/>
          </p:cNvSpPr>
          <p:nvPr>
            <p:ph type="title"/>
          </p:nvPr>
        </p:nvSpPr>
        <p:spPr>
          <a:xfrm>
            <a:off x="847725" y="569987"/>
            <a:ext cx="10058400" cy="414681"/>
          </a:xfrm>
        </p:spPr>
        <p:txBody>
          <a:bodyPr>
            <a:normAutofit fontScale="90000"/>
          </a:bodyPr>
          <a:lstStyle/>
          <a:p>
            <a:r>
              <a:rPr lang="en-US" sz="2400" b="1" dirty="0"/>
              <a:t>Empirical definition of probability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A541AA-8BB8-40A4-BC94-DB488AB4F4A5}"/>
                  </a:ext>
                </a:extLst>
              </p:cNvPr>
              <p:cNvSpPr>
                <a:spLocks noGrp="1"/>
              </p:cNvSpPr>
              <p:nvPr>
                <p:ph idx="1"/>
              </p:nvPr>
            </p:nvSpPr>
            <p:spPr>
              <a:xfrm>
                <a:off x="847725" y="1209675"/>
                <a:ext cx="10734675" cy="4972050"/>
              </a:xfrm>
            </p:spPr>
            <p:txBody>
              <a:bodyPr>
                <a:noAutofit/>
              </a:bodyPr>
              <a:lstStyle/>
              <a:p>
                <a:pPr marL="0" marR="0" indent="0">
                  <a:spcBef>
                    <a:spcPts val="0"/>
                  </a:spcBef>
                  <a:spcAft>
                    <a:spcPts val="0"/>
                  </a:spcAft>
                  <a:buNone/>
                </a:pPr>
                <a:r>
                  <a:rPr lang="en-US" sz="1600" dirty="0">
                    <a:effectLst/>
                    <a:latin typeface="+mj-lt"/>
                    <a:ea typeface="Times New Roman" panose="02020603050405020304" pitchFamily="18" charset="0"/>
                  </a:rPr>
                  <a:t>In defining the probability of an event E, relative frequency approach uses the outcomes which are based on observed data, not on prior knowledge of a process. This method uses the relative frequencies of past occurrences as probability. </a:t>
                </a:r>
              </a:p>
              <a:p>
                <a:pPr marL="0" marR="0" indent="0">
                  <a:spcBef>
                    <a:spcPts val="0"/>
                  </a:spcBef>
                  <a:spcAft>
                    <a:spcPts val="0"/>
                  </a:spcAft>
                  <a:buNone/>
                </a:pPr>
                <a:r>
                  <a:rPr lang="en-US" sz="1600" dirty="0">
                    <a:effectLst/>
                    <a:latin typeface="+mj-lt"/>
                    <a:ea typeface="Times New Roman" panose="02020603050405020304" pitchFamily="18" charset="0"/>
                  </a:rPr>
                  <a:t> </a:t>
                </a:r>
              </a:p>
              <a:p>
                <a:pPr marL="0" marR="0" indent="0">
                  <a:spcBef>
                    <a:spcPts val="0"/>
                  </a:spcBef>
                  <a:spcAft>
                    <a:spcPts val="0"/>
                  </a:spcAft>
                  <a:buNone/>
                </a:pPr>
                <a:r>
                  <a:rPr lang="en-US" sz="1600" dirty="0">
                    <a:effectLst/>
                    <a:latin typeface="+mj-lt"/>
                    <a:ea typeface="Times New Roman" panose="02020603050405020304" pitchFamily="18" charset="0"/>
                  </a:rPr>
                  <a:t>Let an experiment be performed </a:t>
                </a:r>
                <a:r>
                  <a:rPr lang="en-US" sz="1600" i="1" dirty="0">
                    <a:effectLst/>
                    <a:latin typeface="+mj-lt"/>
                    <a:ea typeface="Times New Roman" panose="02020603050405020304" pitchFamily="18" charset="0"/>
                  </a:rPr>
                  <a:t>n</a:t>
                </a:r>
                <a:r>
                  <a:rPr lang="en-US" sz="1600" dirty="0">
                    <a:effectLst/>
                    <a:latin typeface="+mj-lt"/>
                    <a:ea typeface="Times New Roman" panose="02020603050405020304" pitchFamily="18" charset="0"/>
                  </a:rPr>
                  <a:t> times under identical conditions and </a:t>
                </a:r>
                <a:r>
                  <a:rPr lang="en-US" sz="1600" i="1" dirty="0">
                    <a:effectLst/>
                    <a:latin typeface="+mj-lt"/>
                    <a:ea typeface="Times New Roman" panose="02020603050405020304" pitchFamily="18" charset="0"/>
                  </a:rPr>
                  <a:t>f</a:t>
                </a:r>
                <a:r>
                  <a:rPr lang="en-US" sz="1600" dirty="0">
                    <a:effectLst/>
                    <a:latin typeface="+mj-lt"/>
                    <a:ea typeface="Times New Roman" panose="02020603050405020304" pitchFamily="18" charset="0"/>
                  </a:rPr>
                  <a:t> is the frequency of occurrence of the event E. </a:t>
                </a:r>
              </a:p>
              <a:p>
                <a:pPr marL="0" marR="0" indent="0">
                  <a:spcBef>
                    <a:spcPts val="0"/>
                  </a:spcBef>
                  <a:spcAft>
                    <a:spcPts val="0"/>
                  </a:spcAft>
                  <a:buNone/>
                </a:pPr>
                <a:r>
                  <a:rPr lang="en-US" sz="1600" dirty="0">
                    <a:latin typeface="+mj-lt"/>
                  </a:rPr>
                  <a:t>	The relative frequency of an event E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𝑓𝑟𝑒𝑞𝑢𝑒𝑛𝑐𝑦</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𝑒𝑣𝑒𝑛𝑡</m:t>
                        </m:r>
                        <m:r>
                          <a:rPr lang="en-US" b="0" i="1" smtClean="0">
                            <a:latin typeface="Cambria Math" panose="02040503050406030204" pitchFamily="18" charset="0"/>
                          </a:rPr>
                          <m:t> </m:t>
                        </m:r>
                        <m:r>
                          <a:rPr lang="en-US" b="0" i="1" smtClean="0">
                            <a:latin typeface="Cambria Math" panose="02040503050406030204" pitchFamily="18" charset="0"/>
                          </a:rPr>
                          <m:t>𝐸</m:t>
                        </m:r>
                      </m:num>
                      <m:den>
                        <m:r>
                          <a:rPr lang="en-US" b="0" i="1" smtClean="0">
                            <a:latin typeface="Cambria Math" panose="02040503050406030204" pitchFamily="18" charset="0"/>
                          </a:rPr>
                          <m:t>𝑡𝑜𝑡𝑎𝑙</m:t>
                        </m:r>
                        <m:r>
                          <a:rPr lang="en-US" b="0" i="1" smtClean="0">
                            <a:latin typeface="Cambria Math" panose="02040503050406030204" pitchFamily="18" charset="0"/>
                          </a:rPr>
                          <m:t> </m:t>
                        </m:r>
                        <m:r>
                          <a:rPr lang="en-US" b="0" i="1" smtClean="0">
                            <a:latin typeface="Cambria Math" panose="02040503050406030204" pitchFamily="18" charset="0"/>
                          </a:rPr>
                          <m:t>𝑛𝑜</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𝑎𝑙𝑙</m:t>
                        </m:r>
                        <m:r>
                          <a:rPr lang="en-US" b="0" i="1" smtClean="0">
                            <a:latin typeface="Cambria Math" panose="02040503050406030204" pitchFamily="18" charset="0"/>
                          </a:rPr>
                          <m:t> </m:t>
                        </m:r>
                        <m:r>
                          <a:rPr lang="en-US" b="0" i="1" smtClean="0">
                            <a:latin typeface="Cambria Math" panose="02040503050406030204" pitchFamily="18" charset="0"/>
                          </a:rPr>
                          <m:t>𝑒𝑣𝑒𝑛𝑡𝑠</m:t>
                        </m:r>
                      </m:den>
                    </m:f>
                  </m:oMath>
                </a14:m>
                <a:r>
                  <a:rPr lang="en-US" sz="1600" dirty="0">
                    <a:latin typeface="+mj-lt"/>
                  </a:rPr>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𝑓</m:t>
                        </m:r>
                      </m:num>
                      <m:den>
                        <m:r>
                          <a:rPr lang="en-US" b="0" i="1" smtClean="0">
                            <a:latin typeface="Cambria Math" panose="02040503050406030204" pitchFamily="18" charset="0"/>
                          </a:rPr>
                          <m:t>𝑛</m:t>
                        </m:r>
                      </m:den>
                    </m:f>
                  </m:oMath>
                </a14:m>
                <a:endParaRPr lang="en-US" dirty="0">
                  <a:latin typeface="+mj-lt"/>
                </a:endParaRPr>
              </a:p>
              <a:p>
                <a:pPr marL="0" marR="0" indent="0">
                  <a:spcBef>
                    <a:spcPts val="0"/>
                  </a:spcBef>
                  <a:spcAft>
                    <a:spcPts val="0"/>
                  </a:spcAft>
                  <a:buNone/>
                </a:pPr>
                <a:endParaRPr lang="en-US" sz="1600" dirty="0">
                  <a:latin typeface="+mj-lt"/>
                </a:endParaRPr>
              </a:p>
              <a:p>
                <a:pPr marL="0" marR="0" indent="0">
                  <a:spcBef>
                    <a:spcPts val="0"/>
                  </a:spcBef>
                  <a:spcAft>
                    <a:spcPts val="0"/>
                  </a:spcAft>
                  <a:buNone/>
                </a:pPr>
                <a:r>
                  <a:rPr lang="en-US" sz="1600" dirty="0">
                    <a:latin typeface="+mj-lt"/>
                  </a:rPr>
                  <a:t>We define the probability of the event E by,</a:t>
                </a:r>
              </a:p>
              <a:p>
                <a:pPr marL="0" marR="0" indent="0">
                  <a:spcBef>
                    <a:spcPts val="0"/>
                  </a:spcBef>
                  <a:spcAft>
                    <a:spcPts val="0"/>
                  </a:spcAft>
                  <a:buNone/>
                </a:pPr>
                <a:endParaRPr lang="en-US" sz="1600" dirty="0">
                  <a:latin typeface="+mj-lt"/>
                </a:endParaRPr>
              </a:p>
              <a:p>
                <a:pPr marL="0" marR="0" indent="0">
                  <a:spcBef>
                    <a:spcPts val="0"/>
                  </a:spcBef>
                  <a:spcAft>
                    <a:spcPts val="0"/>
                  </a:spcAft>
                  <a:buNone/>
                </a:pPr>
                <a:r>
                  <a:rPr lang="en-US" sz="1600" dirty="0">
                    <a:latin typeface="+mj-lt"/>
                  </a:rPr>
                  <a:t>	</a:t>
                </a:r>
              </a:p>
              <a:p>
                <a:pPr marL="0" marR="0" indent="0">
                  <a:spcBef>
                    <a:spcPts val="0"/>
                  </a:spcBef>
                  <a:spcAft>
                    <a:spcPts val="0"/>
                  </a:spcAft>
                  <a:buNone/>
                </a:pPr>
                <a:r>
                  <a:rPr lang="en-US" sz="1600" dirty="0">
                    <a:latin typeface="+mj-lt"/>
                  </a:rPr>
                  <a:t>	 </a:t>
                </a:r>
              </a:p>
              <a:p>
                <a:pPr marL="0" marR="0" indent="0">
                  <a:spcBef>
                    <a:spcPts val="0"/>
                  </a:spcBef>
                  <a:spcAft>
                    <a:spcPts val="0"/>
                  </a:spcAft>
                  <a:buNone/>
                </a:pPr>
                <a:r>
                  <a:rPr lang="en-US" sz="1600" dirty="0">
                    <a:latin typeface="+mj-lt"/>
                  </a:rPr>
                  <a:t>The probability estimates obtained by method are reliable and stable; when we include more and more observations i.e. when number of observations is large.</a:t>
                </a:r>
              </a:p>
              <a:p>
                <a:pPr marL="0" marR="0" indent="0">
                  <a:spcBef>
                    <a:spcPts val="0"/>
                  </a:spcBef>
                  <a:spcAft>
                    <a:spcPts val="0"/>
                  </a:spcAft>
                  <a:buNone/>
                </a:pPr>
                <a:r>
                  <a:rPr lang="en-US" sz="1600" dirty="0">
                    <a:latin typeface="+mj-lt"/>
                  </a:rPr>
                  <a:t>Note:</a:t>
                </a:r>
              </a:p>
              <a:p>
                <a:pPr>
                  <a:spcBef>
                    <a:spcPts val="0"/>
                  </a:spcBef>
                  <a:buFont typeface="Wingdings" panose="05000000000000000000" pitchFamily="2" charset="2"/>
                  <a:buChar char="ü"/>
                </a:pPr>
                <a:r>
                  <a:rPr lang="en-US" sz="1600" dirty="0">
                    <a:latin typeface="+mj-lt"/>
                  </a:rPr>
                  <a:t>Empirical approach uses frequency distribution (</a:t>
                </a:r>
                <a:r>
                  <a:rPr lang="en-US" sz="1600" b="0" i="0" dirty="0">
                    <a:solidFill>
                      <a:srgbClr val="111111"/>
                    </a:solidFill>
                    <a:effectLst/>
                    <a:latin typeface="SourceSansPro"/>
                  </a:rPr>
                  <a:t>based on a recorded observation or a long history of collected data)</a:t>
                </a:r>
                <a:r>
                  <a:rPr lang="en-US" sz="1600" dirty="0">
                    <a:latin typeface="+mj-lt"/>
                  </a:rPr>
                  <a:t> to </a:t>
                </a:r>
                <a:r>
                  <a:rPr lang="en-US" sz="1600" dirty="0">
                    <a:effectLst/>
                    <a:latin typeface="+mj-lt"/>
                    <a:ea typeface="Times New Roman" panose="02020603050405020304" pitchFamily="18" charset="0"/>
                  </a:rPr>
                  <a:t>determine the numerical probability that an event will happen. </a:t>
                </a:r>
              </a:p>
              <a:p>
                <a:pPr>
                  <a:spcBef>
                    <a:spcPts val="0"/>
                  </a:spcBef>
                  <a:buFont typeface="Wingdings" panose="05000000000000000000" pitchFamily="2" charset="2"/>
                  <a:buChar char="ü"/>
                </a:pPr>
                <a:r>
                  <a:rPr lang="en-US" sz="1600" dirty="0">
                    <a:latin typeface="+mj-lt"/>
                    <a:ea typeface="Times New Roman" panose="02020603050405020304" pitchFamily="18" charset="0"/>
                  </a:rPr>
                  <a:t>The sample size ‘n’ must be large for the probability of an event to be reliable and stable</a:t>
                </a:r>
              </a:p>
              <a:p>
                <a:pPr>
                  <a:spcBef>
                    <a:spcPts val="0"/>
                  </a:spcBef>
                  <a:buFont typeface="Wingdings" panose="05000000000000000000" pitchFamily="2" charset="2"/>
                  <a:buChar char="ü"/>
                </a:pPr>
                <a:r>
                  <a:rPr lang="en-US" sz="1600" dirty="0">
                    <a:latin typeface="+mj-lt"/>
                    <a:ea typeface="Times New Roman" panose="02020603050405020304" pitchFamily="18" charset="0"/>
                  </a:rPr>
                  <a:t>We state the probability of an event after performing an experiment.</a:t>
                </a:r>
              </a:p>
              <a:p>
                <a:pPr marL="342900" indent="-342900">
                  <a:spcBef>
                    <a:spcPts val="0"/>
                  </a:spcBef>
                  <a:buAutoNum type="arabicPeriod"/>
                </a:pPr>
                <a:endParaRPr lang="en-US" sz="1600" dirty="0">
                  <a:effectLst/>
                  <a:latin typeface="+mj-lt"/>
                  <a:ea typeface="Times New Roman" panose="02020603050405020304" pitchFamily="18" charset="0"/>
                </a:endParaRPr>
              </a:p>
              <a:p>
                <a:pPr marL="0" marR="0" indent="0">
                  <a:spcBef>
                    <a:spcPts val="0"/>
                  </a:spcBef>
                  <a:spcAft>
                    <a:spcPts val="0"/>
                  </a:spcAft>
                  <a:buNone/>
                </a:pPr>
                <a:endParaRPr lang="en-US" sz="1600" dirty="0">
                  <a:latin typeface="+mj-lt"/>
                </a:endParaRPr>
              </a:p>
              <a:p>
                <a:pPr marL="0" marR="0" indent="0">
                  <a:spcBef>
                    <a:spcPts val="0"/>
                  </a:spcBef>
                  <a:spcAft>
                    <a:spcPts val="0"/>
                  </a:spcAft>
                  <a:buNone/>
                </a:pPr>
                <a:endParaRPr lang="en-US" sz="1600" dirty="0">
                  <a:latin typeface="+mj-lt"/>
                </a:endParaRPr>
              </a:p>
              <a:p>
                <a:pPr marL="0" marR="0" indent="0">
                  <a:spcBef>
                    <a:spcPts val="0"/>
                  </a:spcBef>
                  <a:spcAft>
                    <a:spcPts val="0"/>
                  </a:spcAft>
                  <a:buNone/>
                </a:pPr>
                <a:endParaRPr lang="en-US" dirty="0"/>
              </a:p>
            </p:txBody>
          </p:sp>
        </mc:Choice>
        <mc:Fallback xmlns="">
          <p:sp>
            <p:nvSpPr>
              <p:cNvPr id="3" name="Content Placeholder 2">
                <a:extLst>
                  <a:ext uri="{FF2B5EF4-FFF2-40B4-BE49-F238E27FC236}">
                    <a16:creationId xmlns:a16="http://schemas.microsoft.com/office/drawing/2014/main" id="{66A541AA-8BB8-40A4-BC94-DB488AB4F4A5}"/>
                  </a:ext>
                </a:extLst>
              </p:cNvPr>
              <p:cNvSpPr>
                <a:spLocks noGrp="1" noRot="1" noChangeAspect="1" noMove="1" noResize="1" noEditPoints="1" noAdjustHandles="1" noChangeArrowheads="1" noChangeShapeType="1" noTextEdit="1"/>
              </p:cNvSpPr>
              <p:nvPr>
                <p:ph idx="1"/>
              </p:nvPr>
            </p:nvSpPr>
            <p:spPr>
              <a:xfrm>
                <a:off x="847725" y="1209675"/>
                <a:ext cx="10734675" cy="4972050"/>
              </a:xfrm>
              <a:blipFill>
                <a:blip r:embed="rId2"/>
                <a:stretch>
                  <a:fillRect l="-284" t="-368" r="-454" b="-24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080D801-7D17-4063-ABEF-7BE668A024FE}"/>
              </a:ext>
            </a:extLst>
          </p:cNvPr>
          <p:cNvSpPr>
            <a:spLocks noGrp="1"/>
          </p:cNvSpPr>
          <p:nvPr>
            <p:ph type="ftr" sz="quarter" idx="11"/>
          </p:nvPr>
        </p:nvSpPr>
        <p:spPr/>
        <p:txBody>
          <a:bodyPr/>
          <a:lstStyle/>
          <a:p>
            <a:r>
              <a:rPr lang="en-US"/>
              <a:t>Copy Right  (C)  Santosh Chhatkuli</a:t>
            </a:r>
            <a:endParaRPr lang="en-US" dirty="0"/>
          </a:p>
        </p:txBody>
      </p:sp>
      <p:graphicFrame>
        <p:nvGraphicFramePr>
          <p:cNvPr id="18" name="Object 17">
            <a:extLst>
              <a:ext uri="{FF2B5EF4-FFF2-40B4-BE49-F238E27FC236}">
                <a16:creationId xmlns:a16="http://schemas.microsoft.com/office/drawing/2014/main" id="{F75C014E-A1B7-4929-93CE-B49C60ED2B74}"/>
              </a:ext>
            </a:extLst>
          </p:cNvPr>
          <p:cNvGraphicFramePr>
            <a:graphicFrameLocks noChangeAspect="1"/>
          </p:cNvGraphicFramePr>
          <p:nvPr>
            <p:extLst>
              <p:ext uri="{D42A27DB-BD31-4B8C-83A1-F6EECF244321}">
                <p14:modId xmlns:p14="http://schemas.microsoft.com/office/powerpoint/2010/main" val="4001964325"/>
              </p:ext>
            </p:extLst>
          </p:nvPr>
        </p:nvGraphicFramePr>
        <p:xfrm>
          <a:off x="1965325" y="3667125"/>
          <a:ext cx="1054100" cy="590550"/>
        </p:xfrm>
        <a:graphic>
          <a:graphicData uri="http://schemas.openxmlformats.org/presentationml/2006/ole">
            <mc:AlternateContent xmlns:mc="http://schemas.openxmlformats.org/markup-compatibility/2006">
              <mc:Choice xmlns:v="urn:schemas-microsoft-com:vml" Requires="v">
                <p:oleObj name="Equation" r:id="rId3" imgW="876240" imgH="419040" progId="Equation.DSMT4">
                  <p:embed/>
                </p:oleObj>
              </mc:Choice>
              <mc:Fallback>
                <p:oleObj name="Equation" r:id="rId3" imgW="876240" imgH="419040" progId="Equation.DSMT4">
                  <p:embed/>
                  <p:pic>
                    <p:nvPicPr>
                      <p:cNvPr id="0" name=""/>
                      <p:cNvPicPr/>
                      <p:nvPr/>
                    </p:nvPicPr>
                    <p:blipFill>
                      <a:blip r:embed="rId4"/>
                      <a:stretch>
                        <a:fillRect/>
                      </a:stretch>
                    </p:blipFill>
                    <p:spPr>
                      <a:xfrm>
                        <a:off x="1965325" y="3667125"/>
                        <a:ext cx="1054100" cy="590550"/>
                      </a:xfrm>
                      <a:prstGeom prst="rect">
                        <a:avLst/>
                      </a:prstGeom>
                    </p:spPr>
                  </p:pic>
                </p:oleObj>
              </mc:Fallback>
            </mc:AlternateContent>
          </a:graphicData>
        </a:graphic>
      </p:graphicFrame>
    </p:spTree>
    <p:extLst>
      <p:ext uri="{BB962C8B-B14F-4D97-AF65-F5344CB8AC3E}">
        <p14:creationId xmlns:p14="http://schemas.microsoft.com/office/powerpoint/2010/main" val="151591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649CA-7F42-4063-9683-0DC4A2A4AF47}"/>
              </a:ext>
            </a:extLst>
          </p:cNvPr>
          <p:cNvSpPr>
            <a:spLocks noGrp="1"/>
          </p:cNvSpPr>
          <p:nvPr>
            <p:ph type="title"/>
          </p:nvPr>
        </p:nvSpPr>
        <p:spPr>
          <a:xfrm>
            <a:off x="733425" y="595489"/>
            <a:ext cx="10058400" cy="443256"/>
          </a:xfrm>
        </p:spPr>
        <p:txBody>
          <a:bodyPr>
            <a:normAutofit/>
          </a:bodyPr>
          <a:lstStyle/>
          <a:p>
            <a:r>
              <a:rPr lang="en-US" sz="2200" b="1" dirty="0"/>
              <a:t>Subjective Probability</a:t>
            </a:r>
          </a:p>
        </p:txBody>
      </p:sp>
      <p:sp>
        <p:nvSpPr>
          <p:cNvPr id="3" name="Content Placeholder 2">
            <a:extLst>
              <a:ext uri="{FF2B5EF4-FFF2-40B4-BE49-F238E27FC236}">
                <a16:creationId xmlns:a16="http://schemas.microsoft.com/office/drawing/2014/main" id="{4B988FF9-B260-48D8-A11E-A87018744784}"/>
              </a:ext>
            </a:extLst>
          </p:cNvPr>
          <p:cNvSpPr>
            <a:spLocks noGrp="1"/>
          </p:cNvSpPr>
          <p:nvPr>
            <p:ph idx="1"/>
          </p:nvPr>
        </p:nvSpPr>
        <p:spPr>
          <a:xfrm>
            <a:off x="733425" y="1285875"/>
            <a:ext cx="10829925" cy="4970793"/>
          </a:xfrm>
        </p:spPr>
        <p:txBody>
          <a:bodyPr>
            <a:normAutofit/>
          </a:bodyPr>
          <a:lstStyle/>
          <a:p>
            <a:pPr marL="0" indent="0">
              <a:buNone/>
            </a:pPr>
            <a:r>
              <a:rPr lang="en-US" sz="2400" b="0" i="0" dirty="0">
                <a:solidFill>
                  <a:srgbClr val="111111"/>
                </a:solidFill>
                <a:effectLst/>
                <a:latin typeface="SourceSansPro"/>
              </a:rPr>
              <a:t>Subjective probability is a type of probability derived from an individual's personal judgment or own experience about whether a specific outcome is likely to occur. It contains no formal calculations and only reflects the subject's opinions and past experience. </a:t>
            </a:r>
          </a:p>
          <a:p>
            <a:pPr marL="0" indent="0">
              <a:buNone/>
            </a:pPr>
            <a:r>
              <a:rPr lang="en-US" sz="2400" dirty="0">
                <a:solidFill>
                  <a:srgbClr val="111111"/>
                </a:solidFill>
                <a:latin typeface="SourceSansPro"/>
              </a:rPr>
              <a:t>This approach is especially used when we do not have historical data relating to the event.</a:t>
            </a:r>
          </a:p>
          <a:p>
            <a:pPr marL="0" indent="0">
              <a:buNone/>
            </a:pPr>
            <a:r>
              <a:rPr lang="en-US" sz="2400" dirty="0">
                <a:solidFill>
                  <a:srgbClr val="111111"/>
                </a:solidFill>
                <a:latin typeface="SourceSansPro"/>
              </a:rPr>
              <a:t>Assessment of probability is based on:</a:t>
            </a:r>
          </a:p>
          <a:p>
            <a:pPr lvl="1">
              <a:buFont typeface="Wingdings" panose="05000000000000000000" pitchFamily="2" charset="2"/>
              <a:buChar char="q"/>
            </a:pPr>
            <a:r>
              <a:rPr lang="en-US" sz="2200" dirty="0">
                <a:solidFill>
                  <a:srgbClr val="111111"/>
                </a:solidFill>
                <a:latin typeface="SourceSansPro"/>
              </a:rPr>
              <a:t>  Individual past experience</a:t>
            </a:r>
          </a:p>
          <a:p>
            <a:pPr lvl="1">
              <a:buFont typeface="Wingdings" panose="05000000000000000000" pitchFamily="2" charset="2"/>
              <a:buChar char="q"/>
            </a:pPr>
            <a:r>
              <a:rPr lang="en-US" sz="2200" dirty="0">
                <a:solidFill>
                  <a:srgbClr val="111111"/>
                </a:solidFill>
                <a:latin typeface="SourceSansPro"/>
              </a:rPr>
              <a:t>  Personal opinion or belief (</a:t>
            </a:r>
            <a:r>
              <a:rPr lang="en-US" sz="2200" b="0" i="0" dirty="0">
                <a:solidFill>
                  <a:srgbClr val="111111"/>
                </a:solidFill>
                <a:effectLst/>
                <a:latin typeface="SourceSansPro"/>
              </a:rPr>
              <a:t>highly flexible, even in terms of one individual’s belief)</a:t>
            </a:r>
            <a:endParaRPr lang="en-US" sz="2200" dirty="0">
              <a:solidFill>
                <a:srgbClr val="111111"/>
              </a:solidFill>
              <a:latin typeface="SourceSansPro"/>
            </a:endParaRPr>
          </a:p>
          <a:p>
            <a:pPr lvl="1">
              <a:buFont typeface="Wingdings" panose="05000000000000000000" pitchFamily="2" charset="2"/>
              <a:buChar char="q"/>
            </a:pPr>
            <a:r>
              <a:rPr lang="en-US" sz="2200" dirty="0">
                <a:solidFill>
                  <a:srgbClr val="111111"/>
                </a:solidFill>
                <a:latin typeface="SourceSansPro"/>
              </a:rPr>
              <a:t>  Analysis of the situation</a:t>
            </a:r>
          </a:p>
          <a:p>
            <a:pPr lvl="1">
              <a:buFont typeface="Wingdings" panose="05000000000000000000" pitchFamily="2" charset="2"/>
              <a:buChar char="q"/>
            </a:pPr>
            <a:r>
              <a:rPr lang="en-US" sz="2200" dirty="0">
                <a:solidFill>
                  <a:srgbClr val="111111"/>
                </a:solidFill>
                <a:latin typeface="SourceSansPro"/>
              </a:rPr>
              <a:t>  Knowledge or expertise in the field</a:t>
            </a:r>
          </a:p>
          <a:p>
            <a:pPr marL="0" indent="0">
              <a:buNone/>
            </a:pPr>
            <a:endParaRPr lang="en-US" dirty="0"/>
          </a:p>
        </p:txBody>
      </p:sp>
      <p:sp>
        <p:nvSpPr>
          <p:cNvPr id="4" name="Footer Placeholder 3">
            <a:extLst>
              <a:ext uri="{FF2B5EF4-FFF2-40B4-BE49-F238E27FC236}">
                <a16:creationId xmlns:a16="http://schemas.microsoft.com/office/drawing/2014/main" id="{A51F8DE1-D486-4533-96B5-558F3C513A68}"/>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1485480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B4F7AB-C6F6-4A2A-8BE0-8C423A910015}"/>
              </a:ext>
            </a:extLst>
          </p:cNvPr>
          <p:cNvSpPr>
            <a:spLocks noGrp="1"/>
          </p:cNvSpPr>
          <p:nvPr>
            <p:ph idx="1"/>
          </p:nvPr>
        </p:nvSpPr>
        <p:spPr>
          <a:xfrm>
            <a:off x="771525" y="476250"/>
            <a:ext cx="10820400" cy="5743575"/>
          </a:xfrm>
        </p:spPr>
        <p:txBody>
          <a:bodyPr/>
          <a:lstStyle/>
          <a:p>
            <a:pPr marL="0" indent="0">
              <a:buNone/>
            </a:pPr>
            <a:r>
              <a:rPr lang="en-US" sz="1600" b="1" dirty="0">
                <a:solidFill>
                  <a:srgbClr val="00B0F0"/>
                </a:solidFill>
              </a:rPr>
              <a:t>Example 1</a:t>
            </a:r>
            <a:r>
              <a:rPr lang="en-US" sz="1600" dirty="0"/>
              <a:t>: In a family of three children (no twins, triplets), find the following probabilities.</a:t>
            </a:r>
          </a:p>
          <a:p>
            <a:pPr marL="342900" indent="-342900">
              <a:buAutoNum type="alphaLcParenBoth"/>
            </a:pPr>
            <a:r>
              <a:rPr lang="en-US" sz="1600" dirty="0"/>
              <a:t>All children are girls  (b) All children are boys  (c) All girls or all boys  (d) Exactly two boys</a:t>
            </a:r>
          </a:p>
          <a:p>
            <a:pPr marL="0" indent="0">
              <a:buNone/>
            </a:pPr>
            <a:r>
              <a:rPr lang="en-US" sz="1600" dirty="0"/>
              <a:t>(e) At least one child of each gender (f) gender in alternative form</a:t>
            </a:r>
          </a:p>
          <a:p>
            <a:pPr marL="0" indent="0">
              <a:buNone/>
            </a:pPr>
            <a:r>
              <a:rPr lang="en-US" sz="1600" b="1" dirty="0">
                <a:solidFill>
                  <a:srgbClr val="00B0F0"/>
                </a:solidFill>
              </a:rPr>
              <a:t>Solution</a:t>
            </a:r>
            <a:r>
              <a:rPr lang="en-US" sz="1600" dirty="0"/>
              <a:t>:</a:t>
            </a:r>
          </a:p>
          <a:p>
            <a:pPr marL="0" indent="0">
              <a:buNone/>
            </a:pPr>
            <a:r>
              <a:rPr lang="en-US" sz="1600" dirty="0"/>
              <a:t>Total no. of cases in the sample space = 2^3 = 8</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Sample Space = {BBB, BBG, BGB, BGG, GBB, GBG, GGB, GGG}</a:t>
            </a:r>
          </a:p>
          <a:p>
            <a:pPr marL="0" indent="0">
              <a:buNone/>
            </a:pPr>
            <a:endParaRPr lang="en-US" sz="1600" dirty="0"/>
          </a:p>
          <a:p>
            <a:pPr marL="0" indent="0">
              <a:buNone/>
            </a:pPr>
            <a:endParaRPr lang="en-US" dirty="0"/>
          </a:p>
        </p:txBody>
      </p:sp>
      <p:sp>
        <p:nvSpPr>
          <p:cNvPr id="4" name="Footer Placeholder 3">
            <a:extLst>
              <a:ext uri="{FF2B5EF4-FFF2-40B4-BE49-F238E27FC236}">
                <a16:creationId xmlns:a16="http://schemas.microsoft.com/office/drawing/2014/main" id="{28DB5EAD-8D87-4E02-906E-1B6AF3C15110}"/>
              </a:ext>
            </a:extLst>
          </p:cNvPr>
          <p:cNvSpPr>
            <a:spLocks noGrp="1"/>
          </p:cNvSpPr>
          <p:nvPr>
            <p:ph type="ftr" sz="quarter" idx="11"/>
          </p:nvPr>
        </p:nvSpPr>
        <p:spPr/>
        <p:txBody>
          <a:bodyPr/>
          <a:lstStyle/>
          <a:p>
            <a:r>
              <a:rPr lang="en-US"/>
              <a:t>Copy Right  (C)  Santosh Chhatkuli</a:t>
            </a:r>
            <a:endParaRPr lang="en-US" dirty="0"/>
          </a:p>
        </p:txBody>
      </p:sp>
      <p:pic>
        <p:nvPicPr>
          <p:cNvPr id="6" name="Picture 5">
            <a:extLst>
              <a:ext uri="{FF2B5EF4-FFF2-40B4-BE49-F238E27FC236}">
                <a16:creationId xmlns:a16="http://schemas.microsoft.com/office/drawing/2014/main" id="{D1F66256-98EF-4E4D-AEC5-9129408E1F52}"/>
              </a:ext>
            </a:extLst>
          </p:cNvPr>
          <p:cNvPicPr>
            <a:picLocks noChangeAspect="1"/>
          </p:cNvPicPr>
          <p:nvPr/>
        </p:nvPicPr>
        <p:blipFill>
          <a:blip r:embed="rId2"/>
          <a:stretch>
            <a:fillRect/>
          </a:stretch>
        </p:blipFill>
        <p:spPr>
          <a:xfrm>
            <a:off x="904875" y="2314575"/>
            <a:ext cx="9144000" cy="3467100"/>
          </a:xfrm>
          <a:prstGeom prst="rect">
            <a:avLst/>
          </a:prstGeom>
        </p:spPr>
      </p:pic>
    </p:spTree>
    <p:extLst>
      <p:ext uri="{BB962C8B-B14F-4D97-AF65-F5344CB8AC3E}">
        <p14:creationId xmlns:p14="http://schemas.microsoft.com/office/powerpoint/2010/main" val="2745458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554F5E-7986-4798-9DD3-30298FA8C0E7}"/>
              </a:ext>
            </a:extLst>
          </p:cNvPr>
          <p:cNvSpPr>
            <a:spLocks noGrp="1"/>
          </p:cNvSpPr>
          <p:nvPr>
            <p:ph idx="1"/>
          </p:nvPr>
        </p:nvSpPr>
        <p:spPr>
          <a:xfrm>
            <a:off x="834189" y="714375"/>
            <a:ext cx="10291011" cy="5362575"/>
          </a:xfrm>
        </p:spPr>
        <p:txBody>
          <a:bodyPr/>
          <a:lstStyle/>
          <a:p>
            <a:pPr marL="0" indent="0">
              <a:buNone/>
            </a:pPr>
            <a:r>
              <a:rPr lang="en-US" b="1" dirty="0">
                <a:solidFill>
                  <a:srgbClr val="00B0F0"/>
                </a:solidFill>
              </a:rPr>
              <a:t>Solution</a:t>
            </a:r>
            <a:r>
              <a:rPr lang="en-US" dirty="0"/>
              <a:t>:</a:t>
            </a:r>
          </a:p>
          <a:p>
            <a:pPr marL="457200" indent="-457200">
              <a:buNone/>
            </a:pPr>
            <a:r>
              <a:rPr lang="en-US" sz="2000" dirty="0"/>
              <a:t>(a) </a:t>
            </a:r>
            <a:r>
              <a:rPr lang="en-US" sz="2400" dirty="0"/>
              <a:t>P (all girls) = No. of cases favorable to the Event / total no. of cases in sample space = n/N = 1/8 = 0.125 = 12.5</a:t>
            </a:r>
          </a:p>
          <a:p>
            <a:pPr marL="457200" indent="-457200">
              <a:buNone/>
            </a:pPr>
            <a:r>
              <a:rPr lang="en-US" sz="2400" dirty="0"/>
              <a:t>(b) P (all boys) = No. of cases favorable to the Event / total no. of cases in sample space = n/N = 1/8 = 0.125 = 12.5 </a:t>
            </a:r>
          </a:p>
          <a:p>
            <a:pPr marL="0" indent="0">
              <a:buNone/>
            </a:pPr>
            <a:r>
              <a:rPr lang="en-US" sz="2400" dirty="0"/>
              <a:t>(c) P (all girls or all boys) = Favorable cases / Total cases = n/N = 2 / 8    	=1/4 = 0.25 = 25 %</a:t>
            </a:r>
          </a:p>
          <a:p>
            <a:pPr marL="0" indent="0">
              <a:buNone/>
            </a:pPr>
            <a:r>
              <a:rPr lang="en-US" sz="2400" dirty="0"/>
              <a:t>(d) P (exactly two boys) = Favorable cases / Total cases = 3 / 8 </a:t>
            </a:r>
          </a:p>
          <a:p>
            <a:pPr marL="0" indent="0">
              <a:buNone/>
            </a:pPr>
            <a:r>
              <a:rPr lang="en-US" sz="2400" dirty="0"/>
              <a:t>	= 0.375 = 37.5 %</a:t>
            </a:r>
          </a:p>
          <a:p>
            <a:pPr marL="0" indent="0">
              <a:buNone/>
            </a:pPr>
            <a:r>
              <a:rPr lang="en-US" sz="2400" dirty="0"/>
              <a:t>(e) P (at least one child of each gender) = 6 / 8 = 3 / 4 = 0.75 = 75 %</a:t>
            </a:r>
          </a:p>
          <a:p>
            <a:pPr marL="0" indent="0">
              <a:buNone/>
            </a:pPr>
            <a:r>
              <a:rPr lang="en-US" sz="2400" dirty="0"/>
              <a:t>(f)  P (gender in alternative form) = 2 / 8 = 1 / 4 = 0.25 = 25 %</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F251EF61-3ADE-42E2-A67F-76C115445EAA}"/>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713083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7F2BF7-0FEF-4B2C-BE8B-CAD8DB63B232}"/>
              </a:ext>
            </a:extLst>
          </p:cNvPr>
          <p:cNvSpPr>
            <a:spLocks noGrp="1"/>
          </p:cNvSpPr>
          <p:nvPr>
            <p:ph idx="1"/>
          </p:nvPr>
        </p:nvSpPr>
        <p:spPr>
          <a:xfrm>
            <a:off x="790575" y="714375"/>
            <a:ext cx="10767762" cy="5457825"/>
          </a:xfrm>
        </p:spPr>
        <p:txBody>
          <a:bodyPr>
            <a:normAutofit fontScale="85000" lnSpcReduction="20000"/>
          </a:bodyPr>
          <a:lstStyle/>
          <a:p>
            <a:pPr marL="0" indent="0">
              <a:buNone/>
            </a:pPr>
            <a:r>
              <a:rPr lang="en-US" b="1" dirty="0">
                <a:solidFill>
                  <a:srgbClr val="00B0F0"/>
                </a:solidFill>
              </a:rPr>
              <a:t>Example 2:</a:t>
            </a:r>
          </a:p>
          <a:p>
            <a:pPr marL="0" indent="0">
              <a:buNone/>
            </a:pPr>
            <a:r>
              <a:rPr lang="en-US" dirty="0"/>
              <a:t>Hospital records of maternity patients who stayed in the hospitals for the number of days is shown in the following distribution.</a:t>
            </a:r>
          </a:p>
          <a:p>
            <a:pPr marL="0" indent="0">
              <a:buNone/>
            </a:pPr>
            <a:endParaRPr lang="en-US" b="1" dirty="0">
              <a:solidFill>
                <a:srgbClr val="00B0F0"/>
              </a:solidFill>
            </a:endParaRPr>
          </a:p>
          <a:p>
            <a:pPr marL="0" indent="0">
              <a:buNone/>
            </a:pPr>
            <a:r>
              <a:rPr lang="en-US" b="1" dirty="0">
                <a:solidFill>
                  <a:srgbClr val="00B0F0"/>
                </a:solidFill>
              </a:rPr>
              <a:t>No. of days stayed (X)		3	4	5	6	7	Total</a:t>
            </a:r>
          </a:p>
          <a:p>
            <a:pPr marL="0" indent="0">
              <a:buNone/>
            </a:pPr>
            <a:r>
              <a:rPr lang="en-US" b="1" dirty="0">
                <a:solidFill>
                  <a:srgbClr val="00B0F0"/>
                </a:solidFill>
              </a:rPr>
              <a:t>Frequency (f)	   		15	32	56	19	8	130</a:t>
            </a:r>
          </a:p>
          <a:p>
            <a:pPr marL="0" indent="0">
              <a:buNone/>
            </a:pPr>
            <a:r>
              <a:rPr lang="en-US" b="1" dirty="0">
                <a:solidFill>
                  <a:srgbClr val="00B0F0"/>
                </a:solidFill>
              </a:rPr>
              <a:t>Relative Frequency (f/n)		</a:t>
            </a:r>
          </a:p>
          <a:p>
            <a:pPr marL="0" indent="0">
              <a:buNone/>
            </a:pPr>
            <a:endParaRPr lang="en-US" b="1" dirty="0">
              <a:solidFill>
                <a:srgbClr val="00B0F0"/>
              </a:solidFill>
            </a:endParaRPr>
          </a:p>
          <a:p>
            <a:pPr marL="0" indent="0">
              <a:buNone/>
            </a:pPr>
            <a:r>
              <a:rPr lang="en-US" dirty="0"/>
              <a:t>Find these probabilities: </a:t>
            </a:r>
          </a:p>
          <a:p>
            <a:pPr marL="342900" indent="-342900">
              <a:buFont typeface="+mj-lt"/>
              <a:buAutoNum type="alphaLcParenR"/>
            </a:pPr>
            <a:r>
              <a:rPr lang="en-US" sz="1600" dirty="0"/>
              <a:t>A patient stayed exactly 5 days    </a:t>
            </a:r>
          </a:p>
          <a:p>
            <a:pPr marL="0" indent="0">
              <a:buNone/>
            </a:pPr>
            <a:r>
              <a:rPr lang="en-US" sz="1600" dirty="0"/>
              <a:t>       P(X = 5) = P(5 days) = f / n = 56 / 130 = 0.4307</a:t>
            </a:r>
          </a:p>
          <a:p>
            <a:pPr marL="342900" indent="-342900">
              <a:buFont typeface="+mj-lt"/>
              <a:buAutoNum type="alphaLcParenR"/>
            </a:pPr>
            <a:r>
              <a:rPr lang="en-US" sz="1600" dirty="0"/>
              <a:t>A patient stayed less than 6 days  </a:t>
            </a:r>
          </a:p>
          <a:p>
            <a:pPr marL="0" indent="0">
              <a:buNone/>
            </a:pPr>
            <a:r>
              <a:rPr lang="en-US" sz="1600" dirty="0"/>
              <a:t>       P(X &lt; 6) = P(less than 6 days) = f / n = (15 + 32 + 56) / 130 = 103 / 130 = 0.7923 </a:t>
            </a:r>
          </a:p>
          <a:p>
            <a:pPr marL="342900" indent="-342900">
              <a:buFont typeface="+mj-lt"/>
              <a:buAutoNum type="alphaLcParenR"/>
            </a:pPr>
            <a:r>
              <a:rPr lang="en-US" sz="1600" dirty="0"/>
              <a:t>A patient stayed at most 4 days    </a:t>
            </a:r>
          </a:p>
          <a:p>
            <a:pPr marL="0" indent="0">
              <a:buNone/>
            </a:pPr>
            <a:r>
              <a:rPr lang="en-US" sz="1600" dirty="0"/>
              <a:t>       P(at most 4 days) = f / n = (15 + 32) / 130 = 47 / 130 = 0.3615 </a:t>
            </a:r>
          </a:p>
          <a:p>
            <a:pPr marL="342900" indent="-342900">
              <a:buFont typeface="+mj-lt"/>
              <a:buAutoNum type="alphaLcParenR"/>
            </a:pPr>
            <a:r>
              <a:rPr lang="en-US" sz="1600" dirty="0"/>
              <a:t>A patient stayed at least 5 days    </a:t>
            </a:r>
          </a:p>
          <a:p>
            <a:pPr marL="0" indent="0">
              <a:buNone/>
            </a:pPr>
            <a:r>
              <a:rPr lang="en-US" sz="1600" dirty="0"/>
              <a:t>       P(at least 5 days) = (56 + 19 + 8) / 130 = 83 / 130 = 0.6385</a:t>
            </a:r>
          </a:p>
          <a:p>
            <a:pPr marL="342900" indent="-342900">
              <a:buFont typeface="+mj-lt"/>
              <a:buAutoNum type="alphaLcParenR"/>
            </a:pPr>
            <a:r>
              <a:rPr lang="en-US" sz="1600" dirty="0"/>
              <a:t>A patient stayed between 4 to 6 days inclusive  </a:t>
            </a:r>
          </a:p>
          <a:p>
            <a:pPr marL="0" indent="0">
              <a:buNone/>
            </a:pPr>
            <a:r>
              <a:rPr lang="en-US" sz="1600" dirty="0"/>
              <a:t>       P(4 to 6 days) = (32 + 56 + 19) / 130 = 107 / 130 = 0.8231</a:t>
            </a:r>
          </a:p>
          <a:p>
            <a:pPr marL="0" indent="0">
              <a:buNone/>
            </a:pPr>
            <a:endParaRPr lang="en-US" sz="1600" b="1" dirty="0">
              <a:solidFill>
                <a:srgbClr val="00B0F0"/>
              </a:solidFill>
            </a:endParaRPr>
          </a:p>
          <a:p>
            <a:pPr marL="0" indent="0">
              <a:buNone/>
            </a:pPr>
            <a:endParaRPr lang="en-US" dirty="0"/>
          </a:p>
        </p:txBody>
      </p:sp>
      <p:sp>
        <p:nvSpPr>
          <p:cNvPr id="4" name="Footer Placeholder 3">
            <a:extLst>
              <a:ext uri="{FF2B5EF4-FFF2-40B4-BE49-F238E27FC236}">
                <a16:creationId xmlns:a16="http://schemas.microsoft.com/office/drawing/2014/main" id="{786742C6-D50C-4D67-AED5-00C949A650BF}"/>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3032656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4FB4-5384-47E8-A244-D21012A0E87D}"/>
              </a:ext>
            </a:extLst>
          </p:cNvPr>
          <p:cNvSpPr>
            <a:spLocks noGrp="1"/>
          </p:cNvSpPr>
          <p:nvPr>
            <p:ph type="title"/>
          </p:nvPr>
        </p:nvSpPr>
        <p:spPr>
          <a:xfrm>
            <a:off x="745958" y="546341"/>
            <a:ext cx="10058400" cy="368059"/>
          </a:xfrm>
        </p:spPr>
        <p:txBody>
          <a:bodyPr>
            <a:normAutofit/>
          </a:bodyPr>
          <a:lstStyle/>
          <a:p>
            <a:r>
              <a:rPr lang="en-US" sz="2000" b="1" dirty="0"/>
              <a:t>Additional Rule of Probability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EE40BD-7107-47D9-B918-3666C6ADE279}"/>
                  </a:ext>
                </a:extLst>
              </p:cNvPr>
              <p:cNvSpPr>
                <a:spLocks noGrp="1"/>
              </p:cNvSpPr>
              <p:nvPr>
                <p:ph idx="1"/>
              </p:nvPr>
            </p:nvSpPr>
            <p:spPr>
              <a:xfrm>
                <a:off x="745957" y="1106905"/>
                <a:ext cx="11063605" cy="4928135"/>
              </a:xfrm>
            </p:spPr>
            <p:txBody>
              <a:bodyPr>
                <a:normAutofit/>
              </a:bodyPr>
              <a:lstStyle/>
              <a:p>
                <a:pPr marL="0" indent="0">
                  <a:buNone/>
                </a:pPr>
                <a:r>
                  <a:rPr lang="en-US" sz="1600" b="1" dirty="0">
                    <a:solidFill>
                      <a:srgbClr val="00B0F0"/>
                    </a:solidFill>
                  </a:rPr>
                  <a:t>Events are mutually exclusive</a:t>
                </a:r>
              </a:p>
              <a:p>
                <a:pPr marL="0" indent="0">
                  <a:buNone/>
                </a:pPr>
                <a:r>
                  <a:rPr lang="en-US" sz="1600" dirty="0"/>
                  <a:t>Let A and B are two events which are mutually exclusive, then probability that event A or B will occur is given by,</a:t>
                </a:r>
              </a:p>
              <a:p>
                <a:pPr marL="0" indent="0">
                  <a:buNone/>
                </a:pPr>
                <a:r>
                  <a:rPr lang="en-US" sz="1600" dirty="0"/>
                  <a:t>	P (A or B) = P (A U B) = P(A) + P(B)</a:t>
                </a:r>
              </a:p>
              <a:p>
                <a:pPr marL="0" indent="0">
                  <a:buNone/>
                </a:pPr>
                <a:r>
                  <a:rPr lang="en-US" sz="1600" dirty="0"/>
                  <a:t>There are no overlapping cases so that probability of joint occurrence i.e. P(A and B) = P(A∩B) = 0 </a:t>
                </a:r>
              </a:p>
              <a:p>
                <a:pPr marL="0" indent="0">
                  <a:buNone/>
                </a:pPr>
                <a:r>
                  <a:rPr lang="en-US" sz="1600" dirty="0"/>
                  <a:t>This formula can be extended to any no. of mutually exclusive events.</a:t>
                </a:r>
              </a:p>
              <a:p>
                <a:pPr marL="0" indent="0">
                  <a:buNone/>
                </a:pPr>
                <a:r>
                  <a:rPr lang="en-US" sz="1600" dirty="0"/>
                  <a:t>	P (A or B or C) = P(A) + P(B) + P(C)</a:t>
                </a:r>
              </a:p>
              <a:p>
                <a:pPr marL="0" indent="0">
                  <a:buNone/>
                </a:pPr>
                <a:r>
                  <a:rPr lang="en-US" sz="1600" b="1" dirty="0">
                    <a:solidFill>
                      <a:srgbClr val="00B0F0"/>
                    </a:solidFill>
                  </a:rPr>
                  <a:t>Events are not mutually exclusive</a:t>
                </a:r>
              </a:p>
              <a:p>
                <a:pPr marL="0" indent="0">
                  <a:buNone/>
                </a:pPr>
                <a:r>
                  <a:rPr lang="en-US" sz="1600" dirty="0"/>
                  <a:t>Let A and B are two which are not mutually exclusive, then prob. of either of them or both happening is given by,</a:t>
                </a:r>
              </a:p>
              <a:p>
                <a:pPr marL="0" indent="0">
                  <a:buNone/>
                </a:pPr>
                <a:r>
                  <a:rPr lang="en-US" sz="1600" dirty="0"/>
                  <a:t>	P (A or B) = P(A) + P(B) – P (A and B) = 1 – P(</a:t>
                </a:r>
                <a14:m>
                  <m:oMath xmlns:m="http://schemas.openxmlformats.org/officeDocument/2006/math">
                    <m:acc>
                      <m:accPr>
                        <m:chr m:val="̅"/>
                        <m:ctrlPr>
                          <a:rPr lang="en-US" sz="1600" i="1" smtClean="0">
                            <a:latin typeface="Cambria Math" panose="02040503050406030204" pitchFamily="18" charset="0"/>
                          </a:rPr>
                        </m:ctrlPr>
                      </m:accPr>
                      <m:e>
                        <m:r>
                          <a:rPr lang="en-US" sz="1600" b="0" i="1" smtClean="0">
                            <a:latin typeface="Cambria Math" panose="02040503050406030204" pitchFamily="18" charset="0"/>
                          </a:rPr>
                          <m:t>𝐴</m:t>
                        </m:r>
                        <m:r>
                          <a:rPr lang="en-US" sz="1600" b="0" i="1" smtClean="0">
                            <a:latin typeface="Cambria Math" panose="02040503050406030204" pitchFamily="18" charset="0"/>
                          </a:rPr>
                          <m:t>∩</m:t>
                        </m:r>
                        <m:r>
                          <a:rPr lang="en-US" sz="1600" b="0" i="1" smtClean="0">
                            <a:latin typeface="Cambria Math" panose="02040503050406030204" pitchFamily="18" charset="0"/>
                          </a:rPr>
                          <m:t>𝐵</m:t>
                        </m:r>
                        <m:r>
                          <a:rPr lang="en-US" sz="1600" b="0" i="1" smtClean="0">
                            <a:latin typeface="Cambria Math" panose="02040503050406030204" pitchFamily="18" charset="0"/>
                          </a:rPr>
                          <m:t>)</m:t>
                        </m:r>
                      </m:e>
                    </m:acc>
                  </m:oMath>
                </a14:m>
                <a:endParaRPr lang="en-US" sz="1600" dirty="0"/>
              </a:p>
              <a:p>
                <a:pPr marL="0" indent="0">
                  <a:buNone/>
                </a:pPr>
                <a:r>
                  <a:rPr lang="en-US" sz="1600" dirty="0"/>
                  <a:t>For three event case:</a:t>
                </a:r>
              </a:p>
              <a:p>
                <a:pPr marL="0" indent="0">
                  <a:buNone/>
                </a:pPr>
                <a:r>
                  <a:rPr lang="en-US" sz="1600" dirty="0"/>
                  <a:t>P(A or B or C) = P(A) + P(B) + P(C) – P(A and B) – P(A and C) – P(B and C) + P(A and B and C)</a:t>
                </a:r>
              </a:p>
              <a:p>
                <a:pPr marL="0" indent="0">
                  <a:buNone/>
                </a:pPr>
                <a:r>
                  <a:rPr lang="en-US" sz="1600" dirty="0"/>
                  <a:t>                         = 1 – P (</a:t>
                </a:r>
                <a14:m>
                  <m:oMath xmlns:m="http://schemas.openxmlformats.org/officeDocument/2006/math">
                    <m:acc>
                      <m:accPr>
                        <m:chr m:val="̅"/>
                        <m:ctrlPr>
                          <a:rPr lang="en-US" sz="1600" i="1" smtClean="0">
                            <a:latin typeface="Cambria Math" panose="02040503050406030204" pitchFamily="18" charset="0"/>
                          </a:rPr>
                        </m:ctrlPr>
                      </m:accPr>
                      <m:e>
                        <m:r>
                          <a:rPr lang="en-US" sz="1600" b="0" i="1" smtClean="0">
                            <a:latin typeface="Cambria Math" panose="02040503050406030204" pitchFamily="18" charset="0"/>
                          </a:rPr>
                          <m:t>𝐴</m:t>
                        </m:r>
                        <m:r>
                          <a:rPr lang="en-US" sz="1600" b="0" i="1" smtClean="0">
                            <a:latin typeface="Cambria Math" panose="02040503050406030204" pitchFamily="18" charset="0"/>
                          </a:rPr>
                          <m:t>∩</m:t>
                        </m:r>
                        <m:r>
                          <a:rPr lang="en-US" sz="1600" b="0" i="1" smtClean="0">
                            <a:latin typeface="Cambria Math" panose="02040503050406030204" pitchFamily="18" charset="0"/>
                          </a:rPr>
                          <m:t>𝐵</m:t>
                        </m:r>
                        <m:r>
                          <a:rPr lang="en-US" sz="1600" b="0" i="1" smtClean="0">
                            <a:latin typeface="Cambria Math" panose="02040503050406030204" pitchFamily="18" charset="0"/>
                          </a:rPr>
                          <m:t>∩</m:t>
                        </m:r>
                        <m:r>
                          <a:rPr lang="en-US" sz="1600" b="0" i="1" smtClean="0">
                            <a:latin typeface="Cambria Math" panose="02040503050406030204" pitchFamily="18" charset="0"/>
                          </a:rPr>
                          <m:t>𝐶</m:t>
                        </m:r>
                      </m:e>
                    </m:acc>
                    <m:r>
                      <a:rPr lang="en-US" sz="1600" b="0" i="1" smtClean="0">
                        <a:latin typeface="Cambria Math" panose="02040503050406030204" pitchFamily="18" charset="0"/>
                      </a:rPr>
                      <m:t>)</m:t>
                    </m:r>
                  </m:oMath>
                </a14:m>
                <a:endParaRPr lang="en-US" sz="1600"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92EE40BD-7107-47D9-B918-3666C6ADE279}"/>
                  </a:ext>
                </a:extLst>
              </p:cNvPr>
              <p:cNvSpPr>
                <a:spLocks noGrp="1" noRot="1" noChangeAspect="1" noMove="1" noResize="1" noEditPoints="1" noAdjustHandles="1" noChangeArrowheads="1" noChangeShapeType="1" noTextEdit="1"/>
              </p:cNvSpPr>
              <p:nvPr>
                <p:ph idx="1"/>
              </p:nvPr>
            </p:nvSpPr>
            <p:spPr>
              <a:xfrm>
                <a:off x="745957" y="1106905"/>
                <a:ext cx="11063605" cy="4928135"/>
              </a:xfrm>
              <a:blipFill>
                <a:blip r:embed="rId2"/>
                <a:stretch>
                  <a:fillRect l="-275" t="-37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1A4DDE5-7F29-41EA-9B74-73EECB4CB7C4}"/>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3595355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3F0FE-3B9E-49CE-8233-E26116AB3900}"/>
              </a:ext>
            </a:extLst>
          </p:cNvPr>
          <p:cNvSpPr>
            <a:spLocks noGrp="1"/>
          </p:cNvSpPr>
          <p:nvPr>
            <p:ph type="title"/>
          </p:nvPr>
        </p:nvSpPr>
        <p:spPr>
          <a:xfrm>
            <a:off x="664234" y="499358"/>
            <a:ext cx="10058400" cy="358070"/>
          </a:xfrm>
        </p:spPr>
        <p:txBody>
          <a:bodyPr>
            <a:normAutofit fontScale="90000"/>
          </a:bodyPr>
          <a:lstStyle/>
          <a:p>
            <a:r>
              <a:rPr lang="en-US" sz="2400" b="1" dirty="0"/>
              <a:t>Multiplicative rule of probability</a:t>
            </a:r>
          </a:p>
        </p:txBody>
      </p:sp>
      <p:sp>
        <p:nvSpPr>
          <p:cNvPr id="3" name="Content Placeholder 2">
            <a:extLst>
              <a:ext uri="{FF2B5EF4-FFF2-40B4-BE49-F238E27FC236}">
                <a16:creationId xmlns:a16="http://schemas.microsoft.com/office/drawing/2014/main" id="{F3039DEE-4B1B-4690-B8D7-4B5CAFCB009B}"/>
              </a:ext>
            </a:extLst>
          </p:cNvPr>
          <p:cNvSpPr>
            <a:spLocks noGrp="1"/>
          </p:cNvSpPr>
          <p:nvPr>
            <p:ph idx="1"/>
          </p:nvPr>
        </p:nvSpPr>
        <p:spPr>
          <a:xfrm>
            <a:off x="664234" y="948906"/>
            <a:ext cx="10929668" cy="5358766"/>
          </a:xfrm>
        </p:spPr>
        <p:txBody>
          <a:bodyPr>
            <a:normAutofit lnSpcReduction="10000"/>
          </a:bodyPr>
          <a:lstStyle/>
          <a:p>
            <a:pPr marL="0" indent="0">
              <a:buNone/>
            </a:pPr>
            <a:r>
              <a:rPr lang="en-US" b="1" dirty="0">
                <a:solidFill>
                  <a:srgbClr val="00B0F0"/>
                </a:solidFill>
              </a:rPr>
              <a:t>Events are independent (Under statistical independence)</a:t>
            </a:r>
          </a:p>
          <a:p>
            <a:pPr marL="0" indent="0">
              <a:buNone/>
            </a:pPr>
            <a:r>
              <a:rPr lang="en-US" dirty="0"/>
              <a:t>If A and B are two independent events, then probability of their simultaneous occurrence is given by, </a:t>
            </a:r>
          </a:p>
          <a:p>
            <a:pPr marL="0" indent="0">
              <a:buNone/>
            </a:pPr>
            <a:r>
              <a:rPr lang="en-US" dirty="0"/>
              <a:t>	P (A and B) = P (A ∩ B) = P(A) . P(B)</a:t>
            </a:r>
          </a:p>
          <a:p>
            <a:pPr marL="0" indent="0">
              <a:buNone/>
            </a:pPr>
            <a:r>
              <a:rPr lang="en-US" dirty="0"/>
              <a:t>	P (A and B and C) = P (A ∩ B ∩ C) = P(A) . P(B) . P(C)</a:t>
            </a:r>
          </a:p>
          <a:p>
            <a:pPr marL="0" indent="0">
              <a:buNone/>
            </a:pPr>
            <a:endParaRPr lang="en-US" b="1" dirty="0">
              <a:solidFill>
                <a:srgbClr val="00B0F0"/>
              </a:solidFill>
            </a:endParaRPr>
          </a:p>
          <a:p>
            <a:pPr marL="0" indent="0">
              <a:buNone/>
            </a:pPr>
            <a:r>
              <a:rPr lang="en-US" b="1" dirty="0">
                <a:solidFill>
                  <a:srgbClr val="00B0F0"/>
                </a:solidFill>
              </a:rPr>
              <a:t>Events are dependent (Under statistical dependence)</a:t>
            </a:r>
          </a:p>
          <a:p>
            <a:pPr marL="0" indent="0">
              <a:buNone/>
            </a:pPr>
            <a:r>
              <a:rPr lang="en-US" dirty="0"/>
              <a:t>If A and B are two dependent events, then probability of their joint occurrence is given by,</a:t>
            </a:r>
          </a:p>
          <a:p>
            <a:pPr marL="0" indent="0">
              <a:buNone/>
            </a:pPr>
            <a:r>
              <a:rPr lang="en-US" dirty="0"/>
              <a:t>	P (A and B) = P (A ∩ B) = P(A) . P(B/A) </a:t>
            </a:r>
          </a:p>
          <a:p>
            <a:pPr marL="0" indent="0">
              <a:buNone/>
            </a:pPr>
            <a:r>
              <a:rPr lang="en-US" dirty="0"/>
              <a:t>			           = P(B) . P(A/B)</a:t>
            </a:r>
          </a:p>
          <a:p>
            <a:pPr marL="0" indent="0">
              <a:buNone/>
            </a:pPr>
            <a:r>
              <a:rPr lang="en-US" dirty="0"/>
              <a:t>Notation:</a:t>
            </a:r>
          </a:p>
          <a:p>
            <a:pPr marL="0" indent="0">
              <a:buNone/>
            </a:pPr>
            <a:r>
              <a:rPr lang="en-US" dirty="0"/>
              <a:t>	P(B/A) = Conditional probability of an event B given that event A has already occurred</a:t>
            </a:r>
          </a:p>
          <a:p>
            <a:pPr marL="0" indent="0">
              <a:buNone/>
            </a:pPr>
            <a:r>
              <a:rPr lang="en-US" dirty="0"/>
              <a:t>	               or probability of event B given information about the occurrence of event A.</a:t>
            </a:r>
          </a:p>
          <a:p>
            <a:pPr marL="0" indent="0">
              <a:buNone/>
            </a:pPr>
            <a:r>
              <a:rPr lang="en-US" dirty="0"/>
              <a:t>	P (A/B) = Conditional probability of an event A given that event A has already occurred</a:t>
            </a:r>
          </a:p>
          <a:p>
            <a:pPr marL="0" indent="0">
              <a:buNone/>
            </a:pPr>
            <a:r>
              <a:rPr lang="en-US" dirty="0"/>
              <a:t>	               or probability of event B given information about the occurrence of event B.</a:t>
            </a:r>
          </a:p>
          <a:p>
            <a:pPr marL="0" indent="0">
              <a:buNone/>
            </a:pPr>
            <a:endParaRPr lang="en-US" dirty="0"/>
          </a:p>
        </p:txBody>
      </p:sp>
      <p:sp>
        <p:nvSpPr>
          <p:cNvPr id="4" name="Footer Placeholder 3">
            <a:extLst>
              <a:ext uri="{FF2B5EF4-FFF2-40B4-BE49-F238E27FC236}">
                <a16:creationId xmlns:a16="http://schemas.microsoft.com/office/drawing/2014/main" id="{EE00998A-2905-47F0-A7DB-4D7578D0763C}"/>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2246901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046C6E-6F88-4952-BE6C-0BE7A9A50AE5}"/>
                  </a:ext>
                </a:extLst>
              </p:cNvPr>
              <p:cNvSpPr>
                <a:spLocks noGrp="1"/>
              </p:cNvSpPr>
              <p:nvPr>
                <p:ph idx="1"/>
              </p:nvPr>
            </p:nvSpPr>
            <p:spPr>
              <a:xfrm>
                <a:off x="776377" y="655608"/>
                <a:ext cx="10955548" cy="5379432"/>
              </a:xfrm>
            </p:spPr>
            <p:txBody>
              <a:bodyPr>
                <a:noAutofit/>
              </a:bodyPr>
              <a:lstStyle/>
              <a:p>
                <a:pPr marL="0" indent="0">
                  <a:buNone/>
                </a:pPr>
                <a:r>
                  <a:rPr lang="en-US" sz="2000" b="1" dirty="0">
                    <a:solidFill>
                      <a:srgbClr val="00B0F0"/>
                    </a:solidFill>
                  </a:rPr>
                  <a:t>What is conditional probability?</a:t>
                </a:r>
              </a:p>
              <a:p>
                <a:pPr marL="0" indent="0">
                  <a:buNone/>
                </a:pPr>
                <a:r>
                  <a:rPr lang="en-US" b="0" i="0" dirty="0">
                    <a:solidFill>
                      <a:srgbClr val="111111"/>
                    </a:solidFill>
                    <a:effectLst/>
                  </a:rPr>
                  <a:t>Conditional probability is defined as the likelihood of an event or outcome occurring, based on the occurrence of a previous event or outcome. </a:t>
                </a:r>
                <a:endParaRPr lang="en-US" dirty="0">
                  <a:solidFill>
                    <a:srgbClr val="333333"/>
                  </a:solidFill>
                </a:endParaRPr>
              </a:p>
              <a:p>
                <a:pPr marL="0" indent="0">
                  <a:buNone/>
                </a:pPr>
                <a:r>
                  <a:rPr lang="en-US" dirty="0"/>
                  <a:t>The probability of event A given B is given by,</a:t>
                </a:r>
              </a:p>
              <a:p>
                <a:pPr marL="0" indent="0">
                  <a:buNone/>
                </a:pPr>
                <a:r>
                  <a:rPr lang="en-US" dirty="0"/>
                  <a:t>	P(A/B)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 </m:t>
                        </m:r>
                        <m:r>
                          <a:rPr lang="en-US" sz="2400" b="0" i="1" smtClean="0">
                            <a:latin typeface="Cambria Math" panose="02040503050406030204" pitchFamily="18" charset="0"/>
                          </a:rPr>
                          <m:t>𝑎𝑛𝑑</m:t>
                        </m:r>
                        <m:r>
                          <a:rPr lang="en-US" sz="2400" b="0" i="1" smtClean="0">
                            <a:latin typeface="Cambria Math" panose="02040503050406030204" pitchFamily="18" charset="0"/>
                          </a:rPr>
                          <m:t> </m:t>
                        </m:r>
                        <m:r>
                          <a:rPr lang="en-US" sz="2400" b="0" i="1" smtClean="0">
                            <a:latin typeface="Cambria Math" panose="02040503050406030204" pitchFamily="18" charset="0"/>
                          </a:rPr>
                          <m:t>𝐵</m:t>
                        </m:r>
                        <m:r>
                          <a:rPr lang="en-US" sz="2400" b="0" i="1" smtClean="0">
                            <a:latin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𝐵</m:t>
                        </m:r>
                        <m:r>
                          <a:rPr lang="en-US" sz="2400" b="0" i="1" smtClean="0">
                            <a:latin typeface="Cambria Math" panose="02040503050406030204" pitchFamily="18" charset="0"/>
                          </a:rPr>
                          <m:t>)</m:t>
                        </m:r>
                      </m:den>
                    </m:f>
                  </m:oMath>
                </a14:m>
                <a:r>
                  <a:rPr lang="en-US" sz="2400" dirty="0"/>
                  <a:t>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𝑃𝑟𝑜𝑏𝑎𝑏𝑖𝑙𝑖𝑡𝑦</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𝑗𝑜𝑖𝑛𝑡</m:t>
                        </m:r>
                        <m:r>
                          <a:rPr lang="en-US" sz="2400" b="0" i="1" smtClean="0">
                            <a:latin typeface="Cambria Math" panose="02040503050406030204" pitchFamily="18" charset="0"/>
                          </a:rPr>
                          <m:t> </m:t>
                        </m:r>
                        <m:r>
                          <a:rPr lang="en-US" sz="2400" b="0" i="1" smtClean="0">
                            <a:latin typeface="Cambria Math" panose="02040503050406030204" pitchFamily="18" charset="0"/>
                          </a:rPr>
                          <m:t>𝑜𝑐𝑐𝑢𝑟𝑒𝑛𝑐𝑒</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𝑒𝑣𝑒𝑛𝑡</m:t>
                        </m:r>
                        <m:r>
                          <a:rPr lang="en-US" sz="2400" b="0" i="1" smtClean="0">
                            <a:latin typeface="Cambria Math" panose="02040503050406030204" pitchFamily="18" charset="0"/>
                          </a:rPr>
                          <m:t> </m:t>
                        </m:r>
                        <m:r>
                          <a:rPr lang="en-US" sz="2400" b="0" i="1" smtClean="0">
                            <a:latin typeface="Cambria Math" panose="02040503050406030204" pitchFamily="18" charset="0"/>
                          </a:rPr>
                          <m:t>𝐴</m:t>
                        </m:r>
                        <m:r>
                          <a:rPr lang="en-US" sz="2400" b="0" i="1" smtClean="0">
                            <a:latin typeface="Cambria Math" panose="02040503050406030204" pitchFamily="18" charset="0"/>
                          </a:rPr>
                          <m:t> </m:t>
                        </m:r>
                        <m:r>
                          <a:rPr lang="en-US" sz="2400" b="0" i="1" smtClean="0">
                            <a:latin typeface="Cambria Math" panose="02040503050406030204" pitchFamily="18" charset="0"/>
                          </a:rPr>
                          <m:t>𝑎𝑛𝑑</m:t>
                        </m:r>
                        <m:r>
                          <a:rPr lang="en-US" sz="2400" b="0" i="1" smtClean="0">
                            <a:latin typeface="Cambria Math" panose="02040503050406030204" pitchFamily="18" charset="0"/>
                          </a:rPr>
                          <m:t> </m:t>
                        </m:r>
                        <m:r>
                          <a:rPr lang="en-US" sz="2400" b="0" i="1" smtClean="0">
                            <a:latin typeface="Cambria Math" panose="02040503050406030204" pitchFamily="18" charset="0"/>
                          </a:rPr>
                          <m:t>𝐵</m:t>
                        </m:r>
                      </m:num>
                      <m:den>
                        <m:r>
                          <a:rPr lang="en-US" sz="2400" b="0" i="1" smtClean="0">
                            <a:latin typeface="Cambria Math" panose="02040503050406030204" pitchFamily="18" charset="0"/>
                          </a:rPr>
                          <m:t>𝑃𝑟𝑜𝑏𝑎𝑏𝑖𝑙𝑖𝑡𝑦</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𝑜𝑐𝑐𝑢𝑟𝑒𝑛𝑐𝑒</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𝑎𝑛</m:t>
                        </m:r>
                        <m:r>
                          <a:rPr lang="en-US" sz="2400" b="0" i="1" smtClean="0">
                            <a:latin typeface="Cambria Math" panose="02040503050406030204" pitchFamily="18" charset="0"/>
                          </a:rPr>
                          <m:t> </m:t>
                        </m:r>
                        <m:r>
                          <a:rPr lang="en-US" sz="2400" b="0" i="1" smtClean="0">
                            <a:latin typeface="Cambria Math" panose="02040503050406030204" pitchFamily="18" charset="0"/>
                          </a:rPr>
                          <m:t>𝑒𝑣𝑒𝑛</m:t>
                        </m:r>
                        <m:r>
                          <a:rPr lang="en-US" sz="2400" b="0" i="1" smtClean="0">
                            <a:latin typeface="Cambria Math" panose="02040503050406030204" pitchFamily="18" charset="0"/>
                          </a:rPr>
                          <m:t> </m:t>
                        </m:r>
                        <m:r>
                          <a:rPr lang="en-US" sz="2400" b="0" i="1" smtClean="0">
                            <a:latin typeface="Cambria Math" panose="02040503050406030204" pitchFamily="18" charset="0"/>
                          </a:rPr>
                          <m:t>𝐵</m:t>
                        </m:r>
                      </m:den>
                    </m:f>
                  </m:oMath>
                </a14:m>
                <a:endParaRPr lang="en-US" sz="2400" dirty="0"/>
              </a:p>
              <a:p>
                <a:pPr marL="0" indent="0">
                  <a:buNone/>
                </a:pPr>
                <a:endParaRPr lang="en-US" b="1" dirty="0">
                  <a:solidFill>
                    <a:srgbClr val="00B0F0"/>
                  </a:solidFill>
                </a:endParaRPr>
              </a:p>
              <a:p>
                <a:pPr marL="0" indent="0">
                  <a:buNone/>
                </a:pPr>
                <a:r>
                  <a:rPr lang="en-US" b="1" dirty="0">
                    <a:solidFill>
                      <a:srgbClr val="00B0F0"/>
                    </a:solidFill>
                  </a:rPr>
                  <a:t>Notation</a:t>
                </a:r>
                <a:r>
                  <a:rPr lang="en-US" dirty="0"/>
                  <a:t>:</a:t>
                </a:r>
              </a:p>
              <a:p>
                <a:pPr marL="0" indent="0">
                  <a:buNone/>
                </a:pPr>
                <a:r>
                  <a:rPr lang="en-US" dirty="0"/>
                  <a:t>P (A) = Probability of occurrence of event A or marginal probability of A</a:t>
                </a:r>
              </a:p>
              <a:p>
                <a:pPr marL="0" indent="0">
                  <a:buNone/>
                </a:pPr>
                <a:r>
                  <a:rPr lang="en-US" dirty="0"/>
                  <a:t>P (B) = Probability of occurrence of event A or marginal probability of B</a:t>
                </a:r>
              </a:p>
              <a:p>
                <a:pPr marL="0" indent="0">
                  <a:buNone/>
                </a:pPr>
                <a:r>
                  <a:rPr lang="en-US" dirty="0"/>
                  <a:t>P (A and B) = Prob. of simultaneous occurrence of events A and B or joint probability of A and B</a:t>
                </a:r>
              </a:p>
              <a:p>
                <a:pPr marL="0" indent="0">
                  <a:buNone/>
                </a:pPr>
                <a:r>
                  <a:rPr lang="en-US" dirty="0"/>
                  <a:t>The probability of event B given A is given by,</a:t>
                </a:r>
              </a:p>
              <a:p>
                <a:pPr marL="0" indent="0">
                  <a:buNone/>
                </a:pPr>
                <a:r>
                  <a:rPr lang="en-US"/>
                  <a:t>	P</a:t>
                </a:r>
                <a:r>
                  <a:rPr lang="en-US" dirty="0"/>
                  <a:t>(B/A)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 </m:t>
                        </m:r>
                        <m:r>
                          <a:rPr lang="en-US" sz="2400" b="0" i="1" smtClean="0">
                            <a:latin typeface="Cambria Math" panose="02040503050406030204" pitchFamily="18" charset="0"/>
                          </a:rPr>
                          <m:t>𝑎𝑛𝑑</m:t>
                        </m:r>
                        <m:r>
                          <a:rPr lang="en-US" sz="2400" b="0" i="1" smtClean="0">
                            <a:latin typeface="Cambria Math" panose="02040503050406030204" pitchFamily="18" charset="0"/>
                          </a:rPr>
                          <m:t> </m:t>
                        </m:r>
                        <m:r>
                          <a:rPr lang="en-US" sz="2400" b="0" i="1" smtClean="0">
                            <a:latin typeface="Cambria Math" panose="02040503050406030204" pitchFamily="18" charset="0"/>
                          </a:rPr>
                          <m:t>𝐵</m:t>
                        </m:r>
                        <m:r>
                          <a:rPr lang="en-US" sz="2400" b="0" i="1" smtClean="0">
                            <a:latin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m:t>
                        </m:r>
                      </m:den>
                    </m:f>
                  </m:oMath>
                </a14:m>
                <a:r>
                  <a:rPr lang="en-US" sz="2400" dirty="0"/>
                  <a:t> =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𝑃𝑟𝑜𝑏𝑎𝑏𝑖𝑙𝑖𝑡𝑦</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𝑗𝑜𝑖𝑛𝑡</m:t>
                        </m:r>
                        <m:r>
                          <a:rPr lang="en-US" sz="2400" i="1">
                            <a:latin typeface="Cambria Math" panose="02040503050406030204" pitchFamily="18" charset="0"/>
                          </a:rPr>
                          <m:t> </m:t>
                        </m:r>
                        <m:r>
                          <a:rPr lang="en-US" sz="2400" i="1">
                            <a:latin typeface="Cambria Math" panose="02040503050406030204" pitchFamily="18" charset="0"/>
                          </a:rPr>
                          <m:t>𝑜𝑐𝑐𝑢𝑟𝑒𝑛𝑐𝑒</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𝑒𝑣𝑒𝑛𝑡</m:t>
                        </m:r>
                        <m:r>
                          <a:rPr lang="en-US" sz="2400" i="1">
                            <a:latin typeface="Cambria Math" panose="02040503050406030204" pitchFamily="18" charset="0"/>
                          </a:rPr>
                          <m:t> </m:t>
                        </m:r>
                        <m:r>
                          <a:rPr lang="en-US" sz="2400" i="1">
                            <a:latin typeface="Cambria Math" panose="02040503050406030204" pitchFamily="18" charset="0"/>
                          </a:rPr>
                          <m:t>𝐴</m:t>
                        </m:r>
                        <m:r>
                          <a:rPr lang="en-US" sz="2400" i="1">
                            <a:latin typeface="Cambria Math" panose="02040503050406030204" pitchFamily="18" charset="0"/>
                          </a:rPr>
                          <m:t> </m:t>
                        </m:r>
                        <m:r>
                          <a:rPr lang="en-US" sz="2400" i="1">
                            <a:latin typeface="Cambria Math" panose="02040503050406030204" pitchFamily="18" charset="0"/>
                          </a:rPr>
                          <m:t>𝑎𝑛𝑑</m:t>
                        </m:r>
                        <m:r>
                          <a:rPr lang="en-US" sz="2400" i="1">
                            <a:latin typeface="Cambria Math" panose="02040503050406030204" pitchFamily="18" charset="0"/>
                          </a:rPr>
                          <m:t> </m:t>
                        </m:r>
                        <m:r>
                          <a:rPr lang="en-US" sz="2400" i="1">
                            <a:latin typeface="Cambria Math" panose="02040503050406030204" pitchFamily="18" charset="0"/>
                          </a:rPr>
                          <m:t>𝐵</m:t>
                        </m:r>
                      </m:num>
                      <m:den>
                        <m:r>
                          <a:rPr lang="en-US" sz="2400" i="1">
                            <a:latin typeface="Cambria Math" panose="02040503050406030204" pitchFamily="18" charset="0"/>
                          </a:rPr>
                          <m:t>𝑃𝑟𝑜𝑏𝑎𝑏𝑖𝑙𝑖𝑡𝑦</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𝑜𝑐𝑐𝑢𝑟𝑒𝑛𝑐𝑒</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𝑎𝑛</m:t>
                        </m:r>
                        <m:r>
                          <a:rPr lang="en-US" sz="2400" i="1">
                            <a:latin typeface="Cambria Math" panose="02040503050406030204" pitchFamily="18" charset="0"/>
                          </a:rPr>
                          <m:t> </m:t>
                        </m:r>
                        <m:r>
                          <a:rPr lang="en-US" sz="2400" i="1">
                            <a:latin typeface="Cambria Math" panose="02040503050406030204" pitchFamily="18" charset="0"/>
                          </a:rPr>
                          <m:t>𝑒𝑣𝑒𝑛</m:t>
                        </m:r>
                        <m:r>
                          <a:rPr lang="en-US" sz="2400" i="1">
                            <a:latin typeface="Cambria Math" panose="02040503050406030204" pitchFamily="18" charset="0"/>
                          </a:rPr>
                          <m:t> </m:t>
                        </m:r>
                        <m:r>
                          <a:rPr lang="en-US" sz="2400" b="0" i="1" smtClean="0">
                            <a:latin typeface="Cambria Math" panose="02040503050406030204" pitchFamily="18" charset="0"/>
                          </a:rPr>
                          <m:t>𝐴</m:t>
                        </m:r>
                      </m:den>
                    </m:f>
                  </m:oMath>
                </a14:m>
                <a:endParaRPr lang="en-US" sz="2400" dirty="0"/>
              </a:p>
            </p:txBody>
          </p:sp>
        </mc:Choice>
        <mc:Fallback xmlns="">
          <p:sp>
            <p:nvSpPr>
              <p:cNvPr id="3" name="Content Placeholder 2">
                <a:extLst>
                  <a:ext uri="{FF2B5EF4-FFF2-40B4-BE49-F238E27FC236}">
                    <a16:creationId xmlns:a16="http://schemas.microsoft.com/office/drawing/2014/main" id="{AB046C6E-6F88-4952-BE6C-0BE7A9A50AE5}"/>
                  </a:ext>
                </a:extLst>
              </p:cNvPr>
              <p:cNvSpPr>
                <a:spLocks noGrp="1" noRot="1" noChangeAspect="1" noMove="1" noResize="1" noEditPoints="1" noAdjustHandles="1" noChangeArrowheads="1" noChangeShapeType="1" noTextEdit="1"/>
              </p:cNvSpPr>
              <p:nvPr>
                <p:ph idx="1"/>
              </p:nvPr>
            </p:nvSpPr>
            <p:spPr>
              <a:xfrm>
                <a:off x="776377" y="655608"/>
                <a:ext cx="10955548" cy="5379432"/>
              </a:xfrm>
              <a:blipFill>
                <a:blip r:embed="rId2"/>
                <a:stretch>
                  <a:fillRect l="-556" t="-68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194EBA88-55C3-4669-B281-2F984C64247D}"/>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4211840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65ACBD-1C41-4124-B361-DA373D76D830}"/>
              </a:ext>
            </a:extLst>
          </p:cNvPr>
          <p:cNvSpPr>
            <a:spLocks noGrp="1"/>
          </p:cNvSpPr>
          <p:nvPr>
            <p:ph idx="1"/>
          </p:nvPr>
        </p:nvSpPr>
        <p:spPr>
          <a:xfrm>
            <a:off x="741871" y="646981"/>
            <a:ext cx="10921041" cy="5388059"/>
          </a:xfrm>
        </p:spPr>
        <p:txBody>
          <a:bodyPr/>
          <a:lstStyle/>
          <a:p>
            <a:pPr marL="0" indent="0">
              <a:buNone/>
            </a:pPr>
            <a:r>
              <a:rPr lang="en-US" b="1" dirty="0">
                <a:solidFill>
                  <a:srgbClr val="00B0F0"/>
                </a:solidFill>
              </a:rPr>
              <a:t>Example</a:t>
            </a:r>
            <a:r>
              <a:rPr lang="en-US" dirty="0"/>
              <a:t>: One hundred students were surveyed about their preference between dogs and cats. The following two-way table displays data for the sample of students who responded to the survey.</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b="1" i="0" dirty="0">
              <a:solidFill>
                <a:srgbClr val="21242C"/>
              </a:solidFill>
              <a:effectLst/>
              <a:latin typeface="Lato"/>
            </a:endParaRPr>
          </a:p>
          <a:p>
            <a:pPr marL="342900" indent="-342900">
              <a:buAutoNum type="alphaLcParenBoth"/>
            </a:pPr>
            <a:r>
              <a:rPr lang="en-US" i="0" dirty="0">
                <a:solidFill>
                  <a:srgbClr val="21242C"/>
                </a:solidFill>
                <a:effectLst/>
              </a:rPr>
              <a:t> In this sample, are the events "prefers dogs" and "prefers cats" mutually exclusive? </a:t>
            </a:r>
          </a:p>
          <a:p>
            <a:pPr marL="342900" indent="-342900">
              <a:buAutoNum type="alphaLcParenBoth"/>
            </a:pPr>
            <a:r>
              <a:rPr lang="en-US" i="0" dirty="0">
                <a:solidFill>
                  <a:srgbClr val="21242C"/>
                </a:solidFill>
                <a:effectLst/>
              </a:rPr>
              <a:t> Find the probability that a randomly selected student prefers dogs</a:t>
            </a:r>
            <a:r>
              <a:rPr lang="en-US" i="0">
                <a:solidFill>
                  <a:srgbClr val="21242C"/>
                </a:solidFill>
                <a:effectLst/>
              </a:rPr>
              <a:t>. </a:t>
            </a:r>
          </a:p>
          <a:p>
            <a:pPr marL="342900" indent="-342900">
              <a:buAutoNum type="alphaLcParenBoth"/>
            </a:pPr>
            <a:r>
              <a:rPr lang="en-US" i="0">
                <a:solidFill>
                  <a:srgbClr val="21242C"/>
                </a:solidFill>
                <a:effectLst/>
              </a:rPr>
              <a:t>Find </a:t>
            </a:r>
            <a:r>
              <a:rPr lang="en-US" i="0" dirty="0">
                <a:solidFill>
                  <a:srgbClr val="21242C"/>
                </a:solidFill>
                <a:effectLst/>
              </a:rPr>
              <a:t>the probability that a randomly selected student prefers dogs or is female. </a:t>
            </a:r>
            <a:endParaRPr lang="en-US" dirty="0">
              <a:solidFill>
                <a:srgbClr val="21242C"/>
              </a:solidFill>
            </a:endParaRPr>
          </a:p>
          <a:p>
            <a:pPr marL="342900" indent="-342900">
              <a:buAutoNum type="alphaLcParenBoth"/>
            </a:pPr>
            <a:r>
              <a:rPr lang="en-US" i="0" dirty="0">
                <a:solidFill>
                  <a:srgbClr val="21242C"/>
                </a:solidFill>
                <a:effectLst/>
              </a:rPr>
              <a:t> Find the probability that a randomly selected student prefers cats </a:t>
            </a:r>
            <a:r>
              <a:rPr lang="en-US" dirty="0">
                <a:solidFill>
                  <a:srgbClr val="21242C"/>
                </a:solidFill>
              </a:rPr>
              <a:t>given that he is male</a:t>
            </a:r>
            <a:r>
              <a:rPr lang="en-US" i="0" dirty="0">
                <a:solidFill>
                  <a:srgbClr val="21242C"/>
                </a:solidFill>
                <a:effectLst/>
              </a:rPr>
              <a:t>.</a:t>
            </a:r>
          </a:p>
          <a:p>
            <a:pPr marL="342900" indent="-342900">
              <a:buAutoNum type="alphaLcParenBoth"/>
            </a:pPr>
            <a:r>
              <a:rPr lang="en-US" dirty="0">
                <a:solidFill>
                  <a:srgbClr val="21242C"/>
                </a:solidFill>
              </a:rPr>
              <a:t> Are the event of ‘female’ independence of event ‘prefer dogs’?</a:t>
            </a:r>
            <a:endParaRPr lang="en-US" dirty="0"/>
          </a:p>
        </p:txBody>
      </p:sp>
      <p:sp>
        <p:nvSpPr>
          <p:cNvPr id="4" name="Footer Placeholder 3">
            <a:extLst>
              <a:ext uri="{FF2B5EF4-FFF2-40B4-BE49-F238E27FC236}">
                <a16:creationId xmlns:a16="http://schemas.microsoft.com/office/drawing/2014/main" id="{31668864-7DB2-47C1-83CF-BEAB1DEF93E2}"/>
              </a:ext>
            </a:extLst>
          </p:cNvPr>
          <p:cNvSpPr>
            <a:spLocks noGrp="1"/>
          </p:cNvSpPr>
          <p:nvPr>
            <p:ph type="ftr" sz="quarter" idx="11"/>
          </p:nvPr>
        </p:nvSpPr>
        <p:spPr/>
        <p:txBody>
          <a:bodyPr/>
          <a:lstStyle/>
          <a:p>
            <a:r>
              <a:rPr lang="en-US"/>
              <a:t>Copy Right  (C)  Santosh Chhatkuli</a:t>
            </a:r>
            <a:endParaRPr lang="en-US" dirty="0"/>
          </a:p>
        </p:txBody>
      </p:sp>
      <p:graphicFrame>
        <p:nvGraphicFramePr>
          <p:cNvPr id="2" name="Table 4">
            <a:extLst>
              <a:ext uri="{FF2B5EF4-FFF2-40B4-BE49-F238E27FC236}">
                <a16:creationId xmlns:a16="http://schemas.microsoft.com/office/drawing/2014/main" id="{C57E304C-E5F3-4EA4-A083-68613B509CD3}"/>
              </a:ext>
            </a:extLst>
          </p:cNvPr>
          <p:cNvGraphicFramePr>
            <a:graphicFrameLocks noGrp="1"/>
          </p:cNvGraphicFramePr>
          <p:nvPr>
            <p:extLst>
              <p:ext uri="{D42A27DB-BD31-4B8C-83A1-F6EECF244321}">
                <p14:modId xmlns:p14="http://schemas.microsoft.com/office/powerpoint/2010/main" val="2579422299"/>
              </p:ext>
            </p:extLst>
          </p:nvPr>
        </p:nvGraphicFramePr>
        <p:xfrm>
          <a:off x="970951" y="1739564"/>
          <a:ext cx="6603041" cy="1854200"/>
        </p:xfrm>
        <a:graphic>
          <a:graphicData uri="http://schemas.openxmlformats.org/drawingml/2006/table">
            <a:tbl>
              <a:tblPr firstRow="1" bandRow="1">
                <a:tableStyleId>{69012ECD-51FC-41F1-AA8D-1B2483CD663E}</a:tableStyleId>
              </a:tblPr>
              <a:tblGrid>
                <a:gridCol w="1857297">
                  <a:extLst>
                    <a:ext uri="{9D8B030D-6E8A-4147-A177-3AD203B41FA5}">
                      <a16:colId xmlns:a16="http://schemas.microsoft.com/office/drawing/2014/main" val="1235283006"/>
                    </a:ext>
                  </a:extLst>
                </a:gridCol>
                <a:gridCol w="1276453">
                  <a:extLst>
                    <a:ext uri="{9D8B030D-6E8A-4147-A177-3AD203B41FA5}">
                      <a16:colId xmlns:a16="http://schemas.microsoft.com/office/drawing/2014/main" val="2021932457"/>
                    </a:ext>
                  </a:extLst>
                </a:gridCol>
                <a:gridCol w="1474449">
                  <a:extLst>
                    <a:ext uri="{9D8B030D-6E8A-4147-A177-3AD203B41FA5}">
                      <a16:colId xmlns:a16="http://schemas.microsoft.com/office/drawing/2014/main" val="4021726448"/>
                    </a:ext>
                  </a:extLst>
                </a:gridCol>
                <a:gridCol w="1994842">
                  <a:extLst>
                    <a:ext uri="{9D8B030D-6E8A-4147-A177-3AD203B41FA5}">
                      <a16:colId xmlns:a16="http://schemas.microsoft.com/office/drawing/2014/main" val="1667224187"/>
                    </a:ext>
                  </a:extLst>
                </a:gridCol>
              </a:tblGrid>
              <a:tr h="370840">
                <a:tc>
                  <a:txBody>
                    <a:bodyPr/>
                    <a:lstStyle/>
                    <a:p>
                      <a:r>
                        <a:rPr lang="en-US" dirty="0"/>
                        <a:t>Preference</a:t>
                      </a:r>
                    </a:p>
                  </a:txBody>
                  <a:tcPr/>
                </a:tc>
                <a:tc>
                  <a:txBody>
                    <a:bodyPr/>
                    <a:lstStyle/>
                    <a:p>
                      <a:pPr algn="ctr"/>
                      <a:r>
                        <a:rPr lang="en-US" dirty="0"/>
                        <a:t>Male</a:t>
                      </a:r>
                    </a:p>
                  </a:txBody>
                  <a:tcPr/>
                </a:tc>
                <a:tc>
                  <a:txBody>
                    <a:bodyPr/>
                    <a:lstStyle/>
                    <a:p>
                      <a:pPr algn="ctr"/>
                      <a:r>
                        <a:rPr lang="en-US" dirty="0"/>
                        <a:t>Female</a:t>
                      </a:r>
                    </a:p>
                  </a:txBody>
                  <a:tcPr/>
                </a:tc>
                <a:tc>
                  <a:txBody>
                    <a:bodyPr/>
                    <a:lstStyle/>
                    <a:p>
                      <a:pPr algn="ctr"/>
                      <a:r>
                        <a:rPr lang="en-US" dirty="0"/>
                        <a:t>Total</a:t>
                      </a:r>
                    </a:p>
                  </a:txBody>
                  <a:tcPr/>
                </a:tc>
                <a:extLst>
                  <a:ext uri="{0D108BD9-81ED-4DB2-BD59-A6C34878D82A}">
                    <a16:rowId xmlns:a16="http://schemas.microsoft.com/office/drawing/2014/main" val="2707796282"/>
                  </a:ext>
                </a:extLst>
              </a:tr>
              <a:tr h="370840">
                <a:tc>
                  <a:txBody>
                    <a:bodyPr/>
                    <a:lstStyle/>
                    <a:p>
                      <a:r>
                        <a:rPr lang="en-US" dirty="0"/>
                        <a:t>Prefers dogs</a:t>
                      </a:r>
                    </a:p>
                  </a:txBody>
                  <a:tcPr/>
                </a:tc>
                <a:tc>
                  <a:txBody>
                    <a:bodyPr/>
                    <a:lstStyle/>
                    <a:p>
                      <a:pPr algn="ctr"/>
                      <a:r>
                        <a:rPr lang="en-US" dirty="0"/>
                        <a:t>120</a:t>
                      </a:r>
                    </a:p>
                  </a:txBody>
                  <a:tcPr/>
                </a:tc>
                <a:tc>
                  <a:txBody>
                    <a:bodyPr/>
                    <a:lstStyle/>
                    <a:p>
                      <a:pPr algn="ctr"/>
                      <a:r>
                        <a:rPr lang="en-US" dirty="0"/>
                        <a:t>65</a:t>
                      </a:r>
                    </a:p>
                  </a:txBody>
                  <a:tcPr/>
                </a:tc>
                <a:tc>
                  <a:txBody>
                    <a:bodyPr/>
                    <a:lstStyle/>
                    <a:p>
                      <a:pPr algn="ctr"/>
                      <a:r>
                        <a:rPr lang="en-US" dirty="0"/>
                        <a:t>185</a:t>
                      </a:r>
                    </a:p>
                  </a:txBody>
                  <a:tcPr/>
                </a:tc>
                <a:extLst>
                  <a:ext uri="{0D108BD9-81ED-4DB2-BD59-A6C34878D82A}">
                    <a16:rowId xmlns:a16="http://schemas.microsoft.com/office/drawing/2014/main" val="1793349977"/>
                  </a:ext>
                </a:extLst>
              </a:tr>
              <a:tr h="370840">
                <a:tc>
                  <a:txBody>
                    <a:bodyPr/>
                    <a:lstStyle/>
                    <a:p>
                      <a:r>
                        <a:rPr lang="en-US" dirty="0"/>
                        <a:t>Prefers cats</a:t>
                      </a:r>
                    </a:p>
                  </a:txBody>
                  <a:tcPr/>
                </a:tc>
                <a:tc>
                  <a:txBody>
                    <a:bodyPr/>
                    <a:lstStyle/>
                    <a:p>
                      <a:pPr algn="ctr"/>
                      <a:r>
                        <a:rPr lang="en-US" dirty="0"/>
                        <a:t>70</a:t>
                      </a:r>
                    </a:p>
                  </a:txBody>
                  <a:tcPr/>
                </a:tc>
                <a:tc>
                  <a:txBody>
                    <a:bodyPr/>
                    <a:lstStyle/>
                    <a:p>
                      <a:pPr algn="ctr"/>
                      <a:r>
                        <a:rPr lang="en-US" dirty="0"/>
                        <a:t>110</a:t>
                      </a:r>
                    </a:p>
                  </a:txBody>
                  <a:tcPr/>
                </a:tc>
                <a:tc>
                  <a:txBody>
                    <a:bodyPr/>
                    <a:lstStyle/>
                    <a:p>
                      <a:pPr algn="ctr"/>
                      <a:r>
                        <a:rPr lang="en-US" dirty="0"/>
                        <a:t>180</a:t>
                      </a:r>
                    </a:p>
                  </a:txBody>
                  <a:tcPr/>
                </a:tc>
                <a:extLst>
                  <a:ext uri="{0D108BD9-81ED-4DB2-BD59-A6C34878D82A}">
                    <a16:rowId xmlns:a16="http://schemas.microsoft.com/office/drawing/2014/main" val="492846133"/>
                  </a:ext>
                </a:extLst>
              </a:tr>
              <a:tr h="370840">
                <a:tc>
                  <a:txBody>
                    <a:bodyPr/>
                    <a:lstStyle/>
                    <a:p>
                      <a:r>
                        <a:rPr lang="en-US" dirty="0"/>
                        <a:t>No preference</a:t>
                      </a:r>
                    </a:p>
                  </a:txBody>
                  <a:tcPr/>
                </a:tc>
                <a:tc>
                  <a:txBody>
                    <a:bodyPr/>
                    <a:lstStyle/>
                    <a:p>
                      <a:pPr algn="ctr"/>
                      <a:r>
                        <a:rPr lang="en-US" dirty="0"/>
                        <a:t>10</a:t>
                      </a:r>
                    </a:p>
                  </a:txBody>
                  <a:tcPr/>
                </a:tc>
                <a:tc>
                  <a:txBody>
                    <a:bodyPr/>
                    <a:lstStyle/>
                    <a:p>
                      <a:pPr algn="ctr"/>
                      <a:r>
                        <a:rPr lang="en-US" dirty="0"/>
                        <a:t>25</a:t>
                      </a:r>
                    </a:p>
                  </a:txBody>
                  <a:tcPr/>
                </a:tc>
                <a:tc>
                  <a:txBody>
                    <a:bodyPr/>
                    <a:lstStyle/>
                    <a:p>
                      <a:pPr algn="ctr"/>
                      <a:r>
                        <a:rPr lang="en-US" dirty="0"/>
                        <a:t>35</a:t>
                      </a:r>
                    </a:p>
                  </a:txBody>
                  <a:tcPr/>
                </a:tc>
                <a:extLst>
                  <a:ext uri="{0D108BD9-81ED-4DB2-BD59-A6C34878D82A}">
                    <a16:rowId xmlns:a16="http://schemas.microsoft.com/office/drawing/2014/main" val="1647842899"/>
                  </a:ext>
                </a:extLst>
              </a:tr>
              <a:tr h="370840">
                <a:tc>
                  <a:txBody>
                    <a:bodyPr/>
                    <a:lstStyle/>
                    <a:p>
                      <a:r>
                        <a:rPr lang="en-US" dirty="0"/>
                        <a:t>Total</a:t>
                      </a:r>
                    </a:p>
                  </a:txBody>
                  <a:tcPr/>
                </a:tc>
                <a:tc>
                  <a:txBody>
                    <a:bodyPr/>
                    <a:lstStyle/>
                    <a:p>
                      <a:pPr algn="ctr"/>
                      <a:r>
                        <a:rPr lang="en-US" dirty="0"/>
                        <a:t>200</a:t>
                      </a:r>
                    </a:p>
                  </a:txBody>
                  <a:tcPr/>
                </a:tc>
                <a:tc>
                  <a:txBody>
                    <a:bodyPr/>
                    <a:lstStyle/>
                    <a:p>
                      <a:pPr algn="ctr"/>
                      <a:r>
                        <a:rPr lang="en-US" dirty="0"/>
                        <a:t>200</a:t>
                      </a:r>
                    </a:p>
                  </a:txBody>
                  <a:tcPr/>
                </a:tc>
                <a:tc>
                  <a:txBody>
                    <a:bodyPr/>
                    <a:lstStyle/>
                    <a:p>
                      <a:pPr algn="ctr"/>
                      <a:r>
                        <a:rPr lang="en-US" dirty="0"/>
                        <a:t>n = 400</a:t>
                      </a:r>
                    </a:p>
                  </a:txBody>
                  <a:tcPr/>
                </a:tc>
                <a:extLst>
                  <a:ext uri="{0D108BD9-81ED-4DB2-BD59-A6C34878D82A}">
                    <a16:rowId xmlns:a16="http://schemas.microsoft.com/office/drawing/2014/main" val="4151930264"/>
                  </a:ext>
                </a:extLst>
              </a:tr>
            </a:tbl>
          </a:graphicData>
        </a:graphic>
      </p:graphicFrame>
    </p:spTree>
    <p:extLst>
      <p:ext uri="{BB962C8B-B14F-4D97-AF65-F5344CB8AC3E}">
        <p14:creationId xmlns:p14="http://schemas.microsoft.com/office/powerpoint/2010/main" val="1969338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97C1EE-8FE0-B025-BA07-331930C932A9}"/>
              </a:ext>
            </a:extLst>
          </p:cNvPr>
          <p:cNvSpPr>
            <a:spLocks noGrp="1"/>
          </p:cNvSpPr>
          <p:nvPr>
            <p:ph idx="1"/>
          </p:nvPr>
        </p:nvSpPr>
        <p:spPr>
          <a:xfrm>
            <a:off x="558800" y="467360"/>
            <a:ext cx="11115040" cy="5840312"/>
          </a:xfrm>
        </p:spPr>
        <p:txBody>
          <a:bodyPr/>
          <a:lstStyle/>
          <a:p>
            <a:pPr marL="0" indent="0">
              <a:buNone/>
            </a:pPr>
            <a:r>
              <a:rPr lang="en-US" b="1" dirty="0"/>
              <a:t>Solution:</a:t>
            </a:r>
          </a:p>
          <a:p>
            <a:pPr marL="0" indent="0">
              <a:buNone/>
            </a:pPr>
            <a:r>
              <a:rPr lang="en-US" dirty="0"/>
              <a:t>Event D = Prefers dogs	Event M = randomly selected student is a male</a:t>
            </a:r>
          </a:p>
          <a:p>
            <a:pPr marL="0" indent="0">
              <a:buNone/>
            </a:pPr>
            <a:r>
              <a:rPr lang="en-US" dirty="0"/>
              <a:t>Event C = Prefers cats	Event F = randomly selected student is a female</a:t>
            </a:r>
          </a:p>
          <a:p>
            <a:pPr marL="342900" indent="-342900">
              <a:buAutoNum type="alphaLcParenBoth"/>
            </a:pPr>
            <a:r>
              <a:rPr lang="en-US" dirty="0"/>
              <a:t>Events of ‘prefers dogs’ and ‘prefers cats’ are not mutually exclusive, because a same person may prefers both pets.</a:t>
            </a:r>
          </a:p>
          <a:p>
            <a:pPr marL="342900" indent="-342900">
              <a:buAutoNum type="alphaLcParenBoth"/>
            </a:pPr>
            <a:r>
              <a:rPr lang="en-US" dirty="0"/>
              <a:t>P(D) = f/n = 185/400 = 0.4625</a:t>
            </a:r>
          </a:p>
          <a:p>
            <a:pPr marL="342900" indent="-342900">
              <a:buAutoNum type="alphaLcParenBoth"/>
            </a:pPr>
            <a:r>
              <a:rPr lang="en-US" dirty="0"/>
              <a:t>P (D or F) = P(D) + P(F) -  P (D and F) = 185/400 + 200/400 – 65/400 = </a:t>
            </a:r>
          </a:p>
          <a:p>
            <a:pPr marL="342900" indent="-342900">
              <a:buAutoNum type="alphaLcParenBoth"/>
            </a:pPr>
            <a:r>
              <a:rPr lang="en-US" dirty="0"/>
              <a:t>P (C/M) = P (C and M)/ P(M) = 70/400 / 200/400 = </a:t>
            </a:r>
          </a:p>
          <a:p>
            <a:pPr marL="342900" indent="-342900">
              <a:buAutoNum type="alphaLcParenBoth"/>
            </a:pPr>
            <a:r>
              <a:rPr lang="en-US" dirty="0"/>
              <a:t>Since P (D/M) = 120/200 = 0.6 and P(D/F) = 65/200 = 0.325. It means that male is twice as likely to prefer dog than female. Hence, preference of dog is dependent on gender. </a:t>
            </a:r>
          </a:p>
          <a:p>
            <a:pPr marL="0" indent="0">
              <a:buNone/>
            </a:pPr>
            <a:r>
              <a:rPr lang="en-US" dirty="0"/>
              <a:t>     Further, </a:t>
            </a:r>
          </a:p>
          <a:p>
            <a:pPr marL="0" indent="0">
              <a:buNone/>
            </a:pPr>
            <a:r>
              <a:rPr lang="en-US" dirty="0"/>
              <a:t>	P(F and D) = 65/400 = 0.1625</a:t>
            </a:r>
          </a:p>
          <a:p>
            <a:pPr marL="0" indent="0">
              <a:buNone/>
            </a:pPr>
            <a:r>
              <a:rPr lang="en-US" dirty="0"/>
              <a:t>      and</a:t>
            </a:r>
          </a:p>
          <a:p>
            <a:pPr marL="0" indent="0">
              <a:buNone/>
            </a:pPr>
            <a:r>
              <a:rPr lang="en-US" dirty="0"/>
              <a:t>	P(F) . P(D) = 200/400 x 185/400 = 0.23125</a:t>
            </a:r>
          </a:p>
          <a:p>
            <a:pPr marL="0" indent="0">
              <a:buNone/>
            </a:pPr>
            <a:r>
              <a:rPr lang="en-US" dirty="0"/>
              <a:t>       Hence, we can say event of student being female and preferring dog are not independent.</a:t>
            </a:r>
          </a:p>
          <a:p>
            <a:pPr marL="342900" indent="-342900">
              <a:buAutoNum type="alphaLcParenBoth"/>
            </a:pPr>
            <a:endParaRPr lang="en-US" dirty="0"/>
          </a:p>
          <a:p>
            <a:pPr marL="342900" indent="-342900">
              <a:buAutoNum type="alphaLcParenBoth"/>
            </a:pPr>
            <a:endParaRPr lang="en-US" dirty="0"/>
          </a:p>
        </p:txBody>
      </p:sp>
      <p:sp>
        <p:nvSpPr>
          <p:cNvPr id="4" name="Footer Placeholder 3">
            <a:extLst>
              <a:ext uri="{FF2B5EF4-FFF2-40B4-BE49-F238E27FC236}">
                <a16:creationId xmlns:a16="http://schemas.microsoft.com/office/drawing/2014/main" id="{EC9EA107-538C-9833-83C7-25E996384DBB}"/>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3472015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6D97E-ABB5-41AD-AA20-CB0893A5FF79}"/>
              </a:ext>
            </a:extLst>
          </p:cNvPr>
          <p:cNvSpPr>
            <a:spLocks noGrp="1"/>
          </p:cNvSpPr>
          <p:nvPr>
            <p:ph idx="1"/>
          </p:nvPr>
        </p:nvSpPr>
        <p:spPr>
          <a:xfrm>
            <a:off x="785004" y="629728"/>
            <a:ext cx="10765766" cy="5443268"/>
          </a:xfrm>
        </p:spPr>
        <p:txBody>
          <a:bodyPr>
            <a:normAutofit fontScale="92500" lnSpcReduction="10000"/>
          </a:bodyPr>
          <a:lstStyle/>
          <a:p>
            <a:pPr marL="0" indent="0">
              <a:buNone/>
            </a:pPr>
            <a:r>
              <a:rPr lang="en-US" sz="2200" b="1" i="0" dirty="0">
                <a:solidFill>
                  <a:srgbClr val="00B0F0"/>
                </a:solidFill>
                <a:effectLst/>
                <a:latin typeface="Lato"/>
              </a:rPr>
              <a:t>Example</a:t>
            </a:r>
            <a:r>
              <a:rPr lang="en-US" sz="2200" b="0" i="0" dirty="0">
                <a:solidFill>
                  <a:srgbClr val="333333"/>
                </a:solidFill>
                <a:effectLst/>
                <a:latin typeface="Lato"/>
              </a:rPr>
              <a:t>: In a survey conducted by a college both full time and part-time, students were asked how often they had visited the college’s tutoring center in the last two months. The results may be represented as follows:</a:t>
            </a:r>
          </a:p>
          <a:p>
            <a:pPr marL="0" indent="0">
              <a:buNone/>
            </a:pPr>
            <a:endParaRPr lang="en-US" dirty="0">
              <a:solidFill>
                <a:srgbClr val="333333"/>
              </a:solidFill>
              <a:latin typeface="Lato"/>
            </a:endParaRPr>
          </a:p>
          <a:p>
            <a:pPr marL="0" indent="0">
              <a:buNone/>
            </a:pPr>
            <a:endParaRPr lang="en-US" b="0" i="0" dirty="0">
              <a:solidFill>
                <a:srgbClr val="333333"/>
              </a:solidFill>
              <a:effectLst/>
              <a:latin typeface="Lato"/>
            </a:endParaRPr>
          </a:p>
          <a:p>
            <a:pPr marL="0" indent="0">
              <a:buNone/>
            </a:pPr>
            <a:endParaRPr lang="en-US" dirty="0">
              <a:solidFill>
                <a:srgbClr val="333333"/>
              </a:solidFill>
              <a:latin typeface="Lato"/>
            </a:endParaRPr>
          </a:p>
          <a:p>
            <a:pPr marL="0" indent="0">
              <a:buNone/>
            </a:pPr>
            <a:endParaRPr lang="en-US" b="0" i="0" dirty="0">
              <a:solidFill>
                <a:srgbClr val="333333"/>
              </a:solidFill>
              <a:effectLst/>
              <a:latin typeface="Lato"/>
            </a:endParaRPr>
          </a:p>
          <a:p>
            <a:pPr marL="0" indent="0">
              <a:buNone/>
            </a:pPr>
            <a:endParaRPr lang="en-US" dirty="0">
              <a:solidFill>
                <a:srgbClr val="333333"/>
              </a:solidFill>
              <a:latin typeface="Lato"/>
            </a:endParaRPr>
          </a:p>
          <a:p>
            <a:pPr marL="0" indent="0">
              <a:buNone/>
            </a:pPr>
            <a:endParaRPr lang="en-US" b="0" i="0" dirty="0">
              <a:solidFill>
                <a:srgbClr val="333333"/>
              </a:solidFill>
              <a:effectLst/>
              <a:latin typeface="Lato"/>
            </a:endParaRPr>
          </a:p>
          <a:p>
            <a:pPr marL="0" indent="0">
              <a:buNone/>
            </a:pPr>
            <a:endParaRPr lang="en-US" b="0" i="0" dirty="0">
              <a:solidFill>
                <a:srgbClr val="333333"/>
              </a:solidFill>
              <a:effectLst/>
              <a:latin typeface="Lato"/>
            </a:endParaRPr>
          </a:p>
          <a:p>
            <a:pPr marL="342900" indent="-342900">
              <a:buAutoNum type="alphaLcParenBoth"/>
            </a:pPr>
            <a:r>
              <a:rPr lang="en-US" dirty="0">
                <a:solidFill>
                  <a:srgbClr val="333333"/>
                </a:solidFill>
                <a:latin typeface="Lato"/>
              </a:rPr>
              <a:t>What is the probability the student visited the tutoring center four or more times, given that the student is full time? </a:t>
            </a:r>
          </a:p>
          <a:p>
            <a:pPr marL="342900" indent="-342900">
              <a:buAutoNum type="alphaLcParenBoth"/>
            </a:pPr>
            <a:r>
              <a:rPr lang="en-US" b="0" i="0" dirty="0">
                <a:solidFill>
                  <a:srgbClr val="333333"/>
                </a:solidFill>
                <a:effectLst/>
                <a:latin typeface="Lato"/>
              </a:rPr>
              <a:t>Suppose that a student is part-time. What is the probability that the student visited the tutoring center one or fewer times?</a:t>
            </a:r>
          </a:p>
          <a:p>
            <a:pPr marL="342900" indent="-342900">
              <a:buAutoNum type="alphaLcParenBoth"/>
            </a:pPr>
            <a:r>
              <a:rPr lang="en-US" b="0" i="0" dirty="0">
                <a:solidFill>
                  <a:srgbClr val="333333"/>
                </a:solidFill>
                <a:effectLst/>
                <a:latin typeface="Lato"/>
              </a:rPr>
              <a:t>If the student visited the tutoring center four or more times, what is the probability he or she is a part-time student?</a:t>
            </a:r>
          </a:p>
          <a:p>
            <a:pPr marL="0" indent="0">
              <a:buNone/>
            </a:pPr>
            <a:endParaRPr lang="en-US" dirty="0"/>
          </a:p>
        </p:txBody>
      </p:sp>
      <p:sp>
        <p:nvSpPr>
          <p:cNvPr id="4" name="Footer Placeholder 3">
            <a:extLst>
              <a:ext uri="{FF2B5EF4-FFF2-40B4-BE49-F238E27FC236}">
                <a16:creationId xmlns:a16="http://schemas.microsoft.com/office/drawing/2014/main" id="{B2667F62-CC96-4710-9537-23E4F1786222}"/>
              </a:ext>
            </a:extLst>
          </p:cNvPr>
          <p:cNvSpPr>
            <a:spLocks noGrp="1"/>
          </p:cNvSpPr>
          <p:nvPr>
            <p:ph type="ftr" sz="quarter" idx="11"/>
          </p:nvPr>
        </p:nvSpPr>
        <p:spPr/>
        <p:txBody>
          <a:bodyPr/>
          <a:lstStyle/>
          <a:p>
            <a:r>
              <a:rPr lang="en-US"/>
              <a:t>Copy Right  (C)  Santosh Chhatkuli</a:t>
            </a:r>
            <a:endParaRPr lang="en-US" dirty="0"/>
          </a:p>
        </p:txBody>
      </p:sp>
      <p:graphicFrame>
        <p:nvGraphicFramePr>
          <p:cNvPr id="7" name="Table 7">
            <a:extLst>
              <a:ext uri="{FF2B5EF4-FFF2-40B4-BE49-F238E27FC236}">
                <a16:creationId xmlns:a16="http://schemas.microsoft.com/office/drawing/2014/main" id="{97CE1668-BCCB-47A8-A0B4-FE3BCAC4843A}"/>
              </a:ext>
            </a:extLst>
          </p:cNvPr>
          <p:cNvGraphicFramePr>
            <a:graphicFrameLocks noGrp="1"/>
          </p:cNvGraphicFramePr>
          <p:nvPr>
            <p:extLst>
              <p:ext uri="{D42A27DB-BD31-4B8C-83A1-F6EECF244321}">
                <p14:modId xmlns:p14="http://schemas.microsoft.com/office/powerpoint/2010/main" val="3901953574"/>
              </p:ext>
            </p:extLst>
          </p:nvPr>
        </p:nvGraphicFramePr>
        <p:xfrm>
          <a:off x="1186612" y="1678317"/>
          <a:ext cx="6637545" cy="2062480"/>
        </p:xfrm>
        <a:graphic>
          <a:graphicData uri="http://schemas.openxmlformats.org/drawingml/2006/table">
            <a:tbl>
              <a:tblPr firstRow="1" bandRow="1">
                <a:tableStyleId>{BC89EF96-8CEA-46FF-86C4-4CE0E7609802}</a:tableStyleId>
              </a:tblPr>
              <a:tblGrid>
                <a:gridCol w="1327509">
                  <a:extLst>
                    <a:ext uri="{9D8B030D-6E8A-4147-A177-3AD203B41FA5}">
                      <a16:colId xmlns:a16="http://schemas.microsoft.com/office/drawing/2014/main" val="643060068"/>
                    </a:ext>
                  </a:extLst>
                </a:gridCol>
                <a:gridCol w="1327509">
                  <a:extLst>
                    <a:ext uri="{9D8B030D-6E8A-4147-A177-3AD203B41FA5}">
                      <a16:colId xmlns:a16="http://schemas.microsoft.com/office/drawing/2014/main" val="2672126268"/>
                    </a:ext>
                  </a:extLst>
                </a:gridCol>
                <a:gridCol w="1327509">
                  <a:extLst>
                    <a:ext uri="{9D8B030D-6E8A-4147-A177-3AD203B41FA5}">
                      <a16:colId xmlns:a16="http://schemas.microsoft.com/office/drawing/2014/main" val="3812193708"/>
                    </a:ext>
                  </a:extLst>
                </a:gridCol>
                <a:gridCol w="1327509">
                  <a:extLst>
                    <a:ext uri="{9D8B030D-6E8A-4147-A177-3AD203B41FA5}">
                      <a16:colId xmlns:a16="http://schemas.microsoft.com/office/drawing/2014/main" val="464586235"/>
                    </a:ext>
                  </a:extLst>
                </a:gridCol>
                <a:gridCol w="1327509">
                  <a:extLst>
                    <a:ext uri="{9D8B030D-6E8A-4147-A177-3AD203B41FA5}">
                      <a16:colId xmlns:a16="http://schemas.microsoft.com/office/drawing/2014/main" val="1555710969"/>
                    </a:ext>
                  </a:extLst>
                </a:gridCol>
              </a:tblGrid>
              <a:tr h="370840">
                <a:tc rowSpan="2">
                  <a:txBody>
                    <a:bodyPr/>
                    <a:lstStyle/>
                    <a:p>
                      <a:r>
                        <a:rPr lang="en-US" sz="1600" dirty="0"/>
                        <a:t>Types of students</a:t>
                      </a:r>
                    </a:p>
                  </a:txBody>
                  <a:tcPr/>
                </a:tc>
                <a:tc gridSpan="4">
                  <a:txBody>
                    <a:bodyPr/>
                    <a:lstStyle/>
                    <a:p>
                      <a:r>
                        <a:rPr lang="en-US" sz="1600" dirty="0"/>
                        <a:t>Number of times students visited tutoring</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710987886"/>
                  </a:ext>
                </a:extLst>
              </a:tr>
              <a:tr h="370840">
                <a:tc vMerge="1">
                  <a:txBody>
                    <a:bodyPr/>
                    <a:lstStyle/>
                    <a:p>
                      <a:endParaRPr lang="en-US" dirty="0"/>
                    </a:p>
                  </a:txBody>
                  <a:tcPr/>
                </a:tc>
                <a:tc>
                  <a:txBody>
                    <a:bodyPr/>
                    <a:lstStyle/>
                    <a:p>
                      <a:r>
                        <a:rPr lang="en-US" sz="1600" dirty="0"/>
                        <a:t>One or fewer times</a:t>
                      </a:r>
                    </a:p>
                  </a:txBody>
                  <a:tcPr/>
                </a:tc>
                <a:tc>
                  <a:txBody>
                    <a:bodyPr/>
                    <a:lstStyle/>
                    <a:p>
                      <a:r>
                        <a:rPr lang="en-US" sz="1600" dirty="0"/>
                        <a:t>Two to three times</a:t>
                      </a:r>
                    </a:p>
                  </a:txBody>
                  <a:tcPr/>
                </a:tc>
                <a:tc>
                  <a:txBody>
                    <a:bodyPr/>
                    <a:lstStyle/>
                    <a:p>
                      <a:r>
                        <a:rPr lang="en-US" sz="1600" dirty="0"/>
                        <a:t>Four or more times</a:t>
                      </a:r>
                    </a:p>
                  </a:txBody>
                  <a:tcPr/>
                </a:tc>
                <a:tc>
                  <a:txBody>
                    <a:bodyPr/>
                    <a:lstStyle/>
                    <a:p>
                      <a:r>
                        <a:rPr lang="en-US" sz="1600" dirty="0"/>
                        <a:t>Total</a:t>
                      </a:r>
                    </a:p>
                  </a:txBody>
                  <a:tcPr/>
                </a:tc>
                <a:extLst>
                  <a:ext uri="{0D108BD9-81ED-4DB2-BD59-A6C34878D82A}">
                    <a16:rowId xmlns:a16="http://schemas.microsoft.com/office/drawing/2014/main" val="2462502239"/>
                  </a:ext>
                </a:extLst>
              </a:tr>
              <a:tr h="370840">
                <a:tc>
                  <a:txBody>
                    <a:bodyPr/>
                    <a:lstStyle/>
                    <a:p>
                      <a:r>
                        <a:rPr lang="en-US" sz="1600" dirty="0"/>
                        <a:t>Full time</a:t>
                      </a:r>
                    </a:p>
                  </a:txBody>
                  <a:tcPr/>
                </a:tc>
                <a:tc>
                  <a:txBody>
                    <a:bodyPr/>
                    <a:lstStyle/>
                    <a:p>
                      <a:pPr algn="ctr"/>
                      <a:r>
                        <a:rPr lang="en-US" sz="1600" dirty="0"/>
                        <a:t>12</a:t>
                      </a:r>
                    </a:p>
                  </a:txBody>
                  <a:tcPr/>
                </a:tc>
                <a:tc>
                  <a:txBody>
                    <a:bodyPr/>
                    <a:lstStyle/>
                    <a:p>
                      <a:pPr algn="ctr"/>
                      <a:r>
                        <a:rPr lang="en-US" sz="1600" dirty="0"/>
                        <a:t>25</a:t>
                      </a:r>
                    </a:p>
                  </a:txBody>
                  <a:tcPr/>
                </a:tc>
                <a:tc>
                  <a:txBody>
                    <a:bodyPr/>
                    <a:lstStyle/>
                    <a:p>
                      <a:pPr algn="ctr"/>
                      <a:r>
                        <a:rPr lang="en-US" sz="1600" dirty="0"/>
                        <a:t>8</a:t>
                      </a:r>
                    </a:p>
                  </a:txBody>
                  <a:tcPr/>
                </a:tc>
                <a:tc>
                  <a:txBody>
                    <a:bodyPr/>
                    <a:lstStyle/>
                    <a:p>
                      <a:pPr algn="ctr"/>
                      <a:r>
                        <a:rPr lang="en-US" sz="1600" dirty="0"/>
                        <a:t>45</a:t>
                      </a:r>
                    </a:p>
                  </a:txBody>
                  <a:tcPr/>
                </a:tc>
                <a:extLst>
                  <a:ext uri="{0D108BD9-81ED-4DB2-BD59-A6C34878D82A}">
                    <a16:rowId xmlns:a16="http://schemas.microsoft.com/office/drawing/2014/main" val="762607252"/>
                  </a:ext>
                </a:extLst>
              </a:tr>
              <a:tr h="370840">
                <a:tc>
                  <a:txBody>
                    <a:bodyPr/>
                    <a:lstStyle/>
                    <a:p>
                      <a:r>
                        <a:rPr lang="en-US" sz="1600" dirty="0"/>
                        <a:t>Part time</a:t>
                      </a:r>
                    </a:p>
                  </a:txBody>
                  <a:tcPr/>
                </a:tc>
                <a:tc>
                  <a:txBody>
                    <a:bodyPr/>
                    <a:lstStyle/>
                    <a:p>
                      <a:pPr algn="ctr"/>
                      <a:r>
                        <a:rPr lang="en-US" sz="1600" dirty="0"/>
                        <a:t>2</a:t>
                      </a:r>
                    </a:p>
                  </a:txBody>
                  <a:tcPr/>
                </a:tc>
                <a:tc>
                  <a:txBody>
                    <a:bodyPr/>
                    <a:lstStyle/>
                    <a:p>
                      <a:pPr algn="ctr"/>
                      <a:r>
                        <a:rPr lang="en-US" sz="1600" dirty="0"/>
                        <a:t>5</a:t>
                      </a:r>
                    </a:p>
                  </a:txBody>
                  <a:tcPr/>
                </a:tc>
                <a:tc>
                  <a:txBody>
                    <a:bodyPr/>
                    <a:lstStyle/>
                    <a:p>
                      <a:pPr algn="ctr"/>
                      <a:r>
                        <a:rPr lang="en-US" sz="1600" dirty="0"/>
                        <a:t>6</a:t>
                      </a:r>
                    </a:p>
                  </a:txBody>
                  <a:tcPr/>
                </a:tc>
                <a:tc>
                  <a:txBody>
                    <a:bodyPr/>
                    <a:lstStyle/>
                    <a:p>
                      <a:pPr algn="ctr"/>
                      <a:r>
                        <a:rPr lang="en-US" sz="1600" dirty="0"/>
                        <a:t>13</a:t>
                      </a:r>
                    </a:p>
                  </a:txBody>
                  <a:tcPr/>
                </a:tc>
                <a:extLst>
                  <a:ext uri="{0D108BD9-81ED-4DB2-BD59-A6C34878D82A}">
                    <a16:rowId xmlns:a16="http://schemas.microsoft.com/office/drawing/2014/main" val="2157797605"/>
                  </a:ext>
                </a:extLst>
              </a:tr>
              <a:tr h="370840">
                <a:tc>
                  <a:txBody>
                    <a:bodyPr/>
                    <a:lstStyle/>
                    <a:p>
                      <a:r>
                        <a:rPr lang="en-US" sz="1600" dirty="0"/>
                        <a:t>Total</a:t>
                      </a:r>
                    </a:p>
                  </a:txBody>
                  <a:tcPr/>
                </a:tc>
                <a:tc>
                  <a:txBody>
                    <a:bodyPr/>
                    <a:lstStyle/>
                    <a:p>
                      <a:pPr algn="ctr"/>
                      <a:r>
                        <a:rPr lang="en-US" sz="1600" dirty="0"/>
                        <a:t>14</a:t>
                      </a:r>
                    </a:p>
                  </a:txBody>
                  <a:tcPr/>
                </a:tc>
                <a:tc>
                  <a:txBody>
                    <a:bodyPr/>
                    <a:lstStyle/>
                    <a:p>
                      <a:pPr algn="ctr"/>
                      <a:r>
                        <a:rPr lang="en-US" sz="1600" dirty="0"/>
                        <a:t>30</a:t>
                      </a:r>
                    </a:p>
                  </a:txBody>
                  <a:tcPr/>
                </a:tc>
                <a:tc>
                  <a:txBody>
                    <a:bodyPr/>
                    <a:lstStyle/>
                    <a:p>
                      <a:pPr algn="ctr"/>
                      <a:r>
                        <a:rPr lang="en-US" sz="1600" dirty="0"/>
                        <a:t>14</a:t>
                      </a:r>
                    </a:p>
                  </a:txBody>
                  <a:tcPr/>
                </a:tc>
                <a:tc>
                  <a:txBody>
                    <a:bodyPr/>
                    <a:lstStyle/>
                    <a:p>
                      <a:pPr algn="ctr"/>
                      <a:r>
                        <a:rPr lang="en-US" sz="1600" dirty="0"/>
                        <a:t>n = 58</a:t>
                      </a:r>
                    </a:p>
                  </a:txBody>
                  <a:tcPr/>
                </a:tc>
                <a:extLst>
                  <a:ext uri="{0D108BD9-81ED-4DB2-BD59-A6C34878D82A}">
                    <a16:rowId xmlns:a16="http://schemas.microsoft.com/office/drawing/2014/main" val="2052932372"/>
                  </a:ext>
                </a:extLst>
              </a:tr>
            </a:tbl>
          </a:graphicData>
        </a:graphic>
      </p:graphicFrame>
      <p:graphicFrame>
        <p:nvGraphicFramePr>
          <p:cNvPr id="2" name="Object 1">
            <a:extLst>
              <a:ext uri="{FF2B5EF4-FFF2-40B4-BE49-F238E27FC236}">
                <a16:creationId xmlns:a16="http://schemas.microsoft.com/office/drawing/2014/main" id="{7D87C9E2-0F25-4750-84E4-B78F6922F030}"/>
              </a:ext>
            </a:extLst>
          </p:cNvPr>
          <p:cNvGraphicFramePr>
            <a:graphicFrameLocks noChangeAspect="1"/>
          </p:cNvGraphicFramePr>
          <p:nvPr>
            <p:extLst>
              <p:ext uri="{D42A27DB-BD31-4B8C-83A1-F6EECF244321}">
                <p14:modId xmlns:p14="http://schemas.microsoft.com/office/powerpoint/2010/main" val="3228828858"/>
              </p:ext>
            </p:extLst>
          </p:nvPr>
        </p:nvGraphicFramePr>
        <p:xfrm>
          <a:off x="6146800" y="3352800"/>
          <a:ext cx="914400" cy="19843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0" name=""/>
                      <p:cNvPicPr/>
                      <p:nvPr/>
                    </p:nvPicPr>
                    <p:blipFill>
                      <a:blip r:embed="rId3"/>
                      <a:stretch>
                        <a:fillRect/>
                      </a:stretch>
                    </p:blipFill>
                    <p:spPr>
                      <a:xfrm>
                        <a:off x="6146800" y="3352800"/>
                        <a:ext cx="914400" cy="198438"/>
                      </a:xfrm>
                      <a:prstGeom prst="rect">
                        <a:avLst/>
                      </a:prstGeom>
                    </p:spPr>
                  </p:pic>
                </p:oleObj>
              </mc:Fallback>
            </mc:AlternateContent>
          </a:graphicData>
        </a:graphic>
      </p:graphicFrame>
    </p:spTree>
    <p:extLst>
      <p:ext uri="{BB962C8B-B14F-4D97-AF65-F5344CB8AC3E}">
        <p14:creationId xmlns:p14="http://schemas.microsoft.com/office/powerpoint/2010/main" val="2559667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7C749-F9AA-473E-B73C-0DDCBA2853AB}"/>
              </a:ext>
            </a:extLst>
          </p:cNvPr>
          <p:cNvSpPr>
            <a:spLocks noGrp="1"/>
          </p:cNvSpPr>
          <p:nvPr>
            <p:ph type="title"/>
          </p:nvPr>
        </p:nvSpPr>
        <p:spPr>
          <a:xfrm>
            <a:off x="681487" y="416545"/>
            <a:ext cx="10058400" cy="366697"/>
          </a:xfrm>
        </p:spPr>
        <p:txBody>
          <a:bodyPr>
            <a:normAutofit/>
          </a:bodyPr>
          <a:lstStyle/>
          <a:p>
            <a:r>
              <a:rPr lang="en-US" sz="2000" b="1" dirty="0"/>
              <a:t>Rules of counting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A739BC-CF82-47A0-AD56-E05B54628D7D}"/>
                  </a:ext>
                </a:extLst>
              </p:cNvPr>
              <p:cNvSpPr>
                <a:spLocks noGrp="1"/>
              </p:cNvSpPr>
              <p:nvPr>
                <p:ph idx="1"/>
              </p:nvPr>
            </p:nvSpPr>
            <p:spPr>
              <a:xfrm>
                <a:off x="569343" y="940280"/>
                <a:ext cx="11015932" cy="5296618"/>
              </a:xfrm>
            </p:spPr>
            <p:txBody>
              <a:bodyPr>
                <a:normAutofit fontScale="62500" lnSpcReduction="20000"/>
              </a:bodyPr>
              <a:lstStyle/>
              <a:p>
                <a:pPr marL="0" indent="0">
                  <a:buNone/>
                </a:pPr>
                <a:r>
                  <a:rPr lang="en-US" sz="4000" b="1" dirty="0">
                    <a:solidFill>
                      <a:srgbClr val="00B0F0"/>
                    </a:solidFill>
                  </a:rPr>
                  <a:t>Rule 1</a:t>
                </a:r>
                <a:r>
                  <a:rPr lang="en-US" sz="4000" dirty="0"/>
                  <a:t>: If any one of n different mutually exclusive events can occur on each of r trials, the number of possible outcomes = </a:t>
                </a:r>
                <a14:m>
                  <m:oMath xmlns:m="http://schemas.openxmlformats.org/officeDocument/2006/math">
                    <m:sSup>
                      <m:sSupPr>
                        <m:ctrlPr>
                          <a:rPr lang="en-US" sz="4000" i="1" smtClean="0">
                            <a:latin typeface="Cambria Math" panose="02040503050406030204" pitchFamily="18" charset="0"/>
                          </a:rPr>
                        </m:ctrlPr>
                      </m:sSupPr>
                      <m:e>
                        <m:r>
                          <a:rPr lang="en-US" sz="4000" b="0" i="1" smtClean="0">
                            <a:latin typeface="Cambria Math" panose="02040503050406030204" pitchFamily="18" charset="0"/>
                          </a:rPr>
                          <m:t>𝑛</m:t>
                        </m:r>
                      </m:e>
                      <m:sup>
                        <m:r>
                          <a:rPr lang="en-US" sz="4000" b="0" i="1" smtClean="0">
                            <a:latin typeface="Cambria Math" panose="02040503050406030204" pitchFamily="18" charset="0"/>
                          </a:rPr>
                          <m:t>𝑟</m:t>
                        </m:r>
                      </m:sup>
                    </m:sSup>
                  </m:oMath>
                </a14:m>
                <a:endParaRPr lang="en-US" sz="4000" dirty="0"/>
              </a:p>
              <a:p>
                <a:pPr marL="0" indent="0">
                  <a:buNone/>
                </a:pPr>
                <a:r>
                  <a:rPr lang="en-US" sz="4000" dirty="0"/>
                  <a:t>Ex: </a:t>
                </a:r>
                <a:r>
                  <a:rPr lang="en-US" sz="4000" dirty="0">
                    <a:effectLst/>
                    <a:ea typeface="Times New Roman" panose="02020603050405020304" pitchFamily="18" charset="0"/>
                  </a:rPr>
                  <a:t>If a coin is tossed 10 times, how many outcomes are possible? </a:t>
                </a:r>
              </a:p>
              <a:p>
                <a:pPr marL="0" indent="0">
                  <a:buNone/>
                </a:pPr>
                <a:r>
                  <a:rPr lang="en-US" sz="4000" dirty="0">
                    <a:ea typeface="Times New Roman" panose="02020603050405020304" pitchFamily="18" charset="0"/>
                  </a:rPr>
                  <a:t>      Total no. of cases = </a:t>
                </a:r>
                <a:r>
                  <a:rPr lang="en-US" sz="4000" dirty="0">
                    <a:effectLst/>
                    <a:ea typeface="Times New Roman" panose="02020603050405020304" pitchFamily="18" charset="0"/>
                  </a:rPr>
                  <a:t>2</a:t>
                </a:r>
                <a:r>
                  <a:rPr lang="en-US" sz="4000" baseline="30000" dirty="0">
                    <a:ea typeface="Times New Roman" panose="02020603050405020304" pitchFamily="18" charset="0"/>
                  </a:rPr>
                  <a:t>10</a:t>
                </a:r>
                <a:r>
                  <a:rPr lang="en-US" sz="4000" dirty="0">
                    <a:ea typeface="Times New Roman" panose="02020603050405020304" pitchFamily="18" charset="0"/>
                  </a:rPr>
                  <a:t> </a:t>
                </a:r>
                <a:r>
                  <a:rPr lang="en-US" sz="4000" dirty="0">
                    <a:effectLst/>
                    <a:ea typeface="Times New Roman" panose="02020603050405020304" pitchFamily="18" charset="0"/>
                  </a:rPr>
                  <a:t>= 1024</a:t>
                </a:r>
              </a:p>
              <a:p>
                <a:pPr marL="0" indent="0">
                  <a:buNone/>
                </a:pPr>
                <a:r>
                  <a:rPr lang="en-US" sz="4000" dirty="0"/>
                  <a:t>Ex: </a:t>
                </a:r>
                <a:r>
                  <a:rPr lang="en-US" sz="4000" dirty="0">
                    <a:effectLst/>
                    <a:ea typeface="Times New Roman" panose="02020603050405020304" pitchFamily="18" charset="0"/>
                  </a:rPr>
                  <a:t>If a die is rolled twice, how many outcomes are possible? </a:t>
                </a:r>
              </a:p>
              <a:p>
                <a:pPr marL="0" indent="0">
                  <a:buNone/>
                </a:pPr>
                <a:r>
                  <a:rPr lang="en-US" sz="4000" dirty="0">
                    <a:ea typeface="Times New Roman" panose="02020603050405020304" pitchFamily="18" charset="0"/>
                  </a:rPr>
                  <a:t>      Total no. of cases = </a:t>
                </a:r>
                <a:r>
                  <a:rPr lang="en-US" sz="4000" dirty="0">
                    <a:effectLst/>
                    <a:ea typeface="Times New Roman" panose="02020603050405020304" pitchFamily="18" charset="0"/>
                  </a:rPr>
                  <a:t>6</a:t>
                </a:r>
                <a:r>
                  <a:rPr lang="en-US" sz="4000" baseline="30000" dirty="0">
                    <a:effectLst/>
                    <a:ea typeface="Times New Roman" panose="02020603050405020304" pitchFamily="18" charset="0"/>
                  </a:rPr>
                  <a:t>2</a:t>
                </a:r>
                <a:r>
                  <a:rPr lang="en-US" sz="4000" dirty="0">
                    <a:effectLst/>
                    <a:ea typeface="Times New Roman" panose="02020603050405020304" pitchFamily="18" charset="0"/>
                  </a:rPr>
                  <a:t> = 36</a:t>
                </a:r>
              </a:p>
              <a:p>
                <a:pPr marL="0" indent="0">
                  <a:buNone/>
                </a:pPr>
                <a:endParaRPr lang="en-US" sz="4000" b="1" dirty="0">
                  <a:solidFill>
                    <a:srgbClr val="00B0F0"/>
                  </a:solidFill>
                </a:endParaRPr>
              </a:p>
              <a:p>
                <a:pPr marL="0" indent="0">
                  <a:buNone/>
                </a:pPr>
                <a:r>
                  <a:rPr lang="en-US" sz="4000" b="1" dirty="0">
                    <a:solidFill>
                      <a:srgbClr val="00B0F0"/>
                    </a:solidFill>
                  </a:rPr>
                  <a:t>Rule 2</a:t>
                </a:r>
                <a:r>
                  <a:rPr lang="en-US" sz="4000" dirty="0"/>
                  <a:t>:  </a:t>
                </a:r>
                <a:r>
                  <a:rPr lang="en-US" sz="4000" dirty="0">
                    <a:effectLst/>
                    <a:ea typeface="Times New Roman" panose="02020603050405020304" pitchFamily="18" charset="0"/>
                  </a:rPr>
                  <a:t>If there are k</a:t>
                </a:r>
                <a:r>
                  <a:rPr lang="en-US" sz="4000" baseline="-25000" dirty="0">
                    <a:effectLst/>
                    <a:ea typeface="Times New Roman" panose="02020603050405020304" pitchFamily="18" charset="0"/>
                  </a:rPr>
                  <a:t>1 </a:t>
                </a:r>
                <a:r>
                  <a:rPr lang="en-US" sz="4000" dirty="0">
                    <a:effectLst/>
                    <a:ea typeface="Times New Roman" panose="02020603050405020304" pitchFamily="18" charset="0"/>
                  </a:rPr>
                  <a:t>event on the first trial, k</a:t>
                </a:r>
                <a:r>
                  <a:rPr lang="en-US" sz="4000" baseline="-25000" dirty="0">
                    <a:effectLst/>
                    <a:ea typeface="Times New Roman" panose="02020603050405020304" pitchFamily="18" charset="0"/>
                  </a:rPr>
                  <a:t>2</a:t>
                </a:r>
                <a:r>
                  <a:rPr lang="en-US" sz="4000" dirty="0">
                    <a:effectLst/>
                    <a:ea typeface="Times New Roman" panose="02020603050405020304" pitchFamily="18" charset="0"/>
                  </a:rPr>
                  <a:t> events on the second trial, …and </a:t>
                </a:r>
                <a:r>
                  <a:rPr lang="en-US" sz="4000" dirty="0" err="1">
                    <a:effectLst/>
                    <a:ea typeface="Times New Roman" panose="02020603050405020304" pitchFamily="18" charset="0"/>
                  </a:rPr>
                  <a:t>k</a:t>
                </a:r>
                <a:r>
                  <a:rPr lang="en-US" sz="4000" baseline="-25000" dirty="0" err="1">
                    <a:effectLst/>
                    <a:ea typeface="Times New Roman" panose="02020603050405020304" pitchFamily="18" charset="0"/>
                  </a:rPr>
                  <a:t>n</a:t>
                </a:r>
                <a:r>
                  <a:rPr lang="en-US" sz="4000" baseline="-25000" dirty="0">
                    <a:effectLst/>
                    <a:ea typeface="Times New Roman" panose="02020603050405020304" pitchFamily="18" charset="0"/>
                  </a:rPr>
                  <a:t> </a:t>
                </a:r>
                <a:r>
                  <a:rPr lang="en-US" sz="4000" dirty="0">
                    <a:effectLst/>
                    <a:ea typeface="Times New Roman" panose="02020603050405020304" pitchFamily="18" charset="0"/>
                  </a:rPr>
                  <a:t>events on the n</a:t>
                </a:r>
                <a:r>
                  <a:rPr lang="en-US" sz="4000" baseline="30000" dirty="0">
                    <a:effectLst/>
                    <a:ea typeface="Times New Roman" panose="02020603050405020304" pitchFamily="18" charset="0"/>
                  </a:rPr>
                  <a:t>th</a:t>
                </a:r>
                <a:r>
                  <a:rPr lang="en-US" sz="4000" dirty="0">
                    <a:effectLst/>
                    <a:ea typeface="Times New Roman" panose="02020603050405020304" pitchFamily="18" charset="0"/>
                  </a:rPr>
                  <a:t> trial, then number of possible outcomes = k</a:t>
                </a:r>
                <a:r>
                  <a:rPr lang="en-US" sz="4000" baseline="-25000" dirty="0">
                    <a:effectLst/>
                    <a:ea typeface="Times New Roman" panose="02020603050405020304" pitchFamily="18" charset="0"/>
                  </a:rPr>
                  <a:t>1 </a:t>
                </a:r>
                <a:r>
                  <a:rPr lang="en-US" sz="4000" dirty="0">
                    <a:effectLst/>
                    <a:ea typeface="Times New Roman" panose="02020603050405020304" pitchFamily="18" charset="0"/>
                  </a:rPr>
                  <a:t>x k</a:t>
                </a:r>
                <a:r>
                  <a:rPr lang="en-US" sz="4000" baseline="-25000" dirty="0">
                    <a:effectLst/>
                    <a:ea typeface="Times New Roman" panose="02020603050405020304" pitchFamily="18" charset="0"/>
                  </a:rPr>
                  <a:t>2</a:t>
                </a:r>
                <a:r>
                  <a:rPr lang="en-US" sz="4000" dirty="0">
                    <a:effectLst/>
                    <a:ea typeface="Times New Roman" panose="02020603050405020304" pitchFamily="18" charset="0"/>
                  </a:rPr>
                  <a:t> x …x </a:t>
                </a:r>
                <a:r>
                  <a:rPr lang="en-US" sz="4000" dirty="0" err="1">
                    <a:effectLst/>
                    <a:ea typeface="Times New Roman" panose="02020603050405020304" pitchFamily="18" charset="0"/>
                  </a:rPr>
                  <a:t>k</a:t>
                </a:r>
                <a:r>
                  <a:rPr lang="en-US" sz="4000" baseline="-25000" dirty="0" err="1">
                    <a:effectLst/>
                    <a:ea typeface="Times New Roman" panose="02020603050405020304" pitchFamily="18" charset="0"/>
                  </a:rPr>
                  <a:t>n</a:t>
                </a:r>
                <a:endParaRPr lang="en-US" sz="4000" dirty="0">
                  <a:effectLst/>
                  <a:ea typeface="Times New Roman" panose="02020603050405020304" pitchFamily="18" charset="0"/>
                </a:endParaRPr>
              </a:p>
              <a:p>
                <a:pPr marL="0" indent="0">
                  <a:buNone/>
                </a:pPr>
                <a:r>
                  <a:rPr lang="en-US" sz="4000" dirty="0"/>
                  <a:t>Ex: </a:t>
                </a:r>
                <a:r>
                  <a:rPr lang="en-US" sz="4000" dirty="0">
                    <a:effectLst/>
                    <a:ea typeface="Times New Roman" panose="02020603050405020304" pitchFamily="18" charset="0"/>
                  </a:rPr>
                  <a:t>A state motor vehicle department would like to know how many   license plate numbers would be available if the license plate consisted of three letters followed by three digits.</a:t>
                </a:r>
              </a:p>
              <a:p>
                <a:pPr marL="0" indent="0">
                  <a:buNone/>
                </a:pPr>
                <a:r>
                  <a:rPr lang="en-US" sz="4000" dirty="0">
                    <a:ea typeface="Times New Roman" panose="02020603050405020304" pitchFamily="18" charset="0"/>
                  </a:rPr>
                  <a:t>Total no. of arrangements: 26 x 26 x 26 x 10 x 10 x 10 = 17,576,000</a:t>
                </a:r>
                <a:endParaRPr lang="en-US" sz="4000" dirty="0">
                  <a:effectLst/>
                  <a:ea typeface="Times New Roman" panose="02020603050405020304" pitchFamily="18" charset="0"/>
                </a:endParaRPr>
              </a:p>
              <a:p>
                <a:pPr marL="0" indent="0">
                  <a:buNone/>
                </a:pPr>
                <a:endParaRPr lang="en-US" sz="1800" dirty="0">
                  <a:effectLst/>
                  <a:latin typeface="Calibri" panose="020F0502020204030204" pitchFamily="34" charset="0"/>
                  <a:ea typeface="Times New Roman" panose="020206030504050203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94A739BC-CF82-47A0-AD56-E05B54628D7D}"/>
                  </a:ext>
                </a:extLst>
              </p:cNvPr>
              <p:cNvSpPr>
                <a:spLocks noGrp="1" noRot="1" noChangeAspect="1" noMove="1" noResize="1" noEditPoints="1" noAdjustHandles="1" noChangeArrowheads="1" noChangeShapeType="1" noTextEdit="1"/>
              </p:cNvSpPr>
              <p:nvPr>
                <p:ph idx="1"/>
              </p:nvPr>
            </p:nvSpPr>
            <p:spPr>
              <a:xfrm>
                <a:off x="569343" y="940280"/>
                <a:ext cx="11015932" cy="5296618"/>
              </a:xfrm>
              <a:blipFill>
                <a:blip r:embed="rId2"/>
                <a:stretch>
                  <a:fillRect l="-885" t="-2417" r="-1660" b="-218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CEA5A0C7-C2DD-4597-BE04-E0440A714496}"/>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1088533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557184-F6DD-4C3A-938E-25BE2F62F19B}"/>
                  </a:ext>
                </a:extLst>
              </p:cNvPr>
              <p:cNvSpPr>
                <a:spLocks noGrp="1"/>
              </p:cNvSpPr>
              <p:nvPr>
                <p:ph idx="1"/>
              </p:nvPr>
            </p:nvSpPr>
            <p:spPr>
              <a:xfrm>
                <a:off x="646981" y="508958"/>
                <a:ext cx="10478219" cy="5581291"/>
              </a:xfrm>
            </p:spPr>
            <p:txBody>
              <a:bodyPr>
                <a:normAutofit fontScale="77500" lnSpcReduction="20000"/>
              </a:bodyPr>
              <a:lstStyle/>
              <a:p>
                <a:pPr marL="0" indent="0">
                  <a:buNone/>
                </a:pPr>
                <a:r>
                  <a:rPr lang="en-US" sz="1900" b="1" dirty="0">
                    <a:solidFill>
                      <a:srgbClr val="00B0F0"/>
                    </a:solidFill>
                  </a:rPr>
                  <a:t>Rule 3:</a:t>
                </a:r>
                <a:r>
                  <a:rPr lang="en-US" sz="1900" dirty="0"/>
                  <a:t> </a:t>
                </a:r>
                <a:r>
                  <a:rPr lang="en-US" sz="1900" b="1" dirty="0"/>
                  <a:t>Permutation</a:t>
                </a:r>
              </a:p>
              <a:p>
                <a:pPr marL="0" indent="0">
                  <a:buNone/>
                </a:pPr>
                <a:r>
                  <a:rPr lang="en-US" sz="1900" dirty="0">
                    <a:effectLst/>
                    <a:latin typeface="Calibri" panose="020F0502020204030204" pitchFamily="34" charset="0"/>
                    <a:ea typeface="Times New Roman" panose="02020603050405020304" pitchFamily="18" charset="0"/>
                    <a:cs typeface="Calibri" panose="020F0502020204030204" pitchFamily="34" charset="0"/>
                  </a:rPr>
                  <a:t>A permutation is an ordered arrangement of objects.</a:t>
                </a:r>
              </a:p>
              <a:p>
                <a:pPr marL="0" indent="0">
                  <a:buNone/>
                </a:pPr>
                <a:r>
                  <a:rPr lang="en-US" sz="1900" b="1" dirty="0">
                    <a:latin typeface="Calibri" panose="020F0502020204030204" pitchFamily="34" charset="0"/>
                    <a:ea typeface="Times New Roman" panose="02020603050405020304" pitchFamily="18" charset="0"/>
                    <a:cs typeface="Calibri" panose="020F0502020204030204" pitchFamily="34" charset="0"/>
                  </a:rPr>
                  <a:t>Linear permutation</a:t>
                </a:r>
                <a:r>
                  <a:rPr lang="en-US" sz="1900" dirty="0">
                    <a:latin typeface="Calibri" panose="020F0502020204030204" pitchFamily="34" charset="0"/>
                    <a:ea typeface="Times New Roman" panose="02020603050405020304" pitchFamily="18" charset="0"/>
                    <a:cs typeface="Calibri" panose="020F0502020204030204" pitchFamily="34" charset="0"/>
                  </a:rPr>
                  <a:t>: When all things are different the no. of linear arrangements = n !</a:t>
                </a:r>
              </a:p>
              <a:p>
                <a:pPr marL="0" indent="0">
                  <a:buNone/>
                </a:pPr>
                <a:r>
                  <a:rPr lang="en-US" sz="1900" b="1" dirty="0">
                    <a:latin typeface="Calibri" panose="020F0502020204030204" pitchFamily="34" charset="0"/>
                    <a:ea typeface="Times New Roman" panose="02020603050405020304" pitchFamily="18" charset="0"/>
                    <a:cs typeface="Calibri" panose="020F0502020204030204" pitchFamily="34" charset="0"/>
                  </a:rPr>
                  <a:t>Circular permutation</a:t>
                </a:r>
                <a:r>
                  <a:rPr lang="en-US" sz="1900" dirty="0">
                    <a:latin typeface="Calibri" panose="020F0502020204030204" pitchFamily="34" charset="0"/>
                    <a:ea typeface="Times New Roman" panose="02020603050405020304" pitchFamily="18" charset="0"/>
                    <a:cs typeface="Calibri" panose="020F0502020204030204" pitchFamily="34" charset="0"/>
                  </a:rPr>
                  <a:t>: </a:t>
                </a:r>
                <a:r>
                  <a:rPr lang="en-US" sz="1900" dirty="0">
                    <a:effectLst/>
                    <a:latin typeface="Calibri" panose="020F0502020204030204" pitchFamily="34" charset="0"/>
                    <a:ea typeface="Times New Roman" panose="02020603050405020304" pitchFamily="18" charset="0"/>
                    <a:cs typeface="Calibri" panose="020F0502020204030204" pitchFamily="34" charset="0"/>
                  </a:rPr>
                  <a:t>In circular permutation, one thing is kept fixed and the remaining things are arranged relative to it. </a:t>
                </a:r>
                <a:r>
                  <a:rPr lang="en-US" sz="1900" dirty="0">
                    <a:latin typeface="Calibri" panose="020F0502020204030204" pitchFamily="34" charset="0"/>
                    <a:ea typeface="Times New Roman" panose="02020603050405020304" pitchFamily="18" charset="0"/>
                    <a:cs typeface="Calibri" panose="020F0502020204030204" pitchFamily="34" charset="0"/>
                  </a:rPr>
                  <a:t>Total no. of arrangements or permutations = (n-1)!</a:t>
                </a:r>
              </a:p>
              <a:p>
                <a:pPr marL="0" indent="0">
                  <a:buNone/>
                </a:pPr>
                <a:r>
                  <a:rPr lang="en-US" sz="1900" b="1" dirty="0">
                    <a:latin typeface="Calibri" panose="020F0502020204030204" pitchFamily="34" charset="0"/>
                    <a:ea typeface="Times New Roman" panose="02020603050405020304" pitchFamily="18" charset="0"/>
                    <a:cs typeface="Calibri" panose="020F0502020204030204" pitchFamily="34" charset="0"/>
                  </a:rPr>
                  <a:t>Permutations of n objects taken r at a time:</a:t>
                </a:r>
                <a:r>
                  <a:rPr lang="en-US" sz="1900" dirty="0">
                    <a:latin typeface="Calibri" panose="020F0502020204030204" pitchFamily="34" charset="0"/>
                    <a:ea typeface="Times New Roman" panose="02020603050405020304" pitchFamily="18" charset="0"/>
                    <a:cs typeface="Calibri" panose="020F0502020204030204" pitchFamily="34" charset="0"/>
                  </a:rPr>
                  <a:t> Total no. of arrangements = </a:t>
                </a:r>
                <a14:m>
                  <m:oMath xmlns:m="http://schemas.openxmlformats.org/officeDocument/2006/math">
                    <m:r>
                      <a:rPr lang="en-US" sz="1900" b="0" i="1" smtClean="0">
                        <a:latin typeface="Cambria Math" panose="02040503050406030204" pitchFamily="18" charset="0"/>
                        <a:ea typeface="Times New Roman" panose="02020603050405020304" pitchFamily="18" charset="0"/>
                      </a:rPr>
                      <m:t>𝑛𝑃𝑟</m:t>
                    </m:r>
                    <m:r>
                      <a:rPr lang="en-US" sz="1900" b="0" i="1" smtClean="0">
                        <a:latin typeface="Cambria Math" panose="02040503050406030204" pitchFamily="18" charset="0"/>
                        <a:ea typeface="Times New Roman" panose="02020603050405020304" pitchFamily="18" charset="0"/>
                      </a:rPr>
                      <m:t>=</m:t>
                    </m:r>
                    <m:f>
                      <m:fPr>
                        <m:ctrlPr>
                          <a:rPr lang="en-US" sz="1900" i="1" dirty="0" smtClean="0">
                            <a:solidFill>
                              <a:srgbClr val="836967"/>
                            </a:solidFill>
                            <a:effectLst/>
                            <a:latin typeface="Cambria Math" panose="02040503050406030204" pitchFamily="18" charset="0"/>
                          </a:rPr>
                        </m:ctrlPr>
                      </m:fPr>
                      <m:num>
                        <m:r>
                          <a:rPr lang="en-US" sz="1900" i="1" dirty="0">
                            <a:effectLst/>
                            <a:latin typeface="Cambria Math" panose="02040503050406030204" pitchFamily="18" charset="0"/>
                          </a:rPr>
                          <m:t>𝑛</m:t>
                        </m:r>
                        <m:r>
                          <a:rPr lang="en-US" sz="1900" i="0" dirty="0">
                            <a:effectLst/>
                            <a:latin typeface="Cambria Math" panose="02040503050406030204" pitchFamily="18" charset="0"/>
                          </a:rPr>
                          <m:t>!</m:t>
                        </m:r>
                      </m:num>
                      <m:den>
                        <m:d>
                          <m:dPr>
                            <m:ctrlPr>
                              <a:rPr lang="en-US" sz="1900" i="1" dirty="0">
                                <a:solidFill>
                                  <a:srgbClr val="836967"/>
                                </a:solidFill>
                                <a:effectLst/>
                                <a:latin typeface="Cambria Math" panose="02040503050406030204" pitchFamily="18" charset="0"/>
                              </a:rPr>
                            </m:ctrlPr>
                          </m:dPr>
                          <m:e>
                            <m:r>
                              <a:rPr lang="en-US" sz="1900" i="1" dirty="0">
                                <a:effectLst/>
                                <a:latin typeface="Cambria Math" panose="02040503050406030204" pitchFamily="18" charset="0"/>
                              </a:rPr>
                              <m:t>𝑛</m:t>
                            </m:r>
                            <m:r>
                              <a:rPr lang="en-US" sz="1900" i="0" dirty="0">
                                <a:effectLst/>
                                <a:latin typeface="Cambria Math" panose="02040503050406030204" pitchFamily="18" charset="0"/>
                              </a:rPr>
                              <m:t>−</m:t>
                            </m:r>
                            <m:r>
                              <a:rPr lang="en-US" sz="1900" b="0" i="1" dirty="0" smtClean="0">
                                <a:effectLst/>
                                <a:latin typeface="Cambria Math" panose="02040503050406030204" pitchFamily="18" charset="0"/>
                              </a:rPr>
                              <m:t>𝑟</m:t>
                            </m:r>
                          </m:e>
                        </m:d>
                        <m:r>
                          <a:rPr lang="en-US" sz="1900" i="0" dirty="0">
                            <a:effectLst/>
                            <a:latin typeface="Cambria Math" panose="02040503050406030204" pitchFamily="18" charset="0"/>
                          </a:rPr>
                          <m:t>!</m:t>
                        </m:r>
                      </m:den>
                    </m:f>
                  </m:oMath>
                </a14:m>
                <a:endParaRPr lang="en-US" sz="1900" dirty="0">
                  <a:effectLst/>
                  <a:latin typeface="Calibri" panose="020F0502020204030204" pitchFamily="34" charset="0"/>
                  <a:ea typeface="Times New Roman" panose="02020603050405020304" pitchFamily="18" charset="0"/>
                  <a:cs typeface="Calibri" panose="020F0502020204030204" pitchFamily="34" charset="0"/>
                </a:endParaRPr>
              </a:p>
              <a:p>
                <a:pPr marL="0" indent="0">
                  <a:buNone/>
                </a:pPr>
                <a:r>
                  <a:rPr lang="en-US" sz="1900" dirty="0">
                    <a:latin typeface="Calibri" panose="020F0502020204030204" pitchFamily="34" charset="0"/>
                    <a:ea typeface="Times New Roman" panose="02020603050405020304" pitchFamily="18" charset="0"/>
                    <a:cs typeface="Calibri" panose="020F0502020204030204" pitchFamily="34" charset="0"/>
                  </a:rPr>
                  <a:t>Ex: </a:t>
                </a:r>
                <a:r>
                  <a:rPr lang="en-US" sz="1900" b="0" i="0" dirty="0">
                    <a:solidFill>
                      <a:srgbClr val="242021"/>
                    </a:solidFill>
                    <a:effectLst/>
                    <a:latin typeface="Calibri" panose="020F0502020204030204" pitchFamily="34" charset="0"/>
                    <a:cs typeface="Calibri" panose="020F0502020204030204" pitchFamily="34" charset="0"/>
                  </a:rPr>
                  <a:t>Find the number of ways of forming four-digit codes in which no digit is repeated.</a:t>
                </a:r>
              </a:p>
              <a:p>
                <a:pPr marL="0" indent="0">
                  <a:buNone/>
                </a:pPr>
                <a:r>
                  <a:rPr lang="en-US" sz="1900" dirty="0">
                    <a:latin typeface="Calibri" panose="020F0502020204030204" pitchFamily="34" charset="0"/>
                    <a:cs typeface="Calibri" panose="020F0502020204030204" pitchFamily="34" charset="0"/>
                  </a:rPr>
                  <a:t>Ex: </a:t>
                </a:r>
                <a:r>
                  <a:rPr lang="en-US" sz="1900" b="0" i="0" dirty="0">
                    <a:solidFill>
                      <a:srgbClr val="242021"/>
                    </a:solidFill>
                    <a:effectLst/>
                    <a:latin typeface="Calibri" panose="020F0502020204030204" pitchFamily="34" charset="0"/>
                    <a:cs typeface="Calibri" panose="020F0502020204030204" pitchFamily="34" charset="0"/>
                  </a:rPr>
                  <a:t>Forty-three race cars started the car racing tournament. How many ways can the cars finish first, second, and third?</a:t>
                </a:r>
                <a:r>
                  <a:rPr lang="en-US" sz="1900" dirty="0">
                    <a:latin typeface="Calibri" panose="020F0502020204030204" pitchFamily="34" charset="0"/>
                    <a:cs typeface="Calibri" panose="020F0502020204030204" pitchFamily="34" charset="0"/>
                  </a:rPr>
                  <a:t> </a:t>
                </a:r>
                <a:br>
                  <a:rPr lang="en-US" sz="1900" dirty="0">
                    <a:latin typeface="Calibri" panose="020F0502020204030204" pitchFamily="34" charset="0"/>
                    <a:cs typeface="Calibri" panose="020F0502020204030204" pitchFamily="34" charset="0"/>
                  </a:rPr>
                </a:br>
                <a:endParaRPr lang="en-US" sz="1900" dirty="0">
                  <a:latin typeface="Calibri" panose="020F0502020204030204" pitchFamily="34" charset="0"/>
                  <a:cs typeface="Calibri" panose="020F0502020204030204" pitchFamily="34" charset="0"/>
                </a:endParaRPr>
              </a:p>
              <a:p>
                <a:pPr marL="0" indent="0">
                  <a:buNone/>
                </a:pPr>
                <a:r>
                  <a:rPr lang="en-US" sz="1900" b="1" dirty="0">
                    <a:latin typeface="Calibri" panose="020F0502020204030204" pitchFamily="34" charset="0"/>
                    <a:cs typeface="Calibri" panose="020F0502020204030204" pitchFamily="34" charset="0"/>
                  </a:rPr>
                  <a:t>Distinguishable permutations</a:t>
                </a:r>
                <a:r>
                  <a:rPr lang="en-US" sz="1900" dirty="0">
                    <a:latin typeface="Calibri" panose="020F0502020204030204" pitchFamily="34" charset="0"/>
                    <a:cs typeface="Calibri" panose="020F0502020204030204" pitchFamily="34" charset="0"/>
                  </a:rPr>
                  <a:t>: The no. of distinguishable permutations of n objects, where n</a:t>
                </a:r>
                <a:r>
                  <a:rPr lang="en-US" sz="1900" baseline="-25000" dirty="0">
                    <a:latin typeface="Calibri" panose="020F0502020204030204" pitchFamily="34" charset="0"/>
                    <a:cs typeface="Calibri" panose="020F0502020204030204" pitchFamily="34" charset="0"/>
                  </a:rPr>
                  <a:t>1</a:t>
                </a:r>
                <a:r>
                  <a:rPr lang="en-US" sz="1900" dirty="0">
                    <a:latin typeface="Calibri" panose="020F0502020204030204" pitchFamily="34" charset="0"/>
                    <a:cs typeface="Calibri" panose="020F0502020204030204" pitchFamily="34" charset="0"/>
                  </a:rPr>
                  <a:t> are of one type, n</a:t>
                </a:r>
                <a:r>
                  <a:rPr lang="en-US" sz="1900" baseline="-25000" dirty="0">
                    <a:latin typeface="Calibri" panose="020F0502020204030204" pitchFamily="34" charset="0"/>
                    <a:cs typeface="Calibri" panose="020F0502020204030204" pitchFamily="34" charset="0"/>
                  </a:rPr>
                  <a:t>2</a:t>
                </a:r>
                <a:r>
                  <a:rPr lang="en-US" sz="1900" dirty="0">
                    <a:latin typeface="Calibri" panose="020F0502020204030204" pitchFamily="34" charset="0"/>
                    <a:cs typeface="Calibri" panose="020F0502020204030204" pitchFamily="34" charset="0"/>
                  </a:rPr>
                  <a:t> are of second type and so on.</a:t>
                </a:r>
              </a:p>
              <a:p>
                <a:pPr marL="0" indent="0">
                  <a:buNone/>
                </a:pPr>
                <a:r>
                  <a:rPr lang="en-US" sz="1900" dirty="0">
                    <a:latin typeface="Calibri" panose="020F0502020204030204" pitchFamily="34" charset="0"/>
                    <a:cs typeface="Calibri" panose="020F0502020204030204" pitchFamily="34" charset="0"/>
                  </a:rPr>
                  <a:t>	Total no. of permutations = </a:t>
                </a:r>
                <a14:m>
                  <m:oMath xmlns:m="http://schemas.openxmlformats.org/officeDocument/2006/math">
                    <m:f>
                      <m:fPr>
                        <m:ctrlPr>
                          <a:rPr lang="en-US" sz="1900" i="1" smtClean="0">
                            <a:latin typeface="Cambria Math" panose="02040503050406030204" pitchFamily="18" charset="0"/>
                          </a:rPr>
                        </m:ctrlPr>
                      </m:fPr>
                      <m:num>
                        <m:r>
                          <a:rPr lang="en-US" sz="1900" b="0" i="1" smtClean="0">
                            <a:latin typeface="Cambria Math" panose="02040503050406030204" pitchFamily="18" charset="0"/>
                          </a:rPr>
                          <m:t>𝑛</m:t>
                        </m:r>
                        <m:r>
                          <a:rPr lang="en-US" sz="1900" b="0" i="1" smtClean="0">
                            <a:latin typeface="Cambria Math" panose="02040503050406030204" pitchFamily="18" charset="0"/>
                          </a:rPr>
                          <m:t>!</m:t>
                        </m:r>
                      </m:num>
                      <m:den>
                        <m:r>
                          <a:rPr lang="en-US" sz="1900" b="0" i="1" smtClean="0">
                            <a:latin typeface="Cambria Math" panose="02040503050406030204" pitchFamily="18" charset="0"/>
                          </a:rPr>
                          <m:t>𝑛</m:t>
                        </m:r>
                        <m:r>
                          <a:rPr lang="en-US" sz="1900" b="0" i="1" baseline="-25000" smtClean="0">
                            <a:latin typeface="Cambria Math" panose="02040503050406030204" pitchFamily="18" charset="0"/>
                          </a:rPr>
                          <m:t>1</m:t>
                        </m:r>
                        <m:r>
                          <a:rPr lang="en-US" sz="1900" b="0" i="1" smtClean="0">
                            <a:latin typeface="Cambria Math" panose="02040503050406030204" pitchFamily="18" charset="0"/>
                          </a:rPr>
                          <m:t>! .  </m:t>
                        </m:r>
                        <m:r>
                          <a:rPr lang="en-US" sz="1900" b="0" i="1" smtClean="0">
                            <a:latin typeface="Cambria Math" panose="02040503050406030204" pitchFamily="18" charset="0"/>
                          </a:rPr>
                          <m:t>𝑛</m:t>
                        </m:r>
                        <m:r>
                          <a:rPr lang="en-US" sz="1900" b="0" i="1" baseline="-25000" smtClean="0">
                            <a:latin typeface="Cambria Math" panose="02040503050406030204" pitchFamily="18" charset="0"/>
                          </a:rPr>
                          <m:t>2</m:t>
                        </m:r>
                        <m:r>
                          <a:rPr lang="en-US" sz="1900" b="0" i="1" smtClean="0">
                            <a:latin typeface="Cambria Math" panose="02040503050406030204" pitchFamily="18" charset="0"/>
                          </a:rPr>
                          <m:t>! .. . </m:t>
                        </m:r>
                        <m:r>
                          <a:rPr lang="en-US" sz="1900" b="0" i="1" smtClean="0">
                            <a:latin typeface="Cambria Math" panose="02040503050406030204" pitchFamily="18" charset="0"/>
                          </a:rPr>
                          <m:t>𝑛𝑘</m:t>
                        </m:r>
                        <m:r>
                          <a:rPr lang="en-US" sz="1900" b="0" i="1" smtClean="0">
                            <a:latin typeface="Cambria Math" panose="02040503050406030204" pitchFamily="18" charset="0"/>
                          </a:rPr>
                          <m:t>!</m:t>
                        </m:r>
                      </m:den>
                    </m:f>
                  </m:oMath>
                </a14:m>
                <a:endParaRPr lang="en-US" sz="1900" dirty="0">
                  <a:latin typeface="Calibri" panose="020F0502020204030204" pitchFamily="34" charset="0"/>
                  <a:cs typeface="Calibri" panose="020F0502020204030204" pitchFamily="34" charset="0"/>
                </a:endParaRPr>
              </a:p>
              <a:p>
                <a:pPr marL="0" indent="0">
                  <a:buNone/>
                </a:pPr>
                <a:r>
                  <a:rPr lang="en-US" sz="1900" dirty="0">
                    <a:latin typeface="Calibri" panose="020F0502020204030204" pitchFamily="34" charset="0"/>
                    <a:ea typeface="Times New Roman" panose="02020603050405020304" pitchFamily="18" charset="0"/>
                    <a:cs typeface="Calibri" panose="020F0502020204030204" pitchFamily="34" charset="0"/>
                  </a:rPr>
                  <a:t>where, n</a:t>
                </a:r>
                <a:r>
                  <a:rPr lang="en-US" sz="1900" baseline="-25000" dirty="0">
                    <a:latin typeface="Calibri" panose="020F0502020204030204" pitchFamily="34" charset="0"/>
                    <a:ea typeface="Times New Roman" panose="02020603050405020304" pitchFamily="18" charset="0"/>
                    <a:cs typeface="Calibri" panose="020F0502020204030204" pitchFamily="34" charset="0"/>
                  </a:rPr>
                  <a:t>1</a:t>
                </a:r>
                <a:r>
                  <a:rPr lang="en-US" sz="1900" dirty="0">
                    <a:latin typeface="Calibri" panose="020F0502020204030204" pitchFamily="34" charset="0"/>
                    <a:ea typeface="Times New Roman" panose="02020603050405020304" pitchFamily="18" charset="0"/>
                    <a:cs typeface="Calibri" panose="020F0502020204030204" pitchFamily="34" charset="0"/>
                  </a:rPr>
                  <a:t> + n</a:t>
                </a:r>
                <a:r>
                  <a:rPr lang="en-US" sz="1900" baseline="-25000" dirty="0">
                    <a:latin typeface="Calibri" panose="020F0502020204030204" pitchFamily="34" charset="0"/>
                    <a:ea typeface="Times New Roman" panose="02020603050405020304" pitchFamily="18" charset="0"/>
                    <a:cs typeface="Calibri" panose="020F0502020204030204" pitchFamily="34" charset="0"/>
                  </a:rPr>
                  <a:t>2</a:t>
                </a:r>
                <a:r>
                  <a:rPr lang="en-US" sz="1900" dirty="0">
                    <a:latin typeface="Calibri" panose="020F0502020204030204" pitchFamily="34" charset="0"/>
                    <a:ea typeface="Times New Roman" panose="02020603050405020304" pitchFamily="18" charset="0"/>
                    <a:cs typeface="Calibri" panose="020F0502020204030204" pitchFamily="34" charset="0"/>
                  </a:rPr>
                  <a:t> + …+ </a:t>
                </a:r>
                <a:r>
                  <a:rPr lang="en-US" sz="1900" dirty="0" err="1">
                    <a:latin typeface="Calibri" panose="020F0502020204030204" pitchFamily="34" charset="0"/>
                    <a:ea typeface="Times New Roman" panose="02020603050405020304" pitchFamily="18" charset="0"/>
                    <a:cs typeface="Calibri" panose="020F0502020204030204" pitchFamily="34" charset="0"/>
                  </a:rPr>
                  <a:t>n</a:t>
                </a:r>
                <a:r>
                  <a:rPr lang="en-US" sz="1900" baseline="-25000" dirty="0" err="1">
                    <a:latin typeface="Calibri" panose="020F0502020204030204" pitchFamily="34" charset="0"/>
                    <a:ea typeface="Times New Roman" panose="02020603050405020304" pitchFamily="18" charset="0"/>
                    <a:cs typeface="Calibri" panose="020F0502020204030204" pitchFamily="34" charset="0"/>
                  </a:rPr>
                  <a:t>k</a:t>
                </a:r>
                <a:r>
                  <a:rPr lang="en-US" sz="1900" dirty="0">
                    <a:latin typeface="Calibri" panose="020F0502020204030204" pitchFamily="34" charset="0"/>
                    <a:ea typeface="Times New Roman" panose="02020603050405020304" pitchFamily="18" charset="0"/>
                    <a:cs typeface="Calibri" panose="020F0502020204030204" pitchFamily="34" charset="0"/>
                  </a:rPr>
                  <a:t> = n</a:t>
                </a:r>
              </a:p>
              <a:p>
                <a:pPr marL="0" indent="0">
                  <a:buNone/>
                </a:pPr>
                <a:r>
                  <a:rPr lang="en-US" sz="1900" dirty="0">
                    <a:effectLst/>
                    <a:latin typeface="Calibri" panose="020F0502020204030204" pitchFamily="34" charset="0"/>
                    <a:ea typeface="Times New Roman" panose="02020603050405020304" pitchFamily="18" charset="0"/>
                    <a:cs typeface="Calibri" panose="020F0502020204030204" pitchFamily="34" charset="0"/>
                  </a:rPr>
                  <a:t>Ex: </a:t>
                </a:r>
                <a:r>
                  <a:rPr lang="en-US" sz="1900" b="0" i="0" dirty="0">
                    <a:solidFill>
                      <a:srgbClr val="242021"/>
                    </a:solidFill>
                    <a:effectLst/>
                    <a:latin typeface="Calibri" panose="020F0502020204030204" pitchFamily="34" charset="0"/>
                    <a:cs typeface="Calibri" panose="020F0502020204030204" pitchFamily="34" charset="0"/>
                  </a:rPr>
                  <a:t>A building contractor is planning to develop a subdivision. The subdivision is to consist of 6 one-story houses, 4 two-story houses, and 2 split-level houses. In how many distinguishable ways can the houses be arranged?</a:t>
                </a:r>
                <a:r>
                  <a:rPr lang="en-US" sz="1900" dirty="0">
                    <a:latin typeface="Calibri" panose="020F0502020204030204" pitchFamily="34" charset="0"/>
                    <a:cs typeface="Calibri" panose="020F0502020204030204" pitchFamily="34" charset="0"/>
                  </a:rPr>
                  <a:t> </a:t>
                </a:r>
              </a:p>
              <a:p>
                <a:pPr marL="0" indent="0">
                  <a:buNone/>
                </a:pPr>
                <a:r>
                  <a:rPr lang="en-US" sz="1900" dirty="0">
                    <a:latin typeface="Calibri" panose="020F0502020204030204" pitchFamily="34" charset="0"/>
                    <a:cs typeface="Calibri" panose="020F0502020204030204" pitchFamily="34" charset="0"/>
                  </a:rPr>
                  <a:t>Ans: </a:t>
                </a:r>
                <a:r>
                  <a:rPr lang="en-US" sz="1900" b="0" i="0" dirty="0">
                    <a:solidFill>
                      <a:srgbClr val="242021"/>
                    </a:solidFill>
                    <a:effectLst/>
                    <a:latin typeface="Calibri" panose="020F0502020204030204" pitchFamily="34" charset="0"/>
                    <a:cs typeface="Calibri" panose="020F0502020204030204" pitchFamily="34" charset="0"/>
                  </a:rPr>
                  <a:t>There are to be 12 houses in the subdivision, 6 of which are of one type (one-story), 4 of another type (two-story), and 2 of a third type (split-level).</a:t>
                </a:r>
                <a:r>
                  <a:rPr lang="en-US" sz="1900" dirty="0">
                    <a:latin typeface="Calibri" panose="020F0502020204030204" pitchFamily="34" charset="0"/>
                    <a:cs typeface="Calibri" panose="020F0502020204030204" pitchFamily="34" charset="0"/>
                  </a:rPr>
                  <a:t> </a:t>
                </a:r>
                <a:br>
                  <a:rPr lang="en-US" sz="1900" dirty="0">
                    <a:latin typeface="Calibri" panose="020F0502020204030204" pitchFamily="34" charset="0"/>
                    <a:cs typeface="Calibri" panose="020F0502020204030204" pitchFamily="34" charset="0"/>
                  </a:rPr>
                </a:br>
                <a:br>
                  <a:rPr lang="en-US" sz="1900" dirty="0">
                    <a:latin typeface="Calibri" panose="020F0502020204030204" pitchFamily="34" charset="0"/>
                    <a:cs typeface="Calibri" panose="020F0502020204030204" pitchFamily="34" charset="0"/>
                  </a:rPr>
                </a:br>
                <a:r>
                  <a:rPr lang="en-US" sz="1900" dirty="0">
                    <a:latin typeface="Calibri" panose="020F0502020204030204" pitchFamily="34" charset="0"/>
                    <a:cs typeface="Calibri" panose="020F0502020204030204" pitchFamily="34" charset="0"/>
                  </a:rPr>
                  <a:t>Total no. of distinguishable houses = </a:t>
                </a:r>
                <a14:m>
                  <m:oMath xmlns:m="http://schemas.openxmlformats.org/officeDocument/2006/math">
                    <m:f>
                      <m:fPr>
                        <m:ctrlPr>
                          <a:rPr lang="en-US" sz="1900" i="1" smtClean="0">
                            <a:latin typeface="Cambria Math" panose="02040503050406030204" pitchFamily="18" charset="0"/>
                          </a:rPr>
                        </m:ctrlPr>
                      </m:fPr>
                      <m:num>
                        <m:r>
                          <a:rPr lang="en-US" sz="1900" b="0" i="1" smtClean="0">
                            <a:latin typeface="Cambria Math" panose="02040503050406030204" pitchFamily="18" charset="0"/>
                          </a:rPr>
                          <m:t>12!</m:t>
                        </m:r>
                      </m:num>
                      <m:den>
                        <m:r>
                          <a:rPr lang="en-US" sz="1900" b="0" i="1" smtClean="0">
                            <a:latin typeface="Cambria Math" panose="02040503050406030204" pitchFamily="18" charset="0"/>
                          </a:rPr>
                          <m:t>6!  4!  2!</m:t>
                        </m:r>
                      </m:den>
                    </m:f>
                  </m:oMath>
                </a14:m>
                <a:r>
                  <a:rPr lang="en-US" sz="1900" dirty="0">
                    <a:effectLst/>
                    <a:latin typeface="Calibri" panose="020F0502020204030204" pitchFamily="34" charset="0"/>
                    <a:ea typeface="Times New Roman" panose="02020603050405020304" pitchFamily="18" charset="0"/>
                    <a:cs typeface="Calibri" panose="020F0502020204030204" pitchFamily="34" charset="0"/>
                  </a:rPr>
                  <a:t> = 13860</a:t>
                </a:r>
              </a:p>
              <a:p>
                <a:pPr marL="0" indent="0">
                  <a:buNone/>
                </a:pPr>
                <a:r>
                  <a:rPr lang="en-US" sz="1900" b="1" i="1" dirty="0">
                    <a:solidFill>
                      <a:srgbClr val="242021"/>
                    </a:solidFill>
                    <a:effectLst/>
                    <a:latin typeface="Calibri" panose="020F0502020204030204" pitchFamily="34" charset="0"/>
                    <a:cs typeface="Calibri" panose="020F0502020204030204" pitchFamily="34" charset="0"/>
                  </a:rPr>
                  <a:t>Interpretation </a:t>
                </a:r>
                <a:r>
                  <a:rPr lang="en-US" sz="1900" b="0" i="0" dirty="0">
                    <a:solidFill>
                      <a:srgbClr val="242021"/>
                    </a:solidFill>
                    <a:effectLst/>
                    <a:latin typeface="Calibri" panose="020F0502020204030204" pitchFamily="34" charset="0"/>
                    <a:cs typeface="Calibri" panose="020F0502020204030204" pitchFamily="34" charset="0"/>
                  </a:rPr>
                  <a:t>There are 13,860 distinguishable ways to arrange the houses in the subdivision.</a:t>
                </a:r>
                <a:r>
                  <a:rPr lang="en-US" sz="1900" dirty="0">
                    <a:latin typeface="Calibri" panose="020F0502020204030204" pitchFamily="34" charset="0"/>
                    <a:cs typeface="Calibri" panose="020F0502020204030204" pitchFamily="34" charset="0"/>
                  </a:rPr>
                  <a:t> </a:t>
                </a:r>
                <a:br>
                  <a:rPr lang="en-US" dirty="0">
                    <a:latin typeface="Calibri" panose="020F0502020204030204" pitchFamily="34" charset="0"/>
                    <a:cs typeface="Calibri" panose="020F0502020204030204" pitchFamily="34" charset="0"/>
                  </a:rPr>
                </a:br>
                <a:endParaRPr lang="en-US" dirty="0">
                  <a:effectLst/>
                  <a:latin typeface="Calibri" panose="020F0502020204030204" pitchFamily="34" charset="0"/>
                  <a:ea typeface="Times New Roman" panose="02020603050405020304" pitchFamily="18" charset="0"/>
                  <a:cs typeface="Calibri" panose="020F0502020204030204" pitchFamily="34"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54557184-F6DD-4C3A-938E-25BE2F62F19B}"/>
                  </a:ext>
                </a:extLst>
              </p:cNvPr>
              <p:cNvSpPr>
                <a:spLocks noGrp="1" noRot="1" noChangeAspect="1" noMove="1" noResize="1" noEditPoints="1" noAdjustHandles="1" noChangeArrowheads="1" noChangeShapeType="1" noTextEdit="1"/>
              </p:cNvSpPr>
              <p:nvPr>
                <p:ph idx="1"/>
              </p:nvPr>
            </p:nvSpPr>
            <p:spPr>
              <a:xfrm>
                <a:off x="646981" y="508958"/>
                <a:ext cx="10478219" cy="5581291"/>
              </a:xfrm>
              <a:blipFill>
                <a:blip r:embed="rId2"/>
                <a:stretch>
                  <a:fillRect l="-233" t="-983" r="-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C0B7B7A7-DD3C-4BC5-A288-F5ECF6A94903}"/>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468814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47C463-800C-4DC5-8C86-C05241ED30C8}"/>
                  </a:ext>
                </a:extLst>
              </p:cNvPr>
              <p:cNvSpPr>
                <a:spLocks noGrp="1"/>
              </p:cNvSpPr>
              <p:nvPr>
                <p:ph idx="1"/>
              </p:nvPr>
            </p:nvSpPr>
            <p:spPr>
              <a:xfrm>
                <a:off x="599440" y="497841"/>
                <a:ext cx="11023600" cy="5537200"/>
              </a:xfrm>
            </p:spPr>
            <p:txBody>
              <a:bodyPr>
                <a:normAutofit fontScale="85000" lnSpcReduction="10000"/>
              </a:bodyPr>
              <a:lstStyle/>
              <a:p>
                <a:pPr marL="0" indent="0">
                  <a:buNone/>
                </a:pPr>
                <a:r>
                  <a:rPr lang="en-US" sz="1900" b="1" dirty="0">
                    <a:solidFill>
                      <a:srgbClr val="00B0F0"/>
                    </a:solidFill>
                  </a:rPr>
                  <a:t>Rule 4</a:t>
                </a:r>
                <a:r>
                  <a:rPr lang="en-US" sz="1900" dirty="0"/>
                  <a:t>: </a:t>
                </a:r>
                <a:r>
                  <a:rPr lang="en-US" sz="1900" b="1" dirty="0"/>
                  <a:t>Combination</a:t>
                </a:r>
              </a:p>
              <a:p>
                <a:pPr marL="0" indent="0">
                  <a:buNone/>
                </a:pPr>
                <a:r>
                  <a:rPr lang="en-US" sz="1900" dirty="0">
                    <a:effectLst/>
                    <a:ea typeface="Times New Roman" panose="02020603050405020304" pitchFamily="18" charset="0"/>
                  </a:rPr>
                  <a:t>A combination of a set of objects is a selection of objects without regard to order.</a:t>
                </a:r>
              </a:p>
              <a:p>
                <a:pPr marL="0" indent="0">
                  <a:buNone/>
                </a:pPr>
                <a:r>
                  <a:rPr lang="en-US" sz="1900" dirty="0">
                    <a:ea typeface="Times New Roman" panose="02020603050405020304" pitchFamily="18" charset="0"/>
                  </a:rPr>
                  <a:t>The number of combinations of n objects taken r at a time (r ≤ n) is given by,</a:t>
                </a:r>
              </a:p>
              <a:p>
                <a:pPr marL="0" indent="0">
                  <a:buNone/>
                </a:pPr>
                <a:r>
                  <a:rPr lang="en-US" sz="1900" dirty="0">
                    <a:effectLst/>
                    <a:ea typeface="Times New Roman" panose="02020603050405020304" pitchFamily="18" charset="0"/>
                  </a:rPr>
                  <a:t>	</a:t>
                </a:r>
                <a14:m>
                  <m:oMath xmlns:m="http://schemas.openxmlformats.org/officeDocument/2006/math">
                    <m:r>
                      <a:rPr lang="en-US" sz="1900" b="0" i="1" smtClean="0">
                        <a:effectLst/>
                        <a:latin typeface="Cambria Math" panose="02040503050406030204" pitchFamily="18" charset="0"/>
                        <a:ea typeface="Times New Roman" panose="02020603050405020304" pitchFamily="18" charset="0"/>
                      </a:rPr>
                      <m:t>𝑛𝐶𝑟</m:t>
                    </m:r>
                    <m:r>
                      <a:rPr lang="en-US" sz="1900" b="0" i="1" smtClean="0">
                        <a:effectLst/>
                        <a:latin typeface="Cambria Math" panose="02040503050406030204" pitchFamily="18" charset="0"/>
                        <a:ea typeface="Times New Roman" panose="02020603050405020304" pitchFamily="18" charset="0"/>
                      </a:rPr>
                      <m:t>= </m:t>
                    </m:r>
                    <m:f>
                      <m:fPr>
                        <m:ctrlPr>
                          <a:rPr lang="en-US" sz="1900" b="0" i="1" smtClean="0">
                            <a:effectLst/>
                            <a:latin typeface="Cambria Math" panose="02040503050406030204" pitchFamily="18" charset="0"/>
                          </a:rPr>
                        </m:ctrlPr>
                      </m:fPr>
                      <m:num>
                        <m:r>
                          <a:rPr lang="en-US" sz="1900" b="0" i="1" smtClean="0">
                            <a:effectLst/>
                            <a:latin typeface="Cambria Math" panose="02040503050406030204" pitchFamily="18" charset="0"/>
                          </a:rPr>
                          <m:t>𝑛</m:t>
                        </m:r>
                        <m:r>
                          <a:rPr lang="en-US" sz="1900" b="0" i="1" smtClean="0">
                            <a:effectLst/>
                            <a:latin typeface="Cambria Math" panose="02040503050406030204" pitchFamily="18" charset="0"/>
                          </a:rPr>
                          <m:t>!</m:t>
                        </m:r>
                      </m:num>
                      <m:den>
                        <m:d>
                          <m:dPr>
                            <m:ctrlPr>
                              <a:rPr lang="en-US" sz="1900" b="0" i="1" smtClean="0">
                                <a:effectLst/>
                                <a:latin typeface="Cambria Math" panose="02040503050406030204" pitchFamily="18" charset="0"/>
                              </a:rPr>
                            </m:ctrlPr>
                          </m:dPr>
                          <m:e>
                            <m:r>
                              <a:rPr lang="en-US" sz="1900" b="0" i="1" smtClean="0">
                                <a:effectLst/>
                                <a:latin typeface="Cambria Math" panose="02040503050406030204" pitchFamily="18" charset="0"/>
                              </a:rPr>
                              <m:t>𝑛</m:t>
                            </m:r>
                            <m:r>
                              <a:rPr lang="en-US" sz="1900" b="0" i="1" smtClean="0">
                                <a:effectLst/>
                                <a:latin typeface="Cambria Math" panose="02040503050406030204" pitchFamily="18" charset="0"/>
                              </a:rPr>
                              <m:t>−</m:t>
                            </m:r>
                            <m:r>
                              <a:rPr lang="en-US" sz="1900" b="0" i="1" smtClean="0">
                                <a:effectLst/>
                                <a:latin typeface="Cambria Math" panose="02040503050406030204" pitchFamily="18" charset="0"/>
                              </a:rPr>
                              <m:t>𝑟</m:t>
                            </m:r>
                          </m:e>
                        </m:d>
                        <m:r>
                          <a:rPr lang="en-US" sz="1900" b="0" i="1" smtClean="0">
                            <a:effectLst/>
                            <a:latin typeface="Cambria Math" panose="02040503050406030204" pitchFamily="18" charset="0"/>
                          </a:rPr>
                          <m:t>!  </m:t>
                        </m:r>
                        <m:r>
                          <a:rPr lang="en-US" sz="1900" b="0" i="1" smtClean="0">
                            <a:effectLst/>
                            <a:latin typeface="Cambria Math" panose="02040503050406030204" pitchFamily="18" charset="0"/>
                          </a:rPr>
                          <m:t>𝑟</m:t>
                        </m:r>
                        <m:r>
                          <a:rPr lang="en-US" sz="1900" b="0" i="1" smtClean="0">
                            <a:effectLst/>
                            <a:latin typeface="Cambria Math" panose="02040503050406030204" pitchFamily="18" charset="0"/>
                          </a:rPr>
                          <m:t>!</m:t>
                        </m:r>
                      </m:den>
                    </m:f>
                  </m:oMath>
                </a14:m>
                <a:endParaRPr lang="en-US" sz="1900" dirty="0">
                  <a:effectLst/>
                  <a:ea typeface="Times New Roman" panose="02020603050405020304" pitchFamily="18" charset="0"/>
                </a:endParaRPr>
              </a:p>
              <a:p>
                <a:pPr marL="0" indent="0">
                  <a:buNone/>
                </a:pPr>
                <a:r>
                  <a:rPr lang="en-US" sz="1900" b="0" i="0" dirty="0">
                    <a:solidFill>
                      <a:srgbClr val="242021"/>
                    </a:solidFill>
                    <a:effectLst/>
                  </a:rPr>
                  <a:t>Ex: A state’s department of transportation plans to develop a new section of interstate highway and receives 16 bids for the project. The state plans to hire four of the bidding companies. How many different combinations of four companies can be selected from the 16 bidding companies?</a:t>
                </a:r>
                <a:br>
                  <a:rPr lang="en-US" sz="1900" b="0" i="0" dirty="0">
                    <a:solidFill>
                      <a:srgbClr val="242021"/>
                    </a:solidFill>
                    <a:effectLst/>
                  </a:rPr>
                </a:br>
                <a:endParaRPr lang="en-US" sz="1900" b="0" i="0" dirty="0">
                  <a:solidFill>
                    <a:srgbClr val="242021"/>
                  </a:solidFill>
                  <a:effectLst/>
                </a:endParaRPr>
              </a:p>
              <a:p>
                <a:pPr marL="0" indent="0">
                  <a:buNone/>
                </a:pPr>
                <a:r>
                  <a:rPr lang="en-US" sz="1900" b="1" i="0" dirty="0">
                    <a:solidFill>
                      <a:srgbClr val="004F8F"/>
                    </a:solidFill>
                    <a:effectLst/>
                  </a:rPr>
                  <a:t>Solution</a:t>
                </a:r>
                <a:br>
                  <a:rPr lang="en-US" sz="1900" b="1" i="0" dirty="0">
                    <a:solidFill>
                      <a:srgbClr val="004F8F"/>
                    </a:solidFill>
                    <a:effectLst/>
                  </a:rPr>
                </a:br>
                <a:r>
                  <a:rPr lang="en-US" sz="1900" b="0" i="0" dirty="0">
                    <a:solidFill>
                      <a:srgbClr val="242021"/>
                    </a:solidFill>
                    <a:effectLst/>
                  </a:rPr>
                  <a:t>The state is selecting four companies from a group of 16, so </a:t>
                </a:r>
                <a:r>
                  <a:rPr lang="en-US" sz="1900" b="0" i="1" dirty="0">
                    <a:solidFill>
                      <a:srgbClr val="242021"/>
                    </a:solidFill>
                    <a:effectLst/>
                  </a:rPr>
                  <a:t>n </a:t>
                </a:r>
                <a:r>
                  <a:rPr lang="en-US" sz="1900" b="0" i="0" dirty="0">
                    <a:solidFill>
                      <a:srgbClr val="242021"/>
                    </a:solidFill>
                    <a:effectLst/>
                  </a:rPr>
                  <a:t>= 16 and </a:t>
                </a:r>
                <a:r>
                  <a:rPr lang="en-US" sz="1900" b="0" i="1" dirty="0">
                    <a:solidFill>
                      <a:srgbClr val="242021"/>
                    </a:solidFill>
                    <a:effectLst/>
                  </a:rPr>
                  <a:t>r </a:t>
                </a:r>
                <a:r>
                  <a:rPr lang="en-US" sz="1900" b="0" i="0" dirty="0">
                    <a:solidFill>
                      <a:srgbClr val="242021"/>
                    </a:solidFill>
                    <a:effectLst/>
                  </a:rPr>
                  <a:t>= 4.</a:t>
                </a:r>
                <a:br>
                  <a:rPr lang="en-US" sz="1900" b="0" i="0" dirty="0">
                    <a:solidFill>
                      <a:srgbClr val="242021"/>
                    </a:solidFill>
                    <a:effectLst/>
                  </a:rPr>
                </a:br>
                <a:endParaRPr lang="en-US" sz="1900" b="0" i="0" dirty="0">
                  <a:solidFill>
                    <a:srgbClr val="242021"/>
                  </a:solidFill>
                  <a:effectLst/>
                </a:endParaRPr>
              </a:p>
              <a:p>
                <a:pPr marL="0" indent="0">
                  <a:buNone/>
                </a:pPr>
                <a:r>
                  <a:rPr lang="en-US" sz="1900" b="0" i="0" dirty="0">
                    <a:solidFill>
                      <a:srgbClr val="242021"/>
                    </a:solidFill>
                    <a:effectLst/>
                  </a:rPr>
                  <a:t>Because order is not important, there are </a:t>
                </a:r>
                <a:r>
                  <a:rPr lang="en-US" sz="1900" b="0" i="1" dirty="0" err="1">
                    <a:solidFill>
                      <a:srgbClr val="242021"/>
                    </a:solidFill>
                    <a:effectLst/>
                  </a:rPr>
                  <a:t>nCr</a:t>
                </a:r>
                <a:r>
                  <a:rPr lang="en-US" sz="1900" b="0" i="1" dirty="0">
                    <a:solidFill>
                      <a:srgbClr val="242021"/>
                    </a:solidFill>
                    <a:effectLst/>
                  </a:rPr>
                  <a:t> </a:t>
                </a:r>
                <a:r>
                  <a:rPr lang="en-US" sz="1900" b="0" i="0" dirty="0">
                    <a:solidFill>
                      <a:srgbClr val="242021"/>
                    </a:solidFill>
                    <a:effectLst/>
                  </a:rPr>
                  <a:t>= 16</a:t>
                </a:r>
                <a:r>
                  <a:rPr lang="en-US" sz="1900" b="0" i="1" dirty="0">
                    <a:solidFill>
                      <a:srgbClr val="242021"/>
                    </a:solidFill>
                    <a:effectLst/>
                  </a:rPr>
                  <a:t>C</a:t>
                </a:r>
                <a:r>
                  <a:rPr lang="en-US" sz="1900" b="0" i="0" dirty="0">
                    <a:solidFill>
                      <a:srgbClr val="242021"/>
                    </a:solidFill>
                    <a:effectLst/>
                  </a:rPr>
                  <a:t>4 = </a:t>
                </a:r>
                <a14:m>
                  <m:oMath xmlns:m="http://schemas.openxmlformats.org/officeDocument/2006/math">
                    <m:f>
                      <m:fPr>
                        <m:ctrlPr>
                          <a:rPr lang="en-US" sz="1900" b="0" i="1" smtClean="0">
                            <a:solidFill>
                              <a:srgbClr val="242021"/>
                            </a:solidFill>
                            <a:effectLst/>
                            <a:latin typeface="Cambria Math" panose="02040503050406030204" pitchFamily="18" charset="0"/>
                          </a:rPr>
                        </m:ctrlPr>
                      </m:fPr>
                      <m:num>
                        <m:r>
                          <a:rPr lang="en-US" sz="1900" b="0" i="1" smtClean="0">
                            <a:solidFill>
                              <a:srgbClr val="242021"/>
                            </a:solidFill>
                            <a:effectLst/>
                            <a:latin typeface="Cambria Math" panose="02040503050406030204" pitchFamily="18" charset="0"/>
                          </a:rPr>
                          <m:t>16!</m:t>
                        </m:r>
                      </m:num>
                      <m:den>
                        <m:d>
                          <m:dPr>
                            <m:ctrlPr>
                              <a:rPr lang="en-US" sz="1900" b="0" i="1" smtClean="0">
                                <a:solidFill>
                                  <a:srgbClr val="242021"/>
                                </a:solidFill>
                                <a:effectLst/>
                                <a:latin typeface="Cambria Math" panose="02040503050406030204" pitchFamily="18" charset="0"/>
                              </a:rPr>
                            </m:ctrlPr>
                          </m:dPr>
                          <m:e>
                            <m:r>
                              <a:rPr lang="en-US" sz="1900" b="0" i="1" smtClean="0">
                                <a:solidFill>
                                  <a:srgbClr val="242021"/>
                                </a:solidFill>
                                <a:effectLst/>
                                <a:latin typeface="Cambria Math" panose="02040503050406030204" pitchFamily="18" charset="0"/>
                              </a:rPr>
                              <m:t>16−4</m:t>
                            </m:r>
                          </m:e>
                        </m:d>
                        <m:r>
                          <a:rPr lang="en-US" sz="1900" b="0" i="1" smtClean="0">
                            <a:solidFill>
                              <a:srgbClr val="242021"/>
                            </a:solidFill>
                            <a:effectLst/>
                            <a:latin typeface="Cambria Math" panose="02040503050406030204" pitchFamily="18" charset="0"/>
                          </a:rPr>
                          <m:t>!  4!</m:t>
                        </m:r>
                      </m:den>
                    </m:f>
                  </m:oMath>
                </a14:m>
                <a:r>
                  <a:rPr lang="en-US" sz="1900" b="0" i="0" dirty="0">
                    <a:solidFill>
                      <a:srgbClr val="242021"/>
                    </a:solidFill>
                    <a:effectLst/>
                  </a:rPr>
                  <a:t> = </a:t>
                </a:r>
                <a14:m>
                  <m:oMath xmlns:m="http://schemas.openxmlformats.org/officeDocument/2006/math">
                    <m:f>
                      <m:fPr>
                        <m:ctrlPr>
                          <a:rPr lang="en-US" sz="1900" b="0" i="1" smtClean="0">
                            <a:solidFill>
                              <a:srgbClr val="242021"/>
                            </a:solidFill>
                            <a:effectLst/>
                            <a:latin typeface="Cambria Math" panose="02040503050406030204" pitchFamily="18" charset="0"/>
                          </a:rPr>
                        </m:ctrlPr>
                      </m:fPr>
                      <m:num>
                        <m:r>
                          <a:rPr lang="en-US" sz="1900" b="0" i="1" smtClean="0">
                            <a:solidFill>
                              <a:srgbClr val="242021"/>
                            </a:solidFill>
                            <a:effectLst/>
                            <a:latin typeface="Cambria Math" panose="02040503050406030204" pitchFamily="18" charset="0"/>
                          </a:rPr>
                          <m:t>16!</m:t>
                        </m:r>
                      </m:num>
                      <m:den>
                        <m:r>
                          <a:rPr lang="en-US" sz="1900" b="0" i="1" smtClean="0">
                            <a:solidFill>
                              <a:srgbClr val="242021"/>
                            </a:solidFill>
                            <a:effectLst/>
                            <a:latin typeface="Cambria Math" panose="02040503050406030204" pitchFamily="18" charset="0"/>
                          </a:rPr>
                          <m:t>12!  4!</m:t>
                        </m:r>
                      </m:den>
                    </m:f>
                  </m:oMath>
                </a14:m>
                <a:r>
                  <a:rPr lang="en-US" sz="1900" b="0" i="0" dirty="0">
                    <a:solidFill>
                      <a:srgbClr val="242021"/>
                    </a:solidFill>
                    <a:effectLst/>
                  </a:rPr>
                  <a:t> = 1820</a:t>
                </a:r>
                <a:br>
                  <a:rPr lang="en-US" sz="1900" b="0" i="0" dirty="0">
                    <a:solidFill>
                      <a:srgbClr val="242021"/>
                    </a:solidFill>
                    <a:effectLst/>
                  </a:rPr>
                </a:br>
                <a:endParaRPr lang="en-US" sz="1900" b="0" i="0" dirty="0">
                  <a:solidFill>
                    <a:srgbClr val="242021"/>
                  </a:solidFill>
                  <a:effectLst/>
                </a:endParaRPr>
              </a:p>
              <a:p>
                <a:pPr marL="0" indent="0">
                  <a:buNone/>
                </a:pPr>
                <a:r>
                  <a:rPr lang="en-US" sz="1900" b="1" i="1" dirty="0">
                    <a:solidFill>
                      <a:srgbClr val="242021"/>
                    </a:solidFill>
                    <a:effectLst/>
                  </a:rPr>
                  <a:t>Interpretation </a:t>
                </a:r>
                <a:r>
                  <a:rPr lang="en-US" sz="1900" b="0" i="0" dirty="0">
                    <a:solidFill>
                      <a:srgbClr val="242021"/>
                    </a:solidFill>
                    <a:effectLst/>
                  </a:rPr>
                  <a:t>There are 1820 different combinations of four companies that can be selected from the 16 bidding companies.</a:t>
                </a:r>
                <a:r>
                  <a:rPr lang="en-US" sz="1900" dirty="0"/>
                  <a:t> </a:t>
                </a:r>
              </a:p>
              <a:p>
                <a:pPr marL="0" indent="0">
                  <a:buNone/>
                </a:pPr>
                <a:r>
                  <a:rPr lang="en-US" sz="1900" b="1" dirty="0"/>
                  <a:t>Note: </a:t>
                </a:r>
              </a:p>
              <a:p>
                <a:pPr marL="457200" indent="-457200">
                  <a:buAutoNum type="arabicPeriod"/>
                </a:pPr>
                <a:r>
                  <a:rPr lang="en-US" sz="1900" dirty="0"/>
                  <a:t>Use permutations when the arrangement or sequence of items is important</a:t>
                </a:r>
              </a:p>
              <a:p>
                <a:pPr marL="457200" indent="-457200">
                  <a:buAutoNum type="arabicPeriod"/>
                </a:pPr>
                <a:r>
                  <a:rPr lang="en-US" sz="1900" dirty="0"/>
                  <a:t>Use combinations when only the selection of items matter not the order.</a:t>
                </a:r>
              </a:p>
              <a:p>
                <a:pPr marL="0" indent="0">
                  <a:buNone/>
                </a:pPr>
                <a:endParaRPr lang="en-US" sz="2400" dirty="0"/>
              </a:p>
              <a:p>
                <a:pPr marL="0" indent="0">
                  <a:buNone/>
                </a:pPr>
                <a:endParaRPr lang="en-US" sz="2400" dirty="0">
                  <a:effectLst/>
                  <a:latin typeface="Calibri" panose="020F0502020204030204" pitchFamily="34" charset="0"/>
                  <a:ea typeface="Times New Roman" panose="02020603050405020304" pitchFamily="18" charset="0"/>
                </a:endParaRPr>
              </a:p>
              <a:p>
                <a:pPr marL="0" indent="0">
                  <a:buNone/>
                </a:pPr>
                <a:endParaRPr lang="en-US" sz="2400" dirty="0">
                  <a:effectLst/>
                  <a:latin typeface="Calibri" panose="020F0502020204030204" pitchFamily="34" charset="0"/>
                  <a:ea typeface="Times New Roman" panose="02020603050405020304" pitchFamily="18" charset="0"/>
                </a:endParaRPr>
              </a:p>
              <a:p>
                <a:pPr marL="0" indent="0">
                  <a:buNone/>
                </a:pPr>
                <a:endParaRPr lang="en-US" dirty="0">
                  <a:latin typeface="Calibri" panose="020F0502020204030204" pitchFamily="34" charset="0"/>
                  <a:ea typeface="Times New Roman" panose="02020603050405020304" pitchFamily="18" charset="0"/>
                </a:endParaRPr>
              </a:p>
              <a:p>
                <a:pPr marL="0" indent="0">
                  <a:buNone/>
                </a:pPr>
                <a:endParaRPr lang="en-US" sz="1800" i="1" dirty="0">
                  <a:effectLst/>
                  <a:latin typeface="Cambria Math" panose="02040503050406030204" pitchFamily="18" charset="0"/>
                  <a:ea typeface="Times New Roman" panose="02020603050405020304" pitchFamily="18" charset="0"/>
                  <a:cs typeface="Times New Roman" panose="020206030504050203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0347C463-800C-4DC5-8C86-C05241ED30C8}"/>
                  </a:ext>
                </a:extLst>
              </p:cNvPr>
              <p:cNvSpPr>
                <a:spLocks noGrp="1" noRot="1" noChangeAspect="1" noMove="1" noResize="1" noEditPoints="1" noAdjustHandles="1" noChangeArrowheads="1" noChangeShapeType="1" noTextEdit="1"/>
              </p:cNvSpPr>
              <p:nvPr>
                <p:ph idx="1"/>
              </p:nvPr>
            </p:nvSpPr>
            <p:spPr>
              <a:xfrm>
                <a:off x="599440" y="497841"/>
                <a:ext cx="11023600" cy="5537200"/>
              </a:xfrm>
              <a:blipFill>
                <a:blip r:embed="rId2"/>
                <a:stretch>
                  <a:fillRect l="-276" t="-77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9E537533-2B58-4033-A1C7-9DACA229BF07}"/>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428971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429701-C274-41EA-8DF5-8A69C4D62389}"/>
                  </a:ext>
                </a:extLst>
              </p:cNvPr>
              <p:cNvSpPr>
                <a:spLocks noGrp="1"/>
              </p:cNvSpPr>
              <p:nvPr>
                <p:ph idx="1"/>
              </p:nvPr>
            </p:nvSpPr>
            <p:spPr>
              <a:xfrm>
                <a:off x="672860" y="690113"/>
                <a:ext cx="10972799" cy="5710687"/>
              </a:xfrm>
            </p:spPr>
            <p:txBody>
              <a:bodyPr>
                <a:noAutofit/>
              </a:bodyPr>
              <a:lstStyle/>
              <a:p>
                <a:pPr marL="0" indent="0">
                  <a:buNone/>
                </a:pPr>
                <a:r>
                  <a:rPr lang="en-US" sz="1600" b="1" dirty="0"/>
                  <a:t>Bayes' Theorem</a:t>
                </a:r>
                <a:endParaRPr lang="en-US" sz="1600" dirty="0"/>
              </a:p>
              <a:p>
                <a:pPr marL="0" indent="0">
                  <a:buNone/>
                </a:pPr>
                <a:r>
                  <a:rPr lang="en-US" dirty="0"/>
                  <a:t>It is the extension of the conditional probability. It helps to revise the </a:t>
                </a:r>
                <a:r>
                  <a:rPr lang="en-US" b="1" dirty="0"/>
                  <a:t>prior estimates</a:t>
                </a:r>
                <a:r>
                  <a:rPr lang="en-US" dirty="0"/>
                  <a:t> of the probability on the basis of </a:t>
                </a:r>
                <a:r>
                  <a:rPr lang="en-US" b="1" dirty="0"/>
                  <a:t>additional information </a:t>
                </a:r>
                <a:r>
                  <a:rPr lang="en-US" dirty="0"/>
                  <a:t>or new information.</a:t>
                </a:r>
              </a:p>
              <a:p>
                <a:pPr marL="0" indent="0">
                  <a:buNone/>
                </a:pPr>
                <a:r>
                  <a:rPr lang="en-US" dirty="0"/>
                  <a:t>Let A and B are any two events from a sample space S. Using our understanding of conditional probability, we have:</a:t>
                </a:r>
              </a:p>
              <a:p>
                <a:pPr marL="0" indent="0">
                  <a:buNone/>
                </a:pPr>
                <a:r>
                  <a:rPr lang="en-US" dirty="0"/>
                  <a:t>	P(A/B)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 </m:t>
                        </m:r>
                        <m:r>
                          <a:rPr lang="en-US" sz="2400" b="0" i="1" smtClean="0">
                            <a:latin typeface="Cambria Math" panose="02040503050406030204" pitchFamily="18" charset="0"/>
                          </a:rPr>
                          <m:t>𝑎𝑛𝑑</m:t>
                        </m:r>
                        <m:r>
                          <a:rPr lang="en-US" sz="2400" b="0" i="1" smtClean="0">
                            <a:latin typeface="Cambria Math" panose="02040503050406030204" pitchFamily="18" charset="0"/>
                          </a:rPr>
                          <m:t> </m:t>
                        </m:r>
                        <m:r>
                          <a:rPr lang="en-US" sz="2400" b="0" i="1" smtClean="0">
                            <a:latin typeface="Cambria Math" panose="02040503050406030204" pitchFamily="18" charset="0"/>
                          </a:rPr>
                          <m:t>𝐵</m:t>
                        </m:r>
                        <m:r>
                          <a:rPr lang="en-US" sz="2400" b="0" i="1" smtClean="0">
                            <a:latin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𝐵</m:t>
                        </m:r>
                        <m:r>
                          <a:rPr lang="en-US" sz="2400" b="0" i="1" smtClean="0">
                            <a:latin typeface="Cambria Math" panose="02040503050406030204" pitchFamily="18" charset="0"/>
                          </a:rPr>
                          <m:t>)</m:t>
                        </m:r>
                      </m:den>
                    </m:f>
                  </m:oMath>
                </a14:m>
                <a:r>
                  <a:rPr lang="en-US" dirty="0"/>
                  <a:t> </a:t>
                </a:r>
              </a:p>
              <a:p>
                <a:pPr marL="0" indent="0">
                  <a:buNone/>
                </a:pPr>
                <a:r>
                  <a:rPr lang="en-US" dirty="0"/>
                  <a:t>Similarly,</a:t>
                </a:r>
              </a:p>
              <a:p>
                <a:pPr marL="0" indent="0">
                  <a:buNone/>
                </a:pPr>
                <a:r>
                  <a:rPr lang="en-US" dirty="0"/>
                  <a:t>	P(B/A)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 </m:t>
                        </m:r>
                        <m:r>
                          <a:rPr lang="en-US" sz="2400" b="0" i="1" smtClean="0">
                            <a:latin typeface="Cambria Math" panose="02040503050406030204" pitchFamily="18" charset="0"/>
                          </a:rPr>
                          <m:t>𝑎𝑛𝑑</m:t>
                        </m:r>
                        <m:r>
                          <a:rPr lang="en-US" sz="2400" b="0" i="1" smtClean="0">
                            <a:latin typeface="Cambria Math" panose="02040503050406030204" pitchFamily="18" charset="0"/>
                          </a:rPr>
                          <m:t> </m:t>
                        </m:r>
                        <m:r>
                          <a:rPr lang="en-US" sz="2400" b="0" i="1" smtClean="0">
                            <a:latin typeface="Cambria Math" panose="02040503050406030204" pitchFamily="18" charset="0"/>
                          </a:rPr>
                          <m:t>𝐵</m:t>
                        </m:r>
                        <m:r>
                          <a:rPr lang="en-US" sz="2400" b="0" i="1" smtClean="0">
                            <a:latin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m:t>
                        </m:r>
                      </m:den>
                    </m:f>
                  </m:oMath>
                </a14:m>
                <a:endParaRPr lang="en-US" sz="2400" dirty="0"/>
              </a:p>
              <a:p>
                <a:pPr marL="0" indent="0">
                  <a:buNone/>
                </a:pPr>
                <a:r>
                  <a:rPr lang="en-US" dirty="0"/>
                  <a:t>It follows that, </a:t>
                </a:r>
              </a:p>
              <a:p>
                <a:pPr marL="0" indent="0">
                  <a:buNone/>
                </a:pPr>
                <a:r>
                  <a:rPr lang="en-US" dirty="0"/>
                  <a:t>P(A and B) = P(A / B) * P(B) = P(B / A) * P(A)</a:t>
                </a:r>
              </a:p>
              <a:p>
                <a:pPr marL="0" indent="0">
                  <a:buNone/>
                </a:pPr>
                <a:r>
                  <a:rPr lang="en-US" dirty="0"/>
                  <a:t>Thus, P(A/B)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𝑃</m:t>
                        </m:r>
                        <m:r>
                          <a:rPr lang="en-US" sz="2400" b="0" i="1" smtClean="0">
                            <a:latin typeface="Cambria Math" panose="02040503050406030204" pitchFamily="18" charset="0"/>
                          </a:rPr>
                          <m:t> </m:t>
                        </m:r>
                        <m:d>
                          <m:dPr>
                            <m:ctrlPr>
                              <a:rPr lang="en-US" sz="2400" b="0" i="1" smtClean="0">
                                <a:latin typeface="Cambria Math" panose="02040503050406030204" pitchFamily="18" charset="0"/>
                              </a:rPr>
                            </m:ctrlPr>
                          </m:dPr>
                          <m:e>
                            <m:f>
                              <m:fPr>
                                <m:type m:val="lin"/>
                                <m:ctrlPr>
                                  <a:rPr lang="en-US" sz="2400" b="0" i="1" smtClean="0">
                                    <a:latin typeface="Cambria Math" panose="02040503050406030204" pitchFamily="18" charset="0"/>
                                  </a:rPr>
                                </m:ctrlPr>
                              </m:fPr>
                              <m:num>
                                <m:r>
                                  <a:rPr lang="en-US" sz="2400" b="0" i="1" smtClean="0">
                                    <a:latin typeface="Cambria Math" panose="02040503050406030204" pitchFamily="18" charset="0"/>
                                  </a:rPr>
                                  <m:t>𝐵</m:t>
                                </m:r>
                              </m:num>
                              <m:den>
                                <m:r>
                                  <a:rPr lang="en-US" sz="2400" b="0" i="1" smtClean="0">
                                    <a:latin typeface="Cambria Math" panose="02040503050406030204" pitchFamily="18" charset="0"/>
                                  </a:rPr>
                                  <m:t>𝐴</m:t>
                                </m:r>
                              </m:den>
                            </m:f>
                          </m:e>
                        </m:d>
                        <m:r>
                          <a:rPr lang="en-US" sz="2400" b="0" i="1" smtClean="0">
                            <a:latin typeface="Cambria Math" panose="02040503050406030204" pitchFamily="18" charset="0"/>
                          </a:rPr>
                          <m:t> ∗ </m:t>
                        </m:r>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𝐵</m:t>
                        </m:r>
                        <m:r>
                          <a:rPr lang="en-US" sz="2400" b="0" i="1" smtClean="0">
                            <a:latin typeface="Cambria Math" panose="02040503050406030204" pitchFamily="18" charset="0"/>
                          </a:rPr>
                          <m:t>)</m:t>
                        </m:r>
                      </m:den>
                    </m:f>
                  </m:oMath>
                </a14:m>
                <a:endParaRPr lang="en-US" sz="2400" dirty="0"/>
              </a:p>
              <a:p>
                <a:pPr marL="0" indent="0">
                  <a:buNone/>
                </a:pPr>
                <a:r>
                  <a:rPr lang="en-US" dirty="0"/>
                  <a:t>Equivalently, Bayes Theorem can be written as: </a:t>
                </a:r>
              </a:p>
              <a:p>
                <a:pPr marL="0" indent="0">
                  <a:buNone/>
                </a:pPr>
                <a:r>
                  <a:rPr lang="en-US" dirty="0"/>
                  <a:t>	posterior = likelihood * prior / evidence</a:t>
                </a:r>
              </a:p>
            </p:txBody>
          </p:sp>
        </mc:Choice>
        <mc:Fallback xmlns="">
          <p:sp>
            <p:nvSpPr>
              <p:cNvPr id="3" name="Content Placeholder 2">
                <a:extLst>
                  <a:ext uri="{FF2B5EF4-FFF2-40B4-BE49-F238E27FC236}">
                    <a16:creationId xmlns:a16="http://schemas.microsoft.com/office/drawing/2014/main" id="{A7429701-C274-41EA-8DF5-8A69C4D62389}"/>
                  </a:ext>
                </a:extLst>
              </p:cNvPr>
              <p:cNvSpPr>
                <a:spLocks noGrp="1" noRot="1" noChangeAspect="1" noMove="1" noResize="1" noEditPoints="1" noAdjustHandles="1" noChangeArrowheads="1" noChangeShapeType="1" noTextEdit="1"/>
              </p:cNvSpPr>
              <p:nvPr>
                <p:ph idx="1"/>
              </p:nvPr>
            </p:nvSpPr>
            <p:spPr>
              <a:xfrm>
                <a:off x="672860" y="690113"/>
                <a:ext cx="10972799" cy="5710687"/>
              </a:xfrm>
              <a:blipFill>
                <a:blip r:embed="rId2"/>
                <a:stretch>
                  <a:fillRect l="-444" t="-320" b="-160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8A0B4D3-73D1-4264-865E-315B91CEB640}"/>
              </a:ext>
            </a:extLst>
          </p:cNvPr>
          <p:cNvSpPr>
            <a:spLocks noGrp="1"/>
          </p:cNvSpPr>
          <p:nvPr>
            <p:ph type="ftr" sz="quarter" idx="11"/>
          </p:nvPr>
        </p:nvSpPr>
        <p:spPr/>
        <p:txBody>
          <a:bodyPr/>
          <a:lstStyle/>
          <a:p>
            <a:r>
              <a:rPr lang="en-US"/>
              <a:t>Copy Right  (C)  Santosh Chhatkuli</a:t>
            </a:r>
            <a:endParaRPr lang="en-US" dirty="0"/>
          </a:p>
        </p:txBody>
      </p:sp>
      <p:pic>
        <p:nvPicPr>
          <p:cNvPr id="6" name="Picture 5">
            <a:extLst>
              <a:ext uri="{FF2B5EF4-FFF2-40B4-BE49-F238E27FC236}">
                <a16:creationId xmlns:a16="http://schemas.microsoft.com/office/drawing/2014/main" id="{C4DEA8F5-546F-4111-BE6C-034B71BFC082}"/>
              </a:ext>
            </a:extLst>
          </p:cNvPr>
          <p:cNvPicPr>
            <a:picLocks noChangeAspect="1"/>
          </p:cNvPicPr>
          <p:nvPr/>
        </p:nvPicPr>
        <p:blipFill>
          <a:blip r:embed="rId3"/>
          <a:stretch>
            <a:fillRect/>
          </a:stretch>
        </p:blipFill>
        <p:spPr>
          <a:xfrm>
            <a:off x="7596541" y="2583537"/>
            <a:ext cx="3597216" cy="2091204"/>
          </a:xfrm>
          <a:prstGeom prst="rect">
            <a:avLst/>
          </a:prstGeom>
        </p:spPr>
      </p:pic>
      <p:sp>
        <p:nvSpPr>
          <p:cNvPr id="7" name="Rectangle 1">
            <a:extLst>
              <a:ext uri="{FF2B5EF4-FFF2-40B4-BE49-F238E27FC236}">
                <a16:creationId xmlns:a16="http://schemas.microsoft.com/office/drawing/2014/main" id="{219DEBBB-0243-4EED-9B01-9AAAA43AAA1E}"/>
              </a:ext>
            </a:extLst>
          </p:cNvPr>
          <p:cNvSpPr>
            <a:spLocks noChangeArrowheads="1"/>
          </p:cNvSpPr>
          <p:nvPr/>
        </p:nvSpPr>
        <p:spPr bwMode="auto">
          <a:xfrm>
            <a:off x="0" y="0"/>
            <a:ext cx="12192000" cy="45720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38050" rIns="0" bIns="23805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333333"/>
                </a:solidFill>
                <a:effectLst/>
                <a:latin typeface="Monaco"/>
              </a:rPr>
              <a:t>P(A ∩ B) = P(A|B) * P(B) = P(B|A) * P(A)</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76648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B76C92-76B9-4C5A-BE6F-0E0EB497574B}"/>
              </a:ext>
            </a:extLst>
          </p:cNvPr>
          <p:cNvSpPr>
            <a:spLocks noGrp="1"/>
          </p:cNvSpPr>
          <p:nvPr>
            <p:ph idx="1"/>
          </p:nvPr>
        </p:nvSpPr>
        <p:spPr>
          <a:xfrm>
            <a:off x="621102" y="603849"/>
            <a:ext cx="11050438" cy="5431191"/>
          </a:xfrm>
        </p:spPr>
        <p:txBody>
          <a:bodyPr>
            <a:noAutofit/>
          </a:bodyPr>
          <a:lstStyle/>
          <a:p>
            <a:pPr marL="0" indent="0">
              <a:buNone/>
            </a:pPr>
            <a:r>
              <a:rPr lang="en-US" dirty="0"/>
              <a:t>Formulae for Bayes theorem</a:t>
            </a:r>
          </a:p>
          <a:p>
            <a:pPr marL="0" indent="0">
              <a:buNone/>
            </a:pPr>
            <a:r>
              <a:rPr lang="en-US" dirty="0"/>
              <a:t>	</a:t>
            </a:r>
          </a:p>
          <a:p>
            <a:pPr marL="0" indent="0">
              <a:buNone/>
            </a:pPr>
            <a:endParaRPr lang="en-US" dirty="0"/>
          </a:p>
          <a:p>
            <a:pPr marL="0" indent="0">
              <a:buNone/>
            </a:pPr>
            <a:endParaRPr lang="en-US" dirty="0"/>
          </a:p>
          <a:p>
            <a:pPr marL="0" indent="0">
              <a:buNone/>
            </a:pPr>
            <a:r>
              <a:rPr lang="en-US" dirty="0"/>
              <a:t>Let us now understand each term of the Bayes’ Theorem formula in detail –</a:t>
            </a:r>
          </a:p>
          <a:p>
            <a:pPr marL="0" indent="0">
              <a:buNone/>
            </a:pPr>
            <a:r>
              <a:rPr lang="en-US" b="1" dirty="0">
                <a:solidFill>
                  <a:srgbClr val="FF0000"/>
                </a:solidFill>
              </a:rPr>
              <a:t>P(H | E)</a:t>
            </a:r>
            <a:r>
              <a:rPr lang="en-US" dirty="0"/>
              <a:t> – This is referred to as the posterior probability. It denotes the conditional probability of H (hypothesis), given the evidence E.</a:t>
            </a:r>
          </a:p>
          <a:p>
            <a:pPr marL="0" indent="0">
              <a:buNone/>
            </a:pPr>
            <a:r>
              <a:rPr lang="en-US" b="1" dirty="0">
                <a:solidFill>
                  <a:srgbClr val="FF0000"/>
                </a:solidFill>
              </a:rPr>
              <a:t>P(E | H) </a:t>
            </a:r>
            <a:r>
              <a:rPr lang="en-US" dirty="0"/>
              <a:t>– It denotes the likelihood. It is the conditional probability of the occurrence of the evidence E, given the hypothesis H. It calculates the probability of the evidence, considering that the assumed hypothesis holds true.</a:t>
            </a:r>
          </a:p>
          <a:p>
            <a:pPr marL="0" indent="0">
              <a:buNone/>
            </a:pPr>
            <a:r>
              <a:rPr lang="en-US" b="1" dirty="0">
                <a:solidFill>
                  <a:srgbClr val="FF0000"/>
                </a:solidFill>
              </a:rPr>
              <a:t>P(H)</a:t>
            </a:r>
            <a:r>
              <a:rPr lang="en-US" dirty="0"/>
              <a:t> – This is referred to as the prior probability. It denotes the original probability of the hypothesis H being true before the implementation of Bayes’ Theorem i.e. initial probability of hypothesis H without seeing the data or the evidence E.</a:t>
            </a:r>
          </a:p>
          <a:p>
            <a:pPr marL="0" indent="0">
              <a:buNone/>
            </a:pPr>
            <a:r>
              <a:rPr lang="en-US" b="1" dirty="0">
                <a:solidFill>
                  <a:srgbClr val="FF0000"/>
                </a:solidFill>
              </a:rPr>
              <a:t>P(E)</a:t>
            </a:r>
            <a:r>
              <a:rPr lang="en-US" dirty="0"/>
              <a:t> – This is the evidence or marginal likelihood. </a:t>
            </a:r>
            <a:r>
              <a:rPr lang="en-US"/>
              <a:t>This is the </a:t>
            </a:r>
            <a:r>
              <a:rPr lang="en-US" dirty="0"/>
              <a:t>probability of the occurrence of evidence E regardless of the hypothesis.</a:t>
            </a:r>
          </a:p>
        </p:txBody>
      </p:sp>
      <p:sp>
        <p:nvSpPr>
          <p:cNvPr id="4" name="Footer Placeholder 3">
            <a:extLst>
              <a:ext uri="{FF2B5EF4-FFF2-40B4-BE49-F238E27FC236}">
                <a16:creationId xmlns:a16="http://schemas.microsoft.com/office/drawing/2014/main" id="{FF30BE94-3EBE-4C68-804C-32CD1CD14AE8}"/>
              </a:ext>
            </a:extLst>
          </p:cNvPr>
          <p:cNvSpPr>
            <a:spLocks noGrp="1"/>
          </p:cNvSpPr>
          <p:nvPr>
            <p:ph type="ftr" sz="quarter" idx="11"/>
          </p:nvPr>
        </p:nvSpPr>
        <p:spPr/>
        <p:txBody>
          <a:bodyPr/>
          <a:lstStyle/>
          <a:p>
            <a:r>
              <a:rPr lang="en-US"/>
              <a:t>Copy Right  (C)  Santosh Chhatkuli</a:t>
            </a:r>
            <a:endParaRPr lang="en-US" dirty="0"/>
          </a:p>
        </p:txBody>
      </p:sp>
      <p:pic>
        <p:nvPicPr>
          <p:cNvPr id="6" name="Picture 5">
            <a:extLst>
              <a:ext uri="{FF2B5EF4-FFF2-40B4-BE49-F238E27FC236}">
                <a16:creationId xmlns:a16="http://schemas.microsoft.com/office/drawing/2014/main" id="{517457DA-5624-49A0-BBF2-9BC5FB35D5BD}"/>
              </a:ext>
            </a:extLst>
          </p:cNvPr>
          <p:cNvPicPr>
            <a:picLocks noChangeAspect="1"/>
          </p:cNvPicPr>
          <p:nvPr/>
        </p:nvPicPr>
        <p:blipFill>
          <a:blip r:embed="rId2"/>
          <a:stretch>
            <a:fillRect/>
          </a:stretch>
        </p:blipFill>
        <p:spPr>
          <a:xfrm>
            <a:off x="2186551" y="1106366"/>
            <a:ext cx="3505689" cy="866896"/>
          </a:xfrm>
          <a:prstGeom prst="rect">
            <a:avLst/>
          </a:prstGeom>
        </p:spPr>
      </p:pic>
    </p:spTree>
    <p:extLst>
      <p:ext uri="{BB962C8B-B14F-4D97-AF65-F5344CB8AC3E}">
        <p14:creationId xmlns:p14="http://schemas.microsoft.com/office/powerpoint/2010/main" val="1018337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14A2FB-3E95-EF6F-EF09-BFF398247C72}"/>
              </a:ext>
            </a:extLst>
          </p:cNvPr>
          <p:cNvSpPr>
            <a:spLocks noGrp="1"/>
          </p:cNvSpPr>
          <p:nvPr>
            <p:ph idx="1"/>
          </p:nvPr>
        </p:nvSpPr>
        <p:spPr>
          <a:xfrm>
            <a:off x="589280" y="548640"/>
            <a:ext cx="10535920" cy="5486400"/>
          </a:xfrm>
        </p:spPr>
        <p:txBody>
          <a:bodyPr/>
          <a:lstStyle/>
          <a:p>
            <a:pPr marL="0" indent="0">
              <a:buNone/>
            </a:pPr>
            <a:r>
              <a:rPr lang="en-US" dirty="0"/>
              <a:t>Let's break down each term:</a:t>
            </a:r>
          </a:p>
          <a:p>
            <a:pPr>
              <a:buFont typeface="+mj-lt"/>
              <a:buAutoNum type="arabicPeriod"/>
            </a:pPr>
            <a:r>
              <a:rPr lang="en-US" b="1" dirty="0"/>
              <a:t>Posterior ( P(H∣E) )</a:t>
            </a:r>
            <a:r>
              <a:rPr lang="en-US" dirty="0"/>
              <a:t>: This is the updated probability of the hypothesis H after considering the new evidence E. It's called the "posterior" because it comes after (post) taking the evidence into account. The posterior combines the prior belief and the likelihood of the evidence.</a:t>
            </a:r>
          </a:p>
          <a:p>
            <a:pPr>
              <a:buFont typeface="+mj-lt"/>
              <a:buAutoNum type="arabicPeriod"/>
            </a:pPr>
            <a:r>
              <a:rPr lang="en-US" b="1" dirty="0"/>
              <a:t>Likelihood ( P(E∣H) )</a:t>
            </a:r>
            <a:r>
              <a:rPr lang="en-US" dirty="0"/>
              <a:t>: The likelihood represents how probable the evidence E is, assuming that the hypothesis H is true. It measures the support that the evidence provides for the hypothesis.</a:t>
            </a:r>
          </a:p>
          <a:p>
            <a:pPr>
              <a:buFont typeface="+mj-lt"/>
              <a:buAutoNum type="arabicPeriod"/>
            </a:pPr>
            <a:r>
              <a:rPr lang="en-US" b="1" dirty="0"/>
              <a:t>Prior ( P(H) )</a:t>
            </a:r>
            <a:r>
              <a:rPr lang="en-US" dirty="0"/>
              <a:t>: The prior probability is the initial belief about the hypothesis H before seeing any evidence. It reflects the degree of belief in the hypothesis based on previous knowledge or assumptions.</a:t>
            </a:r>
          </a:p>
          <a:p>
            <a:pPr>
              <a:buFont typeface="+mj-lt"/>
              <a:buAutoNum type="arabicPeriod"/>
            </a:pPr>
            <a:r>
              <a:rPr lang="en-US" b="1" dirty="0"/>
              <a:t>Evidence ( P(E) )</a:t>
            </a:r>
            <a:r>
              <a:rPr lang="en-US" dirty="0"/>
              <a:t>: The evidence, also known as the marginal likelihood or normalizing constant, is the overall probability of observing the evidence E under all possible hypotheses. It ensures that the posterior probabilities sum to 1. It can be computed as: P(E)=∑P(E/Hi) * P (Hi),  where the sum is over all possible hypotheses </a:t>
            </a:r>
            <a:r>
              <a:rPr lang="en-US" dirty="0" err="1"/>
              <a:t>HiH_iHi</a:t>
            </a:r>
            <a:r>
              <a:rPr lang="en-US" dirty="0"/>
              <a:t>​.</a:t>
            </a:r>
          </a:p>
          <a:p>
            <a:pPr marL="0" indent="0">
              <a:buNone/>
            </a:pPr>
            <a:endParaRPr lang="en-US" dirty="0"/>
          </a:p>
        </p:txBody>
      </p:sp>
      <p:sp>
        <p:nvSpPr>
          <p:cNvPr id="4" name="Footer Placeholder 3">
            <a:extLst>
              <a:ext uri="{FF2B5EF4-FFF2-40B4-BE49-F238E27FC236}">
                <a16:creationId xmlns:a16="http://schemas.microsoft.com/office/drawing/2014/main" id="{A9892481-6887-93BF-9A29-3FC396AF020F}"/>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38915031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8A90EC-6D39-FA2B-B539-DA9A992E1F5C}"/>
              </a:ext>
            </a:extLst>
          </p:cNvPr>
          <p:cNvSpPr>
            <a:spLocks noGrp="1"/>
          </p:cNvSpPr>
          <p:nvPr>
            <p:ph idx="1"/>
          </p:nvPr>
        </p:nvSpPr>
        <p:spPr>
          <a:xfrm>
            <a:off x="660400" y="528320"/>
            <a:ext cx="11054080" cy="5506720"/>
          </a:xfrm>
        </p:spPr>
        <p:txBody>
          <a:bodyPr/>
          <a:lstStyle/>
          <a:p>
            <a:pPr marL="233363" indent="0">
              <a:buNone/>
            </a:pPr>
            <a:r>
              <a:rPr lang="en-US" dirty="0"/>
              <a:t>Suppose we want to diagnose whether a person has a certain disease (hypothesis H) based on a test result (evidence E).</a:t>
            </a:r>
          </a:p>
          <a:p>
            <a:pPr>
              <a:buFont typeface="Arial" panose="020B0604020202020204" pitchFamily="34" charset="0"/>
              <a:buChar char="•"/>
            </a:pPr>
            <a:r>
              <a:rPr lang="en-US" b="1" dirty="0"/>
              <a:t>Prior ( P(H) )</a:t>
            </a:r>
            <a:r>
              <a:rPr lang="en-US" dirty="0"/>
              <a:t>: The initial probability of having the disease before knowing the test result. </a:t>
            </a:r>
          </a:p>
          <a:p>
            <a:pPr marL="0" indent="0">
              <a:buNone/>
            </a:pPr>
            <a:r>
              <a:rPr lang="en-US" dirty="0"/>
              <a:t>   For instance, if 1% of the population has the disease, P(H)=0.01</a:t>
            </a:r>
          </a:p>
          <a:p>
            <a:pPr marL="0" indent="0">
              <a:buNone/>
            </a:pPr>
            <a:endParaRPr lang="en-US" dirty="0"/>
          </a:p>
          <a:p>
            <a:pPr>
              <a:buFont typeface="Arial" panose="020B0604020202020204" pitchFamily="34" charset="0"/>
              <a:buChar char="•"/>
            </a:pPr>
            <a:r>
              <a:rPr lang="en-US" b="1" dirty="0"/>
              <a:t>Likelihood ( P(E∣H) )</a:t>
            </a:r>
            <a:r>
              <a:rPr lang="en-US" dirty="0"/>
              <a:t>: The probability of the test being positive given that the person has the disease. </a:t>
            </a:r>
          </a:p>
          <a:p>
            <a:pPr marL="0" indent="0">
              <a:buNone/>
            </a:pPr>
            <a:r>
              <a:rPr lang="en-US" dirty="0"/>
              <a:t>   For example, if the test is 99% accurate, P(E∣H)=0.99</a:t>
            </a:r>
          </a:p>
          <a:p>
            <a:pPr marL="0" indent="0">
              <a:buNone/>
            </a:pPr>
            <a:endParaRPr lang="en-US" dirty="0"/>
          </a:p>
          <a:p>
            <a:pPr>
              <a:buFont typeface="Arial" panose="020B0604020202020204" pitchFamily="34" charset="0"/>
              <a:buChar char="•"/>
            </a:pPr>
            <a:r>
              <a:rPr lang="en-US" b="1" dirty="0"/>
              <a:t>Evidence ( P(E) )</a:t>
            </a:r>
            <a:r>
              <a:rPr lang="en-US" dirty="0"/>
              <a:t>: The overall probability of getting a positive test result. This includes both those with and without the disease. If the test has a 5% false positive rate and the disease prevalence is 1%, this can be calculated using the law of total probability.</a:t>
            </a:r>
          </a:p>
          <a:p>
            <a:pPr marL="0" indent="0">
              <a:buNone/>
            </a:pPr>
            <a:endParaRPr lang="en-US" dirty="0"/>
          </a:p>
          <a:p>
            <a:pPr>
              <a:buFont typeface="Arial" panose="020B0604020202020204" pitchFamily="34" charset="0"/>
              <a:buChar char="•"/>
            </a:pPr>
            <a:r>
              <a:rPr lang="en-US" b="1" dirty="0"/>
              <a:t>Posterior ( P(H∣E) )</a:t>
            </a:r>
            <a:r>
              <a:rPr lang="en-US" dirty="0"/>
              <a:t>: The updated probability that the person has the disease given the positive test result. This is calculated using Bayes' Theorem.</a:t>
            </a:r>
          </a:p>
        </p:txBody>
      </p:sp>
      <p:sp>
        <p:nvSpPr>
          <p:cNvPr id="4" name="Footer Placeholder 3">
            <a:extLst>
              <a:ext uri="{FF2B5EF4-FFF2-40B4-BE49-F238E27FC236}">
                <a16:creationId xmlns:a16="http://schemas.microsoft.com/office/drawing/2014/main" id="{9942CA06-A719-6FCC-36AE-2DDFB704EF1F}"/>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3485805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981450-C364-4012-8CB7-440DD9141F8E}"/>
                  </a:ext>
                </a:extLst>
              </p:cNvPr>
              <p:cNvSpPr>
                <a:spLocks noGrp="1"/>
              </p:cNvSpPr>
              <p:nvPr>
                <p:ph idx="1"/>
              </p:nvPr>
            </p:nvSpPr>
            <p:spPr>
              <a:xfrm>
                <a:off x="724619" y="586596"/>
                <a:ext cx="10400581" cy="5448444"/>
              </a:xfrm>
            </p:spPr>
            <p:txBody>
              <a:bodyPr/>
              <a:lstStyle/>
              <a:p>
                <a:pPr marL="0" indent="0">
                  <a:buNone/>
                </a:pPr>
                <a:r>
                  <a:rPr lang="en-US" b="1" dirty="0"/>
                  <a:t>Extension of concept:</a:t>
                </a:r>
              </a:p>
              <a:p>
                <a:pPr marL="0" indent="0">
                  <a:buNone/>
                </a:pPr>
                <a:r>
                  <a:rPr lang="en-US" dirty="0"/>
                  <a:t>Let A</a:t>
                </a:r>
                <a:r>
                  <a:rPr lang="en-US" baseline="-25000" dirty="0"/>
                  <a:t>1</a:t>
                </a:r>
                <a:r>
                  <a:rPr lang="en-US" dirty="0"/>
                  <a:t>, A</a:t>
                </a:r>
                <a:r>
                  <a:rPr lang="en-US" baseline="-25000" dirty="0"/>
                  <a:t>2</a:t>
                </a:r>
                <a:r>
                  <a:rPr lang="en-US" dirty="0"/>
                  <a:t>, …, A</a:t>
                </a:r>
                <a:r>
                  <a:rPr lang="en-US" baseline="-25000" dirty="0"/>
                  <a:t>n</a:t>
                </a:r>
                <a:r>
                  <a:rPr lang="en-US" dirty="0"/>
                  <a:t> be a set of mutually exclusive events that together form the sample space S, such that P(A</a:t>
                </a:r>
                <a:r>
                  <a:rPr lang="en-US" baseline="-25000" dirty="0"/>
                  <a:t>k</a:t>
                </a:r>
                <a:r>
                  <a:rPr lang="en-US" dirty="0"/>
                  <a:t>) ≠ 0, k = 1, 2, …, n. Let B be any event from the sample space, such that P(B) ≠ 0.</a:t>
                </a:r>
              </a:p>
              <a:p>
                <a:pPr marL="0" indent="0">
                  <a:buNone/>
                </a:pPr>
                <a:r>
                  <a:rPr lang="en-US" dirty="0"/>
                  <a:t>Then,</a:t>
                </a:r>
              </a:p>
              <a:p>
                <a:pPr marL="0" indent="0">
                  <a:buNone/>
                </a:pPr>
                <a:r>
                  <a:rPr lang="en-US" dirty="0"/>
                  <a:t>	P (A</a:t>
                </a:r>
                <a:r>
                  <a:rPr lang="en-US" baseline="-25000" dirty="0"/>
                  <a:t>k</a:t>
                </a:r>
                <a:r>
                  <a:rPr lang="en-US" dirty="0"/>
                  <a:t> / B)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r>
                              <a:rPr lang="en-US" sz="2400" b="0" i="1" baseline="-25000" smtClean="0">
                                <a:latin typeface="Cambria Math" panose="02040503050406030204" pitchFamily="18" charset="0"/>
                              </a:rPr>
                              <m:t>𝑘</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e>
                        </m:d>
                        <m:r>
                          <a:rPr lang="en-US" sz="2400" b="0" i="1" smtClean="0">
                            <a:latin typeface="Cambria Math" panose="02040503050406030204" pitchFamily="18" charset="0"/>
                            <a:ea typeface="Cambria Math" panose="02040503050406030204" pitchFamily="18" charset="0"/>
                          </a:rPr>
                          <m:t>  </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𝐵</m:t>
                        </m:r>
                        <m:r>
                          <a:rPr lang="en-US" sz="2400" b="0" i="1" smtClean="0">
                            <a:latin typeface="Cambria Math" panose="02040503050406030204" pitchFamily="18" charset="0"/>
                          </a:rPr>
                          <m:t>)</m:t>
                        </m:r>
                      </m:den>
                    </m:f>
                  </m:oMath>
                </a14:m>
                <a:r>
                  <a:rPr lang="en-US" sz="2400" dirty="0"/>
                  <a:t> =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𝑃</m:t>
                        </m:r>
                        <m:r>
                          <a:rPr lang="en-US" sz="2400" b="0" i="1" smtClean="0">
                            <a:latin typeface="Cambria Math" panose="02040503050406030204" pitchFamily="18" charset="0"/>
                          </a:rPr>
                          <m:t> </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 </m:t>
                            </m:r>
                            <m:r>
                              <a:rPr lang="en-US" sz="2400" b="0" i="1" smtClean="0">
                                <a:latin typeface="Cambria Math" panose="02040503050406030204" pitchFamily="18" charset="0"/>
                              </a:rPr>
                              <m:t>𝐵</m:t>
                            </m:r>
                            <m:r>
                              <a:rPr lang="en-US" sz="2400" b="0" i="1" smtClean="0">
                                <a:latin typeface="Cambria Math" panose="02040503050406030204" pitchFamily="18" charset="0"/>
                              </a:rPr>
                              <m:t>/</m:t>
                            </m:r>
                            <m:r>
                              <a:rPr lang="en-US" sz="2400" b="0" i="1" smtClean="0">
                                <a:latin typeface="Cambria Math" panose="02040503050406030204" pitchFamily="18" charset="0"/>
                              </a:rPr>
                              <m:t>𝐴𝐾</m:t>
                            </m:r>
                          </m:e>
                        </m:d>
                        <m:r>
                          <a:rPr lang="en-US" sz="2400" b="0" i="1" smtClean="0">
                            <a:latin typeface="Cambria Math" panose="02040503050406030204" pitchFamily="18" charset="0"/>
                          </a:rPr>
                          <m:t> </m:t>
                        </m:r>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𝐵</m:t>
                        </m:r>
                        <m:r>
                          <a:rPr lang="en-US" sz="2400" b="0" i="1" smtClean="0">
                            <a:latin typeface="Cambria Math" panose="02040503050406030204" pitchFamily="18" charset="0"/>
                          </a:rPr>
                          <m:t>) </m:t>
                        </m:r>
                      </m:num>
                      <m:den>
                        <m:r>
                          <a:rPr lang="en-US" sz="2400" i="1">
                            <a:latin typeface="Cambria Math" panose="02040503050406030204" pitchFamily="18" charset="0"/>
                          </a:rPr>
                          <m:t>𝑃</m:t>
                        </m:r>
                        <m:r>
                          <a:rPr lang="en-US" sz="2400" i="1">
                            <a:latin typeface="Cambria Math" panose="02040503050406030204" pitchFamily="18" charset="0"/>
                          </a:rPr>
                          <m:t>(</m:t>
                        </m:r>
                        <m:r>
                          <a:rPr lang="en-US" sz="2400" i="1">
                            <a:latin typeface="Cambria Math" panose="02040503050406030204" pitchFamily="18" charset="0"/>
                          </a:rPr>
                          <m:t>𝐵</m:t>
                        </m:r>
                        <m:r>
                          <a:rPr lang="en-US" sz="2400" i="1">
                            <a:latin typeface="Cambria Math" panose="02040503050406030204" pitchFamily="18" charset="0"/>
                          </a:rPr>
                          <m:t>)</m:t>
                        </m:r>
                      </m:den>
                    </m:f>
                  </m:oMath>
                </a14:m>
                <a:endParaRPr lang="en-US" sz="2400" dirty="0"/>
              </a:p>
              <a:p>
                <a:pPr marL="0" indent="0">
                  <a:buNone/>
                </a:pPr>
                <a:r>
                  <a:rPr lang="en-US" dirty="0"/>
                  <a:t>Here,</a:t>
                </a:r>
              </a:p>
              <a:p>
                <a:pPr marL="0" indent="0">
                  <a:buNone/>
                </a:pPr>
                <a:r>
                  <a:rPr lang="en-US" dirty="0"/>
                  <a:t>	P(B) = P(B ∩ A</a:t>
                </a:r>
                <a:r>
                  <a:rPr lang="en-US" baseline="-25000" dirty="0"/>
                  <a:t>1</a:t>
                </a:r>
                <a:r>
                  <a:rPr lang="en-US" dirty="0"/>
                  <a:t>) + P(B ∩ A</a:t>
                </a:r>
                <a:r>
                  <a:rPr lang="en-US" baseline="-25000" dirty="0"/>
                  <a:t>2</a:t>
                </a:r>
                <a:r>
                  <a:rPr lang="en-US" dirty="0"/>
                  <a:t>) + … + P(B ∩ A</a:t>
                </a:r>
                <a:r>
                  <a:rPr lang="en-US" baseline="-25000" dirty="0"/>
                  <a:t>n</a:t>
                </a:r>
                <a:r>
                  <a:rPr lang="en-US" dirty="0"/>
                  <a:t>)</a:t>
                </a:r>
              </a:p>
              <a:p>
                <a:pPr marL="0" indent="0">
                  <a:buNone/>
                </a:pPr>
                <a:r>
                  <a:rPr lang="en-US" dirty="0"/>
                  <a:t>	= P(B/A</a:t>
                </a:r>
                <a:r>
                  <a:rPr lang="en-US" baseline="-25000" dirty="0"/>
                  <a:t>1</a:t>
                </a:r>
                <a:r>
                  <a:rPr lang="en-US" dirty="0"/>
                  <a:t>) P(A</a:t>
                </a:r>
                <a:r>
                  <a:rPr lang="en-US" baseline="-25000" dirty="0"/>
                  <a:t>1</a:t>
                </a:r>
                <a:r>
                  <a:rPr lang="en-US" dirty="0"/>
                  <a:t>) + P(B/A</a:t>
                </a:r>
                <a:r>
                  <a:rPr lang="en-US" baseline="-25000" dirty="0"/>
                  <a:t>2</a:t>
                </a:r>
                <a:r>
                  <a:rPr lang="en-US" dirty="0"/>
                  <a:t>) P(A</a:t>
                </a:r>
                <a:r>
                  <a:rPr lang="en-US" baseline="-25000" dirty="0"/>
                  <a:t>2</a:t>
                </a:r>
                <a:r>
                  <a:rPr lang="en-US" dirty="0"/>
                  <a:t>) + … + P(B/A</a:t>
                </a:r>
                <a:r>
                  <a:rPr lang="en-US" baseline="-25000" dirty="0"/>
                  <a:t>n</a:t>
                </a:r>
                <a:r>
                  <a:rPr lang="en-US" dirty="0"/>
                  <a:t>) P(A</a:t>
                </a:r>
                <a:r>
                  <a:rPr lang="en-US" baseline="-25000" dirty="0"/>
                  <a:t>n</a:t>
                </a:r>
                <a:r>
                  <a:rPr lang="en-US" dirty="0"/>
                  <a:t>) = </a:t>
                </a:r>
                <a14:m>
                  <m:oMath xmlns:m="http://schemas.openxmlformats.org/officeDocument/2006/math">
                    <m:nary>
                      <m:naryPr>
                        <m:chr m:val="∑"/>
                        <m:limLoc m:val="undOvr"/>
                        <m:grow m:val="on"/>
                        <m:ctrlPr>
                          <a:rPr lang="en-US" i="1" dirty="0" smtClean="0">
                            <a:latin typeface="Cambria Math" panose="02040503050406030204" pitchFamily="18" charset="0"/>
                          </a:rPr>
                        </m:ctrlPr>
                      </m:naryPr>
                      <m:sub>
                        <m:r>
                          <m:rPr>
                            <m:sty m:val="p"/>
                            <m:brk/>
                            <m:aln/>
                          </m:rPr>
                          <a:rPr lang="en-US" b="0" i="0" dirty="0" smtClean="0">
                            <a:latin typeface="Cambria Math" panose="02040503050406030204" pitchFamily="18" charset="0"/>
                          </a:rPr>
                          <m:t>k</m:t>
                        </m:r>
                        <m:r>
                          <a:rPr lang="en-US" i="0" dirty="0">
                            <a:latin typeface="Cambria Math" panose="02040503050406030204" pitchFamily="18" charset="0"/>
                          </a:rPr>
                          <m:t>=1</m:t>
                        </m:r>
                      </m:sub>
                      <m:sup>
                        <m:r>
                          <a:rPr lang="en-US" i="1" dirty="0">
                            <a:latin typeface="Cambria Math" panose="02040503050406030204" pitchFamily="18" charset="0"/>
                          </a:rPr>
                          <m:t>𝑛</m:t>
                        </m:r>
                      </m:sup>
                      <m:e>
                        <m:r>
                          <a:rPr lang="en-US" i="1" dirty="0">
                            <a:latin typeface="Cambria Math" panose="02040503050406030204" pitchFamily="18" charset="0"/>
                          </a:rPr>
                          <m:t>𝑃</m:t>
                        </m:r>
                        <m:d>
                          <m:dPr>
                            <m:ctrlPr>
                              <a:rPr lang="en-US" i="1" dirty="0">
                                <a:solidFill>
                                  <a:srgbClr val="836967"/>
                                </a:solidFill>
                                <a:latin typeface="Cambria Math" panose="02040503050406030204" pitchFamily="18" charset="0"/>
                              </a:rPr>
                            </m:ctrlPr>
                          </m:dPr>
                          <m:e>
                            <m:f>
                              <m:fPr>
                                <m:type m:val="skw"/>
                                <m:ctrlPr>
                                  <a:rPr lang="en-US" i="1" dirty="0">
                                    <a:solidFill>
                                      <a:srgbClr val="836967"/>
                                    </a:solidFill>
                                    <a:latin typeface="Cambria Math" panose="02040503050406030204" pitchFamily="18" charset="0"/>
                                  </a:rPr>
                                </m:ctrlPr>
                              </m:fPr>
                              <m:num>
                                <m:r>
                                  <a:rPr lang="en-US" i="1" dirty="0">
                                    <a:latin typeface="Cambria Math" panose="02040503050406030204" pitchFamily="18" charset="0"/>
                                  </a:rPr>
                                  <m:t>𝐵</m:t>
                                </m:r>
                              </m:num>
                              <m:den>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𝐴</m:t>
                                    </m:r>
                                  </m:e>
                                  <m:sub>
                                    <m:r>
                                      <a:rPr lang="en-US" i="1" dirty="0" smtClean="0">
                                        <a:latin typeface="Cambria Math" panose="02040503050406030204" pitchFamily="18" charset="0"/>
                                      </a:rPr>
                                      <m:t>𝑘</m:t>
                                    </m:r>
                                  </m:sub>
                                </m:sSub>
                              </m:den>
                            </m:f>
                          </m:e>
                        </m:d>
                      </m:e>
                    </m:nary>
                    <m:r>
                      <a:rPr lang="en-US" i="0" dirty="0">
                        <a:latin typeface="Cambria Math" panose="02040503050406030204" pitchFamily="18" charset="0"/>
                      </a:rPr>
                      <m:t>⋅</m:t>
                    </m:r>
                    <m:r>
                      <a:rPr lang="en-US" i="1" dirty="0">
                        <a:latin typeface="Cambria Math" panose="02040503050406030204" pitchFamily="18" charset="0"/>
                      </a:rPr>
                      <m:t>𝑃</m:t>
                    </m:r>
                    <m:d>
                      <m:dPr>
                        <m:ctrlPr>
                          <a:rPr lang="en-US" i="1" dirty="0">
                            <a:solidFill>
                              <a:srgbClr val="836967"/>
                            </a:solidFill>
                            <a:latin typeface="Cambria Math" panose="02040503050406030204" pitchFamily="18" charset="0"/>
                          </a:rPr>
                        </m:ctrlPr>
                      </m:dPr>
                      <m:e>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𝐴</m:t>
                            </m:r>
                          </m:e>
                          <m:sub>
                            <m:r>
                              <a:rPr lang="en-US" i="1" dirty="0">
                                <a:latin typeface="Cambria Math" panose="02040503050406030204" pitchFamily="18" charset="0"/>
                              </a:rPr>
                              <m:t>𝑘</m:t>
                            </m:r>
                          </m:sub>
                        </m:sSub>
                      </m:e>
                    </m:d>
                  </m:oMath>
                </a14:m>
                <a:endParaRPr lang="en-US" dirty="0"/>
              </a:p>
              <a:p>
                <a:pPr marL="0" indent="0">
                  <a:buNone/>
                </a:pPr>
                <a:r>
                  <a:rPr lang="en-US" dirty="0"/>
                  <a:t>Thus,</a:t>
                </a:r>
              </a:p>
              <a:p>
                <a:pPr marL="0" indent="0">
                  <a:buNone/>
                </a:pPr>
                <a:r>
                  <a:rPr lang="en-US" dirty="0"/>
                  <a:t>	P(A</a:t>
                </a:r>
                <a:r>
                  <a:rPr lang="en-US" baseline="-25000" dirty="0"/>
                  <a:t>k</a:t>
                </a:r>
                <a:r>
                  <a:rPr lang="en-US" dirty="0"/>
                  <a:t> / B) = </a:t>
                </a:r>
                <a14:m>
                  <m:oMath xmlns:m="http://schemas.openxmlformats.org/officeDocument/2006/math">
                    <m:f>
                      <m:fPr>
                        <m:ctrlPr>
                          <a:rPr lang="en-US" sz="2400" i="1" smtClean="0">
                            <a:latin typeface="Cambria Math" panose="02040503050406030204" pitchFamily="18" charset="0"/>
                          </a:rPr>
                        </m:ctrlPr>
                      </m:fPr>
                      <m:num>
                        <m:r>
                          <a:rPr lang="en-US" sz="2400" i="1">
                            <a:latin typeface="Cambria Math" panose="02040503050406030204" pitchFamily="18" charset="0"/>
                          </a:rPr>
                          <m:t>𝑃</m:t>
                        </m:r>
                        <m:r>
                          <a:rPr lang="en-US" sz="2400" i="1">
                            <a:latin typeface="Cambria Math" panose="02040503050406030204" pitchFamily="18" charset="0"/>
                          </a:rPr>
                          <m:t> </m:t>
                        </m:r>
                        <m:d>
                          <m:dPr>
                            <m:ctrlPr>
                              <a:rPr lang="en-US" sz="2400" i="1">
                                <a:latin typeface="Cambria Math" panose="02040503050406030204" pitchFamily="18" charset="0"/>
                              </a:rPr>
                            </m:ctrlPr>
                          </m:dPr>
                          <m:e>
                            <m:r>
                              <a:rPr lang="en-US" sz="2400" i="1">
                                <a:latin typeface="Cambria Math" panose="02040503050406030204" pitchFamily="18" charset="0"/>
                              </a:rPr>
                              <m:t> </m:t>
                            </m:r>
                            <m:r>
                              <a:rPr lang="en-US" sz="2400" i="1">
                                <a:latin typeface="Cambria Math" panose="02040503050406030204" pitchFamily="18" charset="0"/>
                              </a:rPr>
                              <m:t>𝐵</m:t>
                            </m:r>
                            <m:r>
                              <a:rPr lang="en-US" sz="2400" i="1">
                                <a:latin typeface="Cambria Math" panose="02040503050406030204" pitchFamily="18" charset="0"/>
                              </a:rPr>
                              <m:t>/</m:t>
                            </m:r>
                            <m:r>
                              <a:rPr lang="en-US" sz="2400" i="1">
                                <a:latin typeface="Cambria Math" panose="02040503050406030204" pitchFamily="18" charset="0"/>
                              </a:rPr>
                              <m:t>𝐴𝐾</m:t>
                            </m:r>
                          </m:e>
                        </m:d>
                        <m:r>
                          <a:rPr lang="en-US" sz="2400" i="1">
                            <a:latin typeface="Cambria Math" panose="02040503050406030204" pitchFamily="18" charset="0"/>
                          </a:rPr>
                          <m:t> </m:t>
                        </m:r>
                        <m:r>
                          <a:rPr lang="en-US" sz="2400" i="1">
                            <a:latin typeface="Cambria Math" panose="02040503050406030204" pitchFamily="18" charset="0"/>
                          </a:rPr>
                          <m:t>𝑃</m:t>
                        </m:r>
                        <m:r>
                          <a:rPr lang="en-US" sz="2400" i="1">
                            <a:latin typeface="Cambria Math" panose="02040503050406030204" pitchFamily="18" charset="0"/>
                          </a:rPr>
                          <m:t>(</m:t>
                        </m:r>
                        <m:r>
                          <a:rPr lang="en-US" sz="2400" i="1">
                            <a:latin typeface="Cambria Math" panose="02040503050406030204" pitchFamily="18" charset="0"/>
                          </a:rPr>
                          <m:t>𝐵</m:t>
                        </m:r>
                        <m:r>
                          <a:rPr lang="en-US" sz="2400" i="1">
                            <a:latin typeface="Cambria Math" panose="02040503050406030204" pitchFamily="18" charset="0"/>
                          </a:rPr>
                          <m:t>)</m:t>
                        </m:r>
                      </m:num>
                      <m:den>
                        <m:nary>
                          <m:naryPr>
                            <m:chr m:val="∑"/>
                            <m:limLoc m:val="undOvr"/>
                            <m:grow m:val="on"/>
                            <m:ctrlPr>
                              <a:rPr lang="en-US" sz="2400" i="1" dirty="0">
                                <a:latin typeface="Cambria Math" panose="02040503050406030204" pitchFamily="18" charset="0"/>
                              </a:rPr>
                            </m:ctrlPr>
                          </m:naryPr>
                          <m:sub>
                            <m:r>
                              <m:rPr>
                                <m:sty m:val="p"/>
                                <m:brk/>
                                <m:aln/>
                              </m:rPr>
                              <a:rPr lang="en-US" sz="2400" dirty="0">
                                <a:latin typeface="Cambria Math" panose="02040503050406030204" pitchFamily="18" charset="0"/>
                              </a:rPr>
                              <m:t>k</m:t>
                            </m:r>
                            <m:r>
                              <a:rPr lang="en-US" sz="2400" dirty="0">
                                <a:latin typeface="Cambria Math" panose="02040503050406030204" pitchFamily="18" charset="0"/>
                              </a:rPr>
                              <m:t>=1</m:t>
                            </m:r>
                          </m:sub>
                          <m:sup>
                            <m:r>
                              <a:rPr lang="en-US" sz="2400" i="1" dirty="0">
                                <a:latin typeface="Cambria Math" panose="02040503050406030204" pitchFamily="18" charset="0"/>
                              </a:rPr>
                              <m:t>𝑛</m:t>
                            </m:r>
                          </m:sup>
                          <m:e>
                            <m:r>
                              <a:rPr lang="en-US" sz="2400" i="1" dirty="0">
                                <a:latin typeface="Cambria Math" panose="02040503050406030204" pitchFamily="18" charset="0"/>
                              </a:rPr>
                              <m:t>𝑃</m:t>
                            </m:r>
                            <m:d>
                              <m:dPr>
                                <m:ctrlPr>
                                  <a:rPr lang="en-US" sz="2400" i="1" dirty="0">
                                    <a:solidFill>
                                      <a:srgbClr val="836967"/>
                                    </a:solidFill>
                                    <a:latin typeface="Cambria Math" panose="02040503050406030204" pitchFamily="18" charset="0"/>
                                  </a:rPr>
                                </m:ctrlPr>
                              </m:dPr>
                              <m:e>
                                <m:f>
                                  <m:fPr>
                                    <m:type m:val="skw"/>
                                    <m:ctrlPr>
                                      <a:rPr lang="en-US" sz="2400" i="1" dirty="0">
                                        <a:solidFill>
                                          <a:srgbClr val="836967"/>
                                        </a:solidFill>
                                        <a:latin typeface="Cambria Math" panose="02040503050406030204" pitchFamily="18" charset="0"/>
                                      </a:rPr>
                                    </m:ctrlPr>
                                  </m:fPr>
                                  <m:num>
                                    <m:r>
                                      <a:rPr lang="en-US" sz="2400" i="1" dirty="0">
                                        <a:latin typeface="Cambria Math" panose="02040503050406030204" pitchFamily="18" charset="0"/>
                                      </a:rPr>
                                      <m:t>𝐵</m:t>
                                    </m:r>
                                  </m:num>
                                  <m:den>
                                    <m:sSub>
                                      <m:sSubPr>
                                        <m:ctrlPr>
                                          <a:rPr lang="en-US" sz="2400" i="1" dirty="0">
                                            <a:solidFill>
                                              <a:srgbClr val="836967"/>
                                            </a:solidFill>
                                            <a:latin typeface="Cambria Math" panose="02040503050406030204" pitchFamily="18" charset="0"/>
                                          </a:rPr>
                                        </m:ctrlPr>
                                      </m:sSubPr>
                                      <m:e>
                                        <m:r>
                                          <a:rPr lang="en-US" sz="2400" i="1" dirty="0">
                                            <a:latin typeface="Cambria Math" panose="02040503050406030204" pitchFamily="18" charset="0"/>
                                          </a:rPr>
                                          <m:t>𝐴</m:t>
                                        </m:r>
                                      </m:e>
                                      <m:sub>
                                        <m:r>
                                          <a:rPr lang="en-US" sz="2400" i="1" dirty="0">
                                            <a:latin typeface="Cambria Math" panose="02040503050406030204" pitchFamily="18" charset="0"/>
                                          </a:rPr>
                                          <m:t>𝑘</m:t>
                                        </m:r>
                                      </m:sub>
                                    </m:sSub>
                                  </m:den>
                                </m:f>
                              </m:e>
                            </m:d>
                          </m:e>
                        </m:nary>
                        <m:r>
                          <a:rPr lang="en-US" sz="2400" dirty="0">
                            <a:latin typeface="Cambria Math" panose="02040503050406030204" pitchFamily="18" charset="0"/>
                          </a:rPr>
                          <m:t>⋅</m:t>
                        </m:r>
                        <m:r>
                          <a:rPr lang="en-US" sz="2400" i="1" dirty="0">
                            <a:latin typeface="Cambria Math" panose="02040503050406030204" pitchFamily="18" charset="0"/>
                          </a:rPr>
                          <m:t>𝑃</m:t>
                        </m:r>
                        <m:d>
                          <m:dPr>
                            <m:ctrlPr>
                              <a:rPr lang="en-US" sz="2400" i="1" dirty="0">
                                <a:solidFill>
                                  <a:srgbClr val="836967"/>
                                </a:solidFill>
                                <a:latin typeface="Cambria Math" panose="02040503050406030204" pitchFamily="18" charset="0"/>
                              </a:rPr>
                            </m:ctrlPr>
                          </m:dPr>
                          <m:e>
                            <m:sSub>
                              <m:sSubPr>
                                <m:ctrlPr>
                                  <a:rPr lang="en-US" sz="2400" i="1" dirty="0">
                                    <a:solidFill>
                                      <a:srgbClr val="836967"/>
                                    </a:solidFill>
                                    <a:latin typeface="Cambria Math" panose="02040503050406030204" pitchFamily="18" charset="0"/>
                                  </a:rPr>
                                </m:ctrlPr>
                              </m:sSubPr>
                              <m:e>
                                <m:r>
                                  <a:rPr lang="en-US" sz="2400" i="1" dirty="0">
                                    <a:latin typeface="Cambria Math" panose="02040503050406030204" pitchFamily="18" charset="0"/>
                                  </a:rPr>
                                  <m:t>𝐴</m:t>
                                </m:r>
                              </m:e>
                              <m:sub>
                                <m:r>
                                  <a:rPr lang="en-US" sz="2400" i="1" dirty="0">
                                    <a:latin typeface="Cambria Math" panose="02040503050406030204" pitchFamily="18" charset="0"/>
                                  </a:rPr>
                                  <m:t>𝑘</m:t>
                                </m:r>
                              </m:sub>
                            </m:sSub>
                          </m:e>
                        </m:d>
                      </m:den>
                    </m:f>
                  </m:oMath>
                </a14:m>
                <a:endParaRPr lang="en-US" sz="2400" dirty="0"/>
              </a:p>
            </p:txBody>
          </p:sp>
        </mc:Choice>
        <mc:Fallback xmlns="">
          <p:sp>
            <p:nvSpPr>
              <p:cNvPr id="3" name="Content Placeholder 2">
                <a:extLst>
                  <a:ext uri="{FF2B5EF4-FFF2-40B4-BE49-F238E27FC236}">
                    <a16:creationId xmlns:a16="http://schemas.microsoft.com/office/drawing/2014/main" id="{EB981450-C364-4012-8CB7-440DD9141F8E}"/>
                  </a:ext>
                </a:extLst>
              </p:cNvPr>
              <p:cNvSpPr>
                <a:spLocks noGrp="1" noRot="1" noChangeAspect="1" noMove="1" noResize="1" noEditPoints="1" noAdjustHandles="1" noChangeArrowheads="1" noChangeShapeType="1" noTextEdit="1"/>
              </p:cNvSpPr>
              <p:nvPr>
                <p:ph idx="1"/>
              </p:nvPr>
            </p:nvSpPr>
            <p:spPr>
              <a:xfrm>
                <a:off x="724619" y="586596"/>
                <a:ext cx="10400581" cy="5448444"/>
              </a:xfrm>
              <a:blipFill>
                <a:blip r:embed="rId2"/>
                <a:stretch>
                  <a:fillRect l="-528" t="-559"/>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1FBC192B-85A6-4A2F-9446-ED3B2CDDC8B2}"/>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8078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3E56E0-253A-4532-AA4C-6DCF2592223B}"/>
                  </a:ext>
                </a:extLst>
              </p:cNvPr>
              <p:cNvSpPr>
                <a:spLocks noGrp="1"/>
              </p:cNvSpPr>
              <p:nvPr>
                <p:ph idx="1"/>
              </p:nvPr>
            </p:nvSpPr>
            <p:spPr>
              <a:xfrm>
                <a:off x="676894" y="486887"/>
                <a:ext cx="10960923" cy="5688281"/>
              </a:xfrm>
            </p:spPr>
            <p:txBody>
              <a:bodyPr numCol="2">
                <a:normAutofit lnSpcReduction="10000"/>
              </a:bodyPr>
              <a:lstStyle/>
              <a:p>
                <a:pPr marL="0" indent="0">
                  <a:buNone/>
                </a:pPr>
                <a:r>
                  <a:rPr lang="en-US" sz="1400" b="1" dirty="0">
                    <a:solidFill>
                      <a:srgbClr val="00B0F0"/>
                    </a:solidFill>
                  </a:rPr>
                  <a:t>Application</a:t>
                </a:r>
                <a:r>
                  <a:rPr lang="en-US" sz="1400" dirty="0"/>
                  <a:t>: </a:t>
                </a:r>
              </a:p>
              <a:p>
                <a:pPr marL="0" indent="0">
                  <a:buNone/>
                </a:pPr>
                <a:r>
                  <a:rPr lang="en-US" sz="1400" dirty="0"/>
                  <a:t>In a certain plant, three machines M1, M2 and M3 makes 30 %, 45 % and 25% respectively of the products. It is known from the past experience that 2 %, 3 %, and 2 % of the products made by each machine respectively are defective. If a finished product is randomly selected, find the following probabilities. </a:t>
                </a:r>
              </a:p>
              <a:p>
                <a:pPr marL="457200" indent="-457200">
                  <a:buAutoNum type="alphaLcParenBoth"/>
                </a:pPr>
                <a:r>
                  <a:rPr lang="en-US" sz="1400" dirty="0"/>
                  <a:t>product is defective</a:t>
                </a:r>
              </a:p>
              <a:p>
                <a:pPr marL="457200" indent="-457200">
                  <a:buAutoNum type="alphaLcParenBoth"/>
                </a:pPr>
                <a:r>
                  <a:rPr lang="en-US" sz="1400" dirty="0"/>
                  <a:t>product is defective and is from machine M</a:t>
                </a:r>
                <a:r>
                  <a:rPr lang="en-US" sz="1400" baseline="-25000" dirty="0"/>
                  <a:t>1</a:t>
                </a:r>
              </a:p>
              <a:p>
                <a:pPr marL="457200" indent="-457200">
                  <a:buAutoNum type="alphaLcParenBoth"/>
                </a:pPr>
                <a:r>
                  <a:rPr lang="en-US" sz="1400" dirty="0"/>
                  <a:t>product is defective and is from machine M</a:t>
                </a:r>
                <a:r>
                  <a:rPr lang="en-US" sz="1400" baseline="-25000" dirty="0"/>
                  <a:t>2</a:t>
                </a:r>
              </a:p>
              <a:p>
                <a:pPr marL="457200" indent="-457200">
                  <a:buAutoNum type="alphaLcParenBoth"/>
                </a:pPr>
                <a:r>
                  <a:rPr lang="en-US" sz="1400" dirty="0"/>
                  <a:t>product is defective and is from machine M</a:t>
                </a:r>
                <a:r>
                  <a:rPr lang="en-US" sz="1400" baseline="-25000" dirty="0"/>
                  <a:t>3</a:t>
                </a:r>
              </a:p>
              <a:p>
                <a:pPr marL="0" indent="0">
                  <a:buNone/>
                </a:pPr>
                <a:r>
                  <a:rPr lang="en-US" sz="1400" b="1" dirty="0"/>
                  <a:t>Solution</a:t>
                </a:r>
                <a:r>
                  <a:rPr lang="en-US" sz="1400" dirty="0"/>
                  <a:t>:</a:t>
                </a:r>
              </a:p>
              <a:p>
                <a:pPr marL="0" indent="0">
                  <a:buNone/>
                </a:pPr>
                <a:r>
                  <a:rPr lang="en-US" sz="1400" dirty="0"/>
                  <a:t>Let event B = item being defective</a:t>
                </a:r>
              </a:p>
              <a:p>
                <a:pPr marL="0" indent="0">
                  <a:buNone/>
                </a:pPr>
                <a:r>
                  <a:rPr lang="en-US" sz="1400" dirty="0"/>
                  <a:t>event A</a:t>
                </a:r>
                <a:r>
                  <a:rPr lang="en-US" sz="1400" baseline="-25000" dirty="0"/>
                  <a:t>1</a:t>
                </a:r>
                <a:r>
                  <a:rPr lang="en-US" sz="1400" dirty="0"/>
                  <a:t> = A product being manufactured by machine MI</a:t>
                </a:r>
              </a:p>
              <a:p>
                <a:pPr marL="0" indent="0">
                  <a:buNone/>
                </a:pPr>
                <a:r>
                  <a:rPr lang="en-US" sz="1400" dirty="0"/>
                  <a:t>event A</a:t>
                </a:r>
                <a:r>
                  <a:rPr lang="en-US" sz="1400" baseline="-25000" dirty="0"/>
                  <a:t>2</a:t>
                </a:r>
                <a:r>
                  <a:rPr lang="en-US" sz="1400" dirty="0"/>
                  <a:t> = A product being manufactured by machine M2 </a:t>
                </a:r>
              </a:p>
              <a:p>
                <a:pPr marL="0" indent="0">
                  <a:buNone/>
                </a:pPr>
                <a:r>
                  <a:rPr lang="en-US" sz="1400" dirty="0"/>
                  <a:t>event A</a:t>
                </a:r>
                <a:r>
                  <a:rPr lang="en-US" sz="1400" baseline="-25000" dirty="0"/>
                  <a:t>3</a:t>
                </a:r>
                <a:r>
                  <a:rPr lang="en-US" sz="1400" dirty="0"/>
                  <a:t> = A product being manufactured by machine M3 </a:t>
                </a:r>
                <a:endParaRPr lang="en-US" sz="1400" baseline="-25000" dirty="0"/>
              </a:p>
              <a:p>
                <a:pPr marL="173038" indent="0">
                  <a:buNone/>
                </a:pPr>
                <a:r>
                  <a:rPr lang="en-US" sz="1400" dirty="0"/>
                  <a:t>Given,</a:t>
                </a:r>
              </a:p>
              <a:p>
                <a:pPr marL="173038" indent="0">
                  <a:buNone/>
                </a:pPr>
                <a:r>
                  <a:rPr lang="en-US" sz="1400" dirty="0"/>
                  <a:t>	P(B/A</a:t>
                </a:r>
                <a:r>
                  <a:rPr lang="en-US" sz="1400" baseline="-25000" dirty="0"/>
                  <a:t>1</a:t>
                </a:r>
                <a:r>
                  <a:rPr lang="en-US" sz="1400" dirty="0"/>
                  <a:t>) = 2 % = 0.02</a:t>
                </a:r>
              </a:p>
              <a:p>
                <a:pPr marL="233363" indent="0">
                  <a:buNone/>
                </a:pPr>
                <a:r>
                  <a:rPr lang="en-US" sz="1400" dirty="0"/>
                  <a:t>	P(B/A</a:t>
                </a:r>
                <a:r>
                  <a:rPr lang="en-US" sz="1400" baseline="-25000" dirty="0"/>
                  <a:t>2</a:t>
                </a:r>
                <a:r>
                  <a:rPr lang="en-US" sz="1400" dirty="0"/>
                  <a:t>) = 3 % = 0.03</a:t>
                </a:r>
              </a:p>
              <a:p>
                <a:pPr marL="233363" indent="0">
                  <a:buNone/>
                </a:pPr>
                <a:r>
                  <a:rPr lang="en-US" sz="1400" dirty="0"/>
                  <a:t>	P(B/A</a:t>
                </a:r>
                <a:r>
                  <a:rPr lang="en-US" sz="1400" baseline="-25000" dirty="0"/>
                  <a:t>3</a:t>
                </a:r>
                <a:r>
                  <a:rPr lang="en-US" sz="1400" dirty="0"/>
                  <a:t>) = 2 % = 0.02</a:t>
                </a:r>
              </a:p>
              <a:p>
                <a:pPr marL="233363" indent="0">
                  <a:buNone/>
                </a:pPr>
                <a:endParaRPr lang="en-US" sz="1400" dirty="0"/>
              </a:p>
              <a:p>
                <a:pPr marL="233363" indent="0">
                  <a:buNone/>
                </a:pPr>
                <a:r>
                  <a:rPr lang="en-US" sz="1400" dirty="0"/>
                  <a:t>Also, 	P(A</a:t>
                </a:r>
                <a:r>
                  <a:rPr lang="en-US" sz="1400" baseline="-25000" dirty="0"/>
                  <a:t>1</a:t>
                </a:r>
                <a:r>
                  <a:rPr lang="en-US" sz="1400" dirty="0"/>
                  <a:t>) = 30 % = 0.30</a:t>
                </a:r>
              </a:p>
              <a:p>
                <a:pPr marL="233363" indent="0">
                  <a:buNone/>
                </a:pPr>
                <a:r>
                  <a:rPr lang="en-US" sz="1400" dirty="0"/>
                  <a:t>	P(A</a:t>
                </a:r>
                <a:r>
                  <a:rPr lang="en-US" sz="1400" baseline="-25000" dirty="0"/>
                  <a:t>2</a:t>
                </a:r>
                <a:r>
                  <a:rPr lang="en-US" sz="1400" dirty="0"/>
                  <a:t>) = 45 % = 0.45</a:t>
                </a:r>
              </a:p>
              <a:p>
                <a:pPr marL="233363" indent="0">
                  <a:buNone/>
                </a:pPr>
                <a:r>
                  <a:rPr lang="en-US" sz="1400" dirty="0"/>
                  <a:t>	P (A</a:t>
                </a:r>
                <a:r>
                  <a:rPr lang="en-US" sz="1400" baseline="-25000" dirty="0"/>
                  <a:t>3</a:t>
                </a:r>
                <a:r>
                  <a:rPr lang="en-US" sz="1400" dirty="0"/>
                  <a:t>) = 25 % = 0.25</a:t>
                </a:r>
              </a:p>
              <a:p>
                <a:pPr marL="233363" indent="0">
                  <a:buNone/>
                </a:pPr>
                <a:endParaRPr lang="en-US" sz="1400" dirty="0"/>
              </a:p>
              <a:p>
                <a:pPr marL="233363" indent="0">
                  <a:buNone/>
                </a:pPr>
                <a:r>
                  <a:rPr lang="en-US" sz="1400" dirty="0"/>
                  <a:t>P(B) = </a:t>
                </a:r>
                <a14:m>
                  <m:oMath xmlns:m="http://schemas.openxmlformats.org/officeDocument/2006/math">
                    <m:nary>
                      <m:naryPr>
                        <m:chr m:val="∑"/>
                        <m:limLoc m:val="undOvr"/>
                        <m:grow m:val="on"/>
                        <m:ctrlPr>
                          <a:rPr lang="en-US" sz="1400" i="1" dirty="0" smtClean="0">
                            <a:latin typeface="Cambria Math" panose="02040503050406030204" pitchFamily="18" charset="0"/>
                          </a:rPr>
                        </m:ctrlPr>
                      </m:naryPr>
                      <m:sub>
                        <m:r>
                          <m:rPr>
                            <m:sty m:val="p"/>
                            <m:brk/>
                            <m:aln/>
                          </m:rPr>
                          <a:rPr lang="en-US" sz="1400" b="0" i="0" dirty="0" smtClean="0">
                            <a:latin typeface="Cambria Math" panose="02040503050406030204" pitchFamily="18" charset="0"/>
                          </a:rPr>
                          <m:t>k</m:t>
                        </m:r>
                        <m:r>
                          <a:rPr lang="en-US" sz="1400" i="0" dirty="0">
                            <a:latin typeface="Cambria Math" panose="02040503050406030204" pitchFamily="18" charset="0"/>
                          </a:rPr>
                          <m:t>=1</m:t>
                        </m:r>
                      </m:sub>
                      <m:sup>
                        <m:r>
                          <a:rPr lang="en-US" sz="1400" i="1" dirty="0">
                            <a:latin typeface="Cambria Math" panose="02040503050406030204" pitchFamily="18" charset="0"/>
                          </a:rPr>
                          <m:t>𝑛</m:t>
                        </m:r>
                      </m:sup>
                      <m:e>
                        <m:r>
                          <a:rPr lang="en-US" sz="1400" i="1" dirty="0">
                            <a:latin typeface="Cambria Math" panose="02040503050406030204" pitchFamily="18" charset="0"/>
                          </a:rPr>
                          <m:t>𝑃</m:t>
                        </m:r>
                        <m:d>
                          <m:dPr>
                            <m:ctrlPr>
                              <a:rPr lang="en-US" sz="1400" i="1" dirty="0">
                                <a:solidFill>
                                  <a:srgbClr val="836967"/>
                                </a:solidFill>
                                <a:latin typeface="Cambria Math" panose="02040503050406030204" pitchFamily="18" charset="0"/>
                              </a:rPr>
                            </m:ctrlPr>
                          </m:dPr>
                          <m:e>
                            <m:f>
                              <m:fPr>
                                <m:type m:val="skw"/>
                                <m:ctrlPr>
                                  <a:rPr lang="en-US" sz="1400" i="1" dirty="0">
                                    <a:solidFill>
                                      <a:srgbClr val="836967"/>
                                    </a:solidFill>
                                    <a:latin typeface="Cambria Math" panose="02040503050406030204" pitchFamily="18" charset="0"/>
                                  </a:rPr>
                                </m:ctrlPr>
                              </m:fPr>
                              <m:num>
                                <m:r>
                                  <a:rPr lang="en-US" sz="1400" i="1" dirty="0">
                                    <a:latin typeface="Cambria Math" panose="02040503050406030204" pitchFamily="18" charset="0"/>
                                  </a:rPr>
                                  <m:t>𝐵</m:t>
                                </m:r>
                              </m:num>
                              <m:den>
                                <m:sSub>
                                  <m:sSubPr>
                                    <m:ctrlPr>
                                      <a:rPr lang="en-US" sz="1400" i="1" dirty="0">
                                        <a:solidFill>
                                          <a:srgbClr val="836967"/>
                                        </a:solidFill>
                                        <a:latin typeface="Cambria Math" panose="02040503050406030204" pitchFamily="18" charset="0"/>
                                      </a:rPr>
                                    </m:ctrlPr>
                                  </m:sSubPr>
                                  <m:e>
                                    <m:r>
                                      <a:rPr lang="en-US" sz="1400" i="1" dirty="0">
                                        <a:latin typeface="Cambria Math" panose="02040503050406030204" pitchFamily="18" charset="0"/>
                                      </a:rPr>
                                      <m:t>𝐴</m:t>
                                    </m:r>
                                  </m:e>
                                  <m:sub>
                                    <m:r>
                                      <a:rPr lang="en-US" sz="1400" i="1" dirty="0" smtClean="0">
                                        <a:latin typeface="Cambria Math" panose="02040503050406030204" pitchFamily="18" charset="0"/>
                                      </a:rPr>
                                      <m:t>𝑘</m:t>
                                    </m:r>
                                  </m:sub>
                                </m:sSub>
                              </m:den>
                            </m:f>
                          </m:e>
                        </m:d>
                      </m:e>
                    </m:nary>
                    <m:r>
                      <a:rPr lang="en-US" sz="1400" i="0" dirty="0">
                        <a:latin typeface="Cambria Math" panose="02040503050406030204" pitchFamily="18" charset="0"/>
                      </a:rPr>
                      <m:t>⋅</m:t>
                    </m:r>
                    <m:r>
                      <a:rPr lang="en-US" sz="1400" i="1" dirty="0">
                        <a:latin typeface="Cambria Math" panose="02040503050406030204" pitchFamily="18" charset="0"/>
                      </a:rPr>
                      <m:t>𝑃</m:t>
                    </m:r>
                    <m:d>
                      <m:dPr>
                        <m:ctrlPr>
                          <a:rPr lang="en-US" sz="1400" i="1" dirty="0">
                            <a:solidFill>
                              <a:srgbClr val="836967"/>
                            </a:solidFill>
                            <a:latin typeface="Cambria Math" panose="02040503050406030204" pitchFamily="18" charset="0"/>
                          </a:rPr>
                        </m:ctrlPr>
                      </m:dPr>
                      <m:e>
                        <m:sSub>
                          <m:sSubPr>
                            <m:ctrlPr>
                              <a:rPr lang="en-US" sz="1400" i="1" dirty="0">
                                <a:solidFill>
                                  <a:srgbClr val="836967"/>
                                </a:solidFill>
                                <a:latin typeface="Cambria Math" panose="02040503050406030204" pitchFamily="18" charset="0"/>
                              </a:rPr>
                            </m:ctrlPr>
                          </m:sSubPr>
                          <m:e>
                            <m:r>
                              <a:rPr lang="en-US" sz="1400" i="1" dirty="0">
                                <a:latin typeface="Cambria Math" panose="02040503050406030204" pitchFamily="18" charset="0"/>
                              </a:rPr>
                              <m:t>𝐴</m:t>
                            </m:r>
                          </m:e>
                          <m:sub>
                            <m:r>
                              <a:rPr lang="en-US" sz="1400" i="1" dirty="0">
                                <a:latin typeface="Cambria Math" panose="02040503050406030204" pitchFamily="18" charset="0"/>
                              </a:rPr>
                              <m:t>𝑘</m:t>
                            </m:r>
                          </m:sub>
                        </m:sSub>
                      </m:e>
                    </m:d>
                  </m:oMath>
                </a14:m>
                <a:endParaRPr lang="en-US" sz="1400" dirty="0"/>
              </a:p>
              <a:p>
                <a:pPr marL="233363" indent="0">
                  <a:buNone/>
                </a:pPr>
                <a:r>
                  <a:rPr lang="en-US" sz="1400" dirty="0"/>
                  <a:t>        = P(B/A</a:t>
                </a:r>
                <a:r>
                  <a:rPr lang="en-US" sz="1400" baseline="-25000" dirty="0"/>
                  <a:t>1</a:t>
                </a:r>
                <a:r>
                  <a:rPr lang="en-US" sz="1400" dirty="0"/>
                  <a:t>) * P(A</a:t>
                </a:r>
                <a:r>
                  <a:rPr lang="en-US" sz="1400" baseline="-25000" dirty="0"/>
                  <a:t>1</a:t>
                </a:r>
                <a:r>
                  <a:rPr lang="en-US" sz="1400" dirty="0"/>
                  <a:t>) + P(B/A</a:t>
                </a:r>
                <a:r>
                  <a:rPr lang="en-US" sz="1400" baseline="-25000" dirty="0"/>
                  <a:t>2</a:t>
                </a:r>
                <a:r>
                  <a:rPr lang="en-US" sz="1400" dirty="0"/>
                  <a:t>) * P(A</a:t>
                </a:r>
                <a:r>
                  <a:rPr lang="en-US" sz="1400" baseline="-25000" dirty="0"/>
                  <a:t>2</a:t>
                </a:r>
                <a:r>
                  <a:rPr lang="en-US" sz="1400" dirty="0"/>
                  <a:t>) + P(B/A</a:t>
                </a:r>
                <a:r>
                  <a:rPr lang="en-US" sz="1400" baseline="-25000" dirty="0"/>
                  <a:t>3</a:t>
                </a:r>
                <a:r>
                  <a:rPr lang="en-US" sz="1400" dirty="0"/>
                  <a:t>) * P(A</a:t>
                </a:r>
                <a:r>
                  <a:rPr lang="en-US" sz="1400" baseline="-25000" dirty="0"/>
                  <a:t>3</a:t>
                </a:r>
                <a:r>
                  <a:rPr lang="en-US" sz="1400" dirty="0"/>
                  <a:t>)</a:t>
                </a:r>
              </a:p>
              <a:p>
                <a:pPr marL="233363" indent="0">
                  <a:buNone/>
                </a:pPr>
                <a:r>
                  <a:rPr lang="en-US" sz="1400" dirty="0"/>
                  <a:t>        = 0.02 * 0.30 + 0.03 * 0.45 + 0.02 * 0.25 </a:t>
                </a:r>
              </a:p>
              <a:p>
                <a:pPr marL="628650" indent="0">
                  <a:buNone/>
                </a:pPr>
                <a:r>
                  <a:rPr lang="en-US" sz="1400" dirty="0"/>
                  <a:t>= 0.006 + 0.0135 + 0.005</a:t>
                </a:r>
              </a:p>
              <a:p>
                <a:pPr marL="628650" indent="0">
                  <a:buNone/>
                </a:pPr>
                <a:r>
                  <a:rPr lang="en-US" sz="1400" dirty="0"/>
                  <a:t>= 0.0245 = 2.45 %</a:t>
                </a:r>
              </a:p>
              <a:p>
                <a:pPr marL="233363" indent="0">
                  <a:buNone/>
                </a:pPr>
                <a:endParaRPr lang="en-US" sz="1400" dirty="0"/>
              </a:p>
              <a:p>
                <a:pPr marL="233363" indent="0">
                  <a:buNone/>
                </a:pPr>
                <a:r>
                  <a:rPr lang="en-US" sz="1400" dirty="0"/>
                  <a:t>P(A</a:t>
                </a:r>
                <a:r>
                  <a:rPr lang="en-US" sz="1400" baseline="-25000" dirty="0"/>
                  <a:t>1</a:t>
                </a:r>
                <a:r>
                  <a:rPr lang="en-US" sz="1400" dirty="0"/>
                  <a:t>/B) = P(B/A</a:t>
                </a:r>
                <a:r>
                  <a:rPr lang="en-US" sz="1400" baseline="-25000" dirty="0"/>
                  <a:t>1</a:t>
                </a:r>
                <a:r>
                  <a:rPr lang="en-US" sz="1400" dirty="0"/>
                  <a:t>) * P(A</a:t>
                </a:r>
                <a:r>
                  <a:rPr lang="en-US" sz="1400" baseline="-25000" dirty="0"/>
                  <a:t>1</a:t>
                </a:r>
                <a:r>
                  <a:rPr lang="en-US" sz="1400" dirty="0"/>
                  <a:t>)/P(B) = 0.006/.0245 = 0.2449</a:t>
                </a:r>
              </a:p>
              <a:p>
                <a:pPr marL="233363" indent="0">
                  <a:buNone/>
                </a:pPr>
                <a:r>
                  <a:rPr lang="en-US" sz="1400" dirty="0"/>
                  <a:t>P(A</a:t>
                </a:r>
                <a:r>
                  <a:rPr lang="en-US" sz="1400" baseline="-25000" dirty="0"/>
                  <a:t>2</a:t>
                </a:r>
                <a:r>
                  <a:rPr lang="en-US" sz="1400" dirty="0"/>
                  <a:t>/B) = P(B/A</a:t>
                </a:r>
                <a:r>
                  <a:rPr lang="en-US" sz="1400" baseline="-25000" dirty="0"/>
                  <a:t>2</a:t>
                </a:r>
                <a:r>
                  <a:rPr lang="en-US" sz="1400" dirty="0"/>
                  <a:t>) * P(A</a:t>
                </a:r>
                <a:r>
                  <a:rPr lang="en-US" sz="1400" baseline="-25000" dirty="0"/>
                  <a:t>2</a:t>
                </a:r>
                <a:r>
                  <a:rPr lang="en-US" sz="1400" dirty="0"/>
                  <a:t>)/P(B) = 0.0135/0.0245 = 0.5510</a:t>
                </a:r>
              </a:p>
              <a:p>
                <a:pPr marL="233363" indent="0">
                  <a:buNone/>
                </a:pPr>
                <a:r>
                  <a:rPr lang="en-US" sz="1400" dirty="0"/>
                  <a:t>P(A</a:t>
                </a:r>
                <a:r>
                  <a:rPr lang="en-US" sz="1400" baseline="-25000" dirty="0"/>
                  <a:t>3</a:t>
                </a:r>
                <a:r>
                  <a:rPr lang="en-US" sz="1400" dirty="0"/>
                  <a:t>/B) = P(B/A</a:t>
                </a:r>
                <a:r>
                  <a:rPr lang="en-US" sz="1400" baseline="-25000" dirty="0"/>
                  <a:t>3</a:t>
                </a:r>
                <a:r>
                  <a:rPr lang="en-US" sz="1400" dirty="0"/>
                  <a:t>) * P(A</a:t>
                </a:r>
                <a:r>
                  <a:rPr lang="en-US" sz="1400" baseline="-25000" dirty="0"/>
                  <a:t>3</a:t>
                </a:r>
                <a:r>
                  <a:rPr lang="en-US" sz="1400" dirty="0"/>
                  <a:t>)/P(B)= 0.005/0.0245 = 0.2041</a:t>
                </a:r>
              </a:p>
              <a:p>
                <a:pPr marL="233363" indent="0">
                  <a:buNone/>
                </a:pPr>
                <a:endParaRPr lang="en-US" sz="1400" dirty="0"/>
              </a:p>
              <a:p>
                <a:pPr marL="233363" indent="0">
                  <a:buNone/>
                </a:pPr>
                <a:r>
                  <a:rPr lang="en-US" sz="1400" b="1" dirty="0"/>
                  <a:t>Conclusion</a:t>
                </a:r>
                <a:r>
                  <a:rPr lang="en-US" sz="1400" dirty="0"/>
                  <a:t>: If the selected finished product is defective, then it is most likely to come from Machine II.</a:t>
                </a:r>
              </a:p>
              <a:p>
                <a:pPr marL="0" indent="0">
                  <a:buNone/>
                </a:pPr>
                <a:endParaRPr lang="en-US" sz="1400" dirty="0"/>
              </a:p>
            </p:txBody>
          </p:sp>
        </mc:Choice>
        <mc:Fallback xmlns="">
          <p:sp>
            <p:nvSpPr>
              <p:cNvPr id="3" name="Content Placeholder 2">
                <a:extLst>
                  <a:ext uri="{FF2B5EF4-FFF2-40B4-BE49-F238E27FC236}">
                    <a16:creationId xmlns:a16="http://schemas.microsoft.com/office/drawing/2014/main" id="{1E3E56E0-253A-4532-AA4C-6DCF2592223B}"/>
                  </a:ext>
                </a:extLst>
              </p:cNvPr>
              <p:cNvSpPr>
                <a:spLocks noGrp="1" noRot="1" noChangeAspect="1" noMove="1" noResize="1" noEditPoints="1" noAdjustHandles="1" noChangeArrowheads="1" noChangeShapeType="1" noTextEdit="1"/>
              </p:cNvSpPr>
              <p:nvPr>
                <p:ph idx="1"/>
              </p:nvPr>
            </p:nvSpPr>
            <p:spPr>
              <a:xfrm>
                <a:off x="676894" y="486887"/>
                <a:ext cx="10960923" cy="5688281"/>
              </a:xfrm>
              <a:blipFill>
                <a:blip r:embed="rId2"/>
                <a:stretch>
                  <a:fillRect l="-167" t="-643"/>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C4518AD-D888-4B36-B2F5-5E9E0F8F84FE}"/>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34110122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C0D76-E10C-4AD4-91BC-C1DFA0613831}"/>
              </a:ext>
            </a:extLst>
          </p:cNvPr>
          <p:cNvSpPr>
            <a:spLocks noGrp="1"/>
          </p:cNvSpPr>
          <p:nvPr>
            <p:ph type="title"/>
          </p:nvPr>
        </p:nvSpPr>
        <p:spPr>
          <a:xfrm>
            <a:off x="618226" y="478692"/>
            <a:ext cx="10058400" cy="409829"/>
          </a:xfrm>
        </p:spPr>
        <p:txBody>
          <a:bodyPr>
            <a:normAutofit/>
          </a:bodyPr>
          <a:lstStyle/>
          <a:p>
            <a:r>
              <a:rPr lang="en-US" sz="2000" b="1" dirty="0"/>
              <a:t>Uses in computer science</a:t>
            </a:r>
          </a:p>
        </p:txBody>
      </p:sp>
      <p:sp>
        <p:nvSpPr>
          <p:cNvPr id="3" name="Content Placeholder 2">
            <a:extLst>
              <a:ext uri="{FF2B5EF4-FFF2-40B4-BE49-F238E27FC236}">
                <a16:creationId xmlns:a16="http://schemas.microsoft.com/office/drawing/2014/main" id="{1AAF46C9-71DD-4D0D-93CC-EFDF9E9095BA}"/>
              </a:ext>
            </a:extLst>
          </p:cNvPr>
          <p:cNvSpPr>
            <a:spLocks noGrp="1"/>
          </p:cNvSpPr>
          <p:nvPr>
            <p:ph idx="1"/>
          </p:nvPr>
        </p:nvSpPr>
        <p:spPr>
          <a:xfrm>
            <a:off x="618226" y="1233577"/>
            <a:ext cx="10506974" cy="4801463"/>
          </a:xfrm>
        </p:spPr>
        <p:txBody>
          <a:bodyPr/>
          <a:lstStyle/>
          <a:p>
            <a:pPr marL="0" indent="0">
              <a:buNone/>
            </a:pPr>
            <a:r>
              <a:rPr lang="en-US" b="0" i="0" dirty="0">
                <a:solidFill>
                  <a:srgbClr val="444444"/>
                </a:solidFill>
                <a:effectLst/>
                <a:latin typeface="Georgia" panose="02040502050405020303" pitchFamily="18" charset="0"/>
              </a:rPr>
              <a:t>Bayes’ Theorem is the most important concept in Data Science. It is most widely used in </a:t>
            </a:r>
            <a:r>
              <a:rPr lang="en-US" b="1" i="0" u="none" strike="noStrike" dirty="0">
                <a:solidFill>
                  <a:srgbClr val="65ABF6"/>
                </a:solidFill>
                <a:effectLst/>
                <a:latin typeface="Georgia" panose="02040502050405020303" pitchFamily="18" charset="0"/>
              </a:rPr>
              <a:t>Machine Learning </a:t>
            </a:r>
            <a:r>
              <a:rPr lang="en-US" b="0" i="0" dirty="0">
                <a:solidFill>
                  <a:srgbClr val="444444"/>
                </a:solidFill>
                <a:effectLst/>
                <a:latin typeface="Georgia" panose="02040502050405020303" pitchFamily="18" charset="0"/>
              </a:rPr>
              <a:t>as a classifier that makes use of Naive Bayes’ Classifier. It has also emerged as an advanced algorithm for the development of Bayesian Neural Networks. Bayesian algorithm is used cyber security to filter the spam mail. The applications of Bayes’ Theorem are everywhere in the field of Data Science.</a:t>
            </a:r>
          </a:p>
          <a:p>
            <a:pPr marL="0" indent="0">
              <a:buNone/>
            </a:pPr>
            <a:r>
              <a:rPr lang="en-US" b="1" dirty="0">
                <a:solidFill>
                  <a:srgbClr val="FF0000"/>
                </a:solidFill>
                <a:latin typeface="Georgia" panose="02040502050405020303" pitchFamily="18" charset="0"/>
              </a:rPr>
              <a:t>(Do some research on this topic and prepare a short article of it and if possible send me your finished article. This will enhance your information seeking capability, writing skill and presentation)</a:t>
            </a:r>
            <a:endParaRPr lang="en-US" b="1" dirty="0">
              <a:solidFill>
                <a:srgbClr val="FF0000"/>
              </a:solidFill>
            </a:endParaRPr>
          </a:p>
        </p:txBody>
      </p:sp>
      <p:sp>
        <p:nvSpPr>
          <p:cNvPr id="4" name="Footer Placeholder 3">
            <a:extLst>
              <a:ext uri="{FF2B5EF4-FFF2-40B4-BE49-F238E27FC236}">
                <a16:creationId xmlns:a16="http://schemas.microsoft.com/office/drawing/2014/main" id="{8DDD9268-0249-4F64-901B-2437CC4DAB2E}"/>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26250683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6D60B-909B-45BE-8505-04705190BA41}"/>
              </a:ext>
            </a:extLst>
          </p:cNvPr>
          <p:cNvSpPr>
            <a:spLocks noGrp="1"/>
          </p:cNvSpPr>
          <p:nvPr>
            <p:ph type="title"/>
          </p:nvPr>
        </p:nvSpPr>
        <p:spPr>
          <a:xfrm>
            <a:off x="724619" y="438973"/>
            <a:ext cx="10058400" cy="358070"/>
          </a:xfrm>
        </p:spPr>
        <p:txBody>
          <a:bodyPr>
            <a:normAutofit/>
          </a:bodyPr>
          <a:lstStyle/>
          <a:p>
            <a:r>
              <a:rPr lang="en-US" sz="1600" b="1" dirty="0"/>
              <a:t>Problems</a:t>
            </a:r>
          </a:p>
        </p:txBody>
      </p:sp>
      <p:sp>
        <p:nvSpPr>
          <p:cNvPr id="3" name="Content Placeholder 2">
            <a:extLst>
              <a:ext uri="{FF2B5EF4-FFF2-40B4-BE49-F238E27FC236}">
                <a16:creationId xmlns:a16="http://schemas.microsoft.com/office/drawing/2014/main" id="{176C9959-15D6-4FF3-ABEC-3A8D1E6C3CC3}"/>
              </a:ext>
            </a:extLst>
          </p:cNvPr>
          <p:cNvSpPr>
            <a:spLocks noGrp="1"/>
          </p:cNvSpPr>
          <p:nvPr>
            <p:ph idx="1"/>
          </p:nvPr>
        </p:nvSpPr>
        <p:spPr>
          <a:xfrm>
            <a:off x="724619" y="1069675"/>
            <a:ext cx="10400581" cy="4965365"/>
          </a:xfrm>
        </p:spPr>
        <p:txBody>
          <a:bodyPr>
            <a:normAutofit lnSpcReduction="10000"/>
          </a:bodyPr>
          <a:lstStyle/>
          <a:p>
            <a:pPr marL="0" indent="0" algn="l">
              <a:buNone/>
            </a:pPr>
            <a:r>
              <a:rPr lang="en-US" dirty="0"/>
              <a:t>1. A computer assembly company receives 24 % of parts from supplier X, 36 % from supplier Y, and remaining 40 % of parts from supplier Z. From the past record, 5 % of parts supplied by X, 10 % of parts supplied by Y and 6 % of parts supplied by Z are defective.</a:t>
            </a:r>
          </a:p>
          <a:p>
            <a:pPr marL="463550" indent="-344488">
              <a:buAutoNum type="alphaLcParenBoth"/>
            </a:pPr>
            <a:r>
              <a:rPr lang="en-US" dirty="0"/>
              <a:t>What is the probability of parts being defective</a:t>
            </a:r>
          </a:p>
          <a:p>
            <a:pPr marL="463550" indent="-344488">
              <a:buAutoNum type="alphaLcParenBoth"/>
            </a:pPr>
            <a:r>
              <a:rPr lang="en-US" dirty="0"/>
              <a:t>If an assembled computer has a defective parts on it, what is the chance that this part was received from supplier X</a:t>
            </a:r>
          </a:p>
          <a:p>
            <a:pPr marL="463550" indent="-344488">
              <a:buFont typeface="Garamond" pitchFamily="18" charset="0"/>
              <a:buAutoNum type="alphaLcParenBoth"/>
            </a:pPr>
            <a:r>
              <a:rPr lang="en-US" dirty="0"/>
              <a:t>If an assembled computer has a defective parts on it, what is the chance that this part was received from supplier Y</a:t>
            </a:r>
          </a:p>
          <a:p>
            <a:pPr marL="463550" indent="-344488">
              <a:buFont typeface="Garamond" pitchFamily="18" charset="0"/>
              <a:buAutoNum type="alphaLcParenBoth"/>
            </a:pPr>
            <a:r>
              <a:rPr lang="en-US" dirty="0"/>
              <a:t>If an assembled computer has a defective parts on it, what is the chance that this part was received from supplier Z</a:t>
            </a:r>
          </a:p>
          <a:p>
            <a:pPr marL="0" indent="0">
              <a:buNone/>
            </a:pPr>
            <a:r>
              <a:rPr lang="en-US" dirty="0"/>
              <a:t>2. </a:t>
            </a:r>
            <a:r>
              <a:rPr lang="en-US" b="0" i="0" dirty="0">
                <a:solidFill>
                  <a:srgbClr val="231F20"/>
                </a:solidFill>
                <a:effectLst/>
              </a:rPr>
              <a:t>A printer manufacturer obtained the following probabilities from a database of test results. Printer failures are associated with three types of problems: hardware, software, and other (such as connectors) with probabilities of 0.1, 0.6, and 0.3, respectively. The probability of a printer failure given a hardware problem is 0.9, given a software problem is 0.2, and given any other type of problem is 0.5. If a customer enters the manufacturer’s Web site to diagnose a printer failure, what is the most likely cause of the problem?</a:t>
            </a:r>
            <a:r>
              <a:rPr lang="en-US" dirty="0"/>
              <a:t> </a:t>
            </a:r>
            <a:br>
              <a:rPr lang="en-US" dirty="0"/>
            </a:br>
            <a:endParaRPr lang="en-US" dirty="0"/>
          </a:p>
          <a:p>
            <a:pPr marL="342900" indent="-342900">
              <a:buAutoNum type="alphaLcParenBoth"/>
            </a:pPr>
            <a:endParaRPr lang="en-US" dirty="0"/>
          </a:p>
        </p:txBody>
      </p:sp>
      <p:sp>
        <p:nvSpPr>
          <p:cNvPr id="4" name="Footer Placeholder 3">
            <a:extLst>
              <a:ext uri="{FF2B5EF4-FFF2-40B4-BE49-F238E27FC236}">
                <a16:creationId xmlns:a16="http://schemas.microsoft.com/office/drawing/2014/main" id="{D95E72B2-D2C9-4985-A259-2562521EF94C}"/>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11590917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ACDAF6-7B83-478E-ABCB-E43DA58CBB7C}"/>
              </a:ext>
            </a:extLst>
          </p:cNvPr>
          <p:cNvSpPr>
            <a:spLocks noGrp="1"/>
          </p:cNvSpPr>
          <p:nvPr>
            <p:ph idx="1"/>
          </p:nvPr>
        </p:nvSpPr>
        <p:spPr>
          <a:xfrm>
            <a:off x="698740" y="603849"/>
            <a:ext cx="10895162" cy="5431191"/>
          </a:xfrm>
        </p:spPr>
        <p:txBody>
          <a:bodyPr/>
          <a:lstStyle/>
          <a:p>
            <a:pPr marL="0" indent="0">
              <a:buNone/>
            </a:pPr>
            <a:r>
              <a:rPr lang="en-US" dirty="0"/>
              <a:t>3. Ninety percent of flights depart on time. Eighty percent of flights arrive</a:t>
            </a:r>
          </a:p>
          <a:p>
            <a:pPr marL="0" indent="0">
              <a:buNone/>
            </a:pPr>
            <a:r>
              <a:rPr lang="en-US" dirty="0"/>
              <a:t>on time. Seventy-five percent of flights depart on time and arrive on time.</a:t>
            </a:r>
          </a:p>
          <a:p>
            <a:pPr marL="0" indent="0">
              <a:buNone/>
            </a:pPr>
            <a:r>
              <a:rPr lang="en-US" dirty="0"/>
              <a:t>(a) You are meeting a flight that departed on time. What is the probability that it will</a:t>
            </a:r>
          </a:p>
          <a:p>
            <a:pPr marL="0" indent="0">
              <a:buNone/>
            </a:pPr>
            <a:r>
              <a:rPr lang="en-US" dirty="0"/>
              <a:t>      arrive on time?</a:t>
            </a:r>
          </a:p>
          <a:p>
            <a:pPr marL="0" indent="0">
              <a:buNone/>
            </a:pPr>
            <a:r>
              <a:rPr lang="en-US" dirty="0"/>
              <a:t>(b) You have met a flight, and it arrived on time. What is the probability that it departed</a:t>
            </a:r>
          </a:p>
          <a:p>
            <a:pPr marL="0" indent="0">
              <a:buNone/>
            </a:pPr>
            <a:r>
              <a:rPr lang="en-US" dirty="0"/>
              <a:t>      on time ?(c) Are the events, departing on time and arriving on time, independent?</a:t>
            </a:r>
          </a:p>
          <a:p>
            <a:pPr marL="0" indent="0">
              <a:buNone/>
            </a:pPr>
            <a:endParaRPr lang="en-US" dirty="0"/>
          </a:p>
          <a:p>
            <a:pPr marL="0" indent="0">
              <a:buNone/>
            </a:pPr>
            <a:r>
              <a:rPr lang="en-US" dirty="0"/>
              <a:t>4. </a:t>
            </a:r>
            <a:r>
              <a:rPr lang="en-US" b="0" i="0" dirty="0">
                <a:solidFill>
                  <a:srgbClr val="0A0A0A"/>
                </a:solidFill>
                <a:effectLst/>
              </a:rPr>
              <a:t>A certain virus infects one in every 400 people. A test used to detect the virus in a person is positive 85% of the time if the person has the virus and 5% of the time if the person does not have the virus. (This 5% result is called a false positive). Let A be the event "the person has the virus" and B be the event "the person tests positive".</a:t>
            </a:r>
            <a:br>
              <a:rPr lang="en-US" dirty="0"/>
            </a:br>
            <a:r>
              <a:rPr lang="en-US" b="0" i="0" dirty="0">
                <a:solidFill>
                  <a:srgbClr val="0A0A0A"/>
                </a:solidFill>
                <a:effectLst/>
              </a:rPr>
              <a:t>a) Find the probability that a person has the virus given that they have tested positive, i.e. find P(A|B). Round your answer to the nearest hundredth of a percent.</a:t>
            </a:r>
            <a:br>
              <a:rPr lang="en-US" dirty="0"/>
            </a:br>
            <a:r>
              <a:rPr lang="en-US" b="0" i="0" dirty="0">
                <a:solidFill>
                  <a:srgbClr val="0A0A0A"/>
                </a:solidFill>
                <a:effectLst/>
              </a:rPr>
              <a:t>b) Find the probability that a person does not have the virus given that they test negative, i.e. find P(A'|B').</a:t>
            </a:r>
            <a:endParaRPr lang="en-US" dirty="0"/>
          </a:p>
        </p:txBody>
      </p:sp>
      <p:sp>
        <p:nvSpPr>
          <p:cNvPr id="4" name="Footer Placeholder 3">
            <a:extLst>
              <a:ext uri="{FF2B5EF4-FFF2-40B4-BE49-F238E27FC236}">
                <a16:creationId xmlns:a16="http://schemas.microsoft.com/office/drawing/2014/main" id="{502DACEF-B910-419C-B9A6-F777DF5EF34D}"/>
              </a:ext>
            </a:extLst>
          </p:cNvPr>
          <p:cNvSpPr>
            <a:spLocks noGrp="1"/>
          </p:cNvSpPr>
          <p:nvPr>
            <p:ph type="ftr" sz="quarter" idx="11"/>
          </p:nvPr>
        </p:nvSpPr>
        <p:spPr/>
        <p:txBody>
          <a:bodyPr/>
          <a:lstStyle/>
          <a:p>
            <a:r>
              <a:rPr lang="en-US"/>
              <a:t>Copy Right  (C)  Santosh Chhatkuli</a:t>
            </a:r>
            <a:endParaRPr lang="en-US" dirty="0"/>
          </a:p>
        </p:txBody>
      </p:sp>
    </p:spTree>
    <p:extLst>
      <p:ext uri="{BB962C8B-B14F-4D97-AF65-F5344CB8AC3E}">
        <p14:creationId xmlns:p14="http://schemas.microsoft.com/office/powerpoint/2010/main" val="7805494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2D769-EE89-40E5-B2AC-B0C2CC11957E}"/>
              </a:ext>
            </a:extLst>
          </p:cNvPr>
          <p:cNvSpPr>
            <a:spLocks noGrp="1"/>
          </p:cNvSpPr>
          <p:nvPr>
            <p:ph idx="1"/>
          </p:nvPr>
        </p:nvSpPr>
        <p:spPr>
          <a:xfrm>
            <a:off x="750498" y="672860"/>
            <a:ext cx="10765766" cy="5362180"/>
          </a:xfrm>
        </p:spPr>
        <p:txBody>
          <a:bodyPr>
            <a:normAutofit/>
          </a:bodyPr>
          <a:lstStyle/>
          <a:p>
            <a:pPr marL="0" indent="0">
              <a:buNone/>
            </a:pPr>
            <a:r>
              <a:rPr lang="en-US" dirty="0"/>
              <a:t>5. Three facilities supply microprocessors to a manufacturer of telemetry equipment. All are  supposedly made to the same specifications. However, the manufacturer has for several years tested the microprocessors, and records indicate the following information:</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The director of the manufacturing randomly selects a microprocessor, takes it to the test</a:t>
            </a:r>
          </a:p>
          <a:p>
            <a:pPr marL="0" indent="0">
              <a:buNone/>
            </a:pPr>
            <a:r>
              <a:rPr lang="en-US" dirty="0"/>
              <a:t>department, and finds that it is defective.</a:t>
            </a:r>
          </a:p>
          <a:p>
            <a:pPr marL="0" indent="0">
              <a:buNone/>
            </a:pPr>
            <a:r>
              <a:rPr lang="en-US" dirty="0"/>
              <a:t>(a) What is the probability of a microprocessor being defective?</a:t>
            </a:r>
          </a:p>
          <a:p>
            <a:pPr marL="0" indent="0">
              <a:buNone/>
            </a:pPr>
            <a:r>
              <a:rPr lang="en-US" dirty="0"/>
              <a:t>(b) If a microprocessor found to be defective what is the chance that it is produced by facility</a:t>
            </a:r>
          </a:p>
          <a:p>
            <a:pPr marL="0" indent="0">
              <a:buNone/>
            </a:pPr>
            <a:r>
              <a:rPr lang="en-US" dirty="0"/>
              <a:t>A, B and C respectively?</a:t>
            </a:r>
          </a:p>
          <a:p>
            <a:pPr marL="0" indent="0">
              <a:buNone/>
            </a:pPr>
            <a:r>
              <a:rPr lang="en-US" dirty="0"/>
              <a:t>(c) Interpret the probabilities obtained in step (b)</a:t>
            </a:r>
          </a:p>
        </p:txBody>
      </p:sp>
      <p:sp>
        <p:nvSpPr>
          <p:cNvPr id="4" name="Footer Placeholder 3">
            <a:extLst>
              <a:ext uri="{FF2B5EF4-FFF2-40B4-BE49-F238E27FC236}">
                <a16:creationId xmlns:a16="http://schemas.microsoft.com/office/drawing/2014/main" id="{0A38E017-EA8A-4D34-9494-85C120F95B20}"/>
              </a:ext>
            </a:extLst>
          </p:cNvPr>
          <p:cNvSpPr>
            <a:spLocks noGrp="1"/>
          </p:cNvSpPr>
          <p:nvPr>
            <p:ph type="ftr" sz="quarter" idx="11"/>
          </p:nvPr>
        </p:nvSpPr>
        <p:spPr/>
        <p:txBody>
          <a:bodyPr/>
          <a:lstStyle/>
          <a:p>
            <a:r>
              <a:rPr lang="en-US"/>
              <a:t>Copy Right  (C)  Santosh Chhatkuli</a:t>
            </a:r>
            <a:endParaRPr lang="en-US" dirty="0"/>
          </a:p>
        </p:txBody>
      </p:sp>
      <p:graphicFrame>
        <p:nvGraphicFramePr>
          <p:cNvPr id="5" name="Table 5">
            <a:extLst>
              <a:ext uri="{FF2B5EF4-FFF2-40B4-BE49-F238E27FC236}">
                <a16:creationId xmlns:a16="http://schemas.microsoft.com/office/drawing/2014/main" id="{09ADBB88-231D-4CD0-A442-36F8920E9750}"/>
              </a:ext>
            </a:extLst>
          </p:cNvPr>
          <p:cNvGraphicFramePr>
            <a:graphicFrameLocks noGrp="1"/>
          </p:cNvGraphicFramePr>
          <p:nvPr>
            <p:extLst>
              <p:ext uri="{D42A27DB-BD31-4B8C-83A1-F6EECF244321}">
                <p14:modId xmlns:p14="http://schemas.microsoft.com/office/powerpoint/2010/main" val="2439405933"/>
              </p:ext>
            </p:extLst>
          </p:nvPr>
        </p:nvGraphicFramePr>
        <p:xfrm>
          <a:off x="863603" y="1676400"/>
          <a:ext cx="4266538" cy="1752600"/>
        </p:xfrm>
        <a:graphic>
          <a:graphicData uri="http://schemas.openxmlformats.org/drawingml/2006/table">
            <a:tbl>
              <a:tblPr firstRow="1" bandRow="1">
                <a:tableStyleId>{5C22544A-7EE6-4342-B048-85BDC9FD1C3A}</a:tableStyleId>
              </a:tblPr>
              <a:tblGrid>
                <a:gridCol w="1509446">
                  <a:extLst>
                    <a:ext uri="{9D8B030D-6E8A-4147-A177-3AD203B41FA5}">
                      <a16:colId xmlns:a16="http://schemas.microsoft.com/office/drawing/2014/main" val="3320086100"/>
                    </a:ext>
                  </a:extLst>
                </a:gridCol>
                <a:gridCol w="1336035">
                  <a:extLst>
                    <a:ext uri="{9D8B030D-6E8A-4147-A177-3AD203B41FA5}">
                      <a16:colId xmlns:a16="http://schemas.microsoft.com/office/drawing/2014/main" val="3379281059"/>
                    </a:ext>
                  </a:extLst>
                </a:gridCol>
                <a:gridCol w="1421057">
                  <a:extLst>
                    <a:ext uri="{9D8B030D-6E8A-4147-A177-3AD203B41FA5}">
                      <a16:colId xmlns:a16="http://schemas.microsoft.com/office/drawing/2014/main" val="3556231337"/>
                    </a:ext>
                  </a:extLst>
                </a:gridCol>
              </a:tblGrid>
              <a:tr h="370840">
                <a:tc>
                  <a:txBody>
                    <a:bodyPr/>
                    <a:lstStyle/>
                    <a:p>
                      <a:r>
                        <a:rPr lang="en-US" dirty="0"/>
                        <a:t>Supplying Facility</a:t>
                      </a:r>
                    </a:p>
                  </a:txBody>
                  <a:tcPr/>
                </a:tc>
                <a:tc>
                  <a:txBody>
                    <a:bodyPr/>
                    <a:lstStyle/>
                    <a:p>
                      <a:r>
                        <a:rPr lang="en-US" dirty="0"/>
                        <a:t>Fraction Defective</a:t>
                      </a:r>
                    </a:p>
                  </a:txBody>
                  <a:tcPr/>
                </a:tc>
                <a:tc>
                  <a:txBody>
                    <a:bodyPr/>
                    <a:lstStyle/>
                    <a:p>
                      <a:r>
                        <a:rPr lang="en-US" dirty="0"/>
                        <a:t>Fraction Supplied</a:t>
                      </a:r>
                    </a:p>
                  </a:txBody>
                  <a:tcPr/>
                </a:tc>
                <a:extLst>
                  <a:ext uri="{0D108BD9-81ED-4DB2-BD59-A6C34878D82A}">
                    <a16:rowId xmlns:a16="http://schemas.microsoft.com/office/drawing/2014/main" val="1389738145"/>
                  </a:ext>
                </a:extLst>
              </a:tr>
              <a:tr h="370840">
                <a:tc>
                  <a:txBody>
                    <a:bodyPr/>
                    <a:lstStyle/>
                    <a:p>
                      <a:r>
                        <a:rPr lang="en-US" dirty="0"/>
                        <a:t>A</a:t>
                      </a:r>
                    </a:p>
                  </a:txBody>
                  <a:tcPr/>
                </a:tc>
                <a:tc>
                  <a:txBody>
                    <a:bodyPr/>
                    <a:lstStyle/>
                    <a:p>
                      <a:r>
                        <a:rPr lang="en-US" dirty="0"/>
                        <a:t>0.02</a:t>
                      </a:r>
                    </a:p>
                  </a:txBody>
                  <a:tcPr/>
                </a:tc>
                <a:tc>
                  <a:txBody>
                    <a:bodyPr/>
                    <a:lstStyle/>
                    <a:p>
                      <a:r>
                        <a:rPr lang="en-US" dirty="0"/>
                        <a:t>0.15</a:t>
                      </a:r>
                    </a:p>
                  </a:txBody>
                  <a:tcPr/>
                </a:tc>
                <a:extLst>
                  <a:ext uri="{0D108BD9-81ED-4DB2-BD59-A6C34878D82A}">
                    <a16:rowId xmlns:a16="http://schemas.microsoft.com/office/drawing/2014/main" val="2886886458"/>
                  </a:ext>
                </a:extLst>
              </a:tr>
              <a:tr h="370840">
                <a:tc>
                  <a:txBody>
                    <a:bodyPr/>
                    <a:lstStyle/>
                    <a:p>
                      <a:r>
                        <a:rPr lang="en-US" dirty="0"/>
                        <a:t>B</a:t>
                      </a:r>
                    </a:p>
                  </a:txBody>
                  <a:tcPr/>
                </a:tc>
                <a:tc>
                  <a:txBody>
                    <a:bodyPr/>
                    <a:lstStyle/>
                    <a:p>
                      <a:r>
                        <a:rPr lang="en-US" dirty="0"/>
                        <a:t>0.01</a:t>
                      </a:r>
                    </a:p>
                  </a:txBody>
                  <a:tcPr/>
                </a:tc>
                <a:tc>
                  <a:txBody>
                    <a:bodyPr/>
                    <a:lstStyle/>
                    <a:p>
                      <a:r>
                        <a:rPr lang="en-US" dirty="0"/>
                        <a:t>0.80</a:t>
                      </a:r>
                    </a:p>
                  </a:txBody>
                  <a:tcPr/>
                </a:tc>
                <a:extLst>
                  <a:ext uri="{0D108BD9-81ED-4DB2-BD59-A6C34878D82A}">
                    <a16:rowId xmlns:a16="http://schemas.microsoft.com/office/drawing/2014/main" val="3628328800"/>
                  </a:ext>
                </a:extLst>
              </a:tr>
              <a:tr h="370840">
                <a:tc>
                  <a:txBody>
                    <a:bodyPr/>
                    <a:lstStyle/>
                    <a:p>
                      <a:r>
                        <a:rPr lang="en-US" dirty="0"/>
                        <a:t>C</a:t>
                      </a:r>
                    </a:p>
                  </a:txBody>
                  <a:tcPr/>
                </a:tc>
                <a:tc>
                  <a:txBody>
                    <a:bodyPr/>
                    <a:lstStyle/>
                    <a:p>
                      <a:r>
                        <a:rPr lang="en-US" dirty="0"/>
                        <a:t>0.03</a:t>
                      </a:r>
                    </a:p>
                  </a:txBody>
                  <a:tcPr/>
                </a:tc>
                <a:tc>
                  <a:txBody>
                    <a:bodyPr/>
                    <a:lstStyle/>
                    <a:p>
                      <a:r>
                        <a:rPr lang="en-US" dirty="0"/>
                        <a:t>0.05</a:t>
                      </a:r>
                    </a:p>
                  </a:txBody>
                  <a:tcPr/>
                </a:tc>
                <a:extLst>
                  <a:ext uri="{0D108BD9-81ED-4DB2-BD59-A6C34878D82A}">
                    <a16:rowId xmlns:a16="http://schemas.microsoft.com/office/drawing/2014/main" val="3546200394"/>
                  </a:ext>
                </a:extLst>
              </a:tr>
            </a:tbl>
          </a:graphicData>
        </a:graphic>
      </p:graphicFrame>
    </p:spTree>
    <p:extLst>
      <p:ext uri="{BB962C8B-B14F-4D97-AF65-F5344CB8AC3E}">
        <p14:creationId xmlns:p14="http://schemas.microsoft.com/office/powerpoint/2010/main" val="21302090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1F006B4-A9E1-4F39-85C8-FB836F9193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Savon</Template>
  <TotalTime>4825</TotalTime>
  <Words>6049</Words>
  <Application>Microsoft Office PowerPoint</Application>
  <PresentationFormat>Widescreen</PresentationFormat>
  <Paragraphs>548</Paragraphs>
  <Slides>34</Slides>
  <Notes>0</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7" baseType="lpstr">
      <vt:lpstr>Arial</vt:lpstr>
      <vt:lpstr>Calibri</vt:lpstr>
      <vt:lpstr>Cambria Math</vt:lpstr>
      <vt:lpstr>Century Gothic</vt:lpstr>
      <vt:lpstr>Garamond</vt:lpstr>
      <vt:lpstr>Georgia</vt:lpstr>
      <vt:lpstr>Lato</vt:lpstr>
      <vt:lpstr>Monaco</vt:lpstr>
      <vt:lpstr>SourceSansPro</vt:lpstr>
      <vt:lpstr>Times New Roman</vt:lpstr>
      <vt:lpstr>Wingdings</vt:lpstr>
      <vt:lpstr>Savon</vt:lpstr>
      <vt:lpstr>Equation</vt:lpstr>
      <vt:lpstr>PROBABiLITY</vt:lpstr>
      <vt:lpstr>Terminology used in probability</vt:lpstr>
      <vt:lpstr>PowerPoint Presentation</vt:lpstr>
      <vt:lpstr>Types of Events</vt:lpstr>
      <vt:lpstr>PowerPoint Presentation</vt:lpstr>
      <vt:lpstr>PowerPoint Presentation</vt:lpstr>
      <vt:lpstr>PowerPoint Presentation</vt:lpstr>
      <vt:lpstr>Basic rule of probability</vt:lpstr>
      <vt:lpstr>Approaches in probability</vt:lpstr>
      <vt:lpstr>Classical definition of probability</vt:lpstr>
      <vt:lpstr>Empirical definition of probability</vt:lpstr>
      <vt:lpstr>Subjective Probability</vt:lpstr>
      <vt:lpstr>PowerPoint Presentation</vt:lpstr>
      <vt:lpstr>PowerPoint Presentation</vt:lpstr>
      <vt:lpstr>PowerPoint Presentation</vt:lpstr>
      <vt:lpstr>Additional Rule of Probability</vt:lpstr>
      <vt:lpstr>Multiplicative rule of probability</vt:lpstr>
      <vt:lpstr>PowerPoint Presentation</vt:lpstr>
      <vt:lpstr>PowerPoint Presentation</vt:lpstr>
      <vt:lpstr>PowerPoint Presentation</vt:lpstr>
      <vt:lpstr>PowerPoint Presentation</vt:lpstr>
      <vt:lpstr>Rules of counting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Uses in computer science</vt:lpstr>
      <vt:lpstr>Problems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PROBABLITY</dc:title>
  <dc:creator>Santosh Chhatkuli</dc:creator>
  <cp:lastModifiedBy>Santosh Chhatkuli</cp:lastModifiedBy>
  <cp:revision>183</cp:revision>
  <dcterms:created xsi:type="dcterms:W3CDTF">2020-09-17T13:08:53Z</dcterms:created>
  <dcterms:modified xsi:type="dcterms:W3CDTF">2024-06-23T04:10:07Z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