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2" r:id="rId4"/>
  </p:sldMasterIdLst>
  <p:sldIdLst>
    <p:sldId id="268" r:id="rId5"/>
    <p:sldId id="311" r:id="rId6"/>
    <p:sldId id="312" r:id="rId7"/>
    <p:sldId id="313" r:id="rId8"/>
    <p:sldId id="315" r:id="rId9"/>
    <p:sldId id="314" r:id="rId10"/>
    <p:sldId id="316" r:id="rId11"/>
    <p:sldId id="317" r:id="rId12"/>
    <p:sldId id="318" r:id="rId13"/>
    <p:sldId id="319" r:id="rId14"/>
    <p:sldId id="323" r:id="rId15"/>
    <p:sldId id="324" r:id="rId16"/>
    <p:sldId id="325" r:id="rId17"/>
    <p:sldId id="326" r:id="rId18"/>
    <p:sldId id="327" r:id="rId19"/>
    <p:sldId id="328" r:id="rId20"/>
    <p:sldId id="329" r:id="rId21"/>
    <p:sldId id="330" r:id="rId22"/>
    <p:sldId id="331" r:id="rId23"/>
    <p:sldId id="332" r:id="rId24"/>
    <p:sldId id="336" r:id="rId25"/>
    <p:sldId id="320" r:id="rId26"/>
    <p:sldId id="333" r:id="rId27"/>
    <p:sldId id="321" r:id="rId28"/>
    <p:sldId id="33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varScale="1">
        <p:scale>
          <a:sx n="70" d="100"/>
          <a:sy n="70" d="100"/>
        </p:scale>
        <p:origin x="67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184DA70-C731-4C70-880D-CCD4705E623C}" type="datetime1">
              <a:rPr lang="en-US" smtClean="0"/>
              <a:t>6/14/2024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869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6/14/2024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0783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6/14/2024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62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6/14/2024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6027723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6E202-B606-4609-B914-27C9371A1F6D}" type="datetime1">
              <a:rPr lang="en-US" smtClean="0"/>
              <a:t>6/14/2024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2165150"/>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6/14/2024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53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6/14/2024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447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6/14/2024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23070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6/14/2024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01422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6/14/2024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00764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6/14/2024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49536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2D6E202-B606-4609-B914-27C9371A1F6D}" type="datetime1">
              <a:rPr lang="en-US" smtClean="0"/>
              <a:t>6/14/2024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A98EE3D-8CD1-4C3F-BD1C-C98C9596463C}"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095147"/>
      </p:ext>
    </p:extLst>
  </p:cSld>
  <p:clrMap bg1="lt1" tx1="dk1" bg2="lt2" tx2="dk2" accent1="accent1" accent2="accent2" accent3="accent3" accent4="accent4" accent5="accent5" accent6="accent6" hlink="hlink" folHlink="folHlink"/>
  <p:sldLayoutIdLst>
    <p:sldLayoutId id="2147484073" r:id="rId1"/>
    <p:sldLayoutId id="2147484074" r:id="rId2"/>
    <p:sldLayoutId id="2147484075" r:id="rId3"/>
    <p:sldLayoutId id="2147484076" r:id="rId4"/>
    <p:sldLayoutId id="2147484077" r:id="rId5"/>
    <p:sldLayoutId id="2147484078" r:id="rId6"/>
    <p:sldLayoutId id="2147484079" r:id="rId7"/>
    <p:sldLayoutId id="2147484080" r:id="rId8"/>
    <p:sldLayoutId id="2147484081" r:id="rId9"/>
    <p:sldLayoutId id="2147484082" r:id="rId10"/>
    <p:sldLayoutId id="214748408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a:normAutofit/>
          </a:bodyPr>
          <a:lstStyle/>
          <a:p>
            <a:r>
              <a:rPr lang="en-US" sz="8000" dirty="0"/>
              <a:t>Shape of the distribution</a:t>
            </a: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900" y="4921391"/>
            <a:ext cx="2928448" cy="597093"/>
          </a:xfrm>
        </p:spPr>
        <p:txBody>
          <a:bodyPr>
            <a:normAutofit/>
          </a:bodyPr>
          <a:lstStyle/>
          <a:p>
            <a:r>
              <a:rPr lang="en-US" sz="3200" dirty="0">
                <a:solidFill>
                  <a:schemeClr val="tx1">
                    <a:lumMod val="85000"/>
                    <a:lumOff val="15000"/>
                  </a:schemeClr>
                </a:solidFill>
              </a:rPr>
              <a:t>Santosh chhatkuli</a:t>
            </a:r>
          </a:p>
        </p:txBody>
      </p: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7A89-DC24-4EC3-B823-24A2954D4E28}"/>
              </a:ext>
            </a:extLst>
          </p:cNvPr>
          <p:cNvSpPr>
            <a:spLocks noGrp="1"/>
          </p:cNvSpPr>
          <p:nvPr>
            <p:ph type="title"/>
          </p:nvPr>
        </p:nvSpPr>
        <p:spPr>
          <a:xfrm>
            <a:off x="1097280" y="286603"/>
            <a:ext cx="10058400" cy="702305"/>
          </a:xfrm>
        </p:spPr>
        <p:txBody>
          <a:bodyPr>
            <a:normAutofit fontScale="90000"/>
          </a:bodyPr>
          <a:lstStyle/>
          <a:p>
            <a:r>
              <a:rPr lang="en-US" dirty="0"/>
              <a:t>Skewness</a:t>
            </a:r>
          </a:p>
        </p:txBody>
      </p:sp>
      <p:sp>
        <p:nvSpPr>
          <p:cNvPr id="3" name="Content Placeholder 2">
            <a:extLst>
              <a:ext uri="{FF2B5EF4-FFF2-40B4-BE49-F238E27FC236}">
                <a16:creationId xmlns:a16="http://schemas.microsoft.com/office/drawing/2014/main" id="{3CEBC9DF-BB2E-4352-9203-43BE5C187F04}"/>
              </a:ext>
            </a:extLst>
          </p:cNvPr>
          <p:cNvSpPr>
            <a:spLocks noGrp="1"/>
          </p:cNvSpPr>
          <p:nvPr>
            <p:ph idx="1"/>
          </p:nvPr>
        </p:nvSpPr>
        <p:spPr>
          <a:xfrm>
            <a:off x="1251678" y="1224951"/>
            <a:ext cx="10178322" cy="5020574"/>
          </a:xfrm>
        </p:spPr>
        <p:txBody>
          <a:bodyPr>
            <a:normAutofit/>
          </a:bodyPr>
          <a:lstStyle/>
          <a:p>
            <a:pPr marL="0" indent="0">
              <a:buNone/>
            </a:pPr>
            <a:r>
              <a:rPr lang="en-US" sz="2400" dirty="0">
                <a:effectLst/>
                <a:latin typeface="Calibri" panose="020F0502020204030204" pitchFamily="34" charset="0"/>
                <a:ea typeface="Times New Roman" panose="02020603050405020304" pitchFamily="18" charset="0"/>
              </a:rPr>
              <a:t>The graphical features of a distribution are most commonly described in terms of skewness and kurtosis. The frequency curve representing the observed frequency distribution may be either symmetrical or skewed or irregular shapes. An asymmetrical distribution is called skewed distribution. Skewness means lack of symmetry. </a:t>
            </a:r>
          </a:p>
          <a:p>
            <a:pPr marL="0" indent="0">
              <a:buNone/>
            </a:pPr>
            <a:endParaRPr lang="en-US" sz="2400" dirty="0">
              <a:effectLst/>
              <a:latin typeface="Calibri" panose="020F0502020204030204" pitchFamily="34" charset="0"/>
              <a:ea typeface="Times New Roman" panose="02020603050405020304" pitchFamily="18" charset="0"/>
            </a:endParaRPr>
          </a:p>
          <a:p>
            <a:pPr marL="0" indent="0">
              <a:buNone/>
            </a:pPr>
            <a:r>
              <a:rPr lang="en-US" sz="2400" dirty="0">
                <a:latin typeface="Calibri" panose="020F0502020204030204" pitchFamily="34" charset="0"/>
              </a:rPr>
              <a:t>Types of Skewness:</a:t>
            </a:r>
          </a:p>
          <a:p>
            <a:pPr marL="342900" indent="-342900">
              <a:buFont typeface="+mj-lt"/>
              <a:buAutoNum type="arabicPeriod"/>
            </a:pPr>
            <a:r>
              <a:rPr lang="en-US" sz="2400" dirty="0">
                <a:latin typeface="Calibri" panose="020F0502020204030204" pitchFamily="34" charset="0"/>
              </a:rPr>
              <a:t>Zero skewness (Symmetrical or Normal distribution)</a:t>
            </a:r>
          </a:p>
          <a:p>
            <a:pPr marL="342900" indent="-342900">
              <a:buFont typeface="+mj-lt"/>
              <a:buAutoNum type="arabicPeriod"/>
            </a:pPr>
            <a:r>
              <a:rPr lang="en-US" sz="2400" dirty="0">
                <a:latin typeface="Calibri" panose="020F0502020204030204" pitchFamily="34" charset="0"/>
              </a:rPr>
              <a:t>Right Skewness or Positive Skewness</a:t>
            </a:r>
          </a:p>
          <a:p>
            <a:pPr marL="342900" indent="-342900">
              <a:buFont typeface="+mj-lt"/>
              <a:buAutoNum type="arabicPeriod"/>
            </a:pPr>
            <a:r>
              <a:rPr lang="en-US" sz="2400" dirty="0">
                <a:latin typeface="Calibri" panose="020F0502020204030204" pitchFamily="34" charset="0"/>
              </a:rPr>
              <a:t>Left Skewness or Negative Skewness</a:t>
            </a:r>
            <a:endParaRPr lang="en-US" sz="2400" dirty="0"/>
          </a:p>
        </p:txBody>
      </p:sp>
    </p:spTree>
    <p:extLst>
      <p:ext uri="{BB962C8B-B14F-4D97-AF65-F5344CB8AC3E}">
        <p14:creationId xmlns:p14="http://schemas.microsoft.com/office/powerpoint/2010/main" val="2632978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F68D-45FD-4973-A394-B1F0F7DBB10E}"/>
              </a:ext>
            </a:extLst>
          </p:cNvPr>
          <p:cNvSpPr>
            <a:spLocks noGrp="1"/>
          </p:cNvSpPr>
          <p:nvPr>
            <p:ph type="title"/>
          </p:nvPr>
        </p:nvSpPr>
        <p:spPr>
          <a:xfrm>
            <a:off x="868853" y="403371"/>
            <a:ext cx="9720072" cy="618341"/>
          </a:xfrm>
        </p:spPr>
        <p:txBody>
          <a:bodyPr>
            <a:normAutofit/>
          </a:bodyPr>
          <a:lstStyle/>
          <a:p>
            <a:r>
              <a:rPr lang="en-US" sz="2400" b="1" dirty="0"/>
              <a:t>Symmetrical or Zero Skewed distribution</a:t>
            </a:r>
          </a:p>
        </p:txBody>
      </p:sp>
      <p:sp>
        <p:nvSpPr>
          <p:cNvPr id="3" name="Content Placeholder 2">
            <a:extLst>
              <a:ext uri="{FF2B5EF4-FFF2-40B4-BE49-F238E27FC236}">
                <a16:creationId xmlns:a16="http://schemas.microsoft.com/office/drawing/2014/main" id="{AAC411C2-C0CF-451B-8515-953F1C26F6C8}"/>
              </a:ext>
            </a:extLst>
          </p:cNvPr>
          <p:cNvSpPr>
            <a:spLocks noGrp="1"/>
          </p:cNvSpPr>
          <p:nvPr>
            <p:ph idx="1"/>
          </p:nvPr>
        </p:nvSpPr>
        <p:spPr>
          <a:xfrm>
            <a:off x="868853" y="1268083"/>
            <a:ext cx="10906203" cy="5186546"/>
          </a:xfrm>
        </p:spPr>
        <p:txBody>
          <a:bodyPr>
            <a:normAutofit fontScale="92500" lnSpcReduction="20000"/>
          </a:bodyPr>
          <a:lstStyle/>
          <a:p>
            <a:r>
              <a:rPr lang="en-US" sz="2400" dirty="0">
                <a:effectLst/>
                <a:latin typeface="Calibri" panose="020F0502020204030204" pitchFamily="34" charset="0"/>
                <a:ea typeface="Times New Roman" panose="02020603050405020304" pitchFamily="18" charset="0"/>
              </a:rPr>
              <a:t>A distribution is said to be </a:t>
            </a:r>
            <a:r>
              <a:rPr lang="en-US" sz="2400" b="1" dirty="0">
                <a:effectLst/>
                <a:latin typeface="Calibri" panose="020F0502020204030204" pitchFamily="34" charset="0"/>
                <a:ea typeface="Times New Roman" panose="02020603050405020304" pitchFamily="18" charset="0"/>
              </a:rPr>
              <a:t>symmetrical</a:t>
            </a:r>
            <a:r>
              <a:rPr lang="en-US" sz="2400" dirty="0">
                <a:effectLst/>
                <a:latin typeface="Calibri" panose="020F0502020204030204" pitchFamily="34" charset="0"/>
                <a:ea typeface="Times New Roman" panose="02020603050405020304" pitchFamily="18" charset="0"/>
              </a:rPr>
              <a:t> or </a:t>
            </a:r>
            <a:r>
              <a:rPr lang="en-US" sz="2400" b="1" dirty="0">
                <a:effectLst/>
                <a:latin typeface="Calibri" panose="020F0502020204030204" pitchFamily="34" charset="0"/>
                <a:ea typeface="Times New Roman" panose="02020603050405020304" pitchFamily="18" charset="0"/>
              </a:rPr>
              <a:t>zero skewed</a:t>
            </a:r>
            <a:r>
              <a:rPr lang="en-US" sz="2400" dirty="0">
                <a:effectLst/>
                <a:latin typeface="Calibri" panose="020F0502020204030204" pitchFamily="34" charset="0"/>
                <a:ea typeface="Times New Roman" panose="02020603050405020304" pitchFamily="18" charset="0"/>
              </a:rPr>
              <a:t> if a vertical line drawn from the center of the frequency curve of distribution to the axis divides the area of the curve into two equal parts such that each part is mirror image of the other.</a:t>
            </a:r>
          </a:p>
          <a:p>
            <a:r>
              <a:rPr lang="en-US" sz="2400" dirty="0">
                <a:latin typeface="Calibri" panose="020F0502020204030204" pitchFamily="34" charset="0"/>
                <a:ea typeface="Times New Roman" panose="02020603050405020304" pitchFamily="18" charset="0"/>
              </a:rPr>
              <a:t>For symmetrical distribution, Mean = Median = Mode</a:t>
            </a:r>
          </a:p>
          <a:p>
            <a:endParaRPr lang="en-US" sz="2400" dirty="0">
              <a:effectLst/>
              <a:latin typeface="Calibri" panose="020F0502020204030204" pitchFamily="34" charset="0"/>
              <a:ea typeface="Times New Roman" panose="02020603050405020304" pitchFamily="18" charset="0"/>
            </a:endParaRPr>
          </a:p>
          <a:p>
            <a:endParaRPr lang="en-US" sz="2400" dirty="0">
              <a:latin typeface="Calibri" panose="020F0502020204030204" pitchFamily="34" charset="0"/>
              <a:ea typeface="Times New Roman" panose="02020603050405020304" pitchFamily="18" charset="0"/>
            </a:endParaRPr>
          </a:p>
          <a:p>
            <a:endParaRPr lang="en-US" sz="2400" dirty="0">
              <a:effectLst/>
              <a:latin typeface="Calibri" panose="020F0502020204030204" pitchFamily="34" charset="0"/>
              <a:ea typeface="Times New Roman" panose="02020603050405020304" pitchFamily="18" charset="0"/>
            </a:endParaRPr>
          </a:p>
          <a:p>
            <a:endParaRPr lang="en-US" sz="2400" dirty="0">
              <a:latin typeface="Calibri" panose="020F0502020204030204" pitchFamily="34" charset="0"/>
              <a:ea typeface="Times New Roman" panose="02020603050405020304" pitchFamily="18" charset="0"/>
            </a:endParaRPr>
          </a:p>
          <a:p>
            <a:endParaRPr lang="en-US" sz="2400" dirty="0">
              <a:effectLst/>
              <a:latin typeface="Calibri" panose="020F0502020204030204" pitchFamily="34" charset="0"/>
              <a:ea typeface="Times New Roman" panose="02020603050405020304" pitchFamily="18" charset="0"/>
            </a:endParaRPr>
          </a:p>
          <a:p>
            <a:endParaRPr lang="en-US" sz="2400" dirty="0">
              <a:latin typeface="Calibri" panose="020F0502020204030204" pitchFamily="34" charset="0"/>
              <a:ea typeface="Times New Roman" panose="02020603050405020304" pitchFamily="18" charset="0"/>
            </a:endParaRPr>
          </a:p>
          <a:p>
            <a:endParaRPr lang="en-US" sz="2400" dirty="0">
              <a:effectLst/>
              <a:latin typeface="Calibri" panose="020F0502020204030204" pitchFamily="34" charset="0"/>
              <a:ea typeface="Times New Roman" panose="02020603050405020304" pitchFamily="18" charset="0"/>
            </a:endParaRPr>
          </a:p>
          <a:p>
            <a:endParaRPr lang="en-US" sz="2400" dirty="0">
              <a:effectLst/>
              <a:latin typeface="Calibri" panose="020F0502020204030204" pitchFamily="34" charset="0"/>
              <a:ea typeface="Times New Roman" panose="02020603050405020304" pitchFamily="18" charset="0"/>
            </a:endParaRPr>
          </a:p>
          <a:p>
            <a:r>
              <a:rPr lang="en-US" sz="2400" dirty="0">
                <a:effectLst/>
                <a:latin typeface="Calibri" panose="020F0502020204030204" pitchFamily="34" charset="0"/>
                <a:ea typeface="Times New Roman" panose="02020603050405020304" pitchFamily="18" charset="0"/>
              </a:rPr>
              <a:t>The distribution in the right is symmetrical but not normal. All symmetrical distributions are not normal.</a:t>
            </a:r>
          </a:p>
          <a:p>
            <a:endParaRPr lang="en-US" sz="1800" dirty="0">
              <a:latin typeface="Calibri" panose="020F0502020204030204"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79DA6C13-3514-4765-8821-2647F64AA9AF}"/>
              </a:ext>
            </a:extLst>
          </p:cNvPr>
          <p:cNvPicPr>
            <a:picLocks noChangeAspect="1"/>
          </p:cNvPicPr>
          <p:nvPr/>
        </p:nvPicPr>
        <p:blipFill>
          <a:blip r:embed="rId2"/>
          <a:stretch>
            <a:fillRect/>
          </a:stretch>
        </p:blipFill>
        <p:spPr>
          <a:xfrm>
            <a:off x="1177619" y="2556544"/>
            <a:ext cx="4374807" cy="3033373"/>
          </a:xfrm>
          <a:prstGeom prst="rect">
            <a:avLst/>
          </a:prstGeom>
        </p:spPr>
      </p:pic>
      <p:pic>
        <p:nvPicPr>
          <p:cNvPr id="7" name="Picture 6">
            <a:extLst>
              <a:ext uri="{FF2B5EF4-FFF2-40B4-BE49-F238E27FC236}">
                <a16:creationId xmlns:a16="http://schemas.microsoft.com/office/drawing/2014/main" id="{22F7092A-8354-4828-93F1-21073EB2D4A6}"/>
              </a:ext>
            </a:extLst>
          </p:cNvPr>
          <p:cNvPicPr>
            <a:picLocks noChangeAspect="1"/>
          </p:cNvPicPr>
          <p:nvPr/>
        </p:nvPicPr>
        <p:blipFill>
          <a:blip r:embed="rId3"/>
          <a:stretch>
            <a:fillRect/>
          </a:stretch>
        </p:blipFill>
        <p:spPr>
          <a:xfrm>
            <a:off x="6892506" y="2556543"/>
            <a:ext cx="4430641" cy="3033373"/>
          </a:xfrm>
          <a:prstGeom prst="rect">
            <a:avLst/>
          </a:prstGeom>
        </p:spPr>
      </p:pic>
    </p:spTree>
    <p:extLst>
      <p:ext uri="{BB962C8B-B14F-4D97-AF65-F5344CB8AC3E}">
        <p14:creationId xmlns:p14="http://schemas.microsoft.com/office/powerpoint/2010/main" val="3596996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6BAD-9F25-4173-B286-0A1C2F5A4E02}"/>
              </a:ext>
            </a:extLst>
          </p:cNvPr>
          <p:cNvSpPr>
            <a:spLocks noGrp="1"/>
          </p:cNvSpPr>
          <p:nvPr>
            <p:ph type="title"/>
          </p:nvPr>
        </p:nvSpPr>
        <p:spPr>
          <a:xfrm>
            <a:off x="851600" y="429942"/>
            <a:ext cx="9720072" cy="380942"/>
          </a:xfrm>
        </p:spPr>
        <p:txBody>
          <a:bodyPr>
            <a:normAutofit fontScale="90000"/>
          </a:bodyPr>
          <a:lstStyle/>
          <a:p>
            <a:r>
              <a:rPr lang="en-US" sz="2400" b="1" dirty="0"/>
              <a:t>Positive Skewness</a:t>
            </a:r>
          </a:p>
        </p:txBody>
      </p:sp>
      <p:sp>
        <p:nvSpPr>
          <p:cNvPr id="3" name="Content Placeholder 2">
            <a:extLst>
              <a:ext uri="{FF2B5EF4-FFF2-40B4-BE49-F238E27FC236}">
                <a16:creationId xmlns:a16="http://schemas.microsoft.com/office/drawing/2014/main" id="{1F5263CA-6C4F-4C44-8AA5-E7251BA70A81}"/>
              </a:ext>
            </a:extLst>
          </p:cNvPr>
          <p:cNvSpPr>
            <a:spLocks noGrp="1"/>
          </p:cNvSpPr>
          <p:nvPr>
            <p:ph idx="1"/>
          </p:nvPr>
        </p:nvSpPr>
        <p:spPr>
          <a:xfrm>
            <a:off x="851600" y="1069675"/>
            <a:ext cx="10690543" cy="5239685"/>
          </a:xfrm>
        </p:spPr>
        <p:txBody>
          <a:bodyPr/>
          <a:lstStyle/>
          <a:p>
            <a:r>
              <a:rPr lang="en-US" sz="2400" dirty="0">
                <a:effectLst/>
                <a:latin typeface="Calibri" panose="020F0502020204030204" pitchFamily="34" charset="0"/>
                <a:ea typeface="Times New Roman" panose="02020603050405020304" pitchFamily="18" charset="0"/>
              </a:rPr>
              <a:t>If more observations lie to the left of the mean, the distribution is balanced at the mean by a long tail to the right then the distribution is said to be </a:t>
            </a:r>
            <a:r>
              <a:rPr lang="en-US" sz="2400" b="1" dirty="0">
                <a:effectLst/>
                <a:latin typeface="Calibri" panose="020F0502020204030204" pitchFamily="34" charset="0"/>
                <a:ea typeface="Times New Roman" panose="02020603050405020304" pitchFamily="18" charset="0"/>
              </a:rPr>
              <a:t>positively skewed </a:t>
            </a:r>
            <a:r>
              <a:rPr lang="en-US" sz="2400" dirty="0">
                <a:effectLst/>
                <a:latin typeface="Calibri" panose="020F0502020204030204" pitchFamily="34" charset="0"/>
                <a:ea typeface="Times New Roman" panose="02020603050405020304" pitchFamily="18" charset="0"/>
              </a:rPr>
              <a:t>or </a:t>
            </a:r>
            <a:r>
              <a:rPr lang="en-US" sz="2400" b="1" dirty="0">
                <a:effectLst/>
                <a:latin typeface="Calibri" panose="020F0502020204030204" pitchFamily="34" charset="0"/>
                <a:ea typeface="Times New Roman" panose="02020603050405020304" pitchFamily="18" charset="0"/>
              </a:rPr>
              <a:t>right skewed</a:t>
            </a:r>
            <a:r>
              <a:rPr lang="en-US" sz="2400" dirty="0">
                <a:effectLst/>
                <a:latin typeface="Calibri" panose="020F0502020204030204" pitchFamily="34" charset="0"/>
                <a:ea typeface="Times New Roman" panose="02020603050405020304" pitchFamily="18" charset="0"/>
              </a:rPr>
              <a:t>. Right tail is heavier than the left tail. The positive skewness arises when mean is increased by some unusually high value. These extremely high values pull the mean upward and frequency curve is distorted to the right.</a:t>
            </a:r>
          </a:p>
          <a:p>
            <a:r>
              <a:rPr lang="en-US" sz="2400" dirty="0">
                <a:latin typeface="Calibri" panose="020F0502020204030204" pitchFamily="34" charset="0"/>
                <a:ea typeface="Times New Roman" panose="02020603050405020304" pitchFamily="18" charset="0"/>
              </a:rPr>
              <a:t>Example: Wealth of people in the country, Marks of students in difficult exam, Salary of employee of a company, No. of children in family </a:t>
            </a:r>
            <a:r>
              <a:rPr lang="en-US" sz="2400" dirty="0" err="1">
                <a:latin typeface="Calibri" panose="020F0502020204030204" pitchFamily="34" charset="0"/>
                <a:ea typeface="Times New Roman" panose="02020603050405020304" pitchFamily="18" charset="0"/>
              </a:rPr>
              <a:t>etc</a:t>
            </a:r>
            <a:endParaRPr lang="en-US" sz="2400" dirty="0">
              <a:latin typeface="Calibri" panose="020F0502020204030204" pitchFamily="34" charset="0"/>
              <a:ea typeface="Times New Roman" panose="02020603050405020304" pitchFamily="18" charset="0"/>
            </a:endParaRPr>
          </a:p>
          <a:p>
            <a:endParaRPr lang="en-US" sz="2400" dirty="0">
              <a:effectLst/>
              <a:latin typeface="Calibri" panose="020F0502020204030204" pitchFamily="34" charset="0"/>
              <a:ea typeface="Times New Roman" panose="02020603050405020304" pitchFamily="18" charset="0"/>
            </a:endParaRPr>
          </a:p>
          <a:p>
            <a:endParaRPr lang="en-US" sz="24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5C150AE3-E01F-4218-A766-13119285F575}"/>
              </a:ext>
            </a:extLst>
          </p:cNvPr>
          <p:cNvPicPr>
            <a:picLocks noChangeAspect="1"/>
          </p:cNvPicPr>
          <p:nvPr/>
        </p:nvPicPr>
        <p:blipFill>
          <a:blip r:embed="rId2"/>
          <a:stretch>
            <a:fillRect/>
          </a:stretch>
        </p:blipFill>
        <p:spPr>
          <a:xfrm>
            <a:off x="1302531" y="3770490"/>
            <a:ext cx="3410426" cy="2343477"/>
          </a:xfrm>
          <a:prstGeom prst="rect">
            <a:avLst/>
          </a:prstGeom>
        </p:spPr>
      </p:pic>
      <p:pic>
        <p:nvPicPr>
          <p:cNvPr id="6" name="Picture 5">
            <a:extLst>
              <a:ext uri="{FF2B5EF4-FFF2-40B4-BE49-F238E27FC236}">
                <a16:creationId xmlns:a16="http://schemas.microsoft.com/office/drawing/2014/main" id="{B6EAA057-C18E-402C-99E7-F78612DF4EC5}"/>
              </a:ext>
            </a:extLst>
          </p:cNvPr>
          <p:cNvPicPr>
            <a:picLocks noChangeAspect="1"/>
          </p:cNvPicPr>
          <p:nvPr/>
        </p:nvPicPr>
        <p:blipFill>
          <a:blip r:embed="rId3"/>
          <a:stretch>
            <a:fillRect/>
          </a:stretch>
        </p:blipFill>
        <p:spPr>
          <a:xfrm>
            <a:off x="6096000" y="3851465"/>
            <a:ext cx="4210638" cy="2181529"/>
          </a:xfrm>
          <a:prstGeom prst="rect">
            <a:avLst/>
          </a:prstGeom>
        </p:spPr>
      </p:pic>
    </p:spTree>
    <p:extLst>
      <p:ext uri="{BB962C8B-B14F-4D97-AF65-F5344CB8AC3E}">
        <p14:creationId xmlns:p14="http://schemas.microsoft.com/office/powerpoint/2010/main" val="1889571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CB94-DBFB-4693-A671-9039C72A3960}"/>
              </a:ext>
            </a:extLst>
          </p:cNvPr>
          <p:cNvSpPr>
            <a:spLocks noGrp="1"/>
          </p:cNvSpPr>
          <p:nvPr>
            <p:ph type="title"/>
          </p:nvPr>
        </p:nvSpPr>
        <p:spPr>
          <a:xfrm>
            <a:off x="1024129" y="396987"/>
            <a:ext cx="9720072" cy="303305"/>
          </a:xfrm>
        </p:spPr>
        <p:txBody>
          <a:bodyPr>
            <a:normAutofit fontScale="90000"/>
          </a:bodyPr>
          <a:lstStyle/>
          <a:p>
            <a:r>
              <a:rPr lang="en-US" sz="2400" b="1" dirty="0"/>
              <a:t>Negative skewness</a:t>
            </a:r>
          </a:p>
        </p:txBody>
      </p:sp>
      <p:sp>
        <p:nvSpPr>
          <p:cNvPr id="3" name="Content Placeholder 2">
            <a:extLst>
              <a:ext uri="{FF2B5EF4-FFF2-40B4-BE49-F238E27FC236}">
                <a16:creationId xmlns:a16="http://schemas.microsoft.com/office/drawing/2014/main" id="{7B29DD10-AF47-4A4E-838E-E778717D189A}"/>
              </a:ext>
            </a:extLst>
          </p:cNvPr>
          <p:cNvSpPr>
            <a:spLocks noGrp="1"/>
          </p:cNvSpPr>
          <p:nvPr>
            <p:ph idx="1"/>
          </p:nvPr>
        </p:nvSpPr>
        <p:spPr>
          <a:xfrm>
            <a:off x="1024128" y="957531"/>
            <a:ext cx="10681917" cy="5503481"/>
          </a:xfrm>
        </p:spPr>
        <p:txBody>
          <a:bodyPr/>
          <a:lstStyle/>
          <a:p>
            <a:r>
              <a:rPr lang="en-US" sz="2400" dirty="0">
                <a:effectLst/>
                <a:latin typeface="Calibri" panose="020F0502020204030204" pitchFamily="34" charset="0"/>
                <a:ea typeface="Times New Roman" panose="02020603050405020304" pitchFamily="18" charset="0"/>
              </a:rPr>
              <a:t>If more observations lie to the right of the mean, the larger tail extends to the left then the distribution is said to be </a:t>
            </a:r>
            <a:r>
              <a:rPr lang="en-US" sz="2400" b="1" dirty="0">
                <a:effectLst/>
                <a:latin typeface="Calibri" panose="020F0502020204030204" pitchFamily="34" charset="0"/>
                <a:ea typeface="Times New Roman" panose="02020603050405020304" pitchFamily="18" charset="0"/>
              </a:rPr>
              <a:t>negatively skewed</a:t>
            </a:r>
            <a:r>
              <a:rPr lang="en-US" sz="2400" dirty="0">
                <a:effectLst/>
                <a:latin typeface="Calibri" panose="020F0502020204030204" pitchFamily="34" charset="0"/>
                <a:ea typeface="Times New Roman" panose="02020603050405020304" pitchFamily="18" charset="0"/>
              </a:rPr>
              <a:t> or </a:t>
            </a:r>
            <a:r>
              <a:rPr lang="en-US" sz="2400" b="1" dirty="0">
                <a:effectLst/>
                <a:latin typeface="Calibri" panose="020F0502020204030204" pitchFamily="34" charset="0"/>
                <a:ea typeface="Times New Roman" panose="02020603050405020304" pitchFamily="18" charset="0"/>
              </a:rPr>
              <a:t>left skewed</a:t>
            </a:r>
            <a:r>
              <a:rPr lang="en-US" sz="2400" dirty="0">
                <a:effectLst/>
                <a:latin typeface="Calibri" panose="020F0502020204030204" pitchFamily="34" charset="0"/>
                <a:ea typeface="Times New Roman" panose="02020603050405020304" pitchFamily="18" charset="0"/>
              </a:rPr>
              <a:t>. The left tail is heavier than right tail. Negative skewness occurs when mean is reduced by some extremely low values. These extremely small values pull the mean downward and the frequency curve is distorted to the left.</a:t>
            </a:r>
          </a:p>
          <a:p>
            <a:r>
              <a:rPr lang="en-US" sz="2400" dirty="0">
                <a:latin typeface="Calibri" panose="020F0502020204030204" pitchFamily="34" charset="0"/>
                <a:ea typeface="Times New Roman" panose="02020603050405020304" pitchFamily="18" charset="0"/>
              </a:rPr>
              <a:t>Example: Marks of students in easier exam, Household income of rich country, age at </a:t>
            </a:r>
            <a:r>
              <a:rPr lang="en-US" sz="2400">
                <a:latin typeface="Calibri" panose="020F0502020204030204" pitchFamily="34" charset="0"/>
                <a:ea typeface="Times New Roman" panose="02020603050405020304" pitchFamily="18" charset="0"/>
              </a:rPr>
              <a:t>death etc. </a:t>
            </a:r>
            <a:endParaRPr lang="en-US" sz="2400" dirty="0">
              <a:effectLst/>
              <a:latin typeface="Calibri" panose="020F0502020204030204" pitchFamily="34" charset="0"/>
              <a:ea typeface="Times New Roman" panose="02020603050405020304" pitchFamily="18" charset="0"/>
            </a:endParaRPr>
          </a:p>
          <a:p>
            <a:endParaRPr lang="en-US" sz="1800" dirty="0">
              <a:latin typeface="Calibri" panose="020F0502020204030204" pitchFamily="34" charset="0"/>
              <a:ea typeface="Times New Roman" panose="02020603050405020304" pitchFamily="18" charset="0"/>
            </a:endParaRPr>
          </a:p>
          <a:p>
            <a:endParaRPr lang="en-US" sz="1800" dirty="0">
              <a:effectLst/>
              <a:latin typeface="Calibri" panose="020F0502020204030204"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52BE6182-F261-4C4C-9B36-AB12C0FF8B38}"/>
              </a:ext>
            </a:extLst>
          </p:cNvPr>
          <p:cNvPicPr>
            <a:picLocks noChangeAspect="1"/>
          </p:cNvPicPr>
          <p:nvPr/>
        </p:nvPicPr>
        <p:blipFill>
          <a:blip r:embed="rId2"/>
          <a:stretch>
            <a:fillRect/>
          </a:stretch>
        </p:blipFill>
        <p:spPr>
          <a:xfrm>
            <a:off x="1550339" y="3547466"/>
            <a:ext cx="4163006" cy="2353003"/>
          </a:xfrm>
          <a:prstGeom prst="rect">
            <a:avLst/>
          </a:prstGeom>
        </p:spPr>
      </p:pic>
      <p:pic>
        <p:nvPicPr>
          <p:cNvPr id="7" name="Picture 6">
            <a:extLst>
              <a:ext uri="{FF2B5EF4-FFF2-40B4-BE49-F238E27FC236}">
                <a16:creationId xmlns:a16="http://schemas.microsoft.com/office/drawing/2014/main" id="{5ECD0C99-CEAC-4085-9DB9-0C22FF4D3AB8}"/>
              </a:ext>
            </a:extLst>
          </p:cNvPr>
          <p:cNvPicPr>
            <a:picLocks noChangeAspect="1"/>
          </p:cNvPicPr>
          <p:nvPr/>
        </p:nvPicPr>
        <p:blipFill>
          <a:blip r:embed="rId3"/>
          <a:stretch>
            <a:fillRect/>
          </a:stretch>
        </p:blipFill>
        <p:spPr>
          <a:xfrm>
            <a:off x="6822286" y="3666544"/>
            <a:ext cx="4163006" cy="2114845"/>
          </a:xfrm>
          <a:prstGeom prst="rect">
            <a:avLst/>
          </a:prstGeom>
        </p:spPr>
      </p:pic>
    </p:spTree>
    <p:extLst>
      <p:ext uri="{BB962C8B-B14F-4D97-AF65-F5344CB8AC3E}">
        <p14:creationId xmlns:p14="http://schemas.microsoft.com/office/powerpoint/2010/main" val="3065284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EA6B27A-5B1F-4962-B1F2-F1C77C14E56A}"/>
              </a:ext>
            </a:extLst>
          </p:cNvPr>
          <p:cNvPicPr>
            <a:picLocks noGrp="1" noChangeAspect="1"/>
          </p:cNvPicPr>
          <p:nvPr>
            <p:ph idx="1"/>
          </p:nvPr>
        </p:nvPicPr>
        <p:blipFill>
          <a:blip r:embed="rId2"/>
          <a:stretch>
            <a:fillRect/>
          </a:stretch>
        </p:blipFill>
        <p:spPr>
          <a:xfrm>
            <a:off x="1108364" y="983673"/>
            <a:ext cx="10529454" cy="5098472"/>
          </a:xfrm>
        </p:spPr>
      </p:pic>
    </p:spTree>
    <p:extLst>
      <p:ext uri="{BB962C8B-B14F-4D97-AF65-F5344CB8AC3E}">
        <p14:creationId xmlns:p14="http://schemas.microsoft.com/office/powerpoint/2010/main" val="961770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6F8B0-6E61-49D1-8820-B4ACA227060A}"/>
              </a:ext>
            </a:extLst>
          </p:cNvPr>
          <p:cNvSpPr>
            <a:spLocks noGrp="1"/>
          </p:cNvSpPr>
          <p:nvPr>
            <p:ph type="title"/>
          </p:nvPr>
        </p:nvSpPr>
        <p:spPr>
          <a:xfrm>
            <a:off x="1024127" y="455820"/>
            <a:ext cx="9720072" cy="398195"/>
          </a:xfrm>
        </p:spPr>
        <p:txBody>
          <a:bodyPr>
            <a:normAutofit/>
          </a:bodyPr>
          <a:lstStyle/>
          <a:p>
            <a:r>
              <a:rPr lang="en-US" sz="2400" b="1" dirty="0"/>
              <a:t>Measures of skewness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2EA2C-CFFB-4B9F-82C3-FC89BBC3F5A7}"/>
                  </a:ext>
                </a:extLst>
              </p:cNvPr>
              <p:cNvSpPr>
                <a:spLocks noGrp="1"/>
              </p:cNvSpPr>
              <p:nvPr>
                <p:ph idx="1"/>
              </p:nvPr>
            </p:nvSpPr>
            <p:spPr>
              <a:xfrm>
                <a:off x="1024128" y="1121434"/>
                <a:ext cx="10561147" cy="5280746"/>
              </a:xfrm>
            </p:spPr>
            <p:txBody>
              <a:bodyPr>
                <a:normAutofit/>
              </a:bodyPr>
              <a:lstStyle/>
              <a:p>
                <a:r>
                  <a:rPr lang="en-US" b="1" dirty="0">
                    <a:solidFill>
                      <a:srgbClr val="00B0F0"/>
                    </a:solidFill>
                  </a:rPr>
                  <a:t>Karl Pearson’s first coefficient of skewness </a:t>
                </a:r>
              </a:p>
              <a:p>
                <a:endParaRPr lang="en-US" dirty="0"/>
              </a:p>
              <a:p>
                <a:r>
                  <a:rPr lang="en-US" dirty="0"/>
                  <a:t>Coefficient of skewness</a:t>
                </a:r>
              </a:p>
              <a:p>
                <a:r>
                  <a:rPr lang="en-US" dirty="0"/>
                  <a:t>Notation :</a:t>
                </a: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 Sample mean, </a:t>
                </a:r>
                <a:r>
                  <a:rPr lang="en-US" dirty="0" err="1"/>
                  <a:t>m</a:t>
                </a:r>
                <a:r>
                  <a:rPr lang="en-US" baseline="-25000" dirty="0" err="1"/>
                  <a:t>o</a:t>
                </a:r>
                <a:r>
                  <a:rPr lang="en-US" dirty="0"/>
                  <a:t> = Sample mode and s = sample standard deviation.</a:t>
                </a:r>
              </a:p>
              <a:p>
                <a:endParaRPr lang="en-US" b="1" dirty="0">
                  <a:solidFill>
                    <a:srgbClr val="00B0F0"/>
                  </a:solidFill>
                </a:endParaRPr>
              </a:p>
              <a:p>
                <a:r>
                  <a:rPr lang="en-US" b="1" dirty="0">
                    <a:solidFill>
                      <a:srgbClr val="00B0F0"/>
                    </a:solidFill>
                  </a:rPr>
                  <a:t>Karl Pearson’s second coefficient of skewness </a:t>
                </a:r>
              </a:p>
              <a:p>
                <a:endParaRPr lang="en-US" dirty="0"/>
              </a:p>
              <a:p>
                <a:r>
                  <a:rPr lang="en-US" dirty="0"/>
                  <a:t>Coefficient of skewness </a:t>
                </a:r>
              </a:p>
              <a:p>
                <a:endParaRPr lang="en-US" dirty="0"/>
              </a:p>
              <a:p>
                <a:r>
                  <a:rPr lang="en-US" dirty="0"/>
                  <a:t>Notation: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 Sample mean, m</a:t>
                </a:r>
                <a:r>
                  <a:rPr lang="en-US" baseline="-25000" dirty="0"/>
                  <a:t>d</a:t>
                </a:r>
                <a:r>
                  <a:rPr lang="en-US" dirty="0"/>
                  <a:t> = Sample median and s = sample standard deviation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9EA2EA2C-CFFB-4B9F-82C3-FC89BBC3F5A7}"/>
                  </a:ext>
                </a:extLst>
              </p:cNvPr>
              <p:cNvSpPr>
                <a:spLocks noGrp="1" noRot="1" noChangeAspect="1" noMove="1" noResize="1" noEditPoints="1" noAdjustHandles="1" noChangeArrowheads="1" noChangeShapeType="1" noTextEdit="1"/>
              </p:cNvSpPr>
              <p:nvPr>
                <p:ph idx="1"/>
              </p:nvPr>
            </p:nvSpPr>
            <p:spPr>
              <a:xfrm>
                <a:off x="1024128" y="1121434"/>
                <a:ext cx="10561147" cy="5280746"/>
              </a:xfrm>
              <a:blipFill>
                <a:blip r:embed="rId3"/>
                <a:stretch>
                  <a:fillRect l="-289" t="-1386" b="-6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6BA555C9-6C14-430C-8236-6D6BDB66EDA1}"/>
                  </a:ext>
                </a:extLst>
              </p:cNvPr>
              <p:cNvSpPr txBox="1"/>
              <p:nvPr/>
            </p:nvSpPr>
            <p:spPr>
              <a:xfrm>
                <a:off x="3932238" y="1842847"/>
                <a:ext cx="1662112" cy="837231"/>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𝑘</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𝑜</m:t>
                              </m:r>
                            </m:sub>
                          </m:sSub>
                        </m:num>
                        <m:den>
                          <m:r>
                            <a:rPr lang="en-US" i="1">
                              <a:solidFill>
                                <a:srgbClr val="000000"/>
                              </a:solidFill>
                              <a:latin typeface="Cambria Math" panose="02040503050406030204" pitchFamily="18" charset="0"/>
                            </a:rPr>
                            <m:t>𝑠</m:t>
                          </m:r>
                        </m:den>
                      </m:f>
                    </m:oMath>
                  </m:oMathPara>
                </a14:m>
                <a:endParaRPr lang="en-US"/>
              </a:p>
            </p:txBody>
          </p:sp>
        </mc:Choice>
        <mc:Fallback xmlns="">
          <p:sp>
            <p:nvSpPr>
              <p:cNvPr id="4" name="Object 3">
                <a:extLst>
                  <a:ext uri="{FF2B5EF4-FFF2-40B4-BE49-F238E27FC236}">
                    <a16:creationId xmlns:a16="http://schemas.microsoft.com/office/drawing/2014/main" id="{6BA555C9-6C14-430C-8236-6D6BDB66EDA1}"/>
                  </a:ext>
                </a:extLst>
              </p:cNvPr>
              <p:cNvSpPr txBox="1">
                <a:spLocks noRot="1" noChangeAspect="1" noMove="1" noResize="1" noEditPoints="1" noAdjustHandles="1" noChangeArrowheads="1" noChangeShapeType="1" noTextEdit="1"/>
              </p:cNvSpPr>
              <p:nvPr/>
            </p:nvSpPr>
            <p:spPr>
              <a:xfrm>
                <a:off x="3932238" y="1842847"/>
                <a:ext cx="1662112" cy="8372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B3098626-1A03-4397-A628-8AAB371D4326}"/>
                  </a:ext>
                </a:extLst>
              </p:cNvPr>
              <p:cNvSpPr txBox="1"/>
              <p:nvPr/>
            </p:nvSpPr>
            <p:spPr>
              <a:xfrm>
                <a:off x="3932238" y="4687296"/>
                <a:ext cx="2163762" cy="95726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𝑘</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3</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𝑠</m:t>
                          </m:r>
                        </m:den>
                      </m:f>
                    </m:oMath>
                  </m:oMathPara>
                </a14:m>
                <a:endParaRPr lang="en-US"/>
              </a:p>
            </p:txBody>
          </p:sp>
        </mc:Choice>
        <mc:Fallback xmlns="">
          <p:sp>
            <p:nvSpPr>
              <p:cNvPr id="7" name="Object 6">
                <a:extLst>
                  <a:ext uri="{FF2B5EF4-FFF2-40B4-BE49-F238E27FC236}">
                    <a16:creationId xmlns:a16="http://schemas.microsoft.com/office/drawing/2014/main" id="{B3098626-1A03-4397-A628-8AAB371D4326}"/>
                  </a:ext>
                </a:extLst>
              </p:cNvPr>
              <p:cNvSpPr txBox="1">
                <a:spLocks noRot="1" noChangeAspect="1" noMove="1" noResize="1" noEditPoints="1" noAdjustHandles="1" noChangeArrowheads="1" noChangeShapeType="1" noTextEdit="1"/>
              </p:cNvSpPr>
              <p:nvPr/>
            </p:nvSpPr>
            <p:spPr>
              <a:xfrm>
                <a:off x="3932238" y="4687296"/>
                <a:ext cx="2163762" cy="95726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6463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F437C3-D2E6-4AF8-92D1-BC6256BEBB8E}"/>
              </a:ext>
            </a:extLst>
          </p:cNvPr>
          <p:cNvSpPr>
            <a:spLocks noGrp="1"/>
          </p:cNvSpPr>
          <p:nvPr>
            <p:ph idx="1"/>
          </p:nvPr>
        </p:nvSpPr>
        <p:spPr>
          <a:xfrm>
            <a:off x="1024128" y="646981"/>
            <a:ext cx="9720073" cy="5662379"/>
          </a:xfrm>
        </p:spPr>
        <p:txBody>
          <a:bodyPr>
            <a:normAutofit/>
          </a:bodyPr>
          <a:lstStyle/>
          <a:p>
            <a:r>
              <a:rPr lang="en-US" sz="3200" dirty="0">
                <a:effectLst/>
                <a:latin typeface="Calibri" panose="020F0502020204030204" pitchFamily="34" charset="0"/>
                <a:ea typeface="Times New Roman" panose="02020603050405020304" pitchFamily="18" charset="0"/>
              </a:rPr>
              <a:t>The value of </a:t>
            </a:r>
            <a:r>
              <a:rPr lang="en-US" sz="3200" dirty="0" err="1">
                <a:effectLst/>
                <a:latin typeface="Calibri" panose="020F0502020204030204" pitchFamily="34" charset="0"/>
                <a:ea typeface="Times New Roman" panose="02020603050405020304" pitchFamily="18" charset="0"/>
              </a:rPr>
              <a:t>S</a:t>
            </a:r>
            <a:r>
              <a:rPr lang="en-US" sz="3200" baseline="-25000" dirty="0" err="1">
                <a:effectLst/>
                <a:latin typeface="Calibri" panose="020F0502020204030204" pitchFamily="34" charset="0"/>
                <a:ea typeface="Times New Roman" panose="02020603050405020304" pitchFamily="18" charset="0"/>
              </a:rPr>
              <a:t>k</a:t>
            </a:r>
            <a:r>
              <a:rPr lang="en-US" sz="3200" dirty="0">
                <a:effectLst/>
                <a:latin typeface="Calibri" panose="020F0502020204030204" pitchFamily="34" charset="0"/>
                <a:ea typeface="Times New Roman" panose="02020603050405020304" pitchFamily="18" charset="0"/>
              </a:rPr>
              <a:t> in the second equation lies between </a:t>
            </a:r>
          </a:p>
          <a:p>
            <a:r>
              <a:rPr lang="en-US" sz="3200" dirty="0">
                <a:effectLst/>
                <a:latin typeface="Calibri" panose="020F0502020204030204" pitchFamily="34" charset="0"/>
                <a:ea typeface="Times New Roman" panose="02020603050405020304" pitchFamily="18" charset="0"/>
              </a:rPr>
              <a:t>-3 and +3. </a:t>
            </a:r>
          </a:p>
          <a:p>
            <a:r>
              <a:rPr lang="en-US" sz="3200" dirty="0">
                <a:solidFill>
                  <a:srgbClr val="00B0F0"/>
                </a:solidFill>
                <a:latin typeface="Calibri" panose="020F0502020204030204" pitchFamily="34" charset="0"/>
                <a:ea typeface="Times New Roman" panose="02020603050405020304" pitchFamily="18" charset="0"/>
              </a:rPr>
              <a:t>Interpretation</a:t>
            </a:r>
            <a:r>
              <a:rPr lang="en-US" sz="3200" dirty="0">
                <a:latin typeface="Calibri" panose="020F0502020204030204" pitchFamily="34" charset="0"/>
                <a:ea typeface="Times New Roman" panose="02020603050405020304" pitchFamily="18" charset="0"/>
              </a:rPr>
              <a:t>:</a:t>
            </a:r>
          </a:p>
          <a:p>
            <a:pPr marL="342900" indent="-342900">
              <a:buFont typeface="+mj-lt"/>
              <a:buAutoNum type="arabicPeriod"/>
            </a:pPr>
            <a:r>
              <a:rPr lang="en-US" sz="3200" dirty="0">
                <a:effectLst/>
                <a:latin typeface="Calibri" panose="020F0502020204030204" pitchFamily="34" charset="0"/>
                <a:ea typeface="Times New Roman" panose="02020603050405020304" pitchFamily="18" charset="0"/>
              </a:rPr>
              <a:t>If </a:t>
            </a:r>
            <a:r>
              <a:rPr lang="en-US" sz="3200" dirty="0" err="1">
                <a:effectLst/>
                <a:latin typeface="Calibri" panose="020F0502020204030204" pitchFamily="34" charset="0"/>
                <a:ea typeface="Times New Roman" panose="02020603050405020304" pitchFamily="18" charset="0"/>
              </a:rPr>
              <a:t>S</a:t>
            </a:r>
            <a:r>
              <a:rPr lang="en-US" sz="3200" baseline="-25000" dirty="0" err="1">
                <a:effectLst/>
                <a:latin typeface="Calibri" panose="020F0502020204030204" pitchFamily="34" charset="0"/>
                <a:ea typeface="Times New Roman" panose="02020603050405020304" pitchFamily="18" charset="0"/>
              </a:rPr>
              <a:t>k</a:t>
            </a:r>
            <a:r>
              <a:rPr lang="en-US" sz="3200" dirty="0">
                <a:effectLst/>
                <a:latin typeface="Calibri" panose="020F0502020204030204" pitchFamily="34" charset="0"/>
                <a:ea typeface="Times New Roman" panose="02020603050405020304" pitchFamily="18" charset="0"/>
              </a:rPr>
              <a:t> = 0, then distribution is symmetrical.</a:t>
            </a:r>
            <a:r>
              <a:rPr lang="en-US" sz="3200" dirty="0">
                <a:latin typeface="Calibri" panose="020F0502020204030204" pitchFamily="34" charset="0"/>
                <a:ea typeface="Times New Roman" panose="02020603050405020304" pitchFamily="18" charset="0"/>
              </a:rPr>
              <a:t> Any symmetrical distribution should have a coefficient of skewness near zero. </a:t>
            </a:r>
            <a:endParaRPr lang="en-US" sz="3200" dirty="0">
              <a:effectLst/>
              <a:latin typeface="Calibri" panose="020F0502020204030204" pitchFamily="34" charset="0"/>
              <a:ea typeface="Times New Roman" panose="02020603050405020304" pitchFamily="18" charset="0"/>
            </a:endParaRPr>
          </a:p>
          <a:p>
            <a:pPr marL="342900" indent="-342900">
              <a:buFont typeface="+mj-lt"/>
              <a:buAutoNum type="arabicPeriod"/>
            </a:pPr>
            <a:r>
              <a:rPr lang="en-US" sz="3200" dirty="0">
                <a:effectLst/>
                <a:latin typeface="Calibri" panose="020F0502020204030204" pitchFamily="34" charset="0"/>
                <a:ea typeface="Times New Roman" panose="02020603050405020304" pitchFamily="18" charset="0"/>
              </a:rPr>
              <a:t>if </a:t>
            </a:r>
            <a:r>
              <a:rPr lang="en-US" sz="3200" dirty="0" err="1">
                <a:effectLst/>
                <a:latin typeface="Calibri" panose="020F0502020204030204" pitchFamily="34" charset="0"/>
                <a:ea typeface="Times New Roman" panose="02020603050405020304" pitchFamily="18" charset="0"/>
              </a:rPr>
              <a:t>S</a:t>
            </a:r>
            <a:r>
              <a:rPr lang="en-US" sz="3200" baseline="-25000" dirty="0" err="1">
                <a:effectLst/>
                <a:latin typeface="Calibri" panose="020F0502020204030204" pitchFamily="34" charset="0"/>
                <a:ea typeface="Times New Roman" panose="02020603050405020304" pitchFamily="18" charset="0"/>
              </a:rPr>
              <a:t>k</a:t>
            </a:r>
            <a:r>
              <a:rPr lang="en-US" sz="3200" dirty="0">
                <a:effectLst/>
                <a:latin typeface="Calibri" panose="020F0502020204030204" pitchFamily="34" charset="0"/>
                <a:ea typeface="Times New Roman" panose="02020603050405020304" pitchFamily="18" charset="0"/>
              </a:rPr>
              <a:t> &gt; 0, then distribution is right skewed and </a:t>
            </a:r>
          </a:p>
          <a:p>
            <a:pPr marL="342900" indent="-342900">
              <a:buFont typeface="+mj-lt"/>
              <a:buAutoNum type="arabicPeriod"/>
            </a:pPr>
            <a:r>
              <a:rPr lang="en-US" sz="3200" dirty="0">
                <a:effectLst/>
                <a:latin typeface="Calibri" panose="020F0502020204030204" pitchFamily="34" charset="0"/>
                <a:ea typeface="Times New Roman" panose="02020603050405020304" pitchFamily="18" charset="0"/>
              </a:rPr>
              <a:t>if </a:t>
            </a:r>
            <a:r>
              <a:rPr lang="en-US" sz="3200" dirty="0" err="1">
                <a:effectLst/>
                <a:latin typeface="Calibri" panose="020F0502020204030204" pitchFamily="34" charset="0"/>
                <a:ea typeface="Times New Roman" panose="02020603050405020304" pitchFamily="18" charset="0"/>
              </a:rPr>
              <a:t>S</a:t>
            </a:r>
            <a:r>
              <a:rPr lang="en-US" sz="3200" baseline="-25000" dirty="0" err="1">
                <a:effectLst/>
                <a:latin typeface="Calibri" panose="020F0502020204030204" pitchFamily="34" charset="0"/>
                <a:ea typeface="Times New Roman" panose="02020603050405020304" pitchFamily="18" charset="0"/>
              </a:rPr>
              <a:t>k</a:t>
            </a:r>
            <a:r>
              <a:rPr lang="en-US" sz="3200" dirty="0">
                <a:effectLst/>
                <a:latin typeface="Calibri" panose="020F0502020204030204" pitchFamily="34" charset="0"/>
                <a:ea typeface="Times New Roman" panose="02020603050405020304" pitchFamily="18" charset="0"/>
              </a:rPr>
              <a:t> &lt; 0, then distribution is left skewed. </a:t>
            </a:r>
            <a:endParaRPr lang="en-US" sz="3200" dirty="0"/>
          </a:p>
        </p:txBody>
      </p:sp>
    </p:spTree>
    <p:extLst>
      <p:ext uri="{BB962C8B-B14F-4D97-AF65-F5344CB8AC3E}">
        <p14:creationId xmlns:p14="http://schemas.microsoft.com/office/powerpoint/2010/main" val="188216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6B286-04B8-4FEE-8BC6-3F89BF025907}"/>
              </a:ext>
            </a:extLst>
          </p:cNvPr>
          <p:cNvSpPr>
            <a:spLocks noGrp="1"/>
          </p:cNvSpPr>
          <p:nvPr>
            <p:ph idx="1"/>
          </p:nvPr>
        </p:nvSpPr>
        <p:spPr>
          <a:xfrm>
            <a:off x="1024128" y="526211"/>
            <a:ext cx="9720073" cy="5783149"/>
          </a:xfrm>
        </p:spPr>
        <p:txBody>
          <a:bodyPr/>
          <a:lstStyle/>
          <a:p>
            <a:r>
              <a:rPr lang="en-US" dirty="0"/>
              <a:t>Example: </a:t>
            </a:r>
            <a:r>
              <a:rPr lang="en-US" sz="1800" dirty="0">
                <a:effectLst/>
                <a:latin typeface="Calibri" panose="020F0502020204030204" pitchFamily="34" charset="0"/>
                <a:ea typeface="Times New Roman" panose="02020603050405020304" pitchFamily="18" charset="0"/>
              </a:rPr>
              <a:t>The following are the ages of 48 patients admitted to the emergency room of a hospital. Compute coefficient of skewness . How would you describe the shape of these data?</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rPr>
              <a:t>	32	63	33	57	35	54	38	53	42	51	42	48</a:t>
            </a:r>
            <a:r>
              <a:rPr lang="en-US" sz="1800" dirty="0">
                <a:latin typeface="Times New Roman" panose="02020603050405020304" pitchFamily="18" charset="0"/>
                <a:ea typeface="Times New Roman" panose="02020603050405020304" pitchFamily="18" charset="0"/>
              </a:rPr>
              <a:t>	</a:t>
            </a:r>
            <a:r>
              <a:rPr lang="en-US" sz="1800" dirty="0">
                <a:effectLst/>
                <a:latin typeface="Calibri" panose="020F0502020204030204" pitchFamily="34" charset="0"/>
                <a:ea typeface="Times New Roman" panose="02020603050405020304" pitchFamily="18" charset="0"/>
              </a:rPr>
              <a:t>43	46	61	53	09	13	16	16	31	30	28	28</a:t>
            </a:r>
            <a:r>
              <a:rPr lang="en-US" sz="1800" dirty="0">
                <a:latin typeface="Times New Roman" panose="02020603050405020304" pitchFamily="18" charset="0"/>
                <a:ea typeface="Times New Roman" panose="02020603050405020304" pitchFamily="18" charset="0"/>
              </a:rPr>
              <a:t>	</a:t>
            </a:r>
            <a:r>
              <a:rPr lang="en-US" sz="1800" dirty="0">
                <a:effectLst/>
                <a:latin typeface="Calibri" panose="020F0502020204030204" pitchFamily="34" charset="0"/>
                <a:ea typeface="Times New Roman" panose="02020603050405020304" pitchFamily="18" charset="0"/>
              </a:rPr>
              <a:t>25	23	23	22	21	17	13	30	14	29	16	28</a:t>
            </a:r>
            <a:r>
              <a:rPr lang="en-US" sz="1800" dirty="0">
                <a:latin typeface="Times New Roman" panose="02020603050405020304" pitchFamily="18" charset="0"/>
                <a:ea typeface="Times New Roman" panose="02020603050405020304" pitchFamily="18" charset="0"/>
              </a:rPr>
              <a:t>	</a:t>
            </a:r>
            <a:r>
              <a:rPr lang="en-US" sz="1800" dirty="0">
                <a:effectLst/>
                <a:latin typeface="Calibri" panose="020F0502020204030204" pitchFamily="34" charset="0"/>
                <a:ea typeface="Times New Roman" panose="02020603050405020304" pitchFamily="18" charset="0"/>
              </a:rPr>
              <a:t>17	27	21	24	22	23	61	55	34	42	13	26</a:t>
            </a:r>
            <a:endParaRPr lang="en-US" sz="1800" dirty="0">
              <a:effectLst/>
              <a:latin typeface="Times New Roman" panose="02020603050405020304" pitchFamily="18" charset="0"/>
              <a:ea typeface="Times New Roman" panose="02020603050405020304" pitchFamily="18" charset="0"/>
            </a:endParaRPr>
          </a:p>
          <a:p>
            <a:r>
              <a:rPr lang="en-US" dirty="0"/>
              <a:t>Solution:</a:t>
            </a:r>
          </a:p>
          <a:p>
            <a:endParaRPr lang="en-US" dirty="0"/>
          </a:p>
          <a:p>
            <a:endParaRPr lang="en-US" dirty="0"/>
          </a:p>
          <a:p>
            <a:endParaRPr lang="en-US" dirty="0"/>
          </a:p>
          <a:p>
            <a:endParaRPr lang="en-US" dirty="0"/>
          </a:p>
          <a:p>
            <a:endParaRPr lang="en-US" dirty="0"/>
          </a:p>
          <a:p>
            <a:r>
              <a:rPr lang="en-US" dirty="0"/>
              <a:t>Conclusion: The distribution of age of patients is right skewed</a:t>
            </a:r>
          </a:p>
        </p:txBody>
      </p:sp>
      <p:pic>
        <p:nvPicPr>
          <p:cNvPr id="7" name="Picture 6">
            <a:extLst>
              <a:ext uri="{FF2B5EF4-FFF2-40B4-BE49-F238E27FC236}">
                <a16:creationId xmlns:a16="http://schemas.microsoft.com/office/drawing/2014/main" id="{8D22F5D5-76EB-4DA8-97B3-F67E6F350F2C}"/>
              </a:ext>
            </a:extLst>
          </p:cNvPr>
          <p:cNvPicPr>
            <a:picLocks noChangeAspect="1"/>
          </p:cNvPicPr>
          <p:nvPr/>
        </p:nvPicPr>
        <p:blipFill>
          <a:blip r:embed="rId2"/>
          <a:stretch>
            <a:fillRect/>
          </a:stretch>
        </p:blipFill>
        <p:spPr>
          <a:xfrm>
            <a:off x="1447799" y="2970439"/>
            <a:ext cx="4070350" cy="1978932"/>
          </a:xfrm>
          <a:prstGeom prst="rect">
            <a:avLst/>
          </a:prstGeom>
        </p:spPr>
      </p:pic>
    </p:spTree>
    <p:extLst>
      <p:ext uri="{BB962C8B-B14F-4D97-AF65-F5344CB8AC3E}">
        <p14:creationId xmlns:p14="http://schemas.microsoft.com/office/powerpoint/2010/main" val="3883666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2618-95FD-439E-B692-D347B6C7B4B3}"/>
              </a:ext>
            </a:extLst>
          </p:cNvPr>
          <p:cNvSpPr>
            <a:spLocks noGrp="1"/>
          </p:cNvSpPr>
          <p:nvPr>
            <p:ph type="title"/>
          </p:nvPr>
        </p:nvSpPr>
        <p:spPr>
          <a:xfrm>
            <a:off x="1024128" y="585216"/>
            <a:ext cx="9720072" cy="395859"/>
          </a:xfrm>
        </p:spPr>
        <p:txBody>
          <a:bodyPr>
            <a:normAutofit/>
          </a:bodyPr>
          <a:lstStyle/>
          <a:p>
            <a:r>
              <a:rPr lang="en-US" sz="2400" b="1" dirty="0"/>
              <a:t>Measure of skewness based on partitioning values</a:t>
            </a:r>
          </a:p>
        </p:txBody>
      </p:sp>
      <p:sp>
        <p:nvSpPr>
          <p:cNvPr id="3" name="Content Placeholder 2">
            <a:extLst>
              <a:ext uri="{FF2B5EF4-FFF2-40B4-BE49-F238E27FC236}">
                <a16:creationId xmlns:a16="http://schemas.microsoft.com/office/drawing/2014/main" id="{0DA76726-17F7-44FC-9CAF-EF658499BA49}"/>
              </a:ext>
            </a:extLst>
          </p:cNvPr>
          <p:cNvSpPr>
            <a:spLocks noGrp="1"/>
          </p:cNvSpPr>
          <p:nvPr>
            <p:ph idx="1"/>
          </p:nvPr>
        </p:nvSpPr>
        <p:spPr>
          <a:xfrm>
            <a:off x="1024128" y="1219200"/>
            <a:ext cx="10672572" cy="5090160"/>
          </a:xfrm>
        </p:spPr>
        <p:txBody>
          <a:bodyPr/>
          <a:lstStyle/>
          <a:p>
            <a:r>
              <a:rPr lang="en-US" sz="1800" b="1" dirty="0">
                <a:solidFill>
                  <a:srgbClr val="00B0F0"/>
                </a:solidFill>
                <a:latin typeface="Arial Rounded MT Bold" panose="020F0704030504030204" pitchFamily="34" charset="0"/>
              </a:rPr>
              <a:t>Bowley’s coefficient of skewness</a:t>
            </a:r>
          </a:p>
          <a:p>
            <a:r>
              <a:rPr lang="en-US" sz="1800" dirty="0">
                <a:latin typeface="Arial Rounded MT Bold" panose="020F0704030504030204" pitchFamily="34" charset="0"/>
              </a:rPr>
              <a:t>Coefficient of skewness = </a:t>
            </a:r>
          </a:p>
          <a:p>
            <a:endParaRPr lang="en-US" sz="1800" dirty="0">
              <a:effectLst/>
              <a:latin typeface="Arial Rounded MT Bold" panose="020F0704030504030204" pitchFamily="34" charset="0"/>
              <a:ea typeface="Times New Roman" panose="02020603050405020304" pitchFamily="18" charset="0"/>
            </a:endParaRPr>
          </a:p>
          <a:p>
            <a:r>
              <a:rPr lang="en-US" sz="1800" dirty="0">
                <a:effectLst/>
                <a:latin typeface="Arial Rounded MT Bold" panose="020F0704030504030204" pitchFamily="34" charset="0"/>
                <a:ea typeface="Times New Roman" panose="02020603050405020304" pitchFamily="18" charset="0"/>
              </a:rPr>
              <a:t>The Bowley’s coefficient of skewness ranges from -1 to +1 i.e. -1 ≤ </a:t>
            </a:r>
            <a:r>
              <a:rPr lang="en-US" sz="1800" dirty="0" err="1">
                <a:effectLst/>
                <a:latin typeface="Arial Rounded MT Bold" panose="020F0704030504030204" pitchFamily="34" charset="0"/>
                <a:ea typeface="Times New Roman" panose="02020603050405020304" pitchFamily="18" charset="0"/>
              </a:rPr>
              <a:t>S</a:t>
            </a:r>
            <a:r>
              <a:rPr lang="en-US" sz="1800" baseline="-25000" dirty="0" err="1">
                <a:effectLst/>
                <a:latin typeface="Arial Rounded MT Bold" panose="020F0704030504030204" pitchFamily="34" charset="0"/>
                <a:ea typeface="Times New Roman" panose="02020603050405020304" pitchFamily="18" charset="0"/>
              </a:rPr>
              <a:t>k</a:t>
            </a:r>
            <a:r>
              <a:rPr lang="en-US" sz="1800" dirty="0">
                <a:effectLst/>
                <a:latin typeface="Arial Rounded MT Bold" panose="020F0704030504030204" pitchFamily="34" charset="0"/>
                <a:ea typeface="Times New Roman" panose="02020603050405020304" pitchFamily="18" charset="0"/>
              </a:rPr>
              <a:t>(B) ≤ +1. </a:t>
            </a:r>
          </a:p>
          <a:p>
            <a:r>
              <a:rPr lang="en-US" sz="1800" b="1" dirty="0">
                <a:solidFill>
                  <a:srgbClr val="00B0F0"/>
                </a:solidFill>
                <a:latin typeface="Arial Rounded MT Bold" panose="020F0704030504030204" pitchFamily="34" charset="0"/>
                <a:ea typeface="Times New Roman" panose="02020603050405020304" pitchFamily="18" charset="0"/>
              </a:rPr>
              <a:t>Kelly’s coefficient of skewness</a:t>
            </a:r>
          </a:p>
          <a:p>
            <a:r>
              <a:rPr lang="en-US" sz="1800" dirty="0">
                <a:latin typeface="Arial Rounded MT Bold" panose="020F0704030504030204" pitchFamily="34" charset="0"/>
                <a:ea typeface="Times New Roman" panose="02020603050405020304" pitchFamily="18" charset="0"/>
              </a:rPr>
              <a:t>Coefficient of skewness = </a:t>
            </a:r>
          </a:p>
          <a:p>
            <a:pPr marL="0" indent="0">
              <a:buNone/>
            </a:pPr>
            <a:endParaRPr lang="en-US" sz="1800" dirty="0">
              <a:latin typeface="Arial Rounded MT Bold" panose="020F0704030504030204" pitchFamily="34" charset="0"/>
              <a:ea typeface="Times New Roman" panose="02020603050405020304" pitchFamily="18" charset="0"/>
            </a:endParaRPr>
          </a:p>
          <a:p>
            <a:pPr marL="0" indent="0">
              <a:buNone/>
            </a:pPr>
            <a:r>
              <a:rPr lang="en-US" sz="1800" dirty="0">
                <a:effectLst/>
                <a:latin typeface="Arial Rounded MT Bold" panose="020F0704030504030204" pitchFamily="34" charset="0"/>
                <a:ea typeface="Times New Roman" panose="02020603050405020304" pitchFamily="18" charset="0"/>
              </a:rPr>
              <a:t>The Kelly’s coefficient of skewness also ranges from -1 ≤ </a:t>
            </a:r>
            <a:r>
              <a:rPr lang="en-US" sz="1800" dirty="0" err="1">
                <a:effectLst/>
                <a:latin typeface="Arial Rounded MT Bold" panose="020F0704030504030204" pitchFamily="34" charset="0"/>
                <a:ea typeface="Times New Roman" panose="02020603050405020304" pitchFamily="18" charset="0"/>
              </a:rPr>
              <a:t>S</a:t>
            </a:r>
            <a:r>
              <a:rPr lang="en-US" sz="1800" baseline="-25000" dirty="0" err="1">
                <a:effectLst/>
                <a:latin typeface="Arial Rounded MT Bold" panose="020F0704030504030204" pitchFamily="34" charset="0"/>
                <a:ea typeface="Times New Roman" panose="02020603050405020304" pitchFamily="18" charset="0"/>
              </a:rPr>
              <a:t>k</a:t>
            </a:r>
            <a:r>
              <a:rPr lang="en-US" sz="1800" dirty="0">
                <a:effectLst/>
                <a:latin typeface="Arial Rounded MT Bold" panose="020F0704030504030204" pitchFamily="34" charset="0"/>
                <a:ea typeface="Times New Roman" panose="02020603050405020304" pitchFamily="18" charset="0"/>
              </a:rPr>
              <a:t>(K) ≤ +1. </a:t>
            </a:r>
          </a:p>
          <a:p>
            <a:pPr marL="0" indent="0">
              <a:buNone/>
            </a:pPr>
            <a:r>
              <a:rPr lang="en-US" sz="1800" b="1" dirty="0">
                <a:latin typeface="Arial Rounded MT Bold" panose="020F0704030504030204" pitchFamily="34" charset="0"/>
                <a:ea typeface="Times New Roman" panose="02020603050405020304" pitchFamily="18" charset="0"/>
              </a:rPr>
              <a:t>Interpretation</a:t>
            </a:r>
            <a:r>
              <a:rPr lang="en-US" sz="1800" dirty="0">
                <a:latin typeface="Arial Rounded MT Bold" panose="020F0704030504030204" pitchFamily="34" charset="0"/>
                <a:ea typeface="Times New Roman" panose="02020603050405020304" pitchFamily="18" charset="0"/>
              </a:rPr>
              <a:t>:</a:t>
            </a:r>
          </a:p>
          <a:p>
            <a:pPr marL="0" indent="0">
              <a:buNone/>
            </a:pPr>
            <a:r>
              <a:rPr lang="en-US" sz="1800" dirty="0">
                <a:effectLst/>
                <a:latin typeface="Arial Rounded MT Bold" panose="020F0704030504030204" pitchFamily="34" charset="0"/>
                <a:ea typeface="Times New Roman" panose="02020603050405020304" pitchFamily="18" charset="0"/>
              </a:rPr>
              <a:t>In both formula </a:t>
            </a:r>
            <a:r>
              <a:rPr lang="en-US" sz="1800" dirty="0" err="1">
                <a:effectLst/>
                <a:latin typeface="Arial Rounded MT Bold" panose="020F0704030504030204" pitchFamily="34" charset="0"/>
                <a:ea typeface="Times New Roman" panose="02020603050405020304" pitchFamily="18" charset="0"/>
              </a:rPr>
              <a:t>S</a:t>
            </a:r>
            <a:r>
              <a:rPr lang="en-US" sz="1800" baseline="-25000" dirty="0" err="1">
                <a:effectLst/>
                <a:latin typeface="Arial Rounded MT Bold" panose="020F0704030504030204" pitchFamily="34" charset="0"/>
                <a:ea typeface="Times New Roman" panose="02020603050405020304" pitchFamily="18" charset="0"/>
              </a:rPr>
              <a:t>k</a:t>
            </a:r>
            <a:r>
              <a:rPr lang="en-US" sz="1800" baseline="-25000" dirty="0">
                <a:effectLst/>
                <a:latin typeface="Arial Rounded MT Bold" panose="020F0704030504030204" pitchFamily="34" charset="0"/>
                <a:ea typeface="Times New Roman" panose="02020603050405020304" pitchFamily="18" charset="0"/>
              </a:rPr>
              <a:t> </a:t>
            </a:r>
            <a:r>
              <a:rPr lang="en-US" sz="1800" dirty="0">
                <a:effectLst/>
                <a:latin typeface="Arial Rounded MT Bold" panose="020F0704030504030204" pitchFamily="34" charset="0"/>
                <a:ea typeface="Times New Roman" panose="02020603050405020304" pitchFamily="18" charset="0"/>
              </a:rPr>
              <a:t>= 0 implies absence of skewness or symmetrical distribution. The value of </a:t>
            </a:r>
            <a:r>
              <a:rPr lang="en-US" sz="1800" dirty="0" err="1">
                <a:effectLst/>
                <a:latin typeface="Arial Rounded MT Bold" panose="020F0704030504030204" pitchFamily="34" charset="0"/>
                <a:ea typeface="Times New Roman" panose="02020603050405020304" pitchFamily="18" charset="0"/>
              </a:rPr>
              <a:t>S</a:t>
            </a:r>
            <a:r>
              <a:rPr lang="en-US" sz="1800" baseline="-25000" dirty="0" err="1">
                <a:effectLst/>
                <a:latin typeface="Arial Rounded MT Bold" panose="020F0704030504030204" pitchFamily="34" charset="0"/>
                <a:ea typeface="Times New Roman" panose="02020603050405020304" pitchFamily="18" charset="0"/>
              </a:rPr>
              <a:t>k</a:t>
            </a:r>
            <a:r>
              <a:rPr lang="en-US" sz="1800" dirty="0">
                <a:effectLst/>
                <a:latin typeface="Arial Rounded MT Bold" panose="020F0704030504030204" pitchFamily="34" charset="0"/>
                <a:ea typeface="Times New Roman" panose="02020603050405020304" pitchFamily="18" charset="0"/>
              </a:rPr>
              <a:t> greater than 0 indicates positive skewness and value of </a:t>
            </a:r>
            <a:r>
              <a:rPr lang="en-US" sz="1800" dirty="0" err="1">
                <a:effectLst/>
                <a:latin typeface="Arial Rounded MT Bold" panose="020F0704030504030204" pitchFamily="34" charset="0"/>
                <a:ea typeface="Times New Roman" panose="02020603050405020304" pitchFamily="18" charset="0"/>
              </a:rPr>
              <a:t>S</a:t>
            </a:r>
            <a:r>
              <a:rPr lang="en-US" sz="1800" baseline="-25000" dirty="0" err="1">
                <a:effectLst/>
                <a:latin typeface="Arial Rounded MT Bold" panose="020F0704030504030204" pitchFamily="34" charset="0"/>
                <a:ea typeface="Times New Roman" panose="02020603050405020304" pitchFamily="18" charset="0"/>
              </a:rPr>
              <a:t>k</a:t>
            </a:r>
            <a:r>
              <a:rPr lang="en-US" sz="1800" dirty="0">
                <a:effectLst/>
                <a:latin typeface="Arial Rounded MT Bold" panose="020F0704030504030204" pitchFamily="34" charset="0"/>
                <a:ea typeface="Times New Roman" panose="02020603050405020304" pitchFamily="18" charset="0"/>
              </a:rPr>
              <a:t> lesser than 0 indicates negative skewness. </a:t>
            </a:r>
          </a:p>
          <a:p>
            <a:endParaRPr lang="en-US" dirty="0"/>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020A72F5-02B5-4810-88D7-562DC93F01D2}"/>
                  </a:ext>
                </a:extLst>
              </p:cNvPr>
              <p:cNvSpPr txBox="1"/>
              <p:nvPr/>
            </p:nvSpPr>
            <p:spPr>
              <a:xfrm>
                <a:off x="4116943" y="1642029"/>
                <a:ext cx="3230153" cy="580175"/>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den>
                      </m:f>
                    </m:oMath>
                  </m:oMathPara>
                </a14:m>
                <a:endParaRPr lang="en-US"/>
              </a:p>
            </p:txBody>
          </p:sp>
        </mc:Choice>
        <mc:Fallback xmlns="">
          <p:sp>
            <p:nvSpPr>
              <p:cNvPr id="4" name="Object 3">
                <a:extLst>
                  <a:ext uri="{FF2B5EF4-FFF2-40B4-BE49-F238E27FC236}">
                    <a16:creationId xmlns:a16="http://schemas.microsoft.com/office/drawing/2014/main" id="{020A72F5-02B5-4810-88D7-562DC93F01D2}"/>
                  </a:ext>
                </a:extLst>
              </p:cNvPr>
              <p:cNvSpPr txBox="1">
                <a:spLocks noRot="1" noChangeAspect="1" noMove="1" noResize="1" noEditPoints="1" noAdjustHandles="1" noChangeArrowheads="1" noChangeShapeType="1" noTextEdit="1"/>
              </p:cNvSpPr>
              <p:nvPr/>
            </p:nvSpPr>
            <p:spPr>
              <a:xfrm>
                <a:off x="4116943" y="1642029"/>
                <a:ext cx="3230153" cy="5801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D6DE304C-832A-4591-9212-DC06E6BB68C5}"/>
                  </a:ext>
                </a:extLst>
              </p:cNvPr>
              <p:cNvSpPr txBox="1"/>
              <p:nvPr/>
            </p:nvSpPr>
            <p:spPr>
              <a:xfrm>
                <a:off x="4116943" y="3263495"/>
                <a:ext cx="3538574" cy="580175"/>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50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50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r>
                            <a:rPr lang="en-US" i="1">
                              <a:solidFill>
                                <a:srgbClr val="000000"/>
                              </a:solidFill>
                              <a:latin typeface="Cambria Math" panose="02040503050406030204" pitchFamily="18" charset="0"/>
                            </a:rPr>
                            <m:t>)</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50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den>
                      </m:f>
                    </m:oMath>
                  </m:oMathPara>
                </a14:m>
                <a:endParaRPr lang="en-US"/>
              </a:p>
            </p:txBody>
          </p:sp>
        </mc:Choice>
        <mc:Fallback xmlns="">
          <p:sp>
            <p:nvSpPr>
              <p:cNvPr id="6" name="Object 5">
                <a:extLst>
                  <a:ext uri="{FF2B5EF4-FFF2-40B4-BE49-F238E27FC236}">
                    <a16:creationId xmlns:a16="http://schemas.microsoft.com/office/drawing/2014/main" id="{D6DE304C-832A-4591-9212-DC06E6BB68C5}"/>
                  </a:ext>
                </a:extLst>
              </p:cNvPr>
              <p:cNvSpPr txBox="1">
                <a:spLocks noRot="1" noChangeAspect="1" noMove="1" noResize="1" noEditPoints="1" noAdjustHandles="1" noChangeArrowheads="1" noChangeShapeType="1" noTextEdit="1"/>
              </p:cNvSpPr>
              <p:nvPr/>
            </p:nvSpPr>
            <p:spPr>
              <a:xfrm>
                <a:off x="4116943" y="3263495"/>
                <a:ext cx="3538574" cy="58017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3945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3EF4-91A3-44B7-9AC9-A30A189622F0}"/>
              </a:ext>
            </a:extLst>
          </p:cNvPr>
          <p:cNvSpPr>
            <a:spLocks noGrp="1"/>
          </p:cNvSpPr>
          <p:nvPr>
            <p:ph type="title"/>
          </p:nvPr>
        </p:nvSpPr>
        <p:spPr>
          <a:xfrm>
            <a:off x="1024128" y="585216"/>
            <a:ext cx="9720072" cy="379984"/>
          </a:xfrm>
        </p:spPr>
        <p:txBody>
          <a:bodyPr>
            <a:normAutofit fontScale="90000"/>
          </a:bodyPr>
          <a:lstStyle/>
          <a:p>
            <a:r>
              <a:rPr lang="en-US" sz="2400" b="1" dirty="0"/>
              <a:t>Kurtosis</a:t>
            </a:r>
          </a:p>
        </p:txBody>
      </p:sp>
      <p:sp>
        <p:nvSpPr>
          <p:cNvPr id="3" name="Content Placeholder 2">
            <a:extLst>
              <a:ext uri="{FF2B5EF4-FFF2-40B4-BE49-F238E27FC236}">
                <a16:creationId xmlns:a16="http://schemas.microsoft.com/office/drawing/2014/main" id="{46250D0B-B449-46B1-975C-BB1A75A741F7}"/>
              </a:ext>
            </a:extLst>
          </p:cNvPr>
          <p:cNvSpPr>
            <a:spLocks noGrp="1"/>
          </p:cNvSpPr>
          <p:nvPr>
            <p:ph idx="1"/>
          </p:nvPr>
        </p:nvSpPr>
        <p:spPr>
          <a:xfrm>
            <a:off x="1024128" y="1134533"/>
            <a:ext cx="10575205" cy="5174827"/>
          </a:xfrm>
        </p:spPr>
        <p:txBody>
          <a:bodyPr>
            <a:normAutofit/>
          </a:bodyPr>
          <a:lstStyle/>
          <a:p>
            <a:r>
              <a:rPr lang="en-US" sz="2400" dirty="0">
                <a:effectLst/>
                <a:latin typeface="Calibri" panose="020F0502020204030204" pitchFamily="34" charset="0"/>
                <a:ea typeface="Times New Roman" panose="02020603050405020304" pitchFamily="18" charset="0"/>
              </a:rPr>
              <a:t>Kurtosis refers to ‘flatness’ or ‘peakedness’ of a frequency curve in comparison to normal curve. It is the fourth characteristic of a set of observations which shows degree of departure form normal distribution and it related to the size of the curve not its shape. Data sets with high kurtosis tend to have a distinct peak near the mean, decline rather rapidly, and have heavy tails. Data sets with low kurtosis tend to have a flat top near the mean rather than a sharp peak. Kurtosis is a measure of how outlier-prone a distribution is. </a:t>
            </a:r>
            <a:endParaRPr lang="en-US" sz="2400" dirty="0">
              <a:effectLst/>
              <a:latin typeface="Times New Roman" panose="02020603050405020304" pitchFamily="18" charset="0"/>
              <a:ea typeface="Times New Roman" panose="02020603050405020304" pitchFamily="18" charset="0"/>
            </a:endParaRPr>
          </a:p>
          <a:p>
            <a:endParaRPr lang="en-US" sz="2400" dirty="0"/>
          </a:p>
          <a:p>
            <a:r>
              <a:rPr lang="en-US" sz="2400" dirty="0"/>
              <a:t>Types of Kurtosis</a:t>
            </a:r>
          </a:p>
          <a:p>
            <a:r>
              <a:rPr lang="en-US" sz="2400" dirty="0"/>
              <a:t>1. Mesokurtic Distribution (Zero kurtosis or Normal distribution)</a:t>
            </a:r>
          </a:p>
          <a:p>
            <a:r>
              <a:rPr lang="en-US" sz="2400" dirty="0"/>
              <a:t>2. Leptokurtic Distribution (High Kurtosis)</a:t>
            </a:r>
          </a:p>
          <a:p>
            <a:r>
              <a:rPr lang="en-US" sz="2400" dirty="0"/>
              <a:t>3. Platykurtic Distribution (Low Kurtosis)</a:t>
            </a:r>
          </a:p>
        </p:txBody>
      </p:sp>
    </p:spTree>
    <p:extLst>
      <p:ext uri="{BB962C8B-B14F-4D97-AF65-F5344CB8AC3E}">
        <p14:creationId xmlns:p14="http://schemas.microsoft.com/office/powerpoint/2010/main" val="1376152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AB32-7C53-4985-B901-D5E734A96B38}"/>
              </a:ext>
            </a:extLst>
          </p:cNvPr>
          <p:cNvSpPr>
            <a:spLocks noGrp="1"/>
          </p:cNvSpPr>
          <p:nvPr>
            <p:ph type="title"/>
          </p:nvPr>
        </p:nvSpPr>
        <p:spPr>
          <a:xfrm>
            <a:off x="1024128" y="585216"/>
            <a:ext cx="9720072" cy="413851"/>
          </a:xfrm>
        </p:spPr>
        <p:txBody>
          <a:bodyPr>
            <a:normAutofit/>
          </a:bodyPr>
          <a:lstStyle/>
          <a:p>
            <a:r>
              <a:rPr lang="en-US" sz="2400" b="1" dirty="0"/>
              <a:t>Mesokurtic Distribution</a:t>
            </a:r>
          </a:p>
        </p:txBody>
      </p:sp>
      <p:sp>
        <p:nvSpPr>
          <p:cNvPr id="3" name="Content Placeholder 2">
            <a:extLst>
              <a:ext uri="{FF2B5EF4-FFF2-40B4-BE49-F238E27FC236}">
                <a16:creationId xmlns:a16="http://schemas.microsoft.com/office/drawing/2014/main" id="{A9E6C439-2EF6-4637-A779-1EB056B67608}"/>
              </a:ext>
            </a:extLst>
          </p:cNvPr>
          <p:cNvSpPr>
            <a:spLocks noGrp="1"/>
          </p:cNvSpPr>
          <p:nvPr>
            <p:ph idx="1"/>
          </p:nvPr>
        </p:nvSpPr>
        <p:spPr>
          <a:xfrm>
            <a:off x="1024128" y="1219200"/>
            <a:ext cx="10592139" cy="5090160"/>
          </a:xfrm>
        </p:spPr>
        <p:txBody>
          <a:bodyPr/>
          <a:lstStyle/>
          <a:p>
            <a:r>
              <a:rPr lang="en-US" sz="1800" dirty="0">
                <a:effectLst/>
                <a:latin typeface="Calibri" panose="020F0502020204030204" pitchFamily="34" charset="0"/>
                <a:ea typeface="Times New Roman" panose="02020603050405020304" pitchFamily="18" charset="0"/>
              </a:rPr>
              <a:t>The distribution which is not very peaked or very flat-topped is called </a:t>
            </a:r>
            <a:r>
              <a:rPr lang="en-US" sz="1800" b="1" i="1" dirty="0">
                <a:effectLst/>
                <a:latin typeface="Calibri" panose="020F0502020204030204" pitchFamily="34" charset="0"/>
                <a:ea typeface="Times New Roman" panose="02020603050405020304" pitchFamily="18" charset="0"/>
              </a:rPr>
              <a:t>Mesokurtic</a:t>
            </a:r>
            <a:r>
              <a:rPr lang="en-US" sz="1800" dirty="0">
                <a:effectLst/>
                <a:latin typeface="Calibri" panose="020F0502020204030204" pitchFamily="34" charset="0"/>
                <a:ea typeface="Times New Roman" panose="02020603050405020304" pitchFamily="18" charset="0"/>
              </a:rPr>
              <a:t>. In this distribution more observations lie in the ‘shoulders’ and around mean. Distribution is bell shaped and is called normal distribution.</a:t>
            </a:r>
            <a:endParaRPr lang="en-US" dirty="0"/>
          </a:p>
        </p:txBody>
      </p:sp>
      <p:pic>
        <p:nvPicPr>
          <p:cNvPr id="5" name="Picture 4">
            <a:extLst>
              <a:ext uri="{FF2B5EF4-FFF2-40B4-BE49-F238E27FC236}">
                <a16:creationId xmlns:a16="http://schemas.microsoft.com/office/drawing/2014/main" id="{C0C0FAD0-9B7E-4F56-BC90-DB2F4780C892}"/>
              </a:ext>
            </a:extLst>
          </p:cNvPr>
          <p:cNvPicPr>
            <a:picLocks noChangeAspect="1"/>
          </p:cNvPicPr>
          <p:nvPr/>
        </p:nvPicPr>
        <p:blipFill>
          <a:blip r:embed="rId2"/>
          <a:stretch>
            <a:fillRect/>
          </a:stretch>
        </p:blipFill>
        <p:spPr>
          <a:xfrm>
            <a:off x="1312891" y="2596823"/>
            <a:ext cx="3776693" cy="2618643"/>
          </a:xfrm>
          <a:prstGeom prst="rect">
            <a:avLst/>
          </a:prstGeom>
        </p:spPr>
      </p:pic>
      <p:pic>
        <p:nvPicPr>
          <p:cNvPr id="6" name="Picture 5">
            <a:extLst>
              <a:ext uri="{FF2B5EF4-FFF2-40B4-BE49-F238E27FC236}">
                <a16:creationId xmlns:a16="http://schemas.microsoft.com/office/drawing/2014/main" id="{1415ECCB-FB8C-465A-9B4D-57D94B517717}"/>
              </a:ext>
            </a:extLst>
          </p:cNvPr>
          <p:cNvPicPr>
            <a:picLocks noChangeAspect="1"/>
          </p:cNvPicPr>
          <p:nvPr/>
        </p:nvPicPr>
        <p:blipFill>
          <a:blip r:embed="rId3"/>
          <a:stretch>
            <a:fillRect/>
          </a:stretch>
        </p:blipFill>
        <p:spPr>
          <a:xfrm>
            <a:off x="6383308" y="2851467"/>
            <a:ext cx="4495800" cy="2364000"/>
          </a:xfrm>
          <a:prstGeom prst="rect">
            <a:avLst/>
          </a:prstGeom>
        </p:spPr>
      </p:pic>
    </p:spTree>
    <p:extLst>
      <p:ext uri="{BB962C8B-B14F-4D97-AF65-F5344CB8AC3E}">
        <p14:creationId xmlns:p14="http://schemas.microsoft.com/office/powerpoint/2010/main" val="477947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4850-F612-4365-8973-0340B182A439}"/>
              </a:ext>
            </a:extLst>
          </p:cNvPr>
          <p:cNvSpPr>
            <a:spLocks noGrp="1"/>
          </p:cNvSpPr>
          <p:nvPr>
            <p:ph type="title"/>
          </p:nvPr>
        </p:nvSpPr>
        <p:spPr>
          <a:xfrm>
            <a:off x="1024128" y="585216"/>
            <a:ext cx="9720072" cy="497424"/>
          </a:xfrm>
        </p:spPr>
        <p:txBody>
          <a:bodyPr>
            <a:normAutofit/>
          </a:bodyPr>
          <a:lstStyle/>
          <a:p>
            <a:r>
              <a:rPr lang="en-US" sz="2400" b="1" dirty="0"/>
              <a:t>Leptokurtic Distribution (Positive kurtosis)</a:t>
            </a:r>
          </a:p>
        </p:txBody>
      </p:sp>
      <p:sp>
        <p:nvSpPr>
          <p:cNvPr id="3" name="Content Placeholder 2">
            <a:extLst>
              <a:ext uri="{FF2B5EF4-FFF2-40B4-BE49-F238E27FC236}">
                <a16:creationId xmlns:a16="http://schemas.microsoft.com/office/drawing/2014/main" id="{19D13219-66DE-46DF-8430-F3EC36B1F3B4}"/>
              </a:ext>
            </a:extLst>
          </p:cNvPr>
          <p:cNvSpPr>
            <a:spLocks noGrp="1"/>
          </p:cNvSpPr>
          <p:nvPr>
            <p:ph idx="1"/>
          </p:nvPr>
        </p:nvSpPr>
        <p:spPr>
          <a:xfrm>
            <a:off x="1024128" y="1388853"/>
            <a:ext cx="9720073" cy="4920507"/>
          </a:xfrm>
        </p:spPr>
        <p:txBody>
          <a:bodyPr/>
          <a:lstStyle/>
          <a:p>
            <a:r>
              <a:rPr lang="en-US" dirty="0"/>
              <a:t>“Lepto” means “slender”. </a:t>
            </a:r>
            <a:r>
              <a:rPr lang="en-US" sz="1800" dirty="0">
                <a:effectLst/>
                <a:latin typeface="Calibri" panose="020F0502020204030204" pitchFamily="34" charset="0"/>
                <a:ea typeface="Times New Roman" panose="02020603050405020304" pitchFamily="18" charset="0"/>
              </a:rPr>
              <a:t>A distribution is said to be </a:t>
            </a:r>
            <a:r>
              <a:rPr lang="en-US" sz="1800" b="1" i="1" dirty="0">
                <a:effectLst/>
                <a:latin typeface="Calibri" panose="020F0502020204030204" pitchFamily="34" charset="0"/>
                <a:ea typeface="Times New Roman" panose="02020603050405020304" pitchFamily="18" charset="0"/>
              </a:rPr>
              <a:t>Leptokurtic</a:t>
            </a:r>
            <a:r>
              <a:rPr lang="en-US" sz="1800" dirty="0">
                <a:effectLst/>
                <a:latin typeface="Calibri" panose="020F0502020204030204" pitchFamily="34" charset="0"/>
                <a:ea typeface="Times New Roman" panose="02020603050405020304" pitchFamily="18" charset="0"/>
              </a:rPr>
              <a:t> if most of observations are concentrated near the mean and in the tails. The distribution has relatively higher peak than normal curve and has larger tails on both sides. Such a distribution might be the composite of two normal populations with the same variance but different means.</a:t>
            </a:r>
            <a:endParaRPr lang="en-US" sz="1800" dirty="0">
              <a:effectLst/>
              <a:latin typeface="Times New Roman" panose="02020603050405020304" pitchFamily="18" charset="0"/>
              <a:ea typeface="Times New Roman" panose="02020603050405020304" pitchFamily="18" charset="0"/>
            </a:endParaRPr>
          </a:p>
          <a:p>
            <a:r>
              <a:rPr lang="en-US" dirty="0"/>
              <a:t>(Sharp peak and more heavier tail than normal distribution)</a:t>
            </a:r>
          </a:p>
          <a:p>
            <a:endParaRPr lang="en-US" dirty="0"/>
          </a:p>
        </p:txBody>
      </p:sp>
      <p:pic>
        <p:nvPicPr>
          <p:cNvPr id="6" name="Picture 5">
            <a:extLst>
              <a:ext uri="{FF2B5EF4-FFF2-40B4-BE49-F238E27FC236}">
                <a16:creationId xmlns:a16="http://schemas.microsoft.com/office/drawing/2014/main" id="{0FEB2B93-D884-4361-9855-BBEAE1D1060F}"/>
              </a:ext>
            </a:extLst>
          </p:cNvPr>
          <p:cNvPicPr>
            <a:picLocks noChangeAspect="1"/>
          </p:cNvPicPr>
          <p:nvPr/>
        </p:nvPicPr>
        <p:blipFill>
          <a:blip r:embed="rId2"/>
          <a:stretch>
            <a:fillRect/>
          </a:stretch>
        </p:blipFill>
        <p:spPr>
          <a:xfrm>
            <a:off x="1447799" y="3289465"/>
            <a:ext cx="2922320" cy="2671948"/>
          </a:xfrm>
          <a:prstGeom prst="rect">
            <a:avLst/>
          </a:prstGeom>
        </p:spPr>
      </p:pic>
    </p:spTree>
    <p:extLst>
      <p:ext uri="{BB962C8B-B14F-4D97-AF65-F5344CB8AC3E}">
        <p14:creationId xmlns:p14="http://schemas.microsoft.com/office/powerpoint/2010/main" val="1572446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ADCC1-801F-496E-8E2F-A5160F323A75}"/>
              </a:ext>
            </a:extLst>
          </p:cNvPr>
          <p:cNvSpPr>
            <a:spLocks noGrp="1"/>
          </p:cNvSpPr>
          <p:nvPr>
            <p:ph type="title"/>
          </p:nvPr>
        </p:nvSpPr>
        <p:spPr>
          <a:xfrm>
            <a:off x="1024128" y="548640"/>
            <a:ext cx="9720072" cy="433493"/>
          </a:xfrm>
        </p:spPr>
        <p:txBody>
          <a:bodyPr>
            <a:normAutofit/>
          </a:bodyPr>
          <a:lstStyle/>
          <a:p>
            <a:r>
              <a:rPr lang="en-US" sz="2400" b="1" dirty="0"/>
              <a:t>Platykurtic distribution (Negative kurtosis)</a:t>
            </a:r>
          </a:p>
        </p:txBody>
      </p:sp>
      <p:sp>
        <p:nvSpPr>
          <p:cNvPr id="3" name="Content Placeholder 2">
            <a:extLst>
              <a:ext uri="{FF2B5EF4-FFF2-40B4-BE49-F238E27FC236}">
                <a16:creationId xmlns:a16="http://schemas.microsoft.com/office/drawing/2014/main" id="{DD9E9C4E-4FA1-4AD8-9010-765B89A407C1}"/>
              </a:ext>
            </a:extLst>
          </p:cNvPr>
          <p:cNvSpPr>
            <a:spLocks noGrp="1"/>
          </p:cNvSpPr>
          <p:nvPr>
            <p:ph idx="1"/>
          </p:nvPr>
        </p:nvSpPr>
        <p:spPr>
          <a:xfrm>
            <a:off x="1024128" y="1219200"/>
            <a:ext cx="10727605" cy="5090160"/>
          </a:xfrm>
        </p:spPr>
        <p:txBody>
          <a:bodyPr/>
          <a:lstStyle/>
          <a:p>
            <a:r>
              <a:rPr lang="en-US" sz="1800" dirty="0">
                <a:effectLst/>
                <a:latin typeface="Calibri" panose="020F0502020204030204" pitchFamily="34" charset="0"/>
                <a:ea typeface="Times New Roman" panose="02020603050405020304" pitchFamily="18" charset="0"/>
              </a:rPr>
              <a:t>A distribution is said to be </a:t>
            </a:r>
            <a:r>
              <a:rPr lang="en-US" sz="1800" b="1" i="1" dirty="0">
                <a:effectLst/>
                <a:latin typeface="Calibri" panose="020F0502020204030204" pitchFamily="34" charset="0"/>
                <a:ea typeface="Times New Roman" panose="02020603050405020304" pitchFamily="18" charset="0"/>
              </a:rPr>
              <a:t>Platykurtic</a:t>
            </a:r>
            <a:r>
              <a:rPr lang="en-US" sz="1800" dirty="0">
                <a:effectLst/>
                <a:latin typeface="Calibri" panose="020F0502020204030204" pitchFamily="34" charset="0"/>
                <a:ea typeface="Times New Roman" panose="02020603050405020304" pitchFamily="18" charset="0"/>
              </a:rPr>
              <a:t> if large number of observations have low frequency and spread in the mid of class-interval. Frequency curve of Platykurtic distribution is more flat-topped than normal curve. Inter-quartile range is high. Such a distribution might be the composite of two normal populations with the same mean but with different standard deviations. A uniform distribution would be the extreme case.</a:t>
            </a:r>
            <a:endParaRPr lang="en-US" sz="1800" dirty="0">
              <a:effectLst/>
              <a:latin typeface="Times New Roman" panose="02020603050405020304" pitchFamily="18" charset="0"/>
              <a:ea typeface="Times New Roman" panose="02020603050405020304" pitchFamily="18" charset="0"/>
            </a:endParaRPr>
          </a:p>
          <a:p>
            <a:r>
              <a:rPr lang="en-US" dirty="0"/>
              <a:t>(Flat peak, more dispersed observations and more thinner or lighter tail than normal distribution)</a:t>
            </a:r>
          </a:p>
        </p:txBody>
      </p:sp>
      <p:pic>
        <p:nvPicPr>
          <p:cNvPr id="7" name="Picture 6">
            <a:extLst>
              <a:ext uri="{FF2B5EF4-FFF2-40B4-BE49-F238E27FC236}">
                <a16:creationId xmlns:a16="http://schemas.microsoft.com/office/drawing/2014/main" id="{6E6850DC-3325-4471-B11E-D41DB06308C8}"/>
              </a:ext>
            </a:extLst>
          </p:cNvPr>
          <p:cNvPicPr>
            <a:picLocks noChangeAspect="1"/>
          </p:cNvPicPr>
          <p:nvPr/>
        </p:nvPicPr>
        <p:blipFill>
          <a:blip r:embed="rId2"/>
          <a:stretch>
            <a:fillRect/>
          </a:stretch>
        </p:blipFill>
        <p:spPr>
          <a:xfrm>
            <a:off x="1782813" y="3429000"/>
            <a:ext cx="2706859" cy="2322168"/>
          </a:xfrm>
          <a:prstGeom prst="rect">
            <a:avLst/>
          </a:prstGeom>
        </p:spPr>
      </p:pic>
    </p:spTree>
    <p:extLst>
      <p:ext uri="{BB962C8B-B14F-4D97-AF65-F5344CB8AC3E}">
        <p14:creationId xmlns:p14="http://schemas.microsoft.com/office/powerpoint/2010/main" val="2474435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89B4-954D-42BA-A90F-B7DF9FBEB753}"/>
              </a:ext>
            </a:extLst>
          </p:cNvPr>
          <p:cNvSpPr>
            <a:spLocks noGrp="1"/>
          </p:cNvSpPr>
          <p:nvPr>
            <p:ph type="title"/>
          </p:nvPr>
        </p:nvSpPr>
        <p:spPr>
          <a:xfrm>
            <a:off x="1024128" y="585216"/>
            <a:ext cx="9720072" cy="355063"/>
          </a:xfrm>
        </p:spPr>
        <p:txBody>
          <a:bodyPr>
            <a:normAutofit fontScale="90000"/>
          </a:bodyPr>
          <a:lstStyle/>
          <a:p>
            <a:r>
              <a:rPr lang="en-US" sz="2400" b="1" dirty="0"/>
              <a:t>Measures of kurtosis</a:t>
            </a:r>
          </a:p>
        </p:txBody>
      </p:sp>
      <p:sp>
        <p:nvSpPr>
          <p:cNvPr id="3" name="Content Placeholder 2">
            <a:extLst>
              <a:ext uri="{FF2B5EF4-FFF2-40B4-BE49-F238E27FC236}">
                <a16:creationId xmlns:a16="http://schemas.microsoft.com/office/drawing/2014/main" id="{6EFF1D48-53DA-41BA-BFD8-E8AF15B68C09}"/>
              </a:ext>
            </a:extLst>
          </p:cNvPr>
          <p:cNvSpPr>
            <a:spLocks noGrp="1"/>
          </p:cNvSpPr>
          <p:nvPr>
            <p:ph idx="1"/>
          </p:nvPr>
        </p:nvSpPr>
        <p:spPr>
          <a:xfrm>
            <a:off x="1024128" y="1130060"/>
            <a:ext cx="10656038" cy="5348377"/>
          </a:xfrm>
        </p:spPr>
        <p:txBody>
          <a:bodyPr>
            <a:normAutofit/>
          </a:bodyPr>
          <a:lstStyle/>
          <a:p>
            <a:r>
              <a:rPr lang="en-US" sz="2000" dirty="0">
                <a:effectLst/>
                <a:latin typeface="Calibri" panose="020F0502020204030204" pitchFamily="34" charset="0"/>
                <a:ea typeface="Times New Roman" panose="02020603050405020304" pitchFamily="18" charset="0"/>
              </a:rPr>
              <a:t>The kurtosis is measured with the help of Quartiles and Percentiles. Measure of kurtosis based on Quartiles and Percentiles is known as percentile coefficient of kurtosis, and is given by,</a:t>
            </a:r>
          </a:p>
          <a:p>
            <a:endParaRPr lang="en-US" sz="2000" dirty="0">
              <a:effectLst/>
              <a:latin typeface="Times New Roman" panose="02020603050405020304" pitchFamily="18" charset="0"/>
              <a:ea typeface="Times New Roman" panose="02020603050405020304" pitchFamily="18" charset="0"/>
            </a:endParaRPr>
          </a:p>
          <a:p>
            <a:r>
              <a:rPr lang="en-US" sz="2000" dirty="0"/>
              <a:t>Coefficient of Kurtosis (k) =</a:t>
            </a:r>
          </a:p>
          <a:p>
            <a:endParaRPr lang="en-US" sz="2000" dirty="0"/>
          </a:p>
          <a:p>
            <a:r>
              <a:rPr lang="en-US" sz="2000" dirty="0"/>
              <a:t>Notations:</a:t>
            </a:r>
          </a:p>
          <a:p>
            <a:r>
              <a:rPr lang="en-US" sz="2000" dirty="0"/>
              <a:t>Q</a:t>
            </a:r>
            <a:r>
              <a:rPr lang="en-US" sz="2000" baseline="-25000" dirty="0"/>
              <a:t>1</a:t>
            </a:r>
            <a:r>
              <a:rPr lang="en-US" sz="2000" dirty="0"/>
              <a:t> = First Quartile, Q</a:t>
            </a:r>
            <a:r>
              <a:rPr lang="en-US" sz="2000" baseline="-25000" dirty="0"/>
              <a:t>3</a:t>
            </a:r>
            <a:r>
              <a:rPr lang="en-US" sz="2000" dirty="0"/>
              <a:t> = Third Quartile, P</a:t>
            </a:r>
            <a:r>
              <a:rPr lang="en-US" sz="2000" baseline="-25000" dirty="0"/>
              <a:t>10</a:t>
            </a:r>
            <a:r>
              <a:rPr lang="en-US" sz="2000" dirty="0"/>
              <a:t> = Tenth Percentile, P</a:t>
            </a:r>
            <a:r>
              <a:rPr lang="en-US" sz="2000" baseline="-25000" dirty="0"/>
              <a:t>90</a:t>
            </a:r>
            <a:r>
              <a:rPr lang="en-US" sz="2000" dirty="0"/>
              <a:t> = Ninetieth Percentile.</a:t>
            </a:r>
          </a:p>
          <a:p>
            <a:r>
              <a:rPr lang="en-US" sz="2000" dirty="0">
                <a:solidFill>
                  <a:srgbClr val="00B0F0"/>
                </a:solidFill>
              </a:rPr>
              <a:t>Interpretation</a:t>
            </a:r>
            <a:r>
              <a:rPr lang="en-US" sz="2000" dirty="0"/>
              <a:t>:</a:t>
            </a:r>
          </a:p>
          <a:p>
            <a:r>
              <a:rPr lang="en-US" sz="2000" dirty="0"/>
              <a:t>1. If k = 0.263, the distribution is Normal</a:t>
            </a:r>
          </a:p>
          <a:p>
            <a:r>
              <a:rPr lang="en-US" sz="2000" dirty="0"/>
              <a:t>2. If k &gt; 0.263, the distribution is Leptokurtic</a:t>
            </a:r>
          </a:p>
          <a:p>
            <a:r>
              <a:rPr lang="en-US" sz="2000" dirty="0"/>
              <a:t>3. if k &lt; 0.263, the distribution is Platykurtic</a:t>
            </a: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E996C139-4E15-4222-AED3-F8E2080685FB}"/>
                  </a:ext>
                </a:extLst>
              </p:cNvPr>
              <p:cNvSpPr txBox="1"/>
              <p:nvPr/>
            </p:nvSpPr>
            <p:spPr>
              <a:xfrm>
                <a:off x="4038119" y="2139351"/>
                <a:ext cx="3932688" cy="724619"/>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𝑆𝑒𝑚𝑖</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𝐼𝑛𝑡𝑒𝑟𝑞𝑢𝑎𝑟𝑡𝑖𝑙𝑒</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𝑟𝑎𝑛𝑔𝑒</m:t>
                          </m:r>
                        </m:num>
                        <m:den>
                          <m:r>
                            <a:rPr lang="en-US" i="1">
                              <a:solidFill>
                                <a:srgbClr val="000000"/>
                              </a:solidFill>
                              <a:latin typeface="Cambria Math" panose="02040503050406030204" pitchFamily="18" charset="0"/>
                            </a:rPr>
                            <m:t>𝑀𝑖𝑑𝑑𝑙𝑒</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80</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𝑟𝑎𝑛𝑔𝑒</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)/2</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den>
                      </m:f>
                    </m:oMath>
                  </m:oMathPara>
                </a14:m>
                <a:endParaRPr lang="en-US"/>
              </a:p>
            </p:txBody>
          </p:sp>
        </mc:Choice>
        <mc:Fallback xmlns="">
          <p:sp>
            <p:nvSpPr>
              <p:cNvPr id="5" name="Object 4">
                <a:extLst>
                  <a:ext uri="{FF2B5EF4-FFF2-40B4-BE49-F238E27FC236}">
                    <a16:creationId xmlns:a16="http://schemas.microsoft.com/office/drawing/2014/main" id="{E996C139-4E15-4222-AED3-F8E2080685FB}"/>
                  </a:ext>
                </a:extLst>
              </p:cNvPr>
              <p:cNvSpPr txBox="1">
                <a:spLocks noRot="1" noChangeAspect="1" noMove="1" noResize="1" noEditPoints="1" noAdjustHandles="1" noChangeArrowheads="1" noChangeShapeType="1" noTextEdit="1"/>
              </p:cNvSpPr>
              <p:nvPr/>
            </p:nvSpPr>
            <p:spPr>
              <a:xfrm>
                <a:off x="4038119" y="2139351"/>
                <a:ext cx="3932688" cy="72461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0469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F2D4-B87B-47FB-B033-7CED2E249A92}"/>
              </a:ext>
            </a:extLst>
          </p:cNvPr>
          <p:cNvSpPr>
            <a:spLocks noGrp="1"/>
          </p:cNvSpPr>
          <p:nvPr>
            <p:ph type="title"/>
          </p:nvPr>
        </p:nvSpPr>
        <p:spPr>
          <a:xfrm>
            <a:off x="1024128" y="585216"/>
            <a:ext cx="9720072" cy="406822"/>
          </a:xfrm>
        </p:spPr>
        <p:txBody>
          <a:bodyPr>
            <a:normAutofit/>
          </a:bodyPr>
          <a:lstStyle/>
          <a:p>
            <a:r>
              <a:rPr lang="en-US" sz="2400" b="1" dirty="0"/>
              <a:t>Measures of skewness and kurtosis based on moments</a:t>
            </a:r>
          </a:p>
        </p:txBody>
      </p:sp>
      <p:sp>
        <p:nvSpPr>
          <p:cNvPr id="3" name="Content Placeholder 2">
            <a:extLst>
              <a:ext uri="{FF2B5EF4-FFF2-40B4-BE49-F238E27FC236}">
                <a16:creationId xmlns:a16="http://schemas.microsoft.com/office/drawing/2014/main" id="{E6C37AE4-D2C1-4F3D-B6D0-9B985EA9E3EC}"/>
              </a:ext>
            </a:extLst>
          </p:cNvPr>
          <p:cNvSpPr>
            <a:spLocks noGrp="1"/>
          </p:cNvSpPr>
          <p:nvPr>
            <p:ph idx="1"/>
          </p:nvPr>
        </p:nvSpPr>
        <p:spPr>
          <a:xfrm>
            <a:off x="1024128" y="1250830"/>
            <a:ext cx="10707797" cy="5058530"/>
          </a:xfrm>
        </p:spPr>
        <p:txBody>
          <a:bodyPr>
            <a:normAutofit/>
          </a:bodyPr>
          <a:lstStyle/>
          <a:p>
            <a:r>
              <a:rPr lang="en-US" sz="2600" dirty="0"/>
              <a:t>Moments: </a:t>
            </a:r>
            <a:r>
              <a:rPr lang="en-US" sz="2600" b="0" i="0" dirty="0">
                <a:solidFill>
                  <a:srgbClr val="282828"/>
                </a:solidFill>
                <a:effectLst/>
              </a:rPr>
              <a:t>Moments in mathematical statistics involve a basic calculation. These calculations can be used to find a probability distribution's mean, variance, and skewness. The term </a:t>
            </a:r>
            <a:r>
              <a:rPr lang="en-US" sz="2600" b="0" i="1" dirty="0">
                <a:solidFill>
                  <a:srgbClr val="282828"/>
                </a:solidFill>
                <a:effectLst/>
              </a:rPr>
              <a:t>moment</a:t>
            </a:r>
            <a:r>
              <a:rPr lang="en-US" sz="2600" b="0" i="0" dirty="0">
                <a:solidFill>
                  <a:srgbClr val="282828"/>
                </a:solidFill>
                <a:effectLst/>
              </a:rPr>
              <a:t> has been taken from physics. In physics, the moment of a system of point masses is calculated with a formula identical to that above, and this formula is used in finding the center of mass of the points. In statistics, the values are no longer masses, but as we will see, moments in statistics still measure something relative to the center of the values.​</a:t>
            </a:r>
          </a:p>
          <a:p>
            <a:endParaRPr lang="en-US" sz="2600" dirty="0"/>
          </a:p>
          <a:p>
            <a:r>
              <a:rPr lang="en-US" sz="2600" dirty="0"/>
              <a:t>Types of moments</a:t>
            </a:r>
          </a:p>
          <a:p>
            <a:r>
              <a:rPr lang="en-US" sz="2600" dirty="0"/>
              <a:t>1. Central Moments</a:t>
            </a:r>
          </a:p>
          <a:p>
            <a:r>
              <a:rPr lang="en-US" sz="2600" dirty="0"/>
              <a:t>2. Raw Moments</a:t>
            </a:r>
          </a:p>
        </p:txBody>
      </p:sp>
    </p:spTree>
    <p:extLst>
      <p:ext uri="{BB962C8B-B14F-4D97-AF65-F5344CB8AC3E}">
        <p14:creationId xmlns:p14="http://schemas.microsoft.com/office/powerpoint/2010/main" val="227640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2BA48-4C3A-4D0C-9E1A-9520B976501E}"/>
              </a:ext>
            </a:extLst>
          </p:cNvPr>
          <p:cNvSpPr>
            <a:spLocks noGrp="1"/>
          </p:cNvSpPr>
          <p:nvPr>
            <p:ph idx="1"/>
          </p:nvPr>
        </p:nvSpPr>
        <p:spPr>
          <a:xfrm>
            <a:off x="1235963" y="267419"/>
            <a:ext cx="9720073" cy="6113061"/>
          </a:xfrm>
        </p:spPr>
        <p:txBody>
          <a:bodyPr/>
          <a:lstStyle/>
          <a:p>
            <a:r>
              <a:rPr lang="en-US" sz="2000" b="1" dirty="0">
                <a:solidFill>
                  <a:srgbClr val="00B0F0"/>
                </a:solidFill>
              </a:rPr>
              <a:t>Central Moment</a:t>
            </a:r>
          </a:p>
          <a:p>
            <a:r>
              <a:rPr lang="en-US" sz="2000" dirty="0"/>
              <a:t>The </a:t>
            </a:r>
            <a:r>
              <a:rPr lang="en-US" sz="2000" dirty="0" err="1"/>
              <a:t>r</a:t>
            </a:r>
            <a:r>
              <a:rPr lang="en-US" sz="2000" baseline="30000" dirty="0" err="1"/>
              <a:t>th</a:t>
            </a:r>
            <a:r>
              <a:rPr lang="en-US" sz="2000" dirty="0"/>
              <a:t> moment about mean (central moment) is defined as:</a:t>
            </a:r>
          </a:p>
          <a:p>
            <a:endParaRPr lang="en-US" sz="2000" dirty="0"/>
          </a:p>
          <a:p>
            <a:endParaRPr lang="en-US" dirty="0"/>
          </a:p>
          <a:p>
            <a:r>
              <a:rPr lang="en-US" dirty="0"/>
              <a:t>For frequency distribution the formula is </a:t>
            </a:r>
          </a:p>
          <a:p>
            <a:pPr marL="128016" lvl="1" indent="0">
              <a:buNone/>
            </a:pPr>
            <a:r>
              <a:rPr lang="en-US" dirty="0"/>
              <a:t>	</a:t>
            </a:r>
          </a:p>
          <a:p>
            <a:endParaRPr lang="en-US" dirty="0"/>
          </a:p>
          <a:p>
            <a:r>
              <a:rPr lang="en-US" dirty="0"/>
              <a:t>If,</a:t>
            </a:r>
          </a:p>
          <a:p>
            <a:pPr marL="128016" lvl="1" indent="0">
              <a:buNone/>
            </a:pPr>
            <a:r>
              <a:rPr lang="en-US" dirty="0"/>
              <a:t>	</a:t>
            </a:r>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A872C4FD-3F15-400A-9E32-A8E123DFB57A}"/>
                  </a:ext>
                </a:extLst>
              </p:cNvPr>
              <p:cNvSpPr txBox="1"/>
              <p:nvPr/>
            </p:nvSpPr>
            <p:spPr>
              <a:xfrm>
                <a:off x="2084386" y="1167588"/>
                <a:ext cx="1797501" cy="790608"/>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𝑟</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4" name="Object 3">
                <a:extLst>
                  <a:ext uri="{FF2B5EF4-FFF2-40B4-BE49-F238E27FC236}">
                    <a16:creationId xmlns:a16="http://schemas.microsoft.com/office/drawing/2014/main" id="{A872C4FD-3F15-400A-9E32-A8E123DFB57A}"/>
                  </a:ext>
                </a:extLst>
              </p:cNvPr>
              <p:cNvSpPr txBox="1">
                <a:spLocks noRot="1" noChangeAspect="1" noMove="1" noResize="1" noEditPoints="1" noAdjustHandles="1" noChangeArrowheads="1" noChangeShapeType="1" noTextEdit="1"/>
              </p:cNvSpPr>
              <p:nvPr/>
            </p:nvSpPr>
            <p:spPr>
              <a:xfrm>
                <a:off x="2084386" y="1167588"/>
                <a:ext cx="1797501" cy="79060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bject 5">
                <a:extLst>
                  <a:ext uri="{FF2B5EF4-FFF2-40B4-BE49-F238E27FC236}">
                    <a16:creationId xmlns:a16="http://schemas.microsoft.com/office/drawing/2014/main" id="{2581A666-B18B-4D9C-9FBB-479C41CD66E7}"/>
                  </a:ext>
                </a:extLst>
              </p:cNvPr>
              <p:cNvSpPr txBox="1"/>
              <p:nvPr/>
            </p:nvSpPr>
            <p:spPr>
              <a:xfrm>
                <a:off x="1759924" y="3793482"/>
                <a:ext cx="6822106" cy="186123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𝑟</m:t>
                      </m:r>
                      <m:r>
                        <a:rPr lang="en-US" sz="2000" i="1" smtClean="0">
                          <a:solidFill>
                            <a:srgbClr val="000000"/>
                          </a:solidFill>
                          <a:latin typeface="Cambria Math" panose="02040503050406030204" pitchFamily="18" charset="0"/>
                        </a:rPr>
                        <m:t>=1,    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𝑚</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=0</m:t>
                      </m:r>
                    </m:oMath>
                  </m:oMathPara>
                </a14:m>
                <a:br>
                  <a:rPr lang="en-US" sz="2000" i="1" dirty="0">
                    <a:solidFill>
                      <a:srgbClr val="000000"/>
                    </a:solidFill>
                    <a:latin typeface="Cambria Math" panose="02040503050406030204" pitchFamily="18" charset="0"/>
                  </a:rPr>
                </a:br>
                <a14:m>
                  <m:oMath xmlns:m="http://schemas.openxmlformats.org/officeDocument/2006/math">
                    <m:r>
                      <a:rPr lang="en-US" sz="2000" i="1">
                        <a:solidFill>
                          <a:srgbClr val="000000"/>
                        </a:solidFill>
                        <a:latin typeface="Cambria Math" panose="02040503050406030204" pitchFamily="18" charset="0"/>
                      </a:rPr>
                      <m:t>𝑟</m:t>
                    </m:r>
                    <m:r>
                      <a:rPr lang="en-US" sz="2000" i="1">
                        <a:solidFill>
                          <a:srgbClr val="000000"/>
                        </a:solidFill>
                        <a:latin typeface="Cambria Math" panose="02040503050406030204" pitchFamily="18" charset="0"/>
                      </a:rPr>
                      <m:t>=2,</m:t>
                    </m:r>
                    <m:r>
                      <m:rPr>
                        <m:nor/>
                      </m:rPr>
                      <a:rPr lang="en-US" sz="2000" i="0">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𝑚</m:t>
                        </m:r>
                      </m:e>
                      <m:sub>
                        <m:r>
                          <a:rPr lang="en-US" sz="2000" i="1">
                            <a:solidFill>
                              <a:srgbClr val="000000"/>
                            </a:solidFill>
                            <a:latin typeface="Cambria Math" panose="02040503050406030204" pitchFamily="18" charset="0"/>
                          </a:rPr>
                          <m:t>2</m:t>
                        </m:r>
                      </m:sub>
                    </m:sSub>
                    <m: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nary>
                          <m:naryPr>
                            <m:chr m:val="∑"/>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𝑋</m:t>
                                </m:r>
                              </m:e>
                            </m:acc>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e>
                        </m:nary>
                      </m:num>
                      <m:den>
                        <m:r>
                          <a:rPr lang="en-US" sz="2000" i="1">
                            <a:solidFill>
                              <a:srgbClr val="000000"/>
                            </a:solidFill>
                            <a:latin typeface="Cambria Math" panose="02040503050406030204" pitchFamily="18" charset="0"/>
                          </a:rPr>
                          <m:t>𝑛</m:t>
                        </m:r>
                      </m:den>
                    </m:f>
                  </m:oMath>
                </a14:m>
                <a:r>
                  <a:rPr lang="en-US" sz="2000" i="1" dirty="0">
                    <a:solidFill>
                      <a:srgbClr val="000000"/>
                    </a:solidFill>
                    <a:latin typeface="Cambria Math" panose="02040503050406030204" pitchFamily="18" charset="0"/>
                  </a:rPr>
                  <a:t> = Second order central moment</a:t>
                </a:r>
                <a:br>
                  <a:rPr lang="en-US" sz="2000" i="1" dirty="0">
                    <a:solidFill>
                      <a:srgbClr val="000000"/>
                    </a:solidFill>
                    <a:latin typeface="Cambria Math" panose="02040503050406030204" pitchFamily="18" charset="0"/>
                  </a:rPr>
                </a:br>
                <a14:m>
                  <m:oMath xmlns:m="http://schemas.openxmlformats.org/officeDocument/2006/math">
                    <m:r>
                      <a:rPr lang="en-US" sz="2000" i="1">
                        <a:solidFill>
                          <a:srgbClr val="000000"/>
                        </a:solidFill>
                        <a:latin typeface="Cambria Math" panose="02040503050406030204" pitchFamily="18" charset="0"/>
                      </a:rPr>
                      <m:t>𝑟</m:t>
                    </m:r>
                    <m:r>
                      <a:rPr lang="en-US" sz="2000" i="1">
                        <a:solidFill>
                          <a:srgbClr val="000000"/>
                        </a:solidFill>
                        <a:latin typeface="Cambria Math" panose="02040503050406030204" pitchFamily="18" charset="0"/>
                      </a:rPr>
                      <m:t>=</m:t>
                    </m:r>
                    <m: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3,</m:t>
                    </m:r>
                    <m:r>
                      <m:rPr>
                        <m:nor/>
                      </m:rPr>
                      <a:rPr lang="en-US" sz="2000" i="0">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𝑚</m:t>
                        </m:r>
                      </m:e>
                      <m:sub>
                        <m:r>
                          <a:rPr lang="en-US" sz="2000" i="1">
                            <a:solidFill>
                              <a:srgbClr val="000000"/>
                            </a:solidFill>
                            <a:latin typeface="Cambria Math" panose="02040503050406030204" pitchFamily="18" charset="0"/>
                          </a:rPr>
                          <m:t>3</m:t>
                        </m:r>
                      </m:sub>
                    </m:sSub>
                    <m: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m:t>
                    </m:r>
                    <m:r>
                      <a:rPr lang="en-US" sz="2000" i="0">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nary>
                          <m:naryPr>
                            <m:chr m:val="∑"/>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𝑋</m:t>
                                </m:r>
                              </m:e>
                            </m:acc>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3</m:t>
                                </m:r>
                              </m:sup>
                            </m:sSup>
                          </m:e>
                        </m:nary>
                      </m:num>
                      <m:den>
                        <m:r>
                          <a:rPr lang="en-US" sz="2000" i="1">
                            <a:solidFill>
                              <a:srgbClr val="000000"/>
                            </a:solidFill>
                            <a:latin typeface="Cambria Math" panose="02040503050406030204" pitchFamily="18" charset="0"/>
                          </a:rPr>
                          <m:t>𝑛</m:t>
                        </m:r>
                      </m:den>
                    </m:f>
                    <m:r>
                      <a:rPr lang="en-US" sz="2000" i="0">
                        <a:solidFill>
                          <a:srgbClr val="000000"/>
                        </a:solidFill>
                        <a:latin typeface="Cambria Math" panose="02040503050406030204" pitchFamily="18" charset="0"/>
                      </a:rPr>
                      <m:t> </m:t>
                    </m:r>
                  </m:oMath>
                </a14:m>
                <a:r>
                  <a:rPr lang="en-US" sz="2000" i="0" dirty="0">
                    <a:solidFill>
                      <a:srgbClr val="000000"/>
                    </a:solidFill>
                    <a:latin typeface="Cambria Math" panose="02040503050406030204" pitchFamily="18" charset="0"/>
                  </a:rPr>
                  <a:t>= Third order central moment</a:t>
                </a:r>
                <a:br>
                  <a:rPr lang="en-US" sz="2000" i="0" dirty="0">
                    <a:solidFill>
                      <a:srgbClr val="000000"/>
                    </a:solidFill>
                    <a:latin typeface="Cambria Math" panose="02040503050406030204" pitchFamily="18" charset="0"/>
                  </a:rPr>
                </a:br>
                <a14:m>
                  <m:oMath xmlns:m="http://schemas.openxmlformats.org/officeDocument/2006/math">
                    <m:r>
                      <a:rPr lang="en-US" sz="2000" i="1">
                        <a:solidFill>
                          <a:srgbClr val="000000"/>
                        </a:solidFill>
                        <a:latin typeface="Cambria Math" panose="02040503050406030204" pitchFamily="18" charset="0"/>
                      </a:rPr>
                      <m:t>𝑟</m:t>
                    </m:r>
                    <m:r>
                      <a:rPr lang="en-US" sz="2000" i="1">
                        <a:solidFill>
                          <a:srgbClr val="000000"/>
                        </a:solidFill>
                        <a:latin typeface="Cambria Math" panose="02040503050406030204" pitchFamily="18" charset="0"/>
                      </a:rPr>
                      <m:t>=</m:t>
                    </m:r>
                    <m: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4,</m:t>
                    </m:r>
                    <m:r>
                      <m:rPr>
                        <m:nor/>
                      </m:rPr>
                      <a:rPr lang="en-US" sz="2000" i="0">
                        <a:solidFill>
                          <a:srgbClr val="00000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𝑚</m:t>
                        </m:r>
                      </m:e>
                      <m:sub>
                        <m:r>
                          <a:rPr lang="en-US" sz="2000" i="1">
                            <a:solidFill>
                              <a:srgbClr val="000000"/>
                            </a:solidFill>
                            <a:latin typeface="Cambria Math" panose="02040503050406030204" pitchFamily="18" charset="0"/>
                          </a:rPr>
                          <m:t>4</m:t>
                        </m:r>
                      </m:sub>
                    </m:sSub>
                    <m: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m:t>
                    </m:r>
                    <m:r>
                      <a:rPr lang="en-US" sz="2000" i="0">
                        <a:solidFill>
                          <a:srgbClr val="000000"/>
                        </a:solidFill>
                        <a:latin typeface="Cambria Math" panose="02040503050406030204" pitchFamily="18" charset="0"/>
                      </a:rPr>
                      <m:t> </m:t>
                    </m:r>
                    <m:f>
                      <m:fPr>
                        <m:ctrlPr>
                          <a:rPr lang="en-US" sz="2000" i="1">
                            <a:solidFill>
                              <a:srgbClr val="000000"/>
                            </a:solidFill>
                            <a:latin typeface="Cambria Math" panose="02040503050406030204" pitchFamily="18" charset="0"/>
                          </a:rPr>
                        </m:ctrlPr>
                      </m:fPr>
                      <m:num>
                        <m:nary>
                          <m:naryPr>
                            <m:chr m:val="∑"/>
                            <m:subHide m:val="on"/>
                            <m:supHide m:val="on"/>
                            <m:ctrlPr>
                              <a:rPr lang="en-US" sz="2000" i="1">
                                <a:solidFill>
                                  <a:srgbClr val="000000"/>
                                </a:solidFill>
                                <a:latin typeface="Cambria Math" panose="02040503050406030204" pitchFamily="18" charset="0"/>
                              </a:rPr>
                            </m:ctrlPr>
                          </m:naryPr>
                          <m:sub/>
                          <m:sup/>
                          <m:e>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𝑋</m:t>
                                </m:r>
                              </m:e>
                            </m:acc>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4</m:t>
                                </m:r>
                              </m:sup>
                            </m:sSup>
                          </m:e>
                        </m:nary>
                      </m:num>
                      <m:den>
                        <m:r>
                          <a:rPr lang="en-US" sz="2000" i="1">
                            <a:solidFill>
                              <a:srgbClr val="000000"/>
                            </a:solidFill>
                            <a:latin typeface="Cambria Math" panose="02040503050406030204" pitchFamily="18" charset="0"/>
                          </a:rPr>
                          <m:t>𝑛</m:t>
                        </m:r>
                      </m:den>
                    </m:f>
                  </m:oMath>
                </a14:m>
                <a:r>
                  <a:rPr lang="en-US" sz="2000" dirty="0"/>
                  <a:t> = Fourth order central moment</a:t>
                </a:r>
              </a:p>
            </p:txBody>
          </p:sp>
        </mc:Choice>
        <mc:Fallback>
          <p:sp>
            <p:nvSpPr>
              <p:cNvPr id="6" name="Object 5">
                <a:extLst>
                  <a:ext uri="{FF2B5EF4-FFF2-40B4-BE49-F238E27FC236}">
                    <a16:creationId xmlns:a16="http://schemas.microsoft.com/office/drawing/2014/main" id="{2581A666-B18B-4D9C-9FBB-479C41CD66E7}"/>
                  </a:ext>
                </a:extLst>
              </p:cNvPr>
              <p:cNvSpPr txBox="1">
                <a:spLocks noRot="1" noChangeAspect="1" noMove="1" noResize="1" noEditPoints="1" noAdjustHandles="1" noChangeArrowheads="1" noChangeShapeType="1" noTextEdit="1"/>
              </p:cNvSpPr>
              <p:nvPr/>
            </p:nvSpPr>
            <p:spPr>
              <a:xfrm>
                <a:off x="1759924" y="3793482"/>
                <a:ext cx="6822106" cy="1861230"/>
              </a:xfrm>
              <a:prstGeom prst="rect">
                <a:avLst/>
              </a:prstGeom>
              <a:blipFill>
                <a:blip r:embed="rId3"/>
                <a:stretch>
                  <a:fillRect b="-3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E60FA2A1-9321-4E4D-B73F-44BB2EC63FCD}"/>
                  </a:ext>
                </a:extLst>
              </p:cNvPr>
              <p:cNvSpPr txBox="1"/>
              <p:nvPr/>
            </p:nvSpPr>
            <p:spPr>
              <a:xfrm>
                <a:off x="2084386" y="2458045"/>
                <a:ext cx="1937199" cy="672842"/>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𝑟</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8" name="Object 7">
                <a:extLst>
                  <a:ext uri="{FF2B5EF4-FFF2-40B4-BE49-F238E27FC236}">
                    <a16:creationId xmlns:a16="http://schemas.microsoft.com/office/drawing/2014/main" id="{E60FA2A1-9321-4E4D-B73F-44BB2EC63FCD}"/>
                  </a:ext>
                </a:extLst>
              </p:cNvPr>
              <p:cNvSpPr txBox="1">
                <a:spLocks noRot="1" noChangeAspect="1" noMove="1" noResize="1" noEditPoints="1" noAdjustHandles="1" noChangeArrowheads="1" noChangeShapeType="1" noTextEdit="1"/>
              </p:cNvSpPr>
              <p:nvPr/>
            </p:nvSpPr>
            <p:spPr>
              <a:xfrm>
                <a:off x="2084386" y="2458045"/>
                <a:ext cx="1937199" cy="67284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35055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ED679-386D-4B48-8CB0-67601436A145}"/>
              </a:ext>
            </a:extLst>
          </p:cNvPr>
          <p:cNvSpPr>
            <a:spLocks noGrp="1"/>
          </p:cNvSpPr>
          <p:nvPr>
            <p:ph idx="1"/>
          </p:nvPr>
        </p:nvSpPr>
        <p:spPr>
          <a:xfrm>
            <a:off x="1235963" y="460586"/>
            <a:ext cx="9720073" cy="5936827"/>
          </a:xfrm>
        </p:spPr>
        <p:txBody>
          <a:bodyPr/>
          <a:lstStyle/>
          <a:p>
            <a:r>
              <a:rPr lang="en-US" b="1" dirty="0">
                <a:solidFill>
                  <a:srgbClr val="00B0F0"/>
                </a:solidFill>
              </a:rPr>
              <a:t>Raw Moment</a:t>
            </a:r>
          </a:p>
          <a:p>
            <a:r>
              <a:rPr lang="en-US" dirty="0"/>
              <a:t>The </a:t>
            </a:r>
            <a:r>
              <a:rPr lang="en-US" dirty="0" err="1"/>
              <a:t>r</a:t>
            </a:r>
            <a:r>
              <a:rPr lang="en-US" baseline="30000" dirty="0" err="1"/>
              <a:t>th</a:t>
            </a:r>
            <a:r>
              <a:rPr lang="en-US" dirty="0"/>
              <a:t> moment about any arbitrary value A (raw moment) is defined as:</a:t>
            </a:r>
          </a:p>
          <a:p>
            <a:endParaRPr lang="en-US" dirty="0"/>
          </a:p>
          <a:p>
            <a:endParaRPr lang="en-US" dirty="0"/>
          </a:p>
          <a:p>
            <a:r>
              <a:rPr lang="en-US" dirty="0"/>
              <a:t>where d = X – A is the deviation of data from any arbitrary value A.</a:t>
            </a:r>
          </a:p>
          <a:p>
            <a:endParaRPr lang="en-US" sz="2000" dirty="0"/>
          </a:p>
          <a:p>
            <a:r>
              <a:rPr lang="en-US" dirty="0"/>
              <a:t>At A = 0, then</a:t>
            </a:r>
          </a:p>
          <a:p>
            <a:endParaRPr lang="en-US" dirty="0"/>
          </a:p>
          <a:p>
            <a:endParaRPr lang="en-US" dirty="0"/>
          </a:p>
          <a:p>
            <a:r>
              <a:rPr lang="en-US" dirty="0"/>
              <a:t>For frequency distribution,</a:t>
            </a:r>
          </a:p>
          <a:p>
            <a:endParaRPr lang="en-US" dirty="0"/>
          </a:p>
          <a:p>
            <a:endParaRPr lang="en-US" dirty="0"/>
          </a:p>
          <a:p>
            <a:pPr marL="128016" lvl="1" indent="0">
              <a:buNone/>
            </a:pPr>
            <a:endParaRPr lang="en-US" dirty="0"/>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CBD36B5B-C8A4-4621-88BB-6E4BD4A527DC}"/>
                  </a:ext>
                </a:extLst>
              </p:cNvPr>
              <p:cNvSpPr txBox="1"/>
              <p:nvPr/>
            </p:nvSpPr>
            <p:spPr>
              <a:xfrm>
                <a:off x="1447799" y="1421871"/>
                <a:ext cx="4224868" cy="8636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𝑟</m:t>
                          </m:r>
                        </m:sub>
                        <m:sup>
                          <m:r>
                            <a:rPr lang="en-US" i="1">
                              <a:solidFill>
                                <a:srgbClr val="000000"/>
                              </a:solidFill>
                              <a:latin typeface="Cambria Math" panose="02040503050406030204" pitchFamily="18" charset="0"/>
                            </a:rPr>
                            <m:t>/</m:t>
                          </m:r>
                        </m:sup>
                      </m:sSubSup>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𝐴</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𝑑</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4" name="Object 3">
                <a:extLst>
                  <a:ext uri="{FF2B5EF4-FFF2-40B4-BE49-F238E27FC236}">
                    <a16:creationId xmlns:a16="http://schemas.microsoft.com/office/drawing/2014/main" id="{CBD36B5B-C8A4-4621-88BB-6E4BD4A527DC}"/>
                  </a:ext>
                </a:extLst>
              </p:cNvPr>
              <p:cNvSpPr txBox="1">
                <a:spLocks noRot="1" noChangeAspect="1" noMove="1" noResize="1" noEditPoints="1" noAdjustHandles="1" noChangeArrowheads="1" noChangeShapeType="1" noTextEdit="1"/>
              </p:cNvSpPr>
              <p:nvPr/>
            </p:nvSpPr>
            <p:spPr>
              <a:xfrm>
                <a:off x="1447799" y="1421871"/>
                <a:ext cx="4224868" cy="8636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AE79ADD7-91E1-41A7-9B7D-DAF79466E278}"/>
                  </a:ext>
                </a:extLst>
              </p:cNvPr>
              <p:cNvSpPr txBox="1"/>
              <p:nvPr/>
            </p:nvSpPr>
            <p:spPr>
              <a:xfrm>
                <a:off x="1904999" y="3708930"/>
                <a:ext cx="2514601" cy="8636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𝑟</m:t>
                          </m:r>
                        </m:sub>
                        <m:sup>
                          <m:r>
                            <a:rPr lang="en-US" i="1">
                              <a:solidFill>
                                <a:srgbClr val="000000"/>
                              </a:solidFill>
                              <a:latin typeface="Cambria Math" panose="02040503050406030204" pitchFamily="18" charset="0"/>
                            </a:rPr>
                            <m:t>/</m:t>
                          </m:r>
                        </m:sup>
                      </m:sSubSup>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𝑟</m:t>
                          </m:r>
                        </m:sup>
                      </m:sSup>
                    </m:oMath>
                  </m:oMathPara>
                </a14:m>
                <a:endParaRPr lang="en-US" dirty="0"/>
              </a:p>
            </p:txBody>
          </p:sp>
        </mc:Choice>
        <mc:Fallback xmlns="">
          <p:sp>
            <p:nvSpPr>
              <p:cNvPr id="5" name="Object 4">
                <a:extLst>
                  <a:ext uri="{FF2B5EF4-FFF2-40B4-BE49-F238E27FC236}">
                    <a16:creationId xmlns:a16="http://schemas.microsoft.com/office/drawing/2014/main" id="{AE79ADD7-91E1-41A7-9B7D-DAF79466E278}"/>
                  </a:ext>
                </a:extLst>
              </p:cNvPr>
              <p:cNvSpPr txBox="1">
                <a:spLocks noRot="1" noChangeAspect="1" noMove="1" noResize="1" noEditPoints="1" noAdjustHandles="1" noChangeArrowheads="1" noChangeShapeType="1" noTextEdit="1"/>
              </p:cNvSpPr>
              <p:nvPr/>
            </p:nvSpPr>
            <p:spPr>
              <a:xfrm>
                <a:off x="1904999" y="3708930"/>
                <a:ext cx="2514601" cy="8636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1FB3FB5C-B93A-48CF-835E-057B9EFD2DBA}"/>
                  </a:ext>
                </a:extLst>
              </p:cNvPr>
              <p:cNvSpPr txBox="1"/>
              <p:nvPr/>
            </p:nvSpPr>
            <p:spPr>
              <a:xfrm>
                <a:off x="1968799" y="5132389"/>
                <a:ext cx="2076450" cy="8636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𝑟</m:t>
                          </m:r>
                        </m:sub>
                        <m:sup>
                          <m:r>
                            <a:rPr lang="en-US" i="1">
                              <a:solidFill>
                                <a:srgbClr val="000000"/>
                              </a:solidFill>
                              <a:latin typeface="Cambria Math" panose="02040503050406030204" pitchFamily="18" charset="0"/>
                            </a:rPr>
                            <m:t>/</m:t>
                          </m:r>
                        </m:sup>
                      </m:sSubSup>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𝑟</m:t>
                                  </m:r>
                                </m:sup>
                              </m:sSup>
                            </m:e>
                          </m:nary>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7" name="Object 6">
                <a:extLst>
                  <a:ext uri="{FF2B5EF4-FFF2-40B4-BE49-F238E27FC236}">
                    <a16:creationId xmlns:a16="http://schemas.microsoft.com/office/drawing/2014/main" id="{1FB3FB5C-B93A-48CF-835E-057B9EFD2DBA}"/>
                  </a:ext>
                </a:extLst>
              </p:cNvPr>
              <p:cNvSpPr txBox="1">
                <a:spLocks noRot="1" noChangeAspect="1" noMove="1" noResize="1" noEditPoints="1" noAdjustHandles="1" noChangeArrowheads="1" noChangeShapeType="1" noTextEdit="1"/>
              </p:cNvSpPr>
              <p:nvPr/>
            </p:nvSpPr>
            <p:spPr>
              <a:xfrm>
                <a:off x="1968799" y="5132389"/>
                <a:ext cx="2076450" cy="8636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5907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5C9C5-E37A-4596-BB1B-C8A611A56A75}"/>
              </a:ext>
            </a:extLst>
          </p:cNvPr>
          <p:cNvSpPr>
            <a:spLocks noGrp="1"/>
          </p:cNvSpPr>
          <p:nvPr>
            <p:ph type="title"/>
          </p:nvPr>
        </p:nvSpPr>
        <p:spPr>
          <a:xfrm>
            <a:off x="1024128" y="585216"/>
            <a:ext cx="9720072" cy="432701"/>
          </a:xfrm>
        </p:spPr>
        <p:txBody>
          <a:bodyPr>
            <a:normAutofit/>
          </a:bodyPr>
          <a:lstStyle/>
          <a:p>
            <a:r>
              <a:rPr lang="en-US" sz="2400" b="1" dirty="0"/>
              <a:t>Conversion of raw moment into central moment</a:t>
            </a:r>
          </a:p>
        </p:txBody>
      </p:sp>
      <p:sp>
        <p:nvSpPr>
          <p:cNvPr id="3" name="Content Placeholder 2">
            <a:extLst>
              <a:ext uri="{FF2B5EF4-FFF2-40B4-BE49-F238E27FC236}">
                <a16:creationId xmlns:a16="http://schemas.microsoft.com/office/drawing/2014/main" id="{79FA2C1D-9F98-4877-98FA-BE911C07AA82}"/>
              </a:ext>
            </a:extLst>
          </p:cNvPr>
          <p:cNvSpPr>
            <a:spLocks noGrp="1"/>
          </p:cNvSpPr>
          <p:nvPr>
            <p:ph idx="1"/>
          </p:nvPr>
        </p:nvSpPr>
        <p:spPr>
          <a:xfrm>
            <a:off x="1024128" y="1207698"/>
            <a:ext cx="9720073" cy="5101662"/>
          </a:xfrm>
        </p:spPr>
        <p:txBody>
          <a:bodyPr/>
          <a:lstStyle/>
          <a:p>
            <a:r>
              <a:rPr lang="en-US" sz="2800" dirty="0"/>
              <a:t>The raw moment can be converted into central moment by using following formula:</a:t>
            </a:r>
          </a:p>
          <a:p>
            <a:endParaRPr lang="en-US" dirty="0"/>
          </a:p>
        </p:txBody>
      </p:sp>
      <p:pic>
        <p:nvPicPr>
          <p:cNvPr id="4" name="Picture 3">
            <a:extLst>
              <a:ext uri="{FF2B5EF4-FFF2-40B4-BE49-F238E27FC236}">
                <a16:creationId xmlns:a16="http://schemas.microsoft.com/office/drawing/2014/main" id="{E1CFBB49-5584-4E1F-A870-8D022CCB623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0327" y="2620722"/>
            <a:ext cx="7057847" cy="2624138"/>
          </a:xfrm>
          <a:prstGeom prst="rect">
            <a:avLst/>
          </a:prstGeom>
          <a:noFill/>
          <a:ln>
            <a:noFill/>
          </a:ln>
        </p:spPr>
      </p:pic>
    </p:spTree>
    <p:extLst>
      <p:ext uri="{BB962C8B-B14F-4D97-AF65-F5344CB8AC3E}">
        <p14:creationId xmlns:p14="http://schemas.microsoft.com/office/powerpoint/2010/main" val="506545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F5368AF-017F-4F36-AA17-EEBBF7AE5CBD}"/>
              </a:ext>
            </a:extLst>
          </p:cNvPr>
          <p:cNvSpPr>
            <a:spLocks noGrp="1"/>
          </p:cNvSpPr>
          <p:nvPr>
            <p:ph sz="half" idx="1"/>
          </p:nvPr>
        </p:nvSpPr>
        <p:spPr>
          <a:xfrm>
            <a:off x="846667" y="338667"/>
            <a:ext cx="5022172" cy="6165649"/>
          </a:xfrm>
        </p:spPr>
        <p:txBody>
          <a:bodyPr>
            <a:noAutofit/>
          </a:bodyPr>
          <a:lstStyle/>
          <a:p>
            <a:r>
              <a:rPr lang="en-US" sz="2000" b="1" dirty="0">
                <a:solidFill>
                  <a:srgbClr val="00B0F0"/>
                </a:solidFill>
              </a:rPr>
              <a:t>Karl Pearson’s Coefficient of skewness</a:t>
            </a:r>
          </a:p>
          <a:p>
            <a:endParaRPr lang="en-US" sz="2400" dirty="0"/>
          </a:p>
          <a:p>
            <a:endParaRPr lang="en-US" sz="2400" dirty="0"/>
          </a:p>
          <a:p>
            <a:pPr lvl="8"/>
            <a:r>
              <a:rPr lang="en-US" sz="1600" dirty="0"/>
              <a:t>b</a:t>
            </a:r>
            <a:r>
              <a:rPr lang="en-US" sz="1600" baseline="-25000" dirty="0"/>
              <a:t>1</a:t>
            </a:r>
            <a:r>
              <a:rPr lang="en-US" sz="1600" dirty="0"/>
              <a:t> is either +</a:t>
            </a:r>
            <a:r>
              <a:rPr lang="en-US" sz="1600" dirty="0" err="1"/>
              <a:t>ve</a:t>
            </a:r>
            <a:r>
              <a:rPr lang="en-US" sz="1600" dirty="0"/>
              <a:t> or –</a:t>
            </a:r>
            <a:r>
              <a:rPr lang="en-US" sz="1600" dirty="0" err="1"/>
              <a:t>ve</a:t>
            </a:r>
            <a:r>
              <a:rPr lang="en-US" sz="1600" dirty="0"/>
              <a:t> , can’t be zero</a:t>
            </a:r>
          </a:p>
          <a:p>
            <a:pPr marL="0" indent="0">
              <a:buNone/>
            </a:pPr>
            <a:r>
              <a:rPr lang="en-US" sz="2000" b="1" dirty="0">
                <a:solidFill>
                  <a:srgbClr val="00B0F0"/>
                </a:solidFill>
              </a:rPr>
              <a:t>Fisher coefficient of skewness</a:t>
            </a:r>
          </a:p>
          <a:p>
            <a:pPr marL="0" indent="0">
              <a:buNone/>
            </a:pPr>
            <a:endParaRPr lang="en-US" sz="2400" b="1" dirty="0"/>
          </a:p>
          <a:p>
            <a:pPr marL="0" indent="0">
              <a:buNone/>
            </a:pPr>
            <a:endParaRPr lang="en-US" sz="2400" b="1" dirty="0"/>
          </a:p>
          <a:p>
            <a:pPr marL="0" indent="0">
              <a:buNone/>
            </a:pPr>
            <a:r>
              <a:rPr lang="en-US" sz="2400" dirty="0"/>
              <a:t>Interpretation:</a:t>
            </a:r>
          </a:p>
          <a:p>
            <a:pPr marL="457200" indent="-457200">
              <a:buAutoNum type="arabicPeriod"/>
            </a:pPr>
            <a:r>
              <a:rPr lang="en-US" sz="2400" dirty="0"/>
              <a:t>If g</a:t>
            </a:r>
            <a:r>
              <a:rPr lang="en-US" sz="2400" baseline="-25000" dirty="0"/>
              <a:t>1</a:t>
            </a:r>
            <a:r>
              <a:rPr lang="en-US" sz="2400" dirty="0"/>
              <a:t> = 0, zero skewed distribution</a:t>
            </a:r>
          </a:p>
          <a:p>
            <a:pPr marL="457200" indent="-457200">
              <a:buAutoNum type="arabicPeriod"/>
            </a:pPr>
            <a:r>
              <a:rPr lang="en-US" sz="2400" dirty="0"/>
              <a:t>If g</a:t>
            </a:r>
            <a:r>
              <a:rPr lang="en-US" sz="2400" baseline="-25000" dirty="0"/>
              <a:t>1</a:t>
            </a:r>
            <a:r>
              <a:rPr lang="en-US" sz="2400" dirty="0"/>
              <a:t> &gt; 0, +</a:t>
            </a:r>
            <a:r>
              <a:rPr lang="en-US" sz="2400" dirty="0" err="1"/>
              <a:t>vely</a:t>
            </a:r>
            <a:r>
              <a:rPr lang="en-US" sz="2400" dirty="0"/>
              <a:t> skewed distribution</a:t>
            </a:r>
          </a:p>
          <a:p>
            <a:pPr marL="457200" indent="-457200">
              <a:buAutoNum type="arabicPeriod"/>
            </a:pPr>
            <a:r>
              <a:rPr lang="en-US" sz="2400" dirty="0"/>
              <a:t>If g</a:t>
            </a:r>
            <a:r>
              <a:rPr lang="en-US" sz="2400" baseline="-25000" dirty="0"/>
              <a:t>1</a:t>
            </a:r>
            <a:r>
              <a:rPr lang="en-US" sz="2400" dirty="0"/>
              <a:t> &lt; 0, -</a:t>
            </a:r>
            <a:r>
              <a:rPr lang="en-US" sz="2400" dirty="0" err="1"/>
              <a:t>vely</a:t>
            </a:r>
            <a:r>
              <a:rPr lang="en-US" sz="2400" dirty="0"/>
              <a:t> skewed distribution</a:t>
            </a:r>
          </a:p>
          <a:p>
            <a:pPr marL="0" indent="0">
              <a:buNone/>
            </a:pPr>
            <a:r>
              <a:rPr lang="en-US" sz="2400" dirty="0"/>
              <a:t>	</a:t>
            </a:r>
          </a:p>
        </p:txBody>
      </p:sp>
      <p:sp>
        <p:nvSpPr>
          <p:cNvPr id="6" name="Content Placeholder 5">
            <a:extLst>
              <a:ext uri="{FF2B5EF4-FFF2-40B4-BE49-F238E27FC236}">
                <a16:creationId xmlns:a16="http://schemas.microsoft.com/office/drawing/2014/main" id="{7C26570A-72B3-44F2-86AC-8665A0F2B914}"/>
              </a:ext>
            </a:extLst>
          </p:cNvPr>
          <p:cNvSpPr>
            <a:spLocks noGrp="1"/>
          </p:cNvSpPr>
          <p:nvPr>
            <p:ph sz="half" idx="2"/>
          </p:nvPr>
        </p:nvSpPr>
        <p:spPr>
          <a:xfrm>
            <a:off x="6323162" y="338667"/>
            <a:ext cx="5443268" cy="6165649"/>
          </a:xfrm>
        </p:spPr>
        <p:txBody>
          <a:bodyPr>
            <a:normAutofit fontScale="55000" lnSpcReduction="20000"/>
          </a:bodyPr>
          <a:lstStyle/>
          <a:p>
            <a:r>
              <a:rPr lang="en-US" sz="4400" b="1" dirty="0">
                <a:solidFill>
                  <a:srgbClr val="00B0F0"/>
                </a:solidFill>
              </a:rPr>
              <a:t>Karl Pearson’s coefficient of kurtosis</a:t>
            </a:r>
          </a:p>
          <a:p>
            <a:endParaRPr lang="en-US" sz="2600" dirty="0"/>
          </a:p>
          <a:p>
            <a:endParaRPr lang="en-US" sz="2600" dirty="0"/>
          </a:p>
          <a:p>
            <a:endParaRPr lang="en-US" sz="2600" dirty="0"/>
          </a:p>
          <a:p>
            <a:r>
              <a:rPr lang="en-US" sz="3400" dirty="0">
                <a:latin typeface="Calibri" panose="020F0502020204030204" pitchFamily="34" charset="0"/>
                <a:ea typeface="Times New Roman" panose="02020603050405020304" pitchFamily="18" charset="0"/>
              </a:rPr>
              <a:t>A</a:t>
            </a:r>
            <a:r>
              <a:rPr lang="en-US" sz="3400" dirty="0">
                <a:effectLst/>
                <a:latin typeface="Calibri" panose="020F0502020204030204" pitchFamily="34" charset="0"/>
                <a:ea typeface="Times New Roman" panose="02020603050405020304" pitchFamily="18" charset="0"/>
              </a:rPr>
              <a:t> </a:t>
            </a:r>
            <a:r>
              <a:rPr lang="en-US" sz="3400" i="1" dirty="0">
                <a:effectLst/>
                <a:latin typeface="Calibri" panose="020F0502020204030204" pitchFamily="34" charset="0"/>
                <a:ea typeface="Times New Roman" panose="02020603050405020304" pitchFamily="18" charset="0"/>
              </a:rPr>
              <a:t>b</a:t>
            </a:r>
            <a:r>
              <a:rPr lang="en-US" sz="3400" i="1" baseline="-25000" dirty="0">
                <a:effectLst/>
                <a:latin typeface="Calibri" panose="020F0502020204030204" pitchFamily="34" charset="0"/>
                <a:ea typeface="Times New Roman" panose="02020603050405020304" pitchFamily="18" charset="0"/>
              </a:rPr>
              <a:t>2</a:t>
            </a:r>
            <a:r>
              <a:rPr lang="en-US" sz="3400" dirty="0">
                <a:effectLst/>
                <a:latin typeface="Calibri" panose="020F0502020204030204" pitchFamily="34" charset="0"/>
                <a:ea typeface="Times New Roman" panose="02020603050405020304" pitchFamily="18" charset="0"/>
              </a:rPr>
              <a:t> not significantly different from 3 indicates that the sample was obtained from a </a:t>
            </a:r>
            <a:r>
              <a:rPr lang="en-US" sz="3400" b="1" dirty="0">
                <a:effectLst/>
                <a:latin typeface="Calibri" panose="020F0502020204030204" pitchFamily="34" charset="0"/>
                <a:ea typeface="Times New Roman" panose="02020603050405020304" pitchFamily="18" charset="0"/>
              </a:rPr>
              <a:t>Mesokurtic</a:t>
            </a:r>
            <a:r>
              <a:rPr lang="en-US" sz="3400" dirty="0">
                <a:effectLst/>
                <a:latin typeface="Calibri" panose="020F0502020204030204" pitchFamily="34" charset="0"/>
                <a:ea typeface="Times New Roman" panose="02020603050405020304" pitchFamily="18" charset="0"/>
              </a:rPr>
              <a:t> population, a </a:t>
            </a:r>
            <a:r>
              <a:rPr lang="en-US" sz="3400" i="1" dirty="0">
                <a:effectLst/>
                <a:latin typeface="Calibri" panose="020F0502020204030204" pitchFamily="34" charset="0"/>
                <a:ea typeface="Times New Roman" panose="02020603050405020304" pitchFamily="18" charset="0"/>
              </a:rPr>
              <a:t>b</a:t>
            </a:r>
            <a:r>
              <a:rPr lang="en-US" sz="3400" i="1" baseline="-25000" dirty="0">
                <a:effectLst/>
                <a:latin typeface="Calibri" panose="020F0502020204030204" pitchFamily="34" charset="0"/>
                <a:ea typeface="Times New Roman" panose="02020603050405020304" pitchFamily="18" charset="0"/>
              </a:rPr>
              <a:t>2</a:t>
            </a:r>
            <a:r>
              <a:rPr lang="en-US" sz="3400" dirty="0">
                <a:effectLst/>
                <a:latin typeface="Calibri" panose="020F0502020204030204" pitchFamily="34" charset="0"/>
                <a:ea typeface="Times New Roman" panose="02020603050405020304" pitchFamily="18" charset="0"/>
              </a:rPr>
              <a:t> significantly less than 3 indicates the sampled population is </a:t>
            </a:r>
            <a:r>
              <a:rPr lang="en-US" sz="3400" b="1" dirty="0">
                <a:effectLst/>
                <a:latin typeface="Calibri" panose="020F0502020204030204" pitchFamily="34" charset="0"/>
                <a:ea typeface="Times New Roman" panose="02020603050405020304" pitchFamily="18" charset="0"/>
              </a:rPr>
              <a:t>Platykurtic</a:t>
            </a:r>
            <a:r>
              <a:rPr lang="en-US" sz="3400" dirty="0">
                <a:effectLst/>
                <a:latin typeface="Calibri" panose="020F0502020204030204" pitchFamily="34" charset="0"/>
                <a:ea typeface="Times New Roman" panose="02020603050405020304" pitchFamily="18" charset="0"/>
              </a:rPr>
              <a:t>, and a </a:t>
            </a:r>
            <a:r>
              <a:rPr lang="en-US" sz="3400" i="1" dirty="0">
                <a:effectLst/>
                <a:latin typeface="Calibri" panose="020F0502020204030204" pitchFamily="34" charset="0"/>
                <a:ea typeface="Times New Roman" panose="02020603050405020304" pitchFamily="18" charset="0"/>
              </a:rPr>
              <a:t>b</a:t>
            </a:r>
            <a:r>
              <a:rPr lang="en-US" sz="3400" i="1" baseline="-25000" dirty="0">
                <a:effectLst/>
                <a:latin typeface="Calibri" panose="020F0502020204030204" pitchFamily="34" charset="0"/>
                <a:ea typeface="Times New Roman" panose="02020603050405020304" pitchFamily="18" charset="0"/>
              </a:rPr>
              <a:t>2</a:t>
            </a:r>
            <a:r>
              <a:rPr lang="en-US" sz="3400" dirty="0">
                <a:effectLst/>
                <a:latin typeface="Calibri" panose="020F0502020204030204" pitchFamily="34" charset="0"/>
                <a:ea typeface="Times New Roman" panose="02020603050405020304" pitchFamily="18" charset="0"/>
              </a:rPr>
              <a:t> significantly greater than 3 indicates the sampled population is </a:t>
            </a:r>
            <a:r>
              <a:rPr lang="en-US" sz="3400" b="1" dirty="0">
                <a:effectLst/>
                <a:latin typeface="Calibri" panose="020F0502020204030204" pitchFamily="34" charset="0"/>
                <a:ea typeface="Times New Roman" panose="02020603050405020304" pitchFamily="18" charset="0"/>
              </a:rPr>
              <a:t>Leptokurtic</a:t>
            </a:r>
            <a:r>
              <a:rPr lang="en-US" sz="3400" dirty="0">
                <a:effectLst/>
                <a:latin typeface="Calibri" panose="020F0502020204030204" pitchFamily="34" charset="0"/>
                <a:ea typeface="Times New Roman" panose="02020603050405020304" pitchFamily="18" charset="0"/>
              </a:rPr>
              <a:t>.</a:t>
            </a:r>
            <a:endParaRPr lang="en-US" sz="3400" dirty="0">
              <a:effectLst/>
              <a:latin typeface="Times New Roman" panose="02020603050405020304" pitchFamily="18" charset="0"/>
              <a:ea typeface="Times New Roman" panose="02020603050405020304" pitchFamily="18" charset="0"/>
            </a:endParaRPr>
          </a:p>
          <a:p>
            <a:r>
              <a:rPr lang="en-US" sz="3800" b="1" dirty="0">
                <a:solidFill>
                  <a:srgbClr val="00B0F0"/>
                </a:solidFill>
              </a:rPr>
              <a:t>Fisher coefficient of kurtosis</a:t>
            </a:r>
          </a:p>
          <a:p>
            <a:endParaRPr lang="en-US" sz="3800" dirty="0"/>
          </a:p>
          <a:p>
            <a:endParaRPr lang="en-US" sz="3800" dirty="0"/>
          </a:p>
          <a:p>
            <a:r>
              <a:rPr lang="en-US" sz="3800" dirty="0"/>
              <a:t>Interpretations:</a:t>
            </a:r>
          </a:p>
          <a:p>
            <a:pPr marL="457200" indent="-344488">
              <a:buFont typeface="+mj-lt"/>
              <a:buAutoNum type="arabicPeriod"/>
            </a:pPr>
            <a:r>
              <a:rPr lang="en-US" sz="3800" dirty="0"/>
              <a:t>If g</a:t>
            </a:r>
            <a:r>
              <a:rPr lang="en-US" sz="3800" baseline="-25000" dirty="0"/>
              <a:t>2</a:t>
            </a:r>
            <a:r>
              <a:rPr lang="en-US" sz="3800" dirty="0"/>
              <a:t> = 0, zero kurtosis or Normal dist.</a:t>
            </a:r>
          </a:p>
          <a:p>
            <a:pPr marL="457200" indent="-344488">
              <a:buFont typeface="+mj-lt"/>
              <a:buAutoNum type="arabicPeriod"/>
            </a:pPr>
            <a:r>
              <a:rPr lang="en-US" sz="3800" dirty="0"/>
              <a:t>If g</a:t>
            </a:r>
            <a:r>
              <a:rPr lang="en-US" sz="3800" baseline="-25000" dirty="0"/>
              <a:t>2</a:t>
            </a:r>
            <a:r>
              <a:rPr lang="en-US" sz="3800" dirty="0"/>
              <a:t> &gt; 0, Leptokurtic distribution</a:t>
            </a:r>
          </a:p>
          <a:p>
            <a:pPr marL="457200" indent="-344488">
              <a:buFont typeface="+mj-lt"/>
              <a:buAutoNum type="arabicPeriod"/>
            </a:pPr>
            <a:r>
              <a:rPr lang="en-US" sz="3800" dirty="0"/>
              <a:t>If g</a:t>
            </a:r>
            <a:r>
              <a:rPr lang="en-US" sz="3800" baseline="-25000" dirty="0"/>
              <a:t>2</a:t>
            </a:r>
            <a:r>
              <a:rPr lang="en-US" sz="3800" dirty="0"/>
              <a:t> &lt; 0, Platykurtic distribution</a:t>
            </a:r>
          </a:p>
          <a:p>
            <a:pPr marL="128016" lvl="1" indent="0">
              <a:buNone/>
            </a:pPr>
            <a:r>
              <a:rPr lang="en-US" sz="2200" dirty="0"/>
              <a:t>	</a:t>
            </a:r>
            <a:endParaRPr lang="en-US" dirty="0"/>
          </a:p>
          <a:p>
            <a:endParaRPr lang="en-US" dirty="0"/>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3D8EF9BB-3553-45C6-9631-7120B3BF0CAC}"/>
                  </a:ext>
                </a:extLst>
              </p:cNvPr>
              <p:cNvSpPr txBox="1"/>
              <p:nvPr/>
            </p:nvSpPr>
            <p:spPr>
              <a:xfrm>
                <a:off x="1578373" y="659601"/>
                <a:ext cx="1684867" cy="1076853"/>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3</m:t>
                              </m:r>
                            </m:sub>
                            <m:sup>
                              <m:r>
                                <a:rPr lang="en-US" i="1">
                                  <a:solidFill>
                                    <a:srgbClr val="000000"/>
                                  </a:solidFill>
                                  <a:latin typeface="Cambria Math" panose="02040503050406030204" pitchFamily="18" charset="0"/>
                                </a:rPr>
                                <m:t>2</m:t>
                              </m:r>
                            </m:sup>
                          </m:sSubSup>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3</m:t>
                              </m:r>
                            </m:sup>
                          </m:sSubSup>
                        </m:den>
                      </m:f>
                    </m:oMath>
                  </m:oMathPara>
                </a14:m>
                <a:endParaRPr lang="en-US" dirty="0"/>
              </a:p>
            </p:txBody>
          </p:sp>
        </mc:Choice>
        <mc:Fallback xmlns="">
          <p:sp>
            <p:nvSpPr>
              <p:cNvPr id="7" name="Object 6">
                <a:extLst>
                  <a:ext uri="{FF2B5EF4-FFF2-40B4-BE49-F238E27FC236}">
                    <a16:creationId xmlns:a16="http://schemas.microsoft.com/office/drawing/2014/main" id="{3D8EF9BB-3553-45C6-9631-7120B3BF0CAC}"/>
                  </a:ext>
                </a:extLst>
              </p:cNvPr>
              <p:cNvSpPr txBox="1">
                <a:spLocks noRot="1" noChangeAspect="1" noMove="1" noResize="1" noEditPoints="1" noAdjustHandles="1" noChangeArrowheads="1" noChangeShapeType="1" noTextEdit="1"/>
              </p:cNvSpPr>
              <p:nvPr/>
            </p:nvSpPr>
            <p:spPr>
              <a:xfrm>
                <a:off x="1578373" y="659601"/>
                <a:ext cx="1684867" cy="107685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C6364FDE-FFF7-4092-A7D6-CAE7FA968AE5}"/>
                  </a:ext>
                </a:extLst>
              </p:cNvPr>
              <p:cNvSpPr txBox="1"/>
              <p:nvPr/>
            </p:nvSpPr>
            <p:spPr>
              <a:xfrm>
                <a:off x="1414471" y="2717144"/>
                <a:ext cx="2471717" cy="939799"/>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𝑔</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1</m:t>
                              </m:r>
                            </m:sub>
                          </m:sSub>
                        </m:e>
                      </m:rad>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3</m:t>
                              </m:r>
                            </m:sub>
                          </m:sSub>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2</m:t>
                              </m:r>
                            </m:sub>
                            <m:sup>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3</m:t>
                                  </m:r>
                                </m:num>
                                <m:den>
                                  <m:r>
                                    <a:rPr lang="en-US" i="1">
                                      <a:solidFill>
                                        <a:srgbClr val="000000"/>
                                      </a:solidFill>
                                      <a:latin typeface="Cambria Math" panose="02040503050406030204" pitchFamily="18" charset="0"/>
                                    </a:rPr>
                                    <m:t>2</m:t>
                                  </m:r>
                                </m:den>
                              </m:f>
                            </m:sup>
                          </m:sSubSup>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3</m:t>
                              </m:r>
                            </m:sub>
                          </m:sSub>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1.5</m:t>
                              </m:r>
                            </m:sup>
                          </m:sSubSup>
                        </m:den>
                      </m:f>
                    </m:oMath>
                  </m:oMathPara>
                </a14:m>
                <a:endParaRPr lang="en-US"/>
              </a:p>
            </p:txBody>
          </p:sp>
        </mc:Choice>
        <mc:Fallback xmlns="">
          <p:sp>
            <p:nvSpPr>
              <p:cNvPr id="8" name="Object 7">
                <a:extLst>
                  <a:ext uri="{FF2B5EF4-FFF2-40B4-BE49-F238E27FC236}">
                    <a16:creationId xmlns:a16="http://schemas.microsoft.com/office/drawing/2014/main" id="{C6364FDE-FFF7-4092-A7D6-CAE7FA968AE5}"/>
                  </a:ext>
                </a:extLst>
              </p:cNvPr>
              <p:cNvSpPr txBox="1">
                <a:spLocks noRot="1" noChangeAspect="1" noMove="1" noResize="1" noEditPoints="1" noAdjustHandles="1" noChangeArrowheads="1" noChangeShapeType="1" noTextEdit="1"/>
              </p:cNvSpPr>
              <p:nvPr/>
            </p:nvSpPr>
            <p:spPr>
              <a:xfrm>
                <a:off x="1414471" y="2717144"/>
                <a:ext cx="2471717" cy="9397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615D8719-C0EC-469E-A055-8C5B52CEB8BE}"/>
                  </a:ext>
                </a:extLst>
              </p:cNvPr>
              <p:cNvSpPr txBox="1"/>
              <p:nvPr/>
            </p:nvSpPr>
            <p:spPr>
              <a:xfrm>
                <a:off x="7480578" y="736716"/>
                <a:ext cx="1445684" cy="922621"/>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4</m:t>
                              </m:r>
                            </m:sub>
                          </m:sSub>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2</m:t>
                              </m:r>
                            </m:sup>
                          </m:sSubSup>
                        </m:den>
                      </m:f>
                    </m:oMath>
                  </m:oMathPara>
                </a14:m>
                <a:endParaRPr lang="en-US"/>
              </a:p>
            </p:txBody>
          </p:sp>
        </mc:Choice>
        <mc:Fallback xmlns="">
          <p:sp>
            <p:nvSpPr>
              <p:cNvPr id="9" name="Object 8">
                <a:extLst>
                  <a:ext uri="{FF2B5EF4-FFF2-40B4-BE49-F238E27FC236}">
                    <a16:creationId xmlns:a16="http://schemas.microsoft.com/office/drawing/2014/main" id="{615D8719-C0EC-469E-A055-8C5B52CEB8BE}"/>
                  </a:ext>
                </a:extLst>
              </p:cNvPr>
              <p:cNvSpPr txBox="1">
                <a:spLocks noRot="1" noChangeAspect="1" noMove="1" noResize="1" noEditPoints="1" noAdjustHandles="1" noChangeArrowheads="1" noChangeShapeType="1" noTextEdit="1"/>
              </p:cNvSpPr>
              <p:nvPr/>
            </p:nvSpPr>
            <p:spPr>
              <a:xfrm>
                <a:off x="7480578" y="736716"/>
                <a:ext cx="1445684" cy="92262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A71E2E8D-4935-452A-ABFC-19BC522270EF}"/>
                  </a:ext>
                </a:extLst>
              </p:cNvPr>
              <p:cNvSpPr txBox="1"/>
              <p:nvPr/>
            </p:nvSpPr>
            <p:spPr>
              <a:xfrm>
                <a:off x="7362045" y="3549605"/>
                <a:ext cx="1682751" cy="52363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𝑔</m:t>
                          </m:r>
                        </m:e>
                        <m:sub>
                          <m:r>
                            <a:rPr lang="en-US" i="1">
                              <a:solidFill>
                                <a:srgbClr val="000000"/>
                              </a:solidFill>
                              <a:latin typeface="Cambria Math" panose="02040503050406030204" pitchFamily="18" charset="0"/>
                            </a:rPr>
                            <m:t>2</m:t>
                          </m:r>
                        </m:sub>
                      </m:sSub>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2</m:t>
                          </m:r>
                        </m:sub>
                      </m:sSub>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3</m:t>
                      </m:r>
                    </m:oMath>
                  </m:oMathPara>
                </a14:m>
                <a:endParaRPr lang="en-US"/>
              </a:p>
            </p:txBody>
          </p:sp>
        </mc:Choice>
        <mc:Fallback xmlns="">
          <p:sp>
            <p:nvSpPr>
              <p:cNvPr id="10" name="Object 9">
                <a:extLst>
                  <a:ext uri="{FF2B5EF4-FFF2-40B4-BE49-F238E27FC236}">
                    <a16:creationId xmlns:a16="http://schemas.microsoft.com/office/drawing/2014/main" id="{A71E2E8D-4935-452A-ABFC-19BC522270EF}"/>
                  </a:ext>
                </a:extLst>
              </p:cNvPr>
              <p:cNvSpPr txBox="1">
                <a:spLocks noRot="1" noChangeAspect="1" noMove="1" noResize="1" noEditPoints="1" noAdjustHandles="1" noChangeArrowheads="1" noChangeShapeType="1" noTextEdit="1"/>
              </p:cNvSpPr>
              <p:nvPr/>
            </p:nvSpPr>
            <p:spPr>
              <a:xfrm>
                <a:off x="7362045" y="3549605"/>
                <a:ext cx="1682751" cy="5236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58756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80B329-E87D-5E5C-395C-414B30ADF5E4}"/>
              </a:ext>
            </a:extLst>
          </p:cNvPr>
          <p:cNvSpPr>
            <a:spLocks noGrp="1"/>
          </p:cNvSpPr>
          <p:nvPr>
            <p:ph idx="1"/>
          </p:nvPr>
        </p:nvSpPr>
        <p:spPr>
          <a:xfrm>
            <a:off x="1024128" y="157317"/>
            <a:ext cx="10804078" cy="6381136"/>
          </a:xfrm>
        </p:spPr>
        <p:txBody>
          <a:bodyPr>
            <a:normAutofit fontScale="92500" lnSpcReduction="10000"/>
          </a:bodyPr>
          <a:lstStyle/>
          <a:p>
            <a:r>
              <a:rPr lang="en-US" dirty="0"/>
              <a:t>Problems:</a:t>
            </a:r>
          </a:p>
          <a:p>
            <a:r>
              <a:rPr lang="en-US" dirty="0"/>
              <a:t>1. </a:t>
            </a:r>
            <a:r>
              <a:rPr lang="en-US" sz="1700" dirty="0"/>
              <a:t>The grades of student in STATISTICS in final examination is summarized in the following table.</a:t>
            </a:r>
          </a:p>
          <a:p>
            <a:endParaRPr lang="en-US" sz="1700" dirty="0"/>
          </a:p>
          <a:p>
            <a:pPr marL="0" indent="0">
              <a:buNone/>
            </a:pPr>
            <a:r>
              <a:rPr lang="en-US" sz="1700" dirty="0"/>
              <a:t> </a:t>
            </a:r>
          </a:p>
          <a:p>
            <a:pPr marL="796925" indent="-334963">
              <a:buFont typeface="+mj-lt"/>
              <a:buAutoNum type="alphaLcParenR"/>
            </a:pPr>
            <a:r>
              <a:rPr lang="en-US" sz="1700" dirty="0"/>
              <a:t>Compute coefficient of skewness and coefficient of kurtosis using central moment</a:t>
            </a:r>
          </a:p>
          <a:p>
            <a:pPr marL="796925" indent="-334963">
              <a:buFont typeface="+mj-lt"/>
              <a:buAutoNum type="alphaLcParenR"/>
            </a:pPr>
            <a:r>
              <a:rPr lang="en-US" sz="1700" dirty="0"/>
              <a:t>Comment on the shape and size of the distribution</a:t>
            </a:r>
          </a:p>
          <a:p>
            <a:pPr marL="0" indent="0">
              <a:buNone/>
            </a:pPr>
            <a:r>
              <a:rPr lang="en-US" sz="1700" dirty="0"/>
              <a:t>2. A factory produces two types of LED bulbs, A and B. In an experiment relating to their life, the following results were obtained.</a:t>
            </a:r>
          </a:p>
          <a:p>
            <a:pPr marL="0" indent="0">
              <a:buNone/>
            </a:pPr>
            <a:endParaRPr lang="en-US" sz="1700" dirty="0"/>
          </a:p>
          <a:p>
            <a:pPr marL="0" indent="0">
              <a:buNone/>
            </a:pP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700" dirty="0"/>
          </a:p>
          <a:p>
            <a:endParaRPr lang="en-US" sz="1700" dirty="0"/>
          </a:p>
          <a:p>
            <a:endParaRPr lang="en-US" sz="1700" dirty="0"/>
          </a:p>
          <a:p>
            <a:endParaRPr lang="en-US" sz="1700" dirty="0"/>
          </a:p>
          <a:p>
            <a:endParaRPr lang="en-US" sz="1700" dirty="0"/>
          </a:p>
          <a:p>
            <a:r>
              <a:rPr lang="en-US" sz="1700" dirty="0"/>
              <a:t>(a) Compute first four raw moments taking arbitrary point A = 0</a:t>
            </a:r>
          </a:p>
          <a:p>
            <a:r>
              <a:rPr lang="en-US" sz="1700" dirty="0"/>
              <a:t>(b) Convert first four raw moments into central moments</a:t>
            </a:r>
          </a:p>
          <a:p>
            <a:r>
              <a:rPr lang="en-US" sz="1700" dirty="0"/>
              <a:t>(c)  Compute coefficient of skewness and kurtosis based on central moment and comment on the shape and size of the distribution</a:t>
            </a:r>
          </a:p>
          <a:p>
            <a:endParaRPr lang="en-US" dirty="0"/>
          </a:p>
        </p:txBody>
      </p:sp>
      <p:graphicFrame>
        <p:nvGraphicFramePr>
          <p:cNvPr id="10" name="Table 9">
            <a:extLst>
              <a:ext uri="{FF2B5EF4-FFF2-40B4-BE49-F238E27FC236}">
                <a16:creationId xmlns:a16="http://schemas.microsoft.com/office/drawing/2014/main" id="{C723F715-29D3-25B1-D064-5A594736F651}"/>
              </a:ext>
            </a:extLst>
          </p:cNvPr>
          <p:cNvGraphicFramePr>
            <a:graphicFrameLocks noGrp="1"/>
          </p:cNvGraphicFramePr>
          <p:nvPr>
            <p:extLst>
              <p:ext uri="{D42A27DB-BD31-4B8C-83A1-F6EECF244321}">
                <p14:modId xmlns:p14="http://schemas.microsoft.com/office/powerpoint/2010/main" val="260181687"/>
              </p:ext>
            </p:extLst>
          </p:nvPr>
        </p:nvGraphicFramePr>
        <p:xfrm>
          <a:off x="1499483" y="840466"/>
          <a:ext cx="9668393" cy="741680"/>
        </p:xfrm>
        <a:graphic>
          <a:graphicData uri="http://schemas.openxmlformats.org/drawingml/2006/table">
            <a:tbl>
              <a:tblPr firstRow="1" bandRow="1">
                <a:tableStyleId>{5C22544A-7EE6-4342-B048-85BDC9FD1C3A}</a:tableStyleId>
              </a:tblPr>
              <a:tblGrid>
                <a:gridCol w="1391201">
                  <a:extLst>
                    <a:ext uri="{9D8B030D-6E8A-4147-A177-3AD203B41FA5}">
                      <a16:colId xmlns:a16="http://schemas.microsoft.com/office/drawing/2014/main" val="1887635398"/>
                    </a:ext>
                  </a:extLst>
                </a:gridCol>
                <a:gridCol w="919688">
                  <a:extLst>
                    <a:ext uri="{9D8B030D-6E8A-4147-A177-3AD203B41FA5}">
                      <a16:colId xmlns:a16="http://schemas.microsoft.com/office/drawing/2014/main" val="2968449937"/>
                    </a:ext>
                  </a:extLst>
                </a:gridCol>
                <a:gridCol w="919688">
                  <a:extLst>
                    <a:ext uri="{9D8B030D-6E8A-4147-A177-3AD203B41FA5}">
                      <a16:colId xmlns:a16="http://schemas.microsoft.com/office/drawing/2014/main" val="2083884957"/>
                    </a:ext>
                  </a:extLst>
                </a:gridCol>
                <a:gridCol w="919688">
                  <a:extLst>
                    <a:ext uri="{9D8B030D-6E8A-4147-A177-3AD203B41FA5}">
                      <a16:colId xmlns:a16="http://schemas.microsoft.com/office/drawing/2014/main" val="3012560709"/>
                    </a:ext>
                  </a:extLst>
                </a:gridCol>
                <a:gridCol w="919688">
                  <a:extLst>
                    <a:ext uri="{9D8B030D-6E8A-4147-A177-3AD203B41FA5}">
                      <a16:colId xmlns:a16="http://schemas.microsoft.com/office/drawing/2014/main" val="3623021967"/>
                    </a:ext>
                  </a:extLst>
                </a:gridCol>
                <a:gridCol w="919688">
                  <a:extLst>
                    <a:ext uri="{9D8B030D-6E8A-4147-A177-3AD203B41FA5}">
                      <a16:colId xmlns:a16="http://schemas.microsoft.com/office/drawing/2014/main" val="130503003"/>
                    </a:ext>
                  </a:extLst>
                </a:gridCol>
                <a:gridCol w="919688">
                  <a:extLst>
                    <a:ext uri="{9D8B030D-6E8A-4147-A177-3AD203B41FA5}">
                      <a16:colId xmlns:a16="http://schemas.microsoft.com/office/drawing/2014/main" val="3947481875"/>
                    </a:ext>
                  </a:extLst>
                </a:gridCol>
                <a:gridCol w="919688">
                  <a:extLst>
                    <a:ext uri="{9D8B030D-6E8A-4147-A177-3AD203B41FA5}">
                      <a16:colId xmlns:a16="http://schemas.microsoft.com/office/drawing/2014/main" val="3626126297"/>
                    </a:ext>
                  </a:extLst>
                </a:gridCol>
                <a:gridCol w="919688">
                  <a:extLst>
                    <a:ext uri="{9D8B030D-6E8A-4147-A177-3AD203B41FA5}">
                      <a16:colId xmlns:a16="http://schemas.microsoft.com/office/drawing/2014/main" val="2025516691"/>
                    </a:ext>
                  </a:extLst>
                </a:gridCol>
                <a:gridCol w="919688">
                  <a:extLst>
                    <a:ext uri="{9D8B030D-6E8A-4147-A177-3AD203B41FA5}">
                      <a16:colId xmlns:a16="http://schemas.microsoft.com/office/drawing/2014/main" val="1231988295"/>
                    </a:ext>
                  </a:extLst>
                </a:gridCol>
              </a:tblGrid>
              <a:tr h="370840">
                <a:tc>
                  <a:txBody>
                    <a:bodyPr/>
                    <a:lstStyle/>
                    <a:p>
                      <a:r>
                        <a:rPr lang="en-US" sz="1600" dirty="0"/>
                        <a:t>Grades</a:t>
                      </a:r>
                    </a:p>
                  </a:txBody>
                  <a:tcPr/>
                </a:tc>
                <a:tc>
                  <a:txBody>
                    <a:bodyPr/>
                    <a:lstStyle/>
                    <a:p>
                      <a:r>
                        <a:rPr lang="en-US" sz="1600" dirty="0"/>
                        <a:t>52-58</a:t>
                      </a:r>
                    </a:p>
                  </a:txBody>
                  <a:tcPr/>
                </a:tc>
                <a:tc>
                  <a:txBody>
                    <a:bodyPr/>
                    <a:lstStyle/>
                    <a:p>
                      <a:r>
                        <a:rPr lang="en-US" sz="1600" dirty="0"/>
                        <a:t>58-64</a:t>
                      </a:r>
                    </a:p>
                  </a:txBody>
                  <a:tcPr/>
                </a:tc>
                <a:tc>
                  <a:txBody>
                    <a:bodyPr/>
                    <a:lstStyle/>
                    <a:p>
                      <a:r>
                        <a:rPr lang="en-US" sz="1600" dirty="0"/>
                        <a:t>64-70</a:t>
                      </a:r>
                    </a:p>
                  </a:txBody>
                  <a:tcPr/>
                </a:tc>
                <a:tc>
                  <a:txBody>
                    <a:bodyPr/>
                    <a:lstStyle/>
                    <a:p>
                      <a:r>
                        <a:rPr lang="en-US" sz="1600" dirty="0"/>
                        <a:t>70-76</a:t>
                      </a:r>
                    </a:p>
                  </a:txBody>
                  <a:tcPr/>
                </a:tc>
                <a:tc>
                  <a:txBody>
                    <a:bodyPr/>
                    <a:lstStyle/>
                    <a:p>
                      <a:r>
                        <a:rPr lang="en-US" sz="1600" dirty="0"/>
                        <a:t>76-82</a:t>
                      </a:r>
                    </a:p>
                  </a:txBody>
                  <a:tcPr/>
                </a:tc>
                <a:tc>
                  <a:txBody>
                    <a:bodyPr/>
                    <a:lstStyle/>
                    <a:p>
                      <a:r>
                        <a:rPr lang="en-US" sz="1600" dirty="0"/>
                        <a:t>82-88</a:t>
                      </a:r>
                    </a:p>
                  </a:txBody>
                  <a:tcPr/>
                </a:tc>
                <a:tc>
                  <a:txBody>
                    <a:bodyPr/>
                    <a:lstStyle/>
                    <a:p>
                      <a:r>
                        <a:rPr lang="en-US" sz="1600" dirty="0"/>
                        <a:t>88-94</a:t>
                      </a:r>
                    </a:p>
                  </a:txBody>
                  <a:tcPr/>
                </a:tc>
                <a:tc>
                  <a:txBody>
                    <a:bodyPr/>
                    <a:lstStyle/>
                    <a:p>
                      <a:r>
                        <a:rPr lang="en-US" sz="1600" dirty="0"/>
                        <a:t>94-100</a:t>
                      </a:r>
                    </a:p>
                  </a:txBody>
                  <a:tcPr/>
                </a:tc>
                <a:tc>
                  <a:txBody>
                    <a:bodyPr/>
                    <a:lstStyle/>
                    <a:p>
                      <a:r>
                        <a:rPr lang="en-US" sz="1600" dirty="0"/>
                        <a:t>Total</a:t>
                      </a:r>
                    </a:p>
                  </a:txBody>
                  <a:tcPr/>
                </a:tc>
                <a:extLst>
                  <a:ext uri="{0D108BD9-81ED-4DB2-BD59-A6C34878D82A}">
                    <a16:rowId xmlns:a16="http://schemas.microsoft.com/office/drawing/2014/main" val="1771256235"/>
                  </a:ext>
                </a:extLst>
              </a:tr>
              <a:tr h="370840">
                <a:tc>
                  <a:txBody>
                    <a:bodyPr/>
                    <a:lstStyle/>
                    <a:p>
                      <a:r>
                        <a:rPr lang="en-US" sz="1600" dirty="0"/>
                        <a:t>No. of students</a:t>
                      </a:r>
                    </a:p>
                  </a:txBody>
                  <a:tcPr/>
                </a:tc>
                <a:tc>
                  <a:txBody>
                    <a:bodyPr/>
                    <a:lstStyle/>
                    <a:p>
                      <a:r>
                        <a:rPr lang="en-US" sz="1600" dirty="0"/>
                        <a:t>2</a:t>
                      </a:r>
                    </a:p>
                  </a:txBody>
                  <a:tcPr/>
                </a:tc>
                <a:tc>
                  <a:txBody>
                    <a:bodyPr/>
                    <a:lstStyle/>
                    <a:p>
                      <a:r>
                        <a:rPr lang="en-US" sz="1600" dirty="0"/>
                        <a:t>12</a:t>
                      </a:r>
                    </a:p>
                  </a:txBody>
                  <a:tcPr/>
                </a:tc>
                <a:tc>
                  <a:txBody>
                    <a:bodyPr/>
                    <a:lstStyle/>
                    <a:p>
                      <a:r>
                        <a:rPr lang="en-US" sz="1600" dirty="0"/>
                        <a:t>13</a:t>
                      </a:r>
                    </a:p>
                  </a:txBody>
                  <a:tcPr/>
                </a:tc>
                <a:tc>
                  <a:txBody>
                    <a:bodyPr/>
                    <a:lstStyle/>
                    <a:p>
                      <a:r>
                        <a:rPr lang="en-US" sz="1600" dirty="0"/>
                        <a:t>18</a:t>
                      </a:r>
                    </a:p>
                  </a:txBody>
                  <a:tcPr/>
                </a:tc>
                <a:tc>
                  <a:txBody>
                    <a:bodyPr/>
                    <a:lstStyle/>
                    <a:p>
                      <a:r>
                        <a:rPr lang="en-US" sz="1600" dirty="0"/>
                        <a:t>14</a:t>
                      </a:r>
                    </a:p>
                  </a:txBody>
                  <a:tcPr/>
                </a:tc>
                <a:tc>
                  <a:txBody>
                    <a:bodyPr/>
                    <a:lstStyle/>
                    <a:p>
                      <a:r>
                        <a:rPr lang="en-US" sz="1600" dirty="0"/>
                        <a:t>9</a:t>
                      </a:r>
                    </a:p>
                  </a:txBody>
                  <a:tcPr/>
                </a:tc>
                <a:tc>
                  <a:txBody>
                    <a:bodyPr/>
                    <a:lstStyle/>
                    <a:p>
                      <a:r>
                        <a:rPr lang="en-US" sz="1600" dirty="0"/>
                        <a:t>7</a:t>
                      </a:r>
                    </a:p>
                  </a:txBody>
                  <a:tcPr/>
                </a:tc>
                <a:tc>
                  <a:txBody>
                    <a:bodyPr/>
                    <a:lstStyle/>
                    <a:p>
                      <a:r>
                        <a:rPr lang="en-US" sz="1600" dirty="0"/>
                        <a:t>5</a:t>
                      </a:r>
                    </a:p>
                  </a:txBody>
                  <a:tcPr/>
                </a:tc>
                <a:tc>
                  <a:txBody>
                    <a:bodyPr/>
                    <a:lstStyle/>
                    <a:p>
                      <a:r>
                        <a:rPr lang="en-US" sz="1600" dirty="0"/>
                        <a:t>80</a:t>
                      </a:r>
                    </a:p>
                  </a:txBody>
                  <a:tcPr/>
                </a:tc>
                <a:extLst>
                  <a:ext uri="{0D108BD9-81ED-4DB2-BD59-A6C34878D82A}">
                    <a16:rowId xmlns:a16="http://schemas.microsoft.com/office/drawing/2014/main" val="2715529714"/>
                  </a:ext>
                </a:extLst>
              </a:tr>
            </a:tbl>
          </a:graphicData>
        </a:graphic>
      </p:graphicFrame>
      <p:graphicFrame>
        <p:nvGraphicFramePr>
          <p:cNvPr id="16" name="Table 15">
            <a:extLst>
              <a:ext uri="{FF2B5EF4-FFF2-40B4-BE49-F238E27FC236}">
                <a16:creationId xmlns:a16="http://schemas.microsoft.com/office/drawing/2014/main" id="{18C131CA-D8FA-596B-ABCD-DA0AF520AEC9}"/>
              </a:ext>
            </a:extLst>
          </p:cNvPr>
          <p:cNvGraphicFramePr>
            <a:graphicFrameLocks noGrp="1"/>
          </p:cNvGraphicFramePr>
          <p:nvPr>
            <p:extLst>
              <p:ext uri="{D42A27DB-BD31-4B8C-83A1-F6EECF244321}">
                <p14:modId xmlns:p14="http://schemas.microsoft.com/office/powerpoint/2010/main" val="3449164933"/>
              </p:ext>
            </p:extLst>
          </p:nvPr>
        </p:nvGraphicFramePr>
        <p:xfrm>
          <a:off x="1499483" y="2762892"/>
          <a:ext cx="4596516" cy="2595880"/>
        </p:xfrm>
        <a:graphic>
          <a:graphicData uri="http://schemas.openxmlformats.org/drawingml/2006/table">
            <a:tbl>
              <a:tblPr firstRow="1" bandRow="1">
                <a:tableStyleId>{5C22544A-7EE6-4342-B048-85BDC9FD1C3A}</a:tableStyleId>
              </a:tblPr>
              <a:tblGrid>
                <a:gridCol w="1657096">
                  <a:extLst>
                    <a:ext uri="{9D8B030D-6E8A-4147-A177-3AD203B41FA5}">
                      <a16:colId xmlns:a16="http://schemas.microsoft.com/office/drawing/2014/main" val="2620579810"/>
                    </a:ext>
                  </a:extLst>
                </a:gridCol>
                <a:gridCol w="1407248">
                  <a:extLst>
                    <a:ext uri="{9D8B030D-6E8A-4147-A177-3AD203B41FA5}">
                      <a16:colId xmlns:a16="http://schemas.microsoft.com/office/drawing/2014/main" val="211221396"/>
                    </a:ext>
                  </a:extLst>
                </a:gridCol>
                <a:gridCol w="1532172">
                  <a:extLst>
                    <a:ext uri="{9D8B030D-6E8A-4147-A177-3AD203B41FA5}">
                      <a16:colId xmlns:a16="http://schemas.microsoft.com/office/drawing/2014/main" val="3247130694"/>
                    </a:ext>
                  </a:extLst>
                </a:gridCol>
              </a:tblGrid>
              <a:tr h="370840">
                <a:tc rowSpan="2">
                  <a:txBody>
                    <a:bodyPr/>
                    <a:lstStyle/>
                    <a:p>
                      <a:r>
                        <a:rPr lang="en-US" sz="1600" dirty="0"/>
                        <a:t>Length of life </a:t>
                      </a:r>
                    </a:p>
                    <a:p>
                      <a:r>
                        <a:rPr lang="en-US" sz="1600" dirty="0"/>
                        <a:t>(x 1000hours)</a:t>
                      </a:r>
                    </a:p>
                  </a:txBody>
                  <a:tcPr/>
                </a:tc>
                <a:tc gridSpan="2">
                  <a:txBody>
                    <a:bodyPr/>
                    <a:lstStyle/>
                    <a:p>
                      <a:r>
                        <a:rPr lang="en-US" sz="1600" dirty="0"/>
                        <a:t>No. of bulbs</a:t>
                      </a:r>
                    </a:p>
                  </a:txBody>
                  <a:tcPr/>
                </a:tc>
                <a:tc hMerge="1">
                  <a:txBody>
                    <a:bodyPr/>
                    <a:lstStyle/>
                    <a:p>
                      <a:endParaRPr lang="en-US" dirty="0"/>
                    </a:p>
                  </a:txBody>
                  <a:tcPr/>
                </a:tc>
                <a:extLst>
                  <a:ext uri="{0D108BD9-81ED-4DB2-BD59-A6C34878D82A}">
                    <a16:rowId xmlns:a16="http://schemas.microsoft.com/office/drawing/2014/main" val="1365780282"/>
                  </a:ext>
                </a:extLst>
              </a:tr>
              <a:tr h="370840">
                <a:tc vMerge="1">
                  <a:txBody>
                    <a:bodyPr/>
                    <a:lstStyle/>
                    <a:p>
                      <a:endParaRPr lang="en-US" dirty="0"/>
                    </a:p>
                  </a:txBody>
                  <a:tcPr/>
                </a:tc>
                <a:tc>
                  <a:txBody>
                    <a:bodyPr/>
                    <a:lstStyle/>
                    <a:p>
                      <a:r>
                        <a:rPr lang="en-US" sz="1600" dirty="0"/>
                        <a:t>A</a:t>
                      </a:r>
                    </a:p>
                  </a:txBody>
                  <a:tcPr/>
                </a:tc>
                <a:tc>
                  <a:txBody>
                    <a:bodyPr/>
                    <a:lstStyle/>
                    <a:p>
                      <a:r>
                        <a:rPr lang="en-US" sz="1600" dirty="0"/>
                        <a:t>B</a:t>
                      </a:r>
                    </a:p>
                  </a:txBody>
                  <a:tcPr/>
                </a:tc>
                <a:extLst>
                  <a:ext uri="{0D108BD9-81ED-4DB2-BD59-A6C34878D82A}">
                    <a16:rowId xmlns:a16="http://schemas.microsoft.com/office/drawing/2014/main" val="1505981797"/>
                  </a:ext>
                </a:extLst>
              </a:tr>
              <a:tr h="370840">
                <a:tc>
                  <a:txBody>
                    <a:bodyPr/>
                    <a:lstStyle/>
                    <a:p>
                      <a:r>
                        <a:rPr lang="en-US" sz="1600" dirty="0"/>
                        <a:t>0-1</a:t>
                      </a:r>
                    </a:p>
                  </a:txBody>
                  <a:tcPr/>
                </a:tc>
                <a:tc>
                  <a:txBody>
                    <a:bodyPr/>
                    <a:lstStyle/>
                    <a:p>
                      <a:r>
                        <a:rPr lang="en-US" sz="1600" dirty="0"/>
                        <a:t>4</a:t>
                      </a:r>
                    </a:p>
                  </a:txBody>
                  <a:tcPr/>
                </a:tc>
                <a:tc>
                  <a:txBody>
                    <a:bodyPr/>
                    <a:lstStyle/>
                    <a:p>
                      <a:r>
                        <a:rPr lang="en-US" sz="1600" dirty="0"/>
                        <a:t>5</a:t>
                      </a:r>
                    </a:p>
                  </a:txBody>
                  <a:tcPr/>
                </a:tc>
                <a:extLst>
                  <a:ext uri="{0D108BD9-81ED-4DB2-BD59-A6C34878D82A}">
                    <a16:rowId xmlns:a16="http://schemas.microsoft.com/office/drawing/2014/main" val="1184965537"/>
                  </a:ext>
                </a:extLst>
              </a:tr>
              <a:tr h="370840">
                <a:tc>
                  <a:txBody>
                    <a:bodyPr/>
                    <a:lstStyle/>
                    <a:p>
                      <a:r>
                        <a:rPr lang="en-US" sz="1600" dirty="0"/>
                        <a:t>1-2</a:t>
                      </a:r>
                    </a:p>
                  </a:txBody>
                  <a:tcPr/>
                </a:tc>
                <a:tc>
                  <a:txBody>
                    <a:bodyPr/>
                    <a:lstStyle/>
                    <a:p>
                      <a:r>
                        <a:rPr lang="en-US" sz="1600" dirty="0"/>
                        <a:t>11</a:t>
                      </a:r>
                    </a:p>
                  </a:txBody>
                  <a:tcPr/>
                </a:tc>
                <a:tc>
                  <a:txBody>
                    <a:bodyPr/>
                    <a:lstStyle/>
                    <a:p>
                      <a:r>
                        <a:rPr lang="en-US" sz="1600" dirty="0"/>
                        <a:t>9</a:t>
                      </a:r>
                    </a:p>
                  </a:txBody>
                  <a:tcPr/>
                </a:tc>
                <a:extLst>
                  <a:ext uri="{0D108BD9-81ED-4DB2-BD59-A6C34878D82A}">
                    <a16:rowId xmlns:a16="http://schemas.microsoft.com/office/drawing/2014/main" val="3577516679"/>
                  </a:ext>
                </a:extLst>
              </a:tr>
              <a:tr h="370840">
                <a:tc>
                  <a:txBody>
                    <a:bodyPr/>
                    <a:lstStyle/>
                    <a:p>
                      <a:r>
                        <a:rPr lang="en-US" sz="1600" dirty="0"/>
                        <a:t>2-3</a:t>
                      </a:r>
                    </a:p>
                  </a:txBody>
                  <a:tcPr/>
                </a:tc>
                <a:tc>
                  <a:txBody>
                    <a:bodyPr/>
                    <a:lstStyle/>
                    <a:p>
                      <a:r>
                        <a:rPr lang="en-US" sz="1600" dirty="0"/>
                        <a:t>25</a:t>
                      </a:r>
                    </a:p>
                  </a:txBody>
                  <a:tcPr/>
                </a:tc>
                <a:tc>
                  <a:txBody>
                    <a:bodyPr/>
                    <a:lstStyle/>
                    <a:p>
                      <a:r>
                        <a:rPr lang="en-US" sz="1600" dirty="0"/>
                        <a:t>30</a:t>
                      </a:r>
                    </a:p>
                  </a:txBody>
                  <a:tcPr/>
                </a:tc>
                <a:extLst>
                  <a:ext uri="{0D108BD9-81ED-4DB2-BD59-A6C34878D82A}">
                    <a16:rowId xmlns:a16="http://schemas.microsoft.com/office/drawing/2014/main" val="1021652808"/>
                  </a:ext>
                </a:extLst>
              </a:tr>
              <a:tr h="370840">
                <a:tc>
                  <a:txBody>
                    <a:bodyPr/>
                    <a:lstStyle/>
                    <a:p>
                      <a:r>
                        <a:rPr lang="en-US" sz="1600" dirty="0"/>
                        <a:t>3-4</a:t>
                      </a:r>
                    </a:p>
                  </a:txBody>
                  <a:tcPr/>
                </a:tc>
                <a:tc>
                  <a:txBody>
                    <a:bodyPr/>
                    <a:lstStyle/>
                    <a:p>
                      <a:r>
                        <a:rPr lang="en-US" sz="1600" dirty="0"/>
                        <a:t>12</a:t>
                      </a:r>
                    </a:p>
                  </a:txBody>
                  <a:tcPr/>
                </a:tc>
                <a:tc>
                  <a:txBody>
                    <a:bodyPr/>
                    <a:lstStyle/>
                    <a:p>
                      <a:r>
                        <a:rPr lang="en-US" sz="1600" dirty="0"/>
                        <a:t>12</a:t>
                      </a:r>
                    </a:p>
                  </a:txBody>
                  <a:tcPr/>
                </a:tc>
                <a:extLst>
                  <a:ext uri="{0D108BD9-81ED-4DB2-BD59-A6C34878D82A}">
                    <a16:rowId xmlns:a16="http://schemas.microsoft.com/office/drawing/2014/main" val="445007561"/>
                  </a:ext>
                </a:extLst>
              </a:tr>
              <a:tr h="370840">
                <a:tc>
                  <a:txBody>
                    <a:bodyPr/>
                    <a:lstStyle/>
                    <a:p>
                      <a:r>
                        <a:rPr lang="en-US" sz="1600" dirty="0"/>
                        <a:t>4-5</a:t>
                      </a:r>
                    </a:p>
                  </a:txBody>
                  <a:tcPr/>
                </a:tc>
                <a:tc>
                  <a:txBody>
                    <a:bodyPr/>
                    <a:lstStyle/>
                    <a:p>
                      <a:r>
                        <a:rPr lang="en-US" sz="1600" dirty="0"/>
                        <a:t>8</a:t>
                      </a:r>
                    </a:p>
                  </a:txBody>
                  <a:tcPr/>
                </a:tc>
                <a:tc>
                  <a:txBody>
                    <a:bodyPr/>
                    <a:lstStyle/>
                    <a:p>
                      <a:r>
                        <a:rPr lang="en-US" sz="1600" dirty="0"/>
                        <a:t>4</a:t>
                      </a:r>
                    </a:p>
                  </a:txBody>
                  <a:tcPr/>
                </a:tc>
                <a:extLst>
                  <a:ext uri="{0D108BD9-81ED-4DB2-BD59-A6C34878D82A}">
                    <a16:rowId xmlns:a16="http://schemas.microsoft.com/office/drawing/2014/main" val="917848796"/>
                  </a:ext>
                </a:extLst>
              </a:tr>
            </a:tbl>
          </a:graphicData>
        </a:graphic>
      </p:graphicFrame>
    </p:spTree>
    <p:extLst>
      <p:ext uri="{BB962C8B-B14F-4D97-AF65-F5344CB8AC3E}">
        <p14:creationId xmlns:p14="http://schemas.microsoft.com/office/powerpoint/2010/main" val="3980124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73EC-2FEA-4F2C-B48B-D87ADAEAF7CF}"/>
              </a:ext>
            </a:extLst>
          </p:cNvPr>
          <p:cNvSpPr>
            <a:spLocks noGrp="1"/>
          </p:cNvSpPr>
          <p:nvPr>
            <p:ph type="title"/>
          </p:nvPr>
        </p:nvSpPr>
        <p:spPr>
          <a:xfrm>
            <a:off x="1024128" y="368907"/>
            <a:ext cx="9720072" cy="722474"/>
          </a:xfrm>
        </p:spPr>
        <p:txBody>
          <a:bodyPr>
            <a:normAutofit/>
          </a:bodyPr>
          <a:lstStyle/>
          <a:p>
            <a:r>
              <a:rPr lang="en-US" sz="3200" b="1" dirty="0"/>
              <a:t>Stem and leaf display</a:t>
            </a:r>
          </a:p>
        </p:txBody>
      </p:sp>
      <p:sp>
        <p:nvSpPr>
          <p:cNvPr id="3" name="Content Placeholder 2">
            <a:extLst>
              <a:ext uri="{FF2B5EF4-FFF2-40B4-BE49-F238E27FC236}">
                <a16:creationId xmlns:a16="http://schemas.microsoft.com/office/drawing/2014/main" id="{8EFE029D-A63E-4D66-BF36-47DB62910775}"/>
              </a:ext>
            </a:extLst>
          </p:cNvPr>
          <p:cNvSpPr>
            <a:spLocks noGrp="1"/>
          </p:cNvSpPr>
          <p:nvPr>
            <p:ph idx="1"/>
          </p:nvPr>
        </p:nvSpPr>
        <p:spPr>
          <a:xfrm>
            <a:off x="1024128" y="1229032"/>
            <a:ext cx="10661053" cy="5080328"/>
          </a:xfrm>
        </p:spPr>
        <p:txBody>
          <a:bodyPr>
            <a:normAutofit/>
          </a:bodyPr>
          <a:lstStyle/>
          <a:p>
            <a:pPr marL="0" marR="0" indent="0">
              <a:lnSpc>
                <a:spcPct val="107000"/>
              </a:lnSpc>
              <a:spcBef>
                <a:spcPts val="0"/>
              </a:spcBef>
              <a:spcAft>
                <a:spcPts val="800"/>
              </a:spcAft>
              <a:buNone/>
            </a:pPr>
            <a:r>
              <a:rPr lang="en-GB" sz="2800" dirty="0">
                <a:effectLst/>
                <a:latin typeface="Calibri" panose="020F0502020204030204" pitchFamily="34" charset="0"/>
                <a:ea typeface="Calibri" panose="020F0502020204030204" pitchFamily="34" charset="0"/>
                <a:cs typeface="Calibri" panose="020F0502020204030204" pitchFamily="34" charset="0"/>
              </a:rPr>
              <a:t>Stem-and-leaf display is a graphical method of displaying numerical data and is one of the most useful techniques of exploratory data analysis. It gives the rank order of the numerical observations in the data set as well as the shape of the distribution. It is not suitable for large data set and for continuous random variable.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GB" sz="2800" dirty="0">
              <a:effectLst/>
              <a:latin typeface="Calibri" panose="020F0502020204030204" pitchFamily="34" charset="0"/>
              <a:ea typeface="Calibri" panose="020F0502020204030204" pitchFamily="34" charset="0"/>
              <a:cs typeface="Calibri" panose="020F0502020204030204" pitchFamily="34"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Calibri" panose="020F0502020204030204" pitchFamily="34" charset="0"/>
              </a:rPr>
              <a:t>Stem = The greatest common place value of the data or leading digits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Calibri" panose="020F0502020204030204" pitchFamily="34" charset="0"/>
              </a:rPr>
              <a:t>Leaf = The next greatest common place value or trailing digits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95637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0EF44-B4FD-441F-BC87-580E0F7E6E36}"/>
              </a:ext>
            </a:extLst>
          </p:cNvPr>
          <p:cNvSpPr>
            <a:spLocks noGrp="1"/>
          </p:cNvSpPr>
          <p:nvPr>
            <p:ph idx="1"/>
          </p:nvPr>
        </p:nvSpPr>
        <p:spPr>
          <a:xfrm>
            <a:off x="1024128" y="344384"/>
            <a:ext cx="10649316" cy="5964976"/>
          </a:xfrm>
        </p:spPr>
        <p:txBody>
          <a:bodyPr>
            <a:normAutofit/>
          </a:bodyPr>
          <a:lstStyle/>
          <a:p>
            <a:r>
              <a:rPr lang="en-US" sz="2400" b="1" dirty="0"/>
              <a:t>Example: </a:t>
            </a:r>
            <a:r>
              <a:rPr lang="en-US" sz="2400" dirty="0">
                <a:effectLst/>
                <a:latin typeface="Calibri" panose="020F0502020204030204" pitchFamily="34" charset="0"/>
                <a:ea typeface="Times New Roman" panose="02020603050405020304" pitchFamily="18" charset="0"/>
              </a:rPr>
              <a:t>The following are the ages of 48 patients admitted to the emergency room of a hospital. Draw a stem-and-leaf </a:t>
            </a:r>
            <a:r>
              <a:rPr lang="en-GB" sz="2400" dirty="0">
                <a:effectLst/>
                <a:latin typeface="Calibri" panose="020F0502020204030204" pitchFamily="34" charset="0"/>
                <a:ea typeface="Calibri" panose="020F0502020204030204" pitchFamily="34" charset="0"/>
                <a:cs typeface="Calibri" panose="020F0502020204030204" pitchFamily="34" charset="0"/>
              </a:rPr>
              <a:t>display and comment on the size of the distribution.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rPr>
              <a:t>	32	63	33	57	35	54	38	53	42	51	42	48</a:t>
            </a:r>
            <a:r>
              <a:rPr lang="en-US" sz="2400" dirty="0">
                <a:latin typeface="Times New Roman" panose="02020603050405020304" pitchFamily="18" charset="0"/>
                <a:ea typeface="Times New Roman" panose="02020603050405020304" pitchFamily="18" charset="0"/>
              </a:rPr>
              <a:t>	</a:t>
            </a:r>
            <a:r>
              <a:rPr lang="en-US" sz="2400" dirty="0">
                <a:effectLst/>
                <a:latin typeface="Calibri" panose="020F0502020204030204" pitchFamily="34" charset="0"/>
                <a:ea typeface="Times New Roman" panose="02020603050405020304" pitchFamily="18" charset="0"/>
              </a:rPr>
              <a:t>43	46	61	53	09	13	16	16	31	30	28	28</a:t>
            </a:r>
            <a:r>
              <a:rPr lang="en-US" sz="2400" dirty="0">
                <a:latin typeface="Times New Roman" panose="02020603050405020304" pitchFamily="18" charset="0"/>
                <a:ea typeface="Times New Roman" panose="02020603050405020304" pitchFamily="18" charset="0"/>
              </a:rPr>
              <a:t>	</a:t>
            </a:r>
            <a:r>
              <a:rPr lang="en-US" sz="2400" dirty="0">
                <a:effectLst/>
                <a:latin typeface="Calibri" panose="020F0502020204030204" pitchFamily="34" charset="0"/>
                <a:ea typeface="Times New Roman" panose="02020603050405020304" pitchFamily="18" charset="0"/>
              </a:rPr>
              <a:t>25	23	23	22	21	17	13	30	14	29	16	28</a:t>
            </a:r>
            <a:r>
              <a:rPr lang="en-US" sz="2400" dirty="0">
                <a:latin typeface="Times New Roman" panose="02020603050405020304" pitchFamily="18" charset="0"/>
                <a:ea typeface="Times New Roman" panose="02020603050405020304" pitchFamily="18" charset="0"/>
              </a:rPr>
              <a:t>	</a:t>
            </a:r>
            <a:r>
              <a:rPr lang="en-US" sz="2400" dirty="0">
                <a:effectLst/>
                <a:latin typeface="Calibri" panose="020F0502020204030204" pitchFamily="34" charset="0"/>
                <a:ea typeface="Times New Roman" panose="02020603050405020304" pitchFamily="18" charset="0"/>
              </a:rPr>
              <a:t>17	27	21	24	22	23	61	55	34	42	13	26</a:t>
            </a:r>
          </a:p>
          <a:p>
            <a:pPr marL="0" marR="0">
              <a:spcBef>
                <a:spcPts val="0"/>
              </a:spcBef>
              <a:spcAft>
                <a:spcPts val="0"/>
              </a:spcAft>
            </a:pPr>
            <a:endParaRPr lang="en-US" sz="2400" dirty="0">
              <a:effectLst/>
              <a:latin typeface="Calibri" panose="020F0502020204030204" pitchFamily="34" charset="0"/>
              <a:ea typeface="Times New Roman" panose="02020603050405020304" pitchFamily="18" charset="0"/>
            </a:endParaRPr>
          </a:p>
          <a:p>
            <a:pPr marL="0" marR="0" lvl="0" indent="0">
              <a:spcBef>
                <a:spcPts val="0"/>
              </a:spcBef>
              <a:spcAft>
                <a:spcPts val="0"/>
              </a:spcAft>
              <a:buNone/>
            </a:pPr>
            <a:r>
              <a:rPr lang="en-US" sz="2400" b="1" dirty="0">
                <a:latin typeface="Calibri" panose="020F0502020204030204" pitchFamily="34" charset="0"/>
                <a:ea typeface="Times New Roman" panose="02020603050405020304" pitchFamily="18" charset="0"/>
              </a:rPr>
              <a:t>Example: </a:t>
            </a:r>
            <a:r>
              <a:rPr lang="en-US" sz="2400" dirty="0">
                <a:effectLst/>
                <a:latin typeface="Calibri" panose="020F0502020204030204" pitchFamily="34" charset="0"/>
                <a:ea typeface="Times New Roman" panose="02020603050405020304" pitchFamily="18" charset="0"/>
              </a:rPr>
              <a:t>The following data represent the length of life in years, measured to the nearest tenth of 30 similar fuel pumps.</a:t>
            </a:r>
            <a:endParaRPr lang="en-US" sz="2400" dirty="0">
              <a:effectLst/>
              <a:latin typeface="Times New Roman" panose="02020603050405020304" pitchFamily="18" charset="0"/>
              <a:ea typeface="Times New Roman" panose="02020603050405020304" pitchFamily="18" charset="0"/>
            </a:endParaRPr>
          </a:p>
          <a:p>
            <a:pPr marL="457200" marR="0">
              <a:lnSpc>
                <a:spcPct val="107000"/>
              </a:lnSpc>
              <a:spcBef>
                <a:spcPts val="0"/>
              </a:spcBef>
              <a:spcAft>
                <a:spcPts val="0"/>
              </a:spcAft>
            </a:pPr>
            <a:r>
              <a:rPr lang="en-GB" sz="2400" dirty="0">
                <a:effectLst/>
                <a:latin typeface="Calibri" panose="020F0502020204030204" pitchFamily="34" charset="0"/>
                <a:ea typeface="Calibri" panose="020F0502020204030204" pitchFamily="34" charset="0"/>
                <a:cs typeface="Calibri" panose="020F0502020204030204" pitchFamily="34" charset="0"/>
              </a:rPr>
              <a:t>	2.0	3.0	0.3	3.3	1.3	0.4	0.2	6.0	5.5	6.5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GB" sz="2400" dirty="0">
                <a:effectLst/>
                <a:latin typeface="Calibri" panose="020F0502020204030204" pitchFamily="34" charset="0"/>
                <a:ea typeface="Calibri" panose="020F0502020204030204" pitchFamily="34" charset="0"/>
                <a:cs typeface="Calibri" panose="020F0502020204030204" pitchFamily="34" charset="0"/>
              </a:rPr>
              <a:t>	0.2	2.3	1.5	4.0	5.9	1.8	4.7	0.7	4.5	0.3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GB" sz="2400" dirty="0">
                <a:effectLst/>
                <a:latin typeface="Calibri" panose="020F0502020204030204" pitchFamily="34" charset="0"/>
                <a:ea typeface="Calibri" panose="020F0502020204030204" pitchFamily="34" charset="0"/>
                <a:cs typeface="Calibri" panose="020F0502020204030204" pitchFamily="34" charset="0"/>
              </a:rPr>
              <a:t>	1.5	0.5	2.5	5.0	1.0	6.0	5.6	6.0	1.2	0.2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GB" sz="2400" dirty="0">
                <a:effectLst/>
                <a:latin typeface="Calibri" panose="020F0502020204030204" pitchFamily="34" charset="0"/>
                <a:ea typeface="Calibri" panose="020F0502020204030204" pitchFamily="34" charset="0"/>
                <a:cs typeface="Calibri" panose="020F0502020204030204" pitchFamily="34" charset="0"/>
              </a:rPr>
              <a:t>Draw a stem-and-leaf display and comment on the size of the distribution.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2400"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3066575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B5311-FC70-47DE-81B0-542CEE4CCE3B}"/>
              </a:ext>
            </a:extLst>
          </p:cNvPr>
          <p:cNvSpPr>
            <a:spLocks noGrp="1"/>
          </p:cNvSpPr>
          <p:nvPr>
            <p:ph idx="1"/>
          </p:nvPr>
        </p:nvSpPr>
        <p:spPr>
          <a:xfrm>
            <a:off x="1024128" y="531628"/>
            <a:ext cx="10814946" cy="5777732"/>
          </a:xfrm>
        </p:spPr>
        <p:txBody>
          <a:bodyPr/>
          <a:lstStyle/>
          <a:p>
            <a:r>
              <a:rPr lang="en-US" b="1" dirty="0">
                <a:solidFill>
                  <a:srgbClr val="00B0F0"/>
                </a:solidFill>
              </a:rPr>
              <a:t>Stem and Leaf display of Age Data</a:t>
            </a:r>
          </a:p>
          <a:p>
            <a:r>
              <a:rPr lang="en-US" dirty="0"/>
              <a:t>Ordered Array</a:t>
            </a:r>
          </a:p>
          <a:p>
            <a:r>
              <a:rPr lang="en-US" dirty="0"/>
              <a:t>9	13	13	13	14	16</a:t>
            </a:r>
          </a:p>
          <a:p>
            <a:r>
              <a:rPr lang="en-US" dirty="0"/>
              <a:t>16	16	17	17	21	21</a:t>
            </a:r>
          </a:p>
          <a:p>
            <a:r>
              <a:rPr lang="en-US" dirty="0"/>
              <a:t>22	22	23	23	23	24	</a:t>
            </a:r>
          </a:p>
          <a:p>
            <a:r>
              <a:rPr lang="en-US" dirty="0"/>
              <a:t>25	26	27	28	28	28	</a:t>
            </a:r>
          </a:p>
          <a:p>
            <a:r>
              <a:rPr lang="en-US" dirty="0"/>
              <a:t>29	30	30	31	32	33	</a:t>
            </a:r>
          </a:p>
          <a:p>
            <a:r>
              <a:rPr lang="en-US" dirty="0"/>
              <a:t>34	35	38	42	42	42	</a:t>
            </a:r>
          </a:p>
          <a:p>
            <a:r>
              <a:rPr lang="en-US" dirty="0"/>
              <a:t>43	46	48	51	53	53	</a:t>
            </a:r>
          </a:p>
          <a:p>
            <a:r>
              <a:rPr lang="en-US" dirty="0"/>
              <a:t>54	55	57	61	61	63</a:t>
            </a:r>
          </a:p>
          <a:p>
            <a:endParaRPr lang="en-US" dirty="0"/>
          </a:p>
        </p:txBody>
      </p:sp>
      <p:pic>
        <p:nvPicPr>
          <p:cNvPr id="9" name="Picture 8">
            <a:extLst>
              <a:ext uri="{FF2B5EF4-FFF2-40B4-BE49-F238E27FC236}">
                <a16:creationId xmlns:a16="http://schemas.microsoft.com/office/drawing/2014/main" id="{62925F4D-DD97-4FC7-9B29-964F4E35898F}"/>
              </a:ext>
            </a:extLst>
          </p:cNvPr>
          <p:cNvPicPr>
            <a:picLocks noChangeAspect="1"/>
          </p:cNvPicPr>
          <p:nvPr/>
        </p:nvPicPr>
        <p:blipFill>
          <a:blip r:embed="rId2"/>
          <a:stretch>
            <a:fillRect/>
          </a:stretch>
        </p:blipFill>
        <p:spPr>
          <a:xfrm>
            <a:off x="6431601" y="1418049"/>
            <a:ext cx="5691044" cy="4052897"/>
          </a:xfrm>
          <a:prstGeom prst="rect">
            <a:avLst/>
          </a:prstGeom>
        </p:spPr>
      </p:pic>
    </p:spTree>
    <p:extLst>
      <p:ext uri="{BB962C8B-B14F-4D97-AF65-F5344CB8AC3E}">
        <p14:creationId xmlns:p14="http://schemas.microsoft.com/office/powerpoint/2010/main" val="1067463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F9442-179D-4300-8246-6E0AC0927C85}"/>
              </a:ext>
            </a:extLst>
          </p:cNvPr>
          <p:cNvSpPr>
            <a:spLocks noGrp="1"/>
          </p:cNvSpPr>
          <p:nvPr>
            <p:ph sz="half" idx="1"/>
          </p:nvPr>
        </p:nvSpPr>
        <p:spPr>
          <a:xfrm>
            <a:off x="593124" y="494270"/>
            <a:ext cx="5185883" cy="5815090"/>
          </a:xfrm>
        </p:spPr>
        <p:txBody>
          <a:bodyPr>
            <a:normAutofit/>
          </a:bodyPr>
          <a:lstStyle/>
          <a:p>
            <a:r>
              <a:rPr lang="en-US" sz="2800" dirty="0"/>
              <a:t>Stem and Leaf display of fuel pump life data</a:t>
            </a:r>
          </a:p>
          <a:p>
            <a:r>
              <a:rPr lang="en-US" sz="2800" dirty="0"/>
              <a:t>Data Array</a:t>
            </a:r>
          </a:p>
          <a:p>
            <a:r>
              <a:rPr lang="en-US" sz="2800" dirty="0"/>
              <a:t>0.2	0.2	0.2	0.3	0.3	0.4</a:t>
            </a:r>
          </a:p>
          <a:p>
            <a:r>
              <a:rPr lang="en-US" sz="2800" dirty="0"/>
              <a:t>0.5	0.7	1.0	1.2	1.3	1.5</a:t>
            </a:r>
          </a:p>
          <a:p>
            <a:r>
              <a:rPr lang="en-US" sz="2800" dirty="0"/>
              <a:t>1.5	1.8	2.0	2.3	2.5	3.0</a:t>
            </a:r>
          </a:p>
          <a:p>
            <a:r>
              <a:rPr lang="en-US" sz="2800" dirty="0"/>
              <a:t>3.3	4.0	4.5	4.7	5.0	5.5</a:t>
            </a:r>
          </a:p>
          <a:p>
            <a:r>
              <a:rPr lang="en-US" sz="2800" dirty="0"/>
              <a:t>5.6	5.9	6.0	6.0	6.0	6.5</a:t>
            </a:r>
          </a:p>
        </p:txBody>
      </p:sp>
      <p:sp>
        <p:nvSpPr>
          <p:cNvPr id="4" name="Content Placeholder 3">
            <a:extLst>
              <a:ext uri="{FF2B5EF4-FFF2-40B4-BE49-F238E27FC236}">
                <a16:creationId xmlns:a16="http://schemas.microsoft.com/office/drawing/2014/main" id="{85C21536-11AF-4970-B269-DB2B26777AAF}"/>
              </a:ext>
            </a:extLst>
          </p:cNvPr>
          <p:cNvSpPr>
            <a:spLocks noGrp="1"/>
          </p:cNvSpPr>
          <p:nvPr>
            <p:ph sz="half" idx="2"/>
          </p:nvPr>
        </p:nvSpPr>
        <p:spPr>
          <a:xfrm>
            <a:off x="5989319" y="494270"/>
            <a:ext cx="5823739" cy="5815090"/>
          </a:xfrm>
        </p:spPr>
        <p:txBody>
          <a:bodyPr/>
          <a:lstStyle/>
          <a:p>
            <a:r>
              <a:rPr lang="en-US" sz="2800" b="0" i="0" u="none" strike="noStrike" baseline="0" dirty="0">
                <a:solidFill>
                  <a:srgbClr val="000000"/>
                </a:solidFill>
                <a:latin typeface="+mj-lt"/>
              </a:rPr>
              <a:t>Frequency    Stem 	Leaf</a:t>
            </a:r>
          </a:p>
          <a:p>
            <a:r>
              <a:rPr lang="en-US" sz="2800" b="0" i="0" u="none" strike="noStrike" baseline="0" dirty="0">
                <a:solidFill>
                  <a:srgbClr val="000000"/>
                </a:solidFill>
                <a:latin typeface="+mj-lt"/>
              </a:rPr>
              <a:t>     8              0 		2  2  2  3  3  4  5  7</a:t>
            </a:r>
          </a:p>
          <a:p>
            <a:r>
              <a:rPr lang="en-US" sz="2800" b="0" i="0" u="none" strike="noStrike" baseline="0" dirty="0">
                <a:solidFill>
                  <a:srgbClr val="000000"/>
                </a:solidFill>
                <a:latin typeface="+mj-lt"/>
              </a:rPr>
              <a:t>     6              1 		0  2  3  5  5  8</a:t>
            </a:r>
          </a:p>
          <a:p>
            <a:r>
              <a:rPr lang="en-US" sz="2800" b="0" i="0" u="none" strike="noStrike" baseline="0" dirty="0">
                <a:solidFill>
                  <a:srgbClr val="000000"/>
                </a:solidFill>
                <a:latin typeface="+mj-lt"/>
              </a:rPr>
              <a:t>     3              2 		0  3  5</a:t>
            </a:r>
          </a:p>
          <a:p>
            <a:r>
              <a:rPr lang="en-US" sz="2800" b="0" i="0" u="none" strike="noStrike" baseline="0" dirty="0">
                <a:solidFill>
                  <a:srgbClr val="000000"/>
                </a:solidFill>
                <a:latin typeface="+mj-lt"/>
              </a:rPr>
              <a:t>     2              3 		0  3</a:t>
            </a:r>
          </a:p>
          <a:p>
            <a:r>
              <a:rPr lang="en-US" sz="2800" b="0" i="0" u="none" strike="noStrike" baseline="0" dirty="0">
                <a:solidFill>
                  <a:srgbClr val="000000"/>
                </a:solidFill>
                <a:latin typeface="+mj-lt"/>
              </a:rPr>
              <a:t>     3              4 		0  5  7</a:t>
            </a:r>
          </a:p>
          <a:p>
            <a:r>
              <a:rPr lang="en-US" sz="2800" b="0" i="0" u="none" strike="noStrike" baseline="0" dirty="0">
                <a:solidFill>
                  <a:srgbClr val="000000"/>
                </a:solidFill>
                <a:latin typeface="+mj-lt"/>
              </a:rPr>
              <a:t>     4              5 		0  5  6  9</a:t>
            </a:r>
          </a:p>
          <a:p>
            <a:r>
              <a:rPr lang="en-US" sz="2800" b="0" i="0" u="none" strike="noStrike" baseline="0" dirty="0">
                <a:solidFill>
                  <a:srgbClr val="000000"/>
                </a:solidFill>
                <a:latin typeface="+mj-lt"/>
              </a:rPr>
              <a:t>     4              6 		0  0  0  5</a:t>
            </a:r>
          </a:p>
          <a:p>
            <a:r>
              <a:rPr lang="en-US" sz="2800" b="0" i="0" u="none" strike="noStrike" baseline="0" dirty="0">
                <a:solidFill>
                  <a:srgbClr val="000000"/>
                </a:solidFill>
                <a:latin typeface="+mj-lt"/>
              </a:rPr>
              <a:t>Conclusion: The shape of the distri</a:t>
            </a:r>
            <a:r>
              <a:rPr lang="en-US" sz="2800" dirty="0">
                <a:solidFill>
                  <a:srgbClr val="000000"/>
                </a:solidFill>
                <a:latin typeface="+mj-lt"/>
              </a:rPr>
              <a:t>bution is irregular. There seems to be mix of two distribution. There is trend of two cluster; either low life or higher life</a:t>
            </a:r>
            <a:endParaRPr lang="en-US" sz="2800" b="0" i="0" u="none" strike="noStrike" baseline="0" dirty="0">
              <a:solidFill>
                <a:srgbClr val="000000"/>
              </a:solidFill>
              <a:latin typeface="+mj-lt"/>
            </a:endParaRPr>
          </a:p>
          <a:p>
            <a:endParaRPr lang="en-US" dirty="0"/>
          </a:p>
        </p:txBody>
      </p:sp>
    </p:spTree>
    <p:extLst>
      <p:ext uri="{BB962C8B-B14F-4D97-AF65-F5344CB8AC3E}">
        <p14:creationId xmlns:p14="http://schemas.microsoft.com/office/powerpoint/2010/main" val="25870699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Template>
  <TotalTime>2171</TotalTime>
  <Words>2374</Words>
  <Application>Microsoft Office PowerPoint</Application>
  <PresentationFormat>Widescreen</PresentationFormat>
  <Paragraphs>259</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Rounded MT Bold</vt:lpstr>
      <vt:lpstr>Calibri</vt:lpstr>
      <vt:lpstr>Cambria Math</vt:lpstr>
      <vt:lpstr>Times New Roman</vt:lpstr>
      <vt:lpstr>Tw Cen MT</vt:lpstr>
      <vt:lpstr>Tw Cen MT Condensed</vt:lpstr>
      <vt:lpstr>Wingdings 3</vt:lpstr>
      <vt:lpstr>Integral</vt:lpstr>
      <vt:lpstr>Shape of the distribution</vt:lpstr>
      <vt:lpstr>Skewness</vt:lpstr>
      <vt:lpstr>Symmetrical or Zero Skewed distribution</vt:lpstr>
      <vt:lpstr>Positive Skewness</vt:lpstr>
      <vt:lpstr>Negative skewness</vt:lpstr>
      <vt:lpstr>PowerPoint Presentation</vt:lpstr>
      <vt:lpstr>Measures of skewness</vt:lpstr>
      <vt:lpstr>PowerPoint Presentation</vt:lpstr>
      <vt:lpstr>PowerPoint Presentation</vt:lpstr>
      <vt:lpstr>Measure of skewness based on partitioning values</vt:lpstr>
      <vt:lpstr>Kurtosis</vt:lpstr>
      <vt:lpstr>Mesokurtic Distribution</vt:lpstr>
      <vt:lpstr>Leptokurtic Distribution (Positive kurtosis)</vt:lpstr>
      <vt:lpstr>Platykurtic distribution (Negative kurtosis)</vt:lpstr>
      <vt:lpstr>Measures of kurtosis</vt:lpstr>
      <vt:lpstr>Measures of skewness and kurtosis based on moments</vt:lpstr>
      <vt:lpstr>PowerPoint Presentation</vt:lpstr>
      <vt:lpstr>PowerPoint Presentation</vt:lpstr>
      <vt:lpstr>Conversion of raw moment into central moment</vt:lpstr>
      <vt:lpstr>PowerPoint Presentation</vt:lpstr>
      <vt:lpstr>PowerPoint Presentation</vt:lpstr>
      <vt:lpstr>Stem and leaf display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 of the distribution</dc:title>
  <dc:creator>Santosh Chhatkuli</dc:creator>
  <cp:lastModifiedBy>Santosh Chhatkuli</cp:lastModifiedBy>
  <cp:revision>63</cp:revision>
  <dcterms:created xsi:type="dcterms:W3CDTF">2020-09-15T15:17:26Z</dcterms:created>
  <dcterms:modified xsi:type="dcterms:W3CDTF">2024-06-14T08:25:13Z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