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1" r:id="rId4"/>
  </p:sldMasterIdLst>
  <p:notesMasterIdLst>
    <p:notesMasterId r:id="rId35"/>
  </p:notesMasterIdLst>
  <p:sldIdLst>
    <p:sldId id="280" r:id="rId5"/>
    <p:sldId id="281" r:id="rId6"/>
    <p:sldId id="282" r:id="rId7"/>
    <p:sldId id="283" r:id="rId8"/>
    <p:sldId id="285" r:id="rId9"/>
    <p:sldId id="284" r:id="rId10"/>
    <p:sldId id="286" r:id="rId11"/>
    <p:sldId id="287" r:id="rId12"/>
    <p:sldId id="290" r:id="rId13"/>
    <p:sldId id="288" r:id="rId14"/>
    <p:sldId id="292" r:id="rId15"/>
    <p:sldId id="293" r:id="rId16"/>
    <p:sldId id="294" r:id="rId17"/>
    <p:sldId id="295" r:id="rId18"/>
    <p:sldId id="296" r:id="rId19"/>
    <p:sldId id="297" r:id="rId20"/>
    <p:sldId id="299" r:id="rId21"/>
    <p:sldId id="300" r:id="rId22"/>
    <p:sldId id="312" r:id="rId23"/>
    <p:sldId id="301" r:id="rId24"/>
    <p:sldId id="302" r:id="rId25"/>
    <p:sldId id="306" r:id="rId26"/>
    <p:sldId id="307" r:id="rId27"/>
    <p:sldId id="305" r:id="rId28"/>
    <p:sldId id="308" r:id="rId29"/>
    <p:sldId id="309" r:id="rId30"/>
    <p:sldId id="310" r:id="rId31"/>
    <p:sldId id="304" r:id="rId32"/>
    <p:sldId id="303" r:id="rId33"/>
    <p:sldId id="311"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19" autoAdjust="0"/>
  </p:normalViewPr>
  <p:slideViewPr>
    <p:cSldViewPr snapToGrid="0">
      <p:cViewPr varScale="1">
        <p:scale>
          <a:sx n="70" d="100"/>
          <a:sy n="70" d="100"/>
        </p:scale>
        <p:origin x="62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02764-CD91-454F-84C8-CB24D6F0F876}" type="datetimeFigureOut">
              <a:rPr lang="en-US" smtClean="0"/>
              <a:t>6/9/2024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52F2D8-EFF5-43F0-ADD7-B8F72FC06CF9}" type="slidenum">
              <a:rPr lang="en-US" smtClean="0"/>
              <a:t>‹#›</a:t>
            </a:fld>
            <a:endParaRPr lang="en-US"/>
          </a:p>
        </p:txBody>
      </p:sp>
    </p:spTree>
    <p:extLst>
      <p:ext uri="{BB962C8B-B14F-4D97-AF65-F5344CB8AC3E}">
        <p14:creationId xmlns:p14="http://schemas.microsoft.com/office/powerpoint/2010/main" val="2866889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B2D1062-1629-4FAC-A767-4F33ED1E270D}" type="datetime1">
              <a:rPr lang="en-US" smtClean="0"/>
              <a:t>6/9/2024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Copy Right: Santosh Chhatkuli</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3227586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5F9D8A-E44A-4666-8DDC-01C6FB859806}" type="datetime1">
              <a:rPr lang="en-US" smtClean="0"/>
              <a:t>6/9/2024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84546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A2D04656-AB86-4004-BC14-8E40D0F444B8}" type="datetime1">
              <a:rPr lang="en-US" smtClean="0"/>
              <a:t>6/9/2024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491670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C6360B-8D58-4840-BEEA-C7064E84DBB2}" type="datetime1">
              <a:rPr lang="en-US" smtClean="0"/>
              <a:t>6/9/2024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600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571E19-FE98-4135-9C40-FA51796FF519}" type="datetime1">
              <a:rPr lang="en-US" smtClean="0"/>
              <a:t>6/9/2024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4183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46455-DBD4-42E7-B129-839E8B517601}" type="datetime1">
              <a:rPr lang="en-US" smtClean="0"/>
              <a:t>6/9/2024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212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972D9-8071-4FA5-9E3F-BC719AFAAE03}" type="datetime1">
              <a:rPr lang="en-US" smtClean="0"/>
              <a:t>6/9/2024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093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41A60B98-C0A7-4309-B97A-79F9B79D3012}" type="datetime1">
              <a:rPr lang="en-US" smtClean="0"/>
              <a:t>6/9/2024</a:t>
            </a:fld>
            <a:endParaRPr lang="en-US" dirty="0"/>
          </a:p>
        </p:txBody>
      </p:sp>
      <p:sp>
        <p:nvSpPr>
          <p:cNvPr id="9" name="Footer Placeholder 8"/>
          <p:cNvSpPr>
            <a:spLocks noGrp="1"/>
          </p:cNvSpPr>
          <p:nvPr>
            <p:ph type="ftr" sz="quarter" idx="11"/>
          </p:nvPr>
        </p:nvSpPr>
        <p:spPr/>
        <p:txBody>
          <a:bodyPr/>
          <a:lstStyle>
            <a:lvl1pPr algn="r">
              <a:defRPr/>
            </a:lvl1pPr>
          </a:lstStyle>
          <a:p>
            <a:r>
              <a:rPr lang="en-US"/>
              <a:t>Copy Right: Santosh Chhatkuli</a:t>
            </a:r>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12987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E329F30-3973-4A28-9A2E-4C8268CA31AD}" type="datetime1">
              <a:rPr lang="en-US" smtClean="0"/>
              <a:t>6/9/2024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r>
              <a:rPr lang="en-US"/>
              <a:t>Copy Right: Santosh Chhatkuli</a:t>
            </a:r>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9114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684E9A-6A94-400E-B46F-20F8F44951A0}" type="datetime1">
              <a:rPr lang="en-US" smtClean="0"/>
              <a:t>6/9/2024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86086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7D136A-75B7-4210-B609-7940C809983F}" type="datetime1">
              <a:rPr lang="en-US" smtClean="0"/>
              <a:t>6/9/2024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7580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5BD697D-2D84-4045-BCB8-FD8E8059F1E6}" type="datetime1">
              <a:rPr lang="en-US" smtClean="0"/>
              <a:t>6/9/2024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517011419"/>
      </p:ext>
    </p:extLst>
  </p:cSld>
  <p:clrMap bg1="lt1" tx1="dk1" bg2="lt2" tx2="dk2" accent1="accent1" accent2="accent2" accent3="accent3" accent4="accent4" accent5="accent5" accent6="accent6" hlink="hlink" folHlink="folHlink"/>
  <p:sldLayoutIdLst>
    <p:sldLayoutId id="2147484022"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hf sldNum="0"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emf"/><Relationship Id="rId7" Type="http://schemas.openxmlformats.org/officeDocument/2006/relationships/image" Target="../media/image22.png"/><Relationship Id="rId2" Type="http://schemas.openxmlformats.org/officeDocument/2006/relationships/package" Target="../embeddings/Microsoft_Excel_Worksheet.xlsx"/><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9.emf"/><Relationship Id="rId7" Type="http://schemas.openxmlformats.org/officeDocument/2006/relationships/package" Target="../embeddings/Microsoft_Excel_Worksheet2.xlsx"/><Relationship Id="rId2" Type="http://schemas.openxmlformats.org/officeDocument/2006/relationships/package" Target="../embeddings/Microsoft_Excel_Worksheet1.xlsx"/><Relationship Id="rId1" Type="http://schemas.openxmlformats.org/officeDocument/2006/relationships/slideLayout" Target="../slideLayouts/slideLayout4.xml"/><Relationship Id="rId6" Type="http://schemas.openxmlformats.org/officeDocument/2006/relationships/image" Target="../media/image43.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2.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1.png"/><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package" Target="../embeddings/Microsoft_Excel_Worksheet3.xlsx"/><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4.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2" y="0"/>
            <a:ext cx="12191356" cy="685800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6659592" y="1673524"/>
            <a:ext cx="4215443" cy="2420504"/>
          </a:xfrm>
        </p:spPr>
        <p:txBody>
          <a:bodyPr>
            <a:normAutofit/>
          </a:bodyPr>
          <a:lstStyle/>
          <a:p>
            <a:pPr algn="l"/>
            <a:r>
              <a:rPr lang="en-US" sz="4000" dirty="0"/>
              <a:t>Variability</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6728604" y="3429000"/>
            <a:ext cx="4146431" cy="1026544"/>
          </a:xfrm>
        </p:spPr>
        <p:txBody>
          <a:bodyPr>
            <a:normAutofit/>
          </a:bodyPr>
          <a:lstStyle/>
          <a:p>
            <a:pPr algn="l"/>
            <a:r>
              <a:rPr lang="en-US" sz="2800" dirty="0">
                <a:solidFill>
                  <a:srgbClr val="002060"/>
                </a:solidFill>
              </a:rPr>
              <a:t>Santosh Chhatkuli</a:t>
            </a:r>
          </a:p>
        </p:txBody>
      </p:sp>
      <p:sp>
        <p:nvSpPr>
          <p:cNvPr id="4" name="Footer Placeholder 3">
            <a:extLst>
              <a:ext uri="{FF2B5EF4-FFF2-40B4-BE49-F238E27FC236}">
                <a16:creationId xmlns:a16="http://schemas.microsoft.com/office/drawing/2014/main" id="{F4D6E0CB-501D-4732-BA8E-F2BD0FF18EC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37408B-3850-4478-BA95-8D1004530D0C}"/>
              </a:ext>
            </a:extLst>
          </p:cNvPr>
          <p:cNvSpPr>
            <a:spLocks noGrp="1"/>
          </p:cNvSpPr>
          <p:nvPr>
            <p:ph idx="1"/>
          </p:nvPr>
        </p:nvSpPr>
        <p:spPr>
          <a:xfrm>
            <a:off x="672859" y="646981"/>
            <a:ext cx="10869283" cy="5607170"/>
          </a:xfrm>
        </p:spPr>
        <p:txBody>
          <a:bodyPr/>
          <a:lstStyle/>
          <a:p>
            <a:pPr marL="0" indent="0">
              <a:buNone/>
            </a:pPr>
            <a:r>
              <a:rPr lang="en-US" sz="1200" b="1" dirty="0"/>
              <a:t>What is variation?</a:t>
            </a:r>
          </a:p>
          <a:p>
            <a:pPr marL="0" indent="0">
              <a:buNone/>
            </a:pPr>
            <a:r>
              <a:rPr lang="en-US" sz="1200" dirty="0">
                <a:effectLst/>
                <a:latin typeface="Calibri" panose="020F0502020204030204" pitchFamily="34" charset="0"/>
                <a:ea typeface="Times New Roman" panose="02020603050405020304" pitchFamily="18" charset="0"/>
              </a:rPr>
              <a:t>The degree to which numerical data tend to spread about an average value is called variation.</a:t>
            </a:r>
            <a:r>
              <a:rPr lang="en-US" sz="1200" dirty="0">
                <a:latin typeface="Times New Roman" panose="02020603050405020304" pitchFamily="18" charset="0"/>
                <a:ea typeface="Times New Roman" panose="02020603050405020304" pitchFamily="18" charset="0"/>
              </a:rPr>
              <a:t> It is the </a:t>
            </a:r>
            <a:r>
              <a:rPr lang="en-US" sz="1200" dirty="0">
                <a:latin typeface="Calibri" panose="020F0502020204030204" pitchFamily="34" charset="0"/>
                <a:ea typeface="Times New Roman" panose="02020603050405020304" pitchFamily="18" charset="0"/>
              </a:rPr>
              <a:t>s</a:t>
            </a:r>
            <a:r>
              <a:rPr lang="en-US" sz="1200" dirty="0">
                <a:effectLst/>
                <a:latin typeface="Calibri" panose="020F0502020204030204" pitchFamily="34" charset="0"/>
                <a:ea typeface="Times New Roman" panose="02020603050405020304" pitchFamily="18" charset="0"/>
              </a:rPr>
              <a:t>econd important property that describes a set of numerical data. </a:t>
            </a:r>
          </a:p>
          <a:p>
            <a:pPr marL="0" indent="0">
              <a:buNone/>
            </a:pPr>
            <a:r>
              <a:rPr lang="en-US" sz="1200" dirty="0">
                <a:latin typeface="Calibri" panose="020F0502020204030204" pitchFamily="34" charset="0"/>
              </a:rPr>
              <a:t>The study of average alone is inadequate to give us a complete idea about distribution. Two or more distributions can be following:</a:t>
            </a:r>
          </a:p>
          <a:p>
            <a:pPr>
              <a:buFont typeface="Wingdings" panose="05000000000000000000" pitchFamily="2" charset="2"/>
              <a:buChar char="§"/>
            </a:pPr>
            <a:r>
              <a:rPr lang="en-US" sz="1200" dirty="0">
                <a:latin typeface="Calibri" panose="020F0502020204030204" pitchFamily="34" charset="0"/>
              </a:rPr>
              <a:t>Same in terms of central value and spread</a:t>
            </a:r>
          </a:p>
          <a:p>
            <a:pPr>
              <a:buFont typeface="Wingdings" panose="05000000000000000000" pitchFamily="2" charset="2"/>
              <a:buChar char="§"/>
            </a:pPr>
            <a:r>
              <a:rPr lang="en-US" sz="1200" dirty="0">
                <a:latin typeface="Calibri" panose="020F0502020204030204" pitchFamily="34" charset="0"/>
              </a:rPr>
              <a:t>Same in terms of central value but different in terms of variation</a:t>
            </a:r>
          </a:p>
          <a:p>
            <a:pPr>
              <a:buFont typeface="Wingdings" panose="05000000000000000000" pitchFamily="2" charset="2"/>
              <a:buChar char="§"/>
            </a:pPr>
            <a:r>
              <a:rPr lang="en-US" sz="1200" dirty="0">
                <a:latin typeface="Calibri" panose="020F0502020204030204" pitchFamily="34" charset="0"/>
              </a:rPr>
              <a:t>Different in terms of central vale but same in terms of variation</a:t>
            </a:r>
          </a:p>
          <a:p>
            <a:pPr>
              <a:buFont typeface="Wingdings" panose="05000000000000000000" pitchFamily="2" charset="2"/>
              <a:buChar char="§"/>
            </a:pPr>
            <a:r>
              <a:rPr lang="en-US" sz="1200" dirty="0">
                <a:latin typeface="Calibri" panose="020F0502020204030204" pitchFamily="34" charset="0"/>
              </a:rPr>
              <a:t>Different in terms of central vale and variation</a:t>
            </a:r>
          </a:p>
          <a:p>
            <a:pPr marL="0" indent="0">
              <a:buNone/>
            </a:pPr>
            <a:r>
              <a:rPr lang="en-US" sz="1200" b="1" dirty="0">
                <a:latin typeface="Calibri" panose="020F0502020204030204" pitchFamily="34" charset="0"/>
              </a:rPr>
              <a:t>Graph</a:t>
            </a:r>
          </a:p>
          <a:p>
            <a:pPr marL="0" indent="0">
              <a:buNone/>
            </a:pPr>
            <a:endParaRPr lang="en-US" sz="1200" dirty="0">
              <a:latin typeface="Calibri" panose="020F0502020204030204" pitchFamily="34" charset="0"/>
            </a:endParaRPr>
          </a:p>
          <a:p>
            <a:pPr marL="0" indent="0">
              <a:buNone/>
            </a:pPr>
            <a:endParaRPr lang="en-US" dirty="0"/>
          </a:p>
        </p:txBody>
      </p:sp>
      <p:pic>
        <p:nvPicPr>
          <p:cNvPr id="7" name="Picture 6">
            <a:extLst>
              <a:ext uri="{FF2B5EF4-FFF2-40B4-BE49-F238E27FC236}">
                <a16:creationId xmlns:a16="http://schemas.microsoft.com/office/drawing/2014/main" id="{40FB080C-820C-48C9-AAC3-E0402224C44E}"/>
              </a:ext>
            </a:extLst>
          </p:cNvPr>
          <p:cNvPicPr>
            <a:picLocks noChangeAspect="1"/>
          </p:cNvPicPr>
          <p:nvPr/>
        </p:nvPicPr>
        <p:blipFill>
          <a:blip r:embed="rId2"/>
          <a:stretch>
            <a:fillRect/>
          </a:stretch>
        </p:blipFill>
        <p:spPr>
          <a:xfrm>
            <a:off x="1248403" y="3158490"/>
            <a:ext cx="7762875" cy="2876550"/>
          </a:xfrm>
          <a:prstGeom prst="rect">
            <a:avLst/>
          </a:prstGeom>
        </p:spPr>
      </p:pic>
      <p:sp>
        <p:nvSpPr>
          <p:cNvPr id="2" name="Footer Placeholder 1">
            <a:extLst>
              <a:ext uri="{FF2B5EF4-FFF2-40B4-BE49-F238E27FC236}">
                <a16:creationId xmlns:a16="http://schemas.microsoft.com/office/drawing/2014/main" id="{A6B2CF2B-E2B2-4C12-83BC-28D501D9461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791925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194A83-082C-431C-8D8A-6390074137C3}"/>
              </a:ext>
            </a:extLst>
          </p:cNvPr>
          <p:cNvSpPr>
            <a:spLocks noGrp="1"/>
          </p:cNvSpPr>
          <p:nvPr>
            <p:ph idx="1"/>
          </p:nvPr>
        </p:nvSpPr>
        <p:spPr>
          <a:xfrm>
            <a:off x="1066800" y="733245"/>
            <a:ext cx="10058400" cy="5301795"/>
          </a:xfrm>
        </p:spPr>
        <p:txBody>
          <a:bodyPr/>
          <a:lstStyle/>
          <a:p>
            <a:pPr marL="0" marR="0" indent="0">
              <a:spcBef>
                <a:spcPts val="0"/>
              </a:spcBef>
              <a:spcAft>
                <a:spcPts val="0"/>
              </a:spcAft>
              <a:buNone/>
            </a:pPr>
            <a:r>
              <a:rPr lang="en-US" sz="1800" dirty="0">
                <a:effectLst/>
                <a:latin typeface="+mj-lt"/>
                <a:ea typeface="Times New Roman" panose="02020603050405020304" pitchFamily="18" charset="0"/>
              </a:rPr>
              <a:t>Consider three hypothetical data sets.</a:t>
            </a:r>
            <a:endParaRPr lang="en-US" dirty="0">
              <a:latin typeface="+mj-lt"/>
              <a:ea typeface="Times New Roman" panose="02020603050405020304" pitchFamily="18" charset="0"/>
            </a:endParaRPr>
          </a:p>
          <a:p>
            <a:pPr marL="0" marR="0" indent="0">
              <a:spcBef>
                <a:spcPts val="0"/>
              </a:spcBef>
              <a:spcAft>
                <a:spcPts val="0"/>
              </a:spcAft>
              <a:buNone/>
            </a:pPr>
            <a:endParaRPr lang="en-US" sz="1800" dirty="0">
              <a:effectLst/>
              <a:latin typeface="+mj-lt"/>
              <a:ea typeface="Times New Roman" panose="02020603050405020304" pitchFamily="18" charset="0"/>
            </a:endParaRPr>
          </a:p>
          <a:p>
            <a:pPr marL="0" marR="0" indent="0">
              <a:spcBef>
                <a:spcPts val="0"/>
              </a:spcBef>
              <a:spcAft>
                <a:spcPts val="0"/>
              </a:spcAft>
              <a:buNone/>
            </a:pPr>
            <a:r>
              <a:rPr lang="en-US" sz="1800" b="1" dirty="0">
                <a:effectLst/>
                <a:latin typeface="+mj-lt"/>
                <a:ea typeface="Times New Roman" panose="02020603050405020304" pitchFamily="18" charset="0"/>
              </a:rPr>
              <a:t>	Data set I: </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7</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8</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9</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10</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11    </a:t>
            </a:r>
            <a:endParaRPr lang="en-US" sz="1800" dirty="0">
              <a:effectLst/>
              <a:latin typeface="+mj-lt"/>
              <a:ea typeface="Times New Roman" panose="02020603050405020304" pitchFamily="18" charset="0"/>
            </a:endParaRPr>
          </a:p>
          <a:p>
            <a:pPr marL="0" marR="0" indent="0">
              <a:spcBef>
                <a:spcPts val="0"/>
              </a:spcBef>
              <a:spcAft>
                <a:spcPts val="0"/>
              </a:spcAft>
              <a:buNone/>
            </a:pPr>
            <a:r>
              <a:rPr lang="en-US" sz="1800" b="1" dirty="0">
                <a:effectLst/>
                <a:latin typeface="+mj-lt"/>
                <a:ea typeface="Times New Roman" panose="02020603050405020304" pitchFamily="18" charset="0"/>
              </a:rPr>
              <a:t>	Data set II: </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3</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6</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9</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12</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15</a:t>
            </a:r>
            <a:endParaRPr lang="en-US" sz="1800" dirty="0">
              <a:effectLst/>
              <a:latin typeface="+mj-lt"/>
              <a:ea typeface="Times New Roman" panose="02020603050405020304" pitchFamily="18" charset="0"/>
            </a:endParaRPr>
          </a:p>
          <a:p>
            <a:pPr marL="0" marR="0" indent="0">
              <a:spcBef>
                <a:spcPts val="0"/>
              </a:spcBef>
              <a:spcAft>
                <a:spcPts val="0"/>
              </a:spcAft>
              <a:buNone/>
            </a:pPr>
            <a:r>
              <a:rPr lang="en-US" sz="1800" b="1" dirty="0">
                <a:effectLst/>
                <a:latin typeface="+mj-lt"/>
                <a:ea typeface="Times New Roman" panose="02020603050405020304" pitchFamily="18" charset="0"/>
              </a:rPr>
              <a:t>	Data set III:</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5</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9</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13</a:t>
            </a:r>
            <a:r>
              <a:rPr lang="en-US" sz="1800" dirty="0">
                <a:effectLst/>
                <a:latin typeface="+mj-lt"/>
                <a:ea typeface="Times New Roman" panose="02020603050405020304" pitchFamily="18" charset="0"/>
              </a:rPr>
              <a:t>	</a:t>
            </a:r>
            <a:r>
              <a:rPr lang="en-US" sz="1800" b="1" dirty="0">
                <a:effectLst/>
                <a:latin typeface="+mj-lt"/>
                <a:ea typeface="Times New Roman" panose="02020603050405020304" pitchFamily="18" charset="0"/>
              </a:rPr>
              <a:t>17</a:t>
            </a:r>
          </a:p>
          <a:p>
            <a:pPr marL="0" marR="0" indent="0">
              <a:spcBef>
                <a:spcPts val="0"/>
              </a:spcBef>
              <a:spcAft>
                <a:spcPts val="0"/>
              </a:spcAft>
              <a:buNone/>
            </a:pPr>
            <a:endParaRPr lang="en-US" sz="1800" dirty="0">
              <a:effectLst/>
              <a:latin typeface="+mj-lt"/>
              <a:ea typeface="Times New Roman" panose="02020603050405020304" pitchFamily="18" charset="0"/>
            </a:endParaRPr>
          </a:p>
          <a:p>
            <a:pPr marL="0" marR="0" indent="0">
              <a:spcBef>
                <a:spcPts val="0"/>
              </a:spcBef>
              <a:spcAft>
                <a:spcPts val="0"/>
              </a:spcAft>
              <a:buNone/>
            </a:pPr>
            <a:endParaRPr lang="en-US" sz="1800" dirty="0">
              <a:effectLst/>
              <a:latin typeface="+mj-lt"/>
              <a:ea typeface="Times New Roman" panose="02020603050405020304" pitchFamily="18" charset="0"/>
            </a:endParaRPr>
          </a:p>
          <a:p>
            <a:pPr marL="0" marR="0" indent="0">
              <a:spcBef>
                <a:spcPts val="0"/>
              </a:spcBef>
              <a:spcAft>
                <a:spcPts val="0"/>
              </a:spcAft>
              <a:buNone/>
            </a:pPr>
            <a:r>
              <a:rPr lang="en-US" sz="1800" dirty="0">
                <a:effectLst/>
                <a:latin typeface="+mj-lt"/>
                <a:ea typeface="Times New Roman" panose="02020603050405020304" pitchFamily="18" charset="0"/>
              </a:rPr>
              <a:t>The three distribution are all same in terms of average since they have identical mean i.e. 9 but are different in terms of variation. Data set 3 is most variable sinc</a:t>
            </a:r>
            <a:r>
              <a:rPr lang="en-US" dirty="0">
                <a:latin typeface="+mj-lt"/>
                <a:ea typeface="Times New Roman" panose="02020603050405020304" pitchFamily="18" charset="0"/>
              </a:rPr>
              <a:t>e it has high range (16) of values and data set 1 is most consistent because it has small range (4) of values.</a:t>
            </a:r>
          </a:p>
          <a:p>
            <a:pPr marL="0" marR="0" indent="0">
              <a:spcBef>
                <a:spcPts val="0"/>
              </a:spcBef>
              <a:spcAft>
                <a:spcPts val="0"/>
              </a:spcAft>
              <a:buNone/>
            </a:pPr>
            <a:endParaRPr lang="en-US" sz="1800" dirty="0">
              <a:effectLst/>
              <a:latin typeface="+mj-lt"/>
              <a:ea typeface="Times New Roman" panose="02020603050405020304" pitchFamily="18" charset="0"/>
            </a:endParaRPr>
          </a:p>
          <a:p>
            <a:pPr marL="0" marR="0" indent="0">
              <a:spcBef>
                <a:spcPts val="0"/>
              </a:spcBef>
              <a:spcAft>
                <a:spcPts val="0"/>
              </a:spcAft>
              <a:buNone/>
            </a:pPr>
            <a:r>
              <a:rPr lang="en-US" sz="1800" dirty="0">
                <a:effectLst/>
                <a:latin typeface="+mj-lt"/>
                <a:ea typeface="Times New Roman" panose="02020603050405020304" pitchFamily="18" charset="0"/>
              </a:rPr>
              <a:t>When assessing the variability of a data set, there are two key components: </a:t>
            </a:r>
          </a:p>
          <a:p>
            <a:pPr marL="342900" marR="0" lvl="0" indent="-342900">
              <a:spcBef>
                <a:spcPts val="0"/>
              </a:spcBef>
              <a:spcAft>
                <a:spcPts val="0"/>
              </a:spcAft>
              <a:buFont typeface="+mj-lt"/>
              <a:buAutoNum type="arabicPeriod"/>
            </a:pPr>
            <a:r>
              <a:rPr lang="en-US" sz="1800" dirty="0">
                <a:effectLst/>
                <a:latin typeface="+mj-lt"/>
                <a:ea typeface="Times New Roman" panose="02020603050405020304" pitchFamily="18" charset="0"/>
              </a:rPr>
              <a:t>How spread out are the data values near the center? </a:t>
            </a:r>
          </a:p>
          <a:p>
            <a:pPr marL="342900" marR="0" lvl="0" indent="-342900">
              <a:spcBef>
                <a:spcPts val="0"/>
              </a:spcBef>
              <a:spcAft>
                <a:spcPts val="0"/>
              </a:spcAft>
              <a:buFont typeface="+mj-lt"/>
              <a:buAutoNum type="arabicPeriod"/>
            </a:pPr>
            <a:r>
              <a:rPr lang="en-US" sz="1800" dirty="0">
                <a:effectLst/>
                <a:latin typeface="+mj-lt"/>
                <a:ea typeface="Times New Roman" panose="02020603050405020304" pitchFamily="18" charset="0"/>
              </a:rPr>
              <a:t>How spread out are the tails? </a:t>
            </a:r>
          </a:p>
          <a:p>
            <a:pPr marL="0" marR="0" indent="0">
              <a:spcBef>
                <a:spcPts val="0"/>
              </a:spcBef>
              <a:spcAft>
                <a:spcPts val="0"/>
              </a:spcAft>
              <a:buNone/>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pPr>
            <a:endParaRPr lang="en-US" b="1" dirty="0">
              <a:latin typeface="Calibri" panose="020F0502020204030204" pitchFamily="34" charset="0"/>
              <a:ea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A59D39F5-F3D7-417D-B229-39644C81F895}"/>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08079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73E2-F6CE-49FB-BC6A-ABB5E77FCA8F}"/>
              </a:ext>
            </a:extLst>
          </p:cNvPr>
          <p:cNvSpPr>
            <a:spLocks noGrp="1"/>
          </p:cNvSpPr>
          <p:nvPr>
            <p:ph type="title"/>
          </p:nvPr>
        </p:nvSpPr>
        <p:spPr>
          <a:xfrm>
            <a:off x="652732" y="504572"/>
            <a:ext cx="10058400" cy="363246"/>
          </a:xfrm>
        </p:spPr>
        <p:txBody>
          <a:bodyPr>
            <a:normAutofit fontScale="90000"/>
          </a:bodyPr>
          <a:lstStyle/>
          <a:p>
            <a:r>
              <a:rPr lang="en-US" sz="2000" b="1" dirty="0">
                <a:effectLst/>
                <a:ea typeface="Times New Roman" panose="02020603050405020304" pitchFamily="18" charset="0"/>
              </a:rPr>
              <a:t>Measures of variation or spread may be either absolute of relative</a:t>
            </a:r>
            <a:r>
              <a:rPr lang="en-US" sz="1800" dirty="0">
                <a:effectLst/>
                <a:ea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C788E4C5-D1CF-4E58-B32C-93957AF2C5CC}"/>
              </a:ext>
            </a:extLst>
          </p:cNvPr>
          <p:cNvSpPr>
            <a:spLocks noGrp="1"/>
          </p:cNvSpPr>
          <p:nvPr>
            <p:ph sz="half" idx="1"/>
          </p:nvPr>
        </p:nvSpPr>
        <p:spPr>
          <a:xfrm>
            <a:off x="652732" y="1354347"/>
            <a:ext cx="5168948" cy="4710024"/>
          </a:xfrm>
        </p:spPr>
        <p:txBody>
          <a:bodyPr/>
          <a:lstStyle/>
          <a:p>
            <a:pPr marL="0" indent="0">
              <a:buNone/>
            </a:pPr>
            <a:r>
              <a:rPr lang="en-US" b="1" dirty="0">
                <a:latin typeface="+mj-lt"/>
              </a:rPr>
              <a:t>Absolute measures of variation</a:t>
            </a:r>
          </a:p>
          <a:p>
            <a:pPr marL="0" indent="0">
              <a:buNone/>
            </a:pPr>
            <a:r>
              <a:rPr lang="en-US" sz="1800" b="1" dirty="0">
                <a:effectLst/>
                <a:latin typeface="+mj-lt"/>
                <a:ea typeface="Times New Roman" panose="02020603050405020304" pitchFamily="18" charset="0"/>
              </a:rPr>
              <a:t>Absolute measures</a:t>
            </a:r>
            <a:r>
              <a:rPr lang="en-US" sz="1800" dirty="0">
                <a:effectLst/>
                <a:latin typeface="+mj-lt"/>
                <a:ea typeface="Times New Roman" panose="02020603050405020304" pitchFamily="18" charset="0"/>
              </a:rPr>
              <a:t> of variation refer to an absolute magnitude of the average of deviations in individual values and are expressed in the same units in which the variable are measured.</a:t>
            </a:r>
          </a:p>
          <a:p>
            <a:pPr marL="0" indent="0">
              <a:buNone/>
            </a:pPr>
            <a:endParaRPr lang="en-US" b="1" dirty="0">
              <a:latin typeface="+mj-lt"/>
            </a:endParaRPr>
          </a:p>
          <a:p>
            <a:pPr marL="342900" indent="-342900">
              <a:buAutoNum type="arabicPeriod"/>
            </a:pPr>
            <a:r>
              <a:rPr lang="en-US" dirty="0">
                <a:latin typeface="+mj-lt"/>
              </a:rPr>
              <a:t>Range</a:t>
            </a:r>
          </a:p>
          <a:p>
            <a:pPr marL="342900" indent="-342900">
              <a:buAutoNum type="arabicPeriod"/>
            </a:pPr>
            <a:r>
              <a:rPr lang="en-US" dirty="0">
                <a:latin typeface="+mj-lt"/>
              </a:rPr>
              <a:t>Inter-</a:t>
            </a:r>
            <a:r>
              <a:rPr lang="en-US" dirty="0" err="1">
                <a:latin typeface="+mj-lt"/>
              </a:rPr>
              <a:t>fractile</a:t>
            </a:r>
            <a:r>
              <a:rPr lang="en-US" dirty="0">
                <a:latin typeface="+mj-lt"/>
              </a:rPr>
              <a:t> range/Inter-percentile range</a:t>
            </a:r>
          </a:p>
          <a:p>
            <a:pPr marL="342900" indent="-342900">
              <a:buAutoNum type="arabicPeriod"/>
            </a:pPr>
            <a:r>
              <a:rPr lang="en-US" dirty="0">
                <a:latin typeface="+mj-lt"/>
              </a:rPr>
              <a:t>Mean Deviation </a:t>
            </a:r>
          </a:p>
          <a:p>
            <a:pPr marL="342900" indent="-342900">
              <a:buAutoNum type="arabicPeriod"/>
            </a:pPr>
            <a:r>
              <a:rPr lang="en-US" dirty="0">
                <a:latin typeface="+mj-lt"/>
              </a:rPr>
              <a:t>Standard Deviation</a:t>
            </a:r>
          </a:p>
          <a:p>
            <a:pPr marL="342900" indent="-342900">
              <a:buAutoNum type="arabicPeriod"/>
            </a:pPr>
            <a:r>
              <a:rPr lang="en-US" dirty="0">
                <a:latin typeface="+mj-lt"/>
              </a:rPr>
              <a:t>Variance</a:t>
            </a:r>
          </a:p>
        </p:txBody>
      </p:sp>
      <p:sp>
        <p:nvSpPr>
          <p:cNvPr id="4" name="Content Placeholder 3">
            <a:extLst>
              <a:ext uri="{FF2B5EF4-FFF2-40B4-BE49-F238E27FC236}">
                <a16:creationId xmlns:a16="http://schemas.microsoft.com/office/drawing/2014/main" id="{92AC1529-E5D0-44A7-999D-8D31A71AAE3E}"/>
              </a:ext>
            </a:extLst>
          </p:cNvPr>
          <p:cNvSpPr>
            <a:spLocks noGrp="1"/>
          </p:cNvSpPr>
          <p:nvPr>
            <p:ph sz="half" idx="2"/>
          </p:nvPr>
        </p:nvSpPr>
        <p:spPr>
          <a:xfrm>
            <a:off x="6370322" y="1354348"/>
            <a:ext cx="4754880" cy="4710024"/>
          </a:xfrm>
        </p:spPr>
        <p:txBody>
          <a:bodyPr/>
          <a:lstStyle/>
          <a:p>
            <a:pPr marL="0" indent="0">
              <a:buNone/>
            </a:pPr>
            <a:r>
              <a:rPr lang="en-US" b="1" dirty="0">
                <a:latin typeface="+mj-lt"/>
              </a:rPr>
              <a:t>Relative measures of variation</a:t>
            </a:r>
          </a:p>
          <a:p>
            <a:pPr marL="0" indent="0">
              <a:buNone/>
            </a:pPr>
            <a:r>
              <a:rPr lang="en-US" sz="1800" dirty="0">
                <a:effectLst/>
                <a:latin typeface="+mj-lt"/>
                <a:ea typeface="Times New Roman" panose="02020603050405020304" pitchFamily="18" charset="0"/>
              </a:rPr>
              <a:t>A </a:t>
            </a:r>
            <a:r>
              <a:rPr lang="en-US" sz="1800" b="1" dirty="0">
                <a:effectLst/>
                <a:latin typeface="+mj-lt"/>
                <a:ea typeface="Times New Roman" panose="02020603050405020304" pitchFamily="18" charset="0"/>
              </a:rPr>
              <a:t>measure of relative</a:t>
            </a:r>
            <a:r>
              <a:rPr lang="en-US" sz="1800" dirty="0">
                <a:effectLst/>
                <a:latin typeface="+mj-lt"/>
                <a:ea typeface="Times New Roman" panose="02020603050405020304" pitchFamily="18" charset="0"/>
              </a:rPr>
              <a:t> variation is the ratio of a measure of absolute variation to an appropriate average. In comparing the variability of two or more distributions, relative measures are useful.</a:t>
            </a:r>
          </a:p>
          <a:p>
            <a:pPr marL="0" indent="0">
              <a:buNone/>
            </a:pPr>
            <a:r>
              <a:rPr lang="en-US" sz="1800" dirty="0">
                <a:effectLst/>
                <a:latin typeface="+mj-lt"/>
                <a:ea typeface="Times New Roman" panose="02020603050405020304" pitchFamily="18" charset="0"/>
              </a:rPr>
              <a:t> </a:t>
            </a:r>
            <a:endParaRPr lang="en-US" b="1" dirty="0">
              <a:latin typeface="+mj-lt"/>
            </a:endParaRPr>
          </a:p>
          <a:p>
            <a:pPr marL="342900" indent="-342900">
              <a:buAutoNum type="arabicPeriod"/>
            </a:pPr>
            <a:r>
              <a:rPr lang="en-US" dirty="0">
                <a:latin typeface="+mj-lt"/>
              </a:rPr>
              <a:t>Coefficient of range</a:t>
            </a:r>
          </a:p>
          <a:p>
            <a:pPr marL="342900" indent="-342900">
              <a:buAutoNum type="arabicPeriod"/>
            </a:pPr>
            <a:r>
              <a:rPr lang="en-US" dirty="0">
                <a:latin typeface="+mj-lt"/>
              </a:rPr>
              <a:t>Coefficient of inter-</a:t>
            </a:r>
            <a:r>
              <a:rPr lang="en-US" dirty="0" err="1">
                <a:latin typeface="+mj-lt"/>
              </a:rPr>
              <a:t>fractile</a:t>
            </a:r>
            <a:r>
              <a:rPr lang="en-US" dirty="0">
                <a:latin typeface="+mj-lt"/>
              </a:rPr>
              <a:t> range</a:t>
            </a:r>
          </a:p>
          <a:p>
            <a:pPr marL="342900" indent="-342900">
              <a:buAutoNum type="arabicPeriod"/>
            </a:pPr>
            <a:r>
              <a:rPr lang="en-US" dirty="0">
                <a:latin typeface="+mj-lt"/>
              </a:rPr>
              <a:t>Coefficient of Mean Deviation</a:t>
            </a:r>
          </a:p>
          <a:p>
            <a:pPr marL="342900" indent="-342900">
              <a:buAutoNum type="arabicPeriod"/>
            </a:pPr>
            <a:r>
              <a:rPr lang="en-US" dirty="0">
                <a:latin typeface="+mj-lt"/>
              </a:rPr>
              <a:t>Coefficient of variation</a:t>
            </a:r>
          </a:p>
        </p:txBody>
      </p:sp>
      <p:sp>
        <p:nvSpPr>
          <p:cNvPr id="5" name="Footer Placeholder 4">
            <a:extLst>
              <a:ext uri="{FF2B5EF4-FFF2-40B4-BE49-F238E27FC236}">
                <a16:creationId xmlns:a16="http://schemas.microsoft.com/office/drawing/2014/main" id="{DF51F5A8-1B68-42E7-881D-5185166662B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57961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D4C18-A3A0-43F1-A51A-7E8A1FB5056F}"/>
              </a:ext>
            </a:extLst>
          </p:cNvPr>
          <p:cNvSpPr>
            <a:spLocks noGrp="1"/>
          </p:cNvSpPr>
          <p:nvPr>
            <p:ph type="title"/>
          </p:nvPr>
        </p:nvSpPr>
        <p:spPr>
          <a:xfrm>
            <a:off x="792480" y="556869"/>
            <a:ext cx="10058400" cy="363246"/>
          </a:xfrm>
        </p:spPr>
        <p:txBody>
          <a:bodyPr>
            <a:normAutofit/>
          </a:bodyPr>
          <a:lstStyle/>
          <a:p>
            <a:r>
              <a:rPr lang="en-US" sz="1600" b="1" dirty="0"/>
              <a:t>Range</a:t>
            </a:r>
          </a:p>
        </p:txBody>
      </p:sp>
      <p:sp>
        <p:nvSpPr>
          <p:cNvPr id="3" name="Content Placeholder 2">
            <a:extLst>
              <a:ext uri="{FF2B5EF4-FFF2-40B4-BE49-F238E27FC236}">
                <a16:creationId xmlns:a16="http://schemas.microsoft.com/office/drawing/2014/main" id="{E7B18DE4-3136-47AD-B0ED-FCD9188F9AB0}"/>
              </a:ext>
            </a:extLst>
          </p:cNvPr>
          <p:cNvSpPr>
            <a:spLocks noGrp="1"/>
          </p:cNvSpPr>
          <p:nvPr>
            <p:ph sz="half" idx="1"/>
          </p:nvPr>
        </p:nvSpPr>
        <p:spPr>
          <a:xfrm>
            <a:off x="638175" y="1121433"/>
            <a:ext cx="10829925" cy="5179697"/>
          </a:xfrm>
        </p:spPr>
        <p:txBody>
          <a:bodyPr>
            <a:normAutofit lnSpcReduction="10000"/>
          </a:bodyPr>
          <a:lstStyle/>
          <a:p>
            <a:pPr marL="0" indent="0">
              <a:buNone/>
            </a:pPr>
            <a:r>
              <a:rPr lang="en-US" sz="1800" dirty="0">
                <a:latin typeface="+mj-lt"/>
              </a:rPr>
              <a:t>Range is the</a:t>
            </a:r>
            <a:r>
              <a:rPr lang="en-US" sz="1800" dirty="0">
                <a:effectLst/>
                <a:latin typeface="+mj-lt"/>
                <a:ea typeface="Times New Roman" panose="02020603050405020304" pitchFamily="18" charset="0"/>
              </a:rPr>
              <a:t> difference between the highest and lowest observed value.</a:t>
            </a:r>
          </a:p>
          <a:p>
            <a:pPr marL="0" indent="0">
              <a:buNone/>
            </a:pPr>
            <a:r>
              <a:rPr lang="en-US" sz="1800" dirty="0">
                <a:latin typeface="+mj-lt"/>
              </a:rPr>
              <a:t>Range (R) = </a:t>
            </a:r>
            <a:r>
              <a:rPr lang="en-US" sz="1800" dirty="0" err="1">
                <a:latin typeface="+mj-lt"/>
              </a:rPr>
              <a:t>x</a:t>
            </a:r>
            <a:r>
              <a:rPr lang="en-US" sz="1800" baseline="-25000" dirty="0" err="1">
                <a:latin typeface="+mj-lt"/>
              </a:rPr>
              <a:t>max</a:t>
            </a:r>
            <a:r>
              <a:rPr lang="en-US" sz="1800" dirty="0">
                <a:latin typeface="+mj-lt"/>
              </a:rPr>
              <a:t> – </a:t>
            </a:r>
            <a:r>
              <a:rPr lang="en-US" sz="1800" dirty="0" err="1">
                <a:latin typeface="+mj-lt"/>
              </a:rPr>
              <a:t>x</a:t>
            </a:r>
            <a:r>
              <a:rPr lang="en-US" sz="1800" baseline="-25000" dirty="0" err="1">
                <a:latin typeface="+mj-lt"/>
              </a:rPr>
              <a:t>min</a:t>
            </a:r>
            <a:endParaRPr lang="en-US" sz="1800" dirty="0">
              <a:latin typeface="+mj-lt"/>
            </a:endParaRPr>
          </a:p>
          <a:p>
            <a:pPr marL="0" indent="0">
              <a:buNone/>
            </a:pPr>
            <a:r>
              <a:rPr lang="en-US" sz="1800" dirty="0">
                <a:latin typeface="+mj-lt"/>
              </a:rPr>
              <a:t>Coefficient of range =</a:t>
            </a:r>
          </a:p>
          <a:p>
            <a:pPr marL="0" indent="0">
              <a:buNone/>
            </a:pPr>
            <a:endParaRPr lang="en-US" sz="1800" dirty="0">
              <a:latin typeface="+mj-lt"/>
            </a:endParaRPr>
          </a:p>
          <a:p>
            <a:pPr marL="0" indent="0">
              <a:buNone/>
            </a:pPr>
            <a:r>
              <a:rPr lang="en-US" sz="1800" b="1" dirty="0">
                <a:latin typeface="+mj-lt"/>
              </a:rPr>
              <a:t>Example</a:t>
            </a:r>
            <a:r>
              <a:rPr lang="en-US" sz="1800" dirty="0">
                <a:latin typeface="+mj-lt"/>
              </a:rPr>
              <a:t>:</a:t>
            </a:r>
          </a:p>
          <a:p>
            <a:pPr marL="0" indent="0">
              <a:buNone/>
            </a:pPr>
            <a:r>
              <a:rPr lang="en-US" sz="1800" dirty="0">
                <a:latin typeface="+mj-lt"/>
              </a:rPr>
              <a:t>The scores of individual students in the examination and coursework component of a module.</a:t>
            </a:r>
          </a:p>
          <a:p>
            <a:pPr marL="0" indent="0">
              <a:buNone/>
            </a:pPr>
            <a:endParaRPr lang="en-US" dirty="0">
              <a:latin typeface="+mj-lt"/>
            </a:endParaRPr>
          </a:p>
          <a:p>
            <a:pPr marL="0" indent="0">
              <a:buNone/>
            </a:pPr>
            <a:endParaRPr lang="en-US" sz="1800" dirty="0">
              <a:latin typeface="+mj-lt"/>
            </a:endParaRPr>
          </a:p>
          <a:p>
            <a:pPr marL="0" indent="0">
              <a:buNone/>
            </a:pPr>
            <a:endParaRPr lang="en-US" dirty="0">
              <a:latin typeface="+mj-lt"/>
            </a:endParaRPr>
          </a:p>
          <a:p>
            <a:pPr marL="0" indent="0">
              <a:buNone/>
            </a:pPr>
            <a:endParaRPr lang="en-US" dirty="0">
              <a:solidFill>
                <a:srgbClr val="333333"/>
              </a:solidFill>
              <a:latin typeface="Arial" panose="020B0604020202020204" pitchFamily="34" charset="0"/>
            </a:endParaRPr>
          </a:p>
          <a:p>
            <a:pPr marL="0" indent="0">
              <a:buNone/>
            </a:pPr>
            <a:r>
              <a:rPr lang="en-US" dirty="0">
                <a:solidFill>
                  <a:srgbClr val="333333"/>
                </a:solidFill>
                <a:latin typeface="Arial" panose="020B0604020202020204" pitchFamily="34" charset="0"/>
              </a:rPr>
              <a:t>Range of score for coursework is 48 – 23 = 25 and that for examination is 47 – 12 = 35. </a:t>
            </a:r>
            <a:r>
              <a:rPr lang="en-US" b="0" i="0" dirty="0">
                <a:solidFill>
                  <a:srgbClr val="333333"/>
                </a:solidFill>
                <a:effectLst/>
                <a:latin typeface="Arial" panose="020B0604020202020204" pitchFamily="34" charset="0"/>
              </a:rPr>
              <a:t>This indicates that there was greater variation in the students’ performance in the examination than in the coursework for this module.</a:t>
            </a:r>
          </a:p>
          <a:p>
            <a:pPr marL="0" indent="0">
              <a:buNone/>
            </a:pPr>
            <a:r>
              <a:rPr lang="en-US" sz="1800" dirty="0">
                <a:solidFill>
                  <a:srgbClr val="333333"/>
                </a:solidFill>
                <a:latin typeface="Arial" panose="020B0604020202020204" pitchFamily="34" charset="0"/>
              </a:rPr>
              <a:t>Coefficient of range for coursework = 48 – 23 / 48 + 23 = 0.3521 = 35.21 %</a:t>
            </a:r>
          </a:p>
          <a:p>
            <a:pPr marL="0" indent="0">
              <a:buNone/>
            </a:pPr>
            <a:r>
              <a:rPr lang="en-US" dirty="0">
                <a:solidFill>
                  <a:srgbClr val="333333"/>
                </a:solidFill>
                <a:latin typeface="Arial" panose="020B0604020202020204" pitchFamily="34" charset="0"/>
              </a:rPr>
              <a:t>Coefficient of range for Examination = 47 – 12 / 47 + 12 = 0.5932 = 59.32 %</a:t>
            </a:r>
            <a:endParaRPr lang="en-US" sz="1800" dirty="0">
              <a:latin typeface="+mj-lt"/>
            </a:endParaRPr>
          </a:p>
          <a:p>
            <a:pPr marL="0" indent="0">
              <a:buNone/>
            </a:pPr>
            <a:endParaRPr lang="en-US" dirty="0"/>
          </a:p>
        </p:txBody>
      </p:sp>
      <p:graphicFrame>
        <p:nvGraphicFramePr>
          <p:cNvPr id="6" name="Object 5">
            <a:extLst>
              <a:ext uri="{FF2B5EF4-FFF2-40B4-BE49-F238E27FC236}">
                <a16:creationId xmlns:a16="http://schemas.microsoft.com/office/drawing/2014/main" id="{1828F51C-EED0-4AB4-83A3-62846EE98BCE}"/>
              </a:ext>
            </a:extLst>
          </p:cNvPr>
          <p:cNvGraphicFramePr>
            <a:graphicFrameLocks noChangeAspect="1"/>
          </p:cNvGraphicFramePr>
          <p:nvPr>
            <p:extLst>
              <p:ext uri="{D42A27DB-BD31-4B8C-83A1-F6EECF244321}">
                <p14:modId xmlns:p14="http://schemas.microsoft.com/office/powerpoint/2010/main" val="1188658699"/>
              </p:ext>
            </p:extLst>
          </p:nvPr>
        </p:nvGraphicFramePr>
        <p:xfrm>
          <a:off x="3235353" y="1803187"/>
          <a:ext cx="1475693" cy="644645"/>
        </p:xfrm>
        <a:graphic>
          <a:graphicData uri="http://schemas.openxmlformats.org/presentationml/2006/ole">
            <mc:AlternateContent xmlns:mc="http://schemas.openxmlformats.org/markup-compatibility/2006">
              <mc:Choice xmlns:v="urn:schemas-microsoft-com:vml" Requires="v">
                <p:oleObj name="Equation" r:id="rId2" imgW="685800" imgH="431640" progId="Equation.DSMT4">
                  <p:embed/>
                </p:oleObj>
              </mc:Choice>
              <mc:Fallback>
                <p:oleObj name="Equation" r:id="rId2" imgW="685800" imgH="431640" progId="Equation.DSMT4">
                  <p:embed/>
                  <p:pic>
                    <p:nvPicPr>
                      <p:cNvPr id="6" name="Object 5">
                        <a:extLst>
                          <a:ext uri="{FF2B5EF4-FFF2-40B4-BE49-F238E27FC236}">
                            <a16:creationId xmlns:a16="http://schemas.microsoft.com/office/drawing/2014/main" id="{5C10390F-D792-4487-B03F-12A2FBE249C7}"/>
                          </a:ext>
                        </a:extLst>
                      </p:cNvPr>
                      <p:cNvPicPr/>
                      <p:nvPr/>
                    </p:nvPicPr>
                    <p:blipFill>
                      <a:blip r:embed="rId3"/>
                      <a:stretch>
                        <a:fillRect/>
                      </a:stretch>
                    </p:blipFill>
                    <p:spPr>
                      <a:xfrm>
                        <a:off x="3235353" y="1803187"/>
                        <a:ext cx="1475693" cy="644645"/>
                      </a:xfrm>
                      <a:prstGeom prst="rect">
                        <a:avLst/>
                      </a:prstGeom>
                    </p:spPr>
                  </p:pic>
                </p:oleObj>
              </mc:Fallback>
            </mc:AlternateContent>
          </a:graphicData>
        </a:graphic>
      </p:graphicFrame>
      <p:graphicFrame>
        <p:nvGraphicFramePr>
          <p:cNvPr id="7" name="Table 8">
            <a:extLst>
              <a:ext uri="{FF2B5EF4-FFF2-40B4-BE49-F238E27FC236}">
                <a16:creationId xmlns:a16="http://schemas.microsoft.com/office/drawing/2014/main" id="{E76FDE84-716A-4FAA-ADC0-12DAAE7A04DF}"/>
              </a:ext>
            </a:extLst>
          </p:cNvPr>
          <p:cNvGraphicFramePr>
            <a:graphicFrameLocks noGrp="1"/>
          </p:cNvGraphicFramePr>
          <p:nvPr>
            <p:extLst>
              <p:ext uri="{D42A27DB-BD31-4B8C-83A1-F6EECF244321}">
                <p14:modId xmlns:p14="http://schemas.microsoft.com/office/powerpoint/2010/main" val="3202097055"/>
              </p:ext>
            </p:extLst>
          </p:nvPr>
        </p:nvGraphicFramePr>
        <p:xfrm>
          <a:off x="755099" y="3514905"/>
          <a:ext cx="10455270" cy="914400"/>
        </p:xfrm>
        <a:graphic>
          <a:graphicData uri="http://schemas.openxmlformats.org/drawingml/2006/table">
            <a:tbl>
              <a:tblPr firstRow="1" bandRow="1">
                <a:tableStyleId>{D27102A9-8310-4765-A935-A1911B00CA55}</a:tableStyleId>
              </a:tblPr>
              <a:tblGrid>
                <a:gridCol w="1101725">
                  <a:extLst>
                    <a:ext uri="{9D8B030D-6E8A-4147-A177-3AD203B41FA5}">
                      <a16:colId xmlns:a16="http://schemas.microsoft.com/office/drawing/2014/main" val="1144825785"/>
                    </a:ext>
                  </a:extLst>
                </a:gridCol>
                <a:gridCol w="514350">
                  <a:extLst>
                    <a:ext uri="{9D8B030D-6E8A-4147-A177-3AD203B41FA5}">
                      <a16:colId xmlns:a16="http://schemas.microsoft.com/office/drawing/2014/main" val="1578430572"/>
                    </a:ext>
                  </a:extLst>
                </a:gridCol>
                <a:gridCol w="474979">
                  <a:extLst>
                    <a:ext uri="{9D8B030D-6E8A-4147-A177-3AD203B41FA5}">
                      <a16:colId xmlns:a16="http://schemas.microsoft.com/office/drawing/2014/main" val="438242491"/>
                    </a:ext>
                  </a:extLst>
                </a:gridCol>
                <a:gridCol w="697018">
                  <a:extLst>
                    <a:ext uri="{9D8B030D-6E8A-4147-A177-3AD203B41FA5}">
                      <a16:colId xmlns:a16="http://schemas.microsoft.com/office/drawing/2014/main" val="1147825747"/>
                    </a:ext>
                  </a:extLst>
                </a:gridCol>
                <a:gridCol w="697018">
                  <a:extLst>
                    <a:ext uri="{9D8B030D-6E8A-4147-A177-3AD203B41FA5}">
                      <a16:colId xmlns:a16="http://schemas.microsoft.com/office/drawing/2014/main" val="4089906939"/>
                    </a:ext>
                  </a:extLst>
                </a:gridCol>
                <a:gridCol w="697018">
                  <a:extLst>
                    <a:ext uri="{9D8B030D-6E8A-4147-A177-3AD203B41FA5}">
                      <a16:colId xmlns:a16="http://schemas.microsoft.com/office/drawing/2014/main" val="106412005"/>
                    </a:ext>
                  </a:extLst>
                </a:gridCol>
                <a:gridCol w="697018">
                  <a:extLst>
                    <a:ext uri="{9D8B030D-6E8A-4147-A177-3AD203B41FA5}">
                      <a16:colId xmlns:a16="http://schemas.microsoft.com/office/drawing/2014/main" val="4095814362"/>
                    </a:ext>
                  </a:extLst>
                </a:gridCol>
                <a:gridCol w="697018">
                  <a:extLst>
                    <a:ext uri="{9D8B030D-6E8A-4147-A177-3AD203B41FA5}">
                      <a16:colId xmlns:a16="http://schemas.microsoft.com/office/drawing/2014/main" val="2865263497"/>
                    </a:ext>
                  </a:extLst>
                </a:gridCol>
                <a:gridCol w="697018">
                  <a:extLst>
                    <a:ext uri="{9D8B030D-6E8A-4147-A177-3AD203B41FA5}">
                      <a16:colId xmlns:a16="http://schemas.microsoft.com/office/drawing/2014/main" val="2564810895"/>
                    </a:ext>
                  </a:extLst>
                </a:gridCol>
                <a:gridCol w="697018">
                  <a:extLst>
                    <a:ext uri="{9D8B030D-6E8A-4147-A177-3AD203B41FA5}">
                      <a16:colId xmlns:a16="http://schemas.microsoft.com/office/drawing/2014/main" val="1797132467"/>
                    </a:ext>
                  </a:extLst>
                </a:gridCol>
                <a:gridCol w="697018">
                  <a:extLst>
                    <a:ext uri="{9D8B030D-6E8A-4147-A177-3AD203B41FA5}">
                      <a16:colId xmlns:a16="http://schemas.microsoft.com/office/drawing/2014/main" val="544223520"/>
                    </a:ext>
                  </a:extLst>
                </a:gridCol>
                <a:gridCol w="697018">
                  <a:extLst>
                    <a:ext uri="{9D8B030D-6E8A-4147-A177-3AD203B41FA5}">
                      <a16:colId xmlns:a16="http://schemas.microsoft.com/office/drawing/2014/main" val="1582714734"/>
                    </a:ext>
                  </a:extLst>
                </a:gridCol>
                <a:gridCol w="697018">
                  <a:extLst>
                    <a:ext uri="{9D8B030D-6E8A-4147-A177-3AD203B41FA5}">
                      <a16:colId xmlns:a16="http://schemas.microsoft.com/office/drawing/2014/main" val="615998034"/>
                    </a:ext>
                  </a:extLst>
                </a:gridCol>
                <a:gridCol w="697018">
                  <a:extLst>
                    <a:ext uri="{9D8B030D-6E8A-4147-A177-3AD203B41FA5}">
                      <a16:colId xmlns:a16="http://schemas.microsoft.com/office/drawing/2014/main" val="3875637902"/>
                    </a:ext>
                  </a:extLst>
                </a:gridCol>
                <a:gridCol w="697018">
                  <a:extLst>
                    <a:ext uri="{9D8B030D-6E8A-4147-A177-3AD203B41FA5}">
                      <a16:colId xmlns:a16="http://schemas.microsoft.com/office/drawing/2014/main" val="1723299972"/>
                    </a:ext>
                  </a:extLst>
                </a:gridCol>
              </a:tblGrid>
              <a:tr h="304800">
                <a:tc>
                  <a:txBody>
                    <a:bodyPr/>
                    <a:lstStyle/>
                    <a:p>
                      <a:r>
                        <a:rPr lang="en-US" sz="1200" dirty="0"/>
                        <a:t>Student</a:t>
                      </a:r>
                    </a:p>
                  </a:txBody>
                  <a:tcPr/>
                </a:tc>
                <a:tc>
                  <a:txBody>
                    <a:bodyPr/>
                    <a:lstStyle/>
                    <a:p>
                      <a:r>
                        <a:rPr lang="en-US" sz="1200" dirty="0"/>
                        <a:t>A</a:t>
                      </a:r>
                    </a:p>
                  </a:txBody>
                  <a:tcPr/>
                </a:tc>
                <a:tc>
                  <a:txBody>
                    <a:bodyPr/>
                    <a:lstStyle/>
                    <a:p>
                      <a:r>
                        <a:rPr lang="en-US" sz="1200" dirty="0"/>
                        <a:t>B</a:t>
                      </a:r>
                    </a:p>
                  </a:txBody>
                  <a:tcPr/>
                </a:tc>
                <a:tc>
                  <a:txBody>
                    <a:bodyPr/>
                    <a:lstStyle/>
                    <a:p>
                      <a:r>
                        <a:rPr lang="en-US" sz="1200" dirty="0"/>
                        <a:t>C</a:t>
                      </a:r>
                    </a:p>
                  </a:txBody>
                  <a:tcPr/>
                </a:tc>
                <a:tc>
                  <a:txBody>
                    <a:bodyPr/>
                    <a:lstStyle/>
                    <a:p>
                      <a:r>
                        <a:rPr lang="en-US" sz="1200" dirty="0"/>
                        <a:t>D</a:t>
                      </a:r>
                    </a:p>
                  </a:txBody>
                  <a:tcPr/>
                </a:tc>
                <a:tc>
                  <a:txBody>
                    <a:bodyPr/>
                    <a:lstStyle/>
                    <a:p>
                      <a:r>
                        <a:rPr lang="en-US" sz="1200" dirty="0"/>
                        <a:t>E</a:t>
                      </a:r>
                    </a:p>
                  </a:txBody>
                  <a:tcPr/>
                </a:tc>
                <a:tc>
                  <a:txBody>
                    <a:bodyPr/>
                    <a:lstStyle/>
                    <a:p>
                      <a:r>
                        <a:rPr lang="en-US" sz="1200" dirty="0"/>
                        <a:t>F</a:t>
                      </a:r>
                    </a:p>
                  </a:txBody>
                  <a:tcPr/>
                </a:tc>
                <a:tc>
                  <a:txBody>
                    <a:bodyPr/>
                    <a:lstStyle/>
                    <a:p>
                      <a:r>
                        <a:rPr lang="en-US" sz="1200" dirty="0"/>
                        <a:t>G</a:t>
                      </a:r>
                    </a:p>
                  </a:txBody>
                  <a:tcPr/>
                </a:tc>
                <a:tc>
                  <a:txBody>
                    <a:bodyPr/>
                    <a:lstStyle/>
                    <a:p>
                      <a:r>
                        <a:rPr lang="en-US" sz="1200" dirty="0"/>
                        <a:t>H</a:t>
                      </a:r>
                    </a:p>
                  </a:txBody>
                  <a:tcPr/>
                </a:tc>
                <a:tc>
                  <a:txBody>
                    <a:bodyPr/>
                    <a:lstStyle/>
                    <a:p>
                      <a:r>
                        <a:rPr lang="en-US" sz="1200" dirty="0"/>
                        <a:t>I</a:t>
                      </a:r>
                    </a:p>
                  </a:txBody>
                  <a:tcPr/>
                </a:tc>
                <a:tc>
                  <a:txBody>
                    <a:bodyPr/>
                    <a:lstStyle/>
                    <a:p>
                      <a:r>
                        <a:rPr lang="en-US" sz="1200" dirty="0"/>
                        <a:t>J</a:t>
                      </a:r>
                    </a:p>
                  </a:txBody>
                  <a:tcPr/>
                </a:tc>
                <a:tc>
                  <a:txBody>
                    <a:bodyPr/>
                    <a:lstStyle/>
                    <a:p>
                      <a:r>
                        <a:rPr lang="en-US" sz="1200" dirty="0"/>
                        <a:t>K</a:t>
                      </a:r>
                    </a:p>
                  </a:txBody>
                  <a:tcPr/>
                </a:tc>
                <a:tc>
                  <a:txBody>
                    <a:bodyPr/>
                    <a:lstStyle/>
                    <a:p>
                      <a:r>
                        <a:rPr lang="en-US" sz="1200" dirty="0"/>
                        <a:t>L</a:t>
                      </a:r>
                    </a:p>
                  </a:txBody>
                  <a:tcPr/>
                </a:tc>
                <a:tc>
                  <a:txBody>
                    <a:bodyPr/>
                    <a:lstStyle/>
                    <a:p>
                      <a:r>
                        <a:rPr lang="en-US" sz="1200" dirty="0"/>
                        <a:t>M</a:t>
                      </a:r>
                    </a:p>
                  </a:txBody>
                  <a:tcPr/>
                </a:tc>
                <a:tc>
                  <a:txBody>
                    <a:bodyPr/>
                    <a:lstStyle/>
                    <a:p>
                      <a:r>
                        <a:rPr lang="en-US" sz="1200" dirty="0"/>
                        <a:t>N</a:t>
                      </a:r>
                    </a:p>
                  </a:txBody>
                  <a:tcPr/>
                </a:tc>
                <a:extLst>
                  <a:ext uri="{0D108BD9-81ED-4DB2-BD59-A6C34878D82A}">
                    <a16:rowId xmlns:a16="http://schemas.microsoft.com/office/drawing/2014/main" val="1217365486"/>
                  </a:ext>
                </a:extLst>
              </a:tr>
              <a:tr h="304800">
                <a:tc>
                  <a:txBody>
                    <a:bodyPr/>
                    <a:lstStyle/>
                    <a:p>
                      <a:r>
                        <a:rPr lang="en-US" sz="1200" dirty="0"/>
                        <a:t>Coursework</a:t>
                      </a:r>
                    </a:p>
                  </a:txBody>
                  <a:tcPr/>
                </a:tc>
                <a:tc>
                  <a:txBody>
                    <a:bodyPr/>
                    <a:lstStyle/>
                    <a:p>
                      <a:r>
                        <a:rPr lang="en-US" sz="1200" dirty="0"/>
                        <a:t>27</a:t>
                      </a:r>
                    </a:p>
                  </a:txBody>
                  <a:tcPr/>
                </a:tc>
                <a:tc>
                  <a:txBody>
                    <a:bodyPr/>
                    <a:lstStyle/>
                    <a:p>
                      <a:r>
                        <a:rPr lang="en-US" sz="1200" dirty="0"/>
                        <a:t>44</a:t>
                      </a:r>
                    </a:p>
                  </a:txBody>
                  <a:tcPr/>
                </a:tc>
                <a:tc>
                  <a:txBody>
                    <a:bodyPr/>
                    <a:lstStyle/>
                    <a:p>
                      <a:r>
                        <a:rPr lang="en-US" sz="1200" dirty="0"/>
                        <a:t>39</a:t>
                      </a:r>
                    </a:p>
                  </a:txBody>
                  <a:tcPr/>
                </a:tc>
                <a:tc>
                  <a:txBody>
                    <a:bodyPr/>
                    <a:lstStyle/>
                    <a:p>
                      <a:r>
                        <a:rPr lang="en-US" sz="1200" dirty="0"/>
                        <a:t>23</a:t>
                      </a:r>
                    </a:p>
                  </a:txBody>
                  <a:tcPr/>
                </a:tc>
                <a:tc>
                  <a:txBody>
                    <a:bodyPr/>
                    <a:lstStyle/>
                    <a:p>
                      <a:r>
                        <a:rPr lang="en-US" sz="1200" dirty="0"/>
                        <a:t>41</a:t>
                      </a:r>
                    </a:p>
                  </a:txBody>
                  <a:tcPr/>
                </a:tc>
                <a:tc>
                  <a:txBody>
                    <a:bodyPr/>
                    <a:lstStyle/>
                    <a:p>
                      <a:r>
                        <a:rPr lang="en-US" sz="1200" dirty="0"/>
                        <a:t>48</a:t>
                      </a:r>
                    </a:p>
                  </a:txBody>
                  <a:tcPr/>
                </a:tc>
                <a:tc>
                  <a:txBody>
                    <a:bodyPr/>
                    <a:lstStyle/>
                    <a:p>
                      <a:r>
                        <a:rPr lang="en-US" sz="1200" dirty="0"/>
                        <a:t>37</a:t>
                      </a:r>
                    </a:p>
                  </a:txBody>
                  <a:tcPr/>
                </a:tc>
                <a:tc>
                  <a:txBody>
                    <a:bodyPr/>
                    <a:lstStyle/>
                    <a:p>
                      <a:r>
                        <a:rPr lang="en-US" sz="1200" dirty="0"/>
                        <a:t>34</a:t>
                      </a:r>
                    </a:p>
                  </a:txBody>
                  <a:tcPr/>
                </a:tc>
                <a:tc>
                  <a:txBody>
                    <a:bodyPr/>
                    <a:lstStyle/>
                    <a:p>
                      <a:r>
                        <a:rPr lang="en-US" sz="1200" dirty="0"/>
                        <a:t>40</a:t>
                      </a:r>
                    </a:p>
                  </a:txBody>
                  <a:tcPr/>
                </a:tc>
                <a:tc>
                  <a:txBody>
                    <a:bodyPr/>
                    <a:lstStyle/>
                    <a:p>
                      <a:r>
                        <a:rPr lang="en-US" sz="1200" dirty="0"/>
                        <a:t>43</a:t>
                      </a:r>
                    </a:p>
                  </a:txBody>
                  <a:tcPr/>
                </a:tc>
                <a:tc>
                  <a:txBody>
                    <a:bodyPr/>
                    <a:lstStyle/>
                    <a:p>
                      <a:r>
                        <a:rPr lang="en-US" sz="1200" dirty="0"/>
                        <a:t>30</a:t>
                      </a:r>
                    </a:p>
                  </a:txBody>
                  <a:tcPr/>
                </a:tc>
                <a:tc>
                  <a:txBody>
                    <a:bodyPr/>
                    <a:lstStyle/>
                    <a:p>
                      <a:r>
                        <a:rPr lang="en-US" sz="1200" dirty="0"/>
                        <a:t>43</a:t>
                      </a:r>
                    </a:p>
                  </a:txBody>
                  <a:tcPr/>
                </a:tc>
                <a:tc>
                  <a:txBody>
                    <a:bodyPr/>
                    <a:lstStyle/>
                    <a:p>
                      <a:r>
                        <a:rPr lang="en-US" sz="1200" dirty="0"/>
                        <a:t>29</a:t>
                      </a:r>
                    </a:p>
                  </a:txBody>
                  <a:tcPr/>
                </a:tc>
                <a:tc>
                  <a:txBody>
                    <a:bodyPr/>
                    <a:lstStyle/>
                    <a:p>
                      <a:r>
                        <a:rPr lang="en-US" sz="1200" dirty="0"/>
                        <a:t>27</a:t>
                      </a:r>
                    </a:p>
                  </a:txBody>
                  <a:tcPr/>
                </a:tc>
                <a:extLst>
                  <a:ext uri="{0D108BD9-81ED-4DB2-BD59-A6C34878D82A}">
                    <a16:rowId xmlns:a16="http://schemas.microsoft.com/office/drawing/2014/main" val="822816831"/>
                  </a:ext>
                </a:extLst>
              </a:tr>
              <a:tr h="304800">
                <a:tc>
                  <a:txBody>
                    <a:bodyPr/>
                    <a:lstStyle/>
                    <a:p>
                      <a:r>
                        <a:rPr lang="en-US" sz="1200" dirty="0"/>
                        <a:t>Examination</a:t>
                      </a:r>
                    </a:p>
                  </a:txBody>
                  <a:tcPr/>
                </a:tc>
                <a:tc>
                  <a:txBody>
                    <a:bodyPr/>
                    <a:lstStyle/>
                    <a:p>
                      <a:r>
                        <a:rPr lang="en-US" sz="1200" dirty="0"/>
                        <a:t>12</a:t>
                      </a:r>
                    </a:p>
                  </a:txBody>
                  <a:tcPr/>
                </a:tc>
                <a:tc>
                  <a:txBody>
                    <a:bodyPr/>
                    <a:lstStyle/>
                    <a:p>
                      <a:r>
                        <a:rPr lang="en-US" sz="1200" dirty="0"/>
                        <a:t>47</a:t>
                      </a:r>
                    </a:p>
                  </a:txBody>
                  <a:tcPr/>
                </a:tc>
                <a:tc>
                  <a:txBody>
                    <a:bodyPr/>
                    <a:lstStyle/>
                    <a:p>
                      <a:r>
                        <a:rPr lang="en-US" sz="1200" dirty="0"/>
                        <a:t>26</a:t>
                      </a:r>
                    </a:p>
                  </a:txBody>
                  <a:tcPr/>
                </a:tc>
                <a:tc>
                  <a:txBody>
                    <a:bodyPr/>
                    <a:lstStyle/>
                    <a:p>
                      <a:r>
                        <a:rPr lang="en-US" sz="1200" dirty="0"/>
                        <a:t>25</a:t>
                      </a:r>
                    </a:p>
                  </a:txBody>
                  <a:tcPr/>
                </a:tc>
                <a:tc>
                  <a:txBody>
                    <a:bodyPr/>
                    <a:lstStyle/>
                    <a:p>
                      <a:r>
                        <a:rPr lang="en-US" sz="1200" dirty="0"/>
                        <a:t>38</a:t>
                      </a:r>
                    </a:p>
                  </a:txBody>
                  <a:tcPr/>
                </a:tc>
                <a:tc>
                  <a:txBody>
                    <a:bodyPr/>
                    <a:lstStyle/>
                    <a:p>
                      <a:r>
                        <a:rPr lang="en-US" sz="1200" dirty="0"/>
                        <a:t>45</a:t>
                      </a:r>
                    </a:p>
                  </a:txBody>
                  <a:tcPr/>
                </a:tc>
                <a:tc>
                  <a:txBody>
                    <a:bodyPr/>
                    <a:lstStyle/>
                    <a:p>
                      <a:r>
                        <a:rPr lang="en-US" sz="1200" dirty="0"/>
                        <a:t>35</a:t>
                      </a:r>
                    </a:p>
                  </a:txBody>
                  <a:tcPr/>
                </a:tc>
                <a:tc>
                  <a:txBody>
                    <a:bodyPr/>
                    <a:lstStyle/>
                    <a:p>
                      <a:r>
                        <a:rPr lang="en-US" sz="1200" dirty="0"/>
                        <a:t>35</a:t>
                      </a:r>
                    </a:p>
                  </a:txBody>
                  <a:tcPr/>
                </a:tc>
                <a:tc>
                  <a:txBody>
                    <a:bodyPr/>
                    <a:lstStyle/>
                    <a:p>
                      <a:r>
                        <a:rPr lang="en-US" sz="1200" dirty="0"/>
                        <a:t>41</a:t>
                      </a:r>
                    </a:p>
                  </a:txBody>
                  <a:tcPr/>
                </a:tc>
                <a:tc>
                  <a:txBody>
                    <a:bodyPr/>
                    <a:lstStyle/>
                    <a:p>
                      <a:r>
                        <a:rPr lang="en-US" sz="1200" dirty="0"/>
                        <a:t>39</a:t>
                      </a:r>
                    </a:p>
                  </a:txBody>
                  <a:tcPr/>
                </a:tc>
                <a:tc>
                  <a:txBody>
                    <a:bodyPr/>
                    <a:lstStyle/>
                    <a:p>
                      <a:r>
                        <a:rPr lang="en-US" sz="1200" dirty="0"/>
                        <a:t>32</a:t>
                      </a:r>
                    </a:p>
                  </a:txBody>
                  <a:tcPr/>
                </a:tc>
                <a:tc>
                  <a:txBody>
                    <a:bodyPr/>
                    <a:lstStyle/>
                    <a:p>
                      <a:r>
                        <a:rPr lang="en-US" sz="1200" dirty="0"/>
                        <a:t>25</a:t>
                      </a:r>
                    </a:p>
                  </a:txBody>
                  <a:tcPr/>
                </a:tc>
                <a:tc>
                  <a:txBody>
                    <a:bodyPr/>
                    <a:lstStyle/>
                    <a:p>
                      <a:r>
                        <a:rPr lang="en-US" sz="1200" dirty="0"/>
                        <a:t>18</a:t>
                      </a:r>
                    </a:p>
                  </a:txBody>
                  <a:tcPr/>
                </a:tc>
                <a:tc>
                  <a:txBody>
                    <a:bodyPr/>
                    <a:lstStyle/>
                    <a:p>
                      <a:r>
                        <a:rPr lang="en-US" sz="1200" dirty="0"/>
                        <a:t>30</a:t>
                      </a:r>
                    </a:p>
                  </a:txBody>
                  <a:tcPr/>
                </a:tc>
                <a:extLst>
                  <a:ext uri="{0D108BD9-81ED-4DB2-BD59-A6C34878D82A}">
                    <a16:rowId xmlns:a16="http://schemas.microsoft.com/office/drawing/2014/main" val="1098744410"/>
                  </a:ext>
                </a:extLst>
              </a:tr>
            </a:tbl>
          </a:graphicData>
        </a:graphic>
      </p:graphicFrame>
      <p:sp>
        <p:nvSpPr>
          <p:cNvPr id="4" name="Footer Placeholder 3">
            <a:extLst>
              <a:ext uri="{FF2B5EF4-FFF2-40B4-BE49-F238E27FC236}">
                <a16:creationId xmlns:a16="http://schemas.microsoft.com/office/drawing/2014/main" id="{C52A8633-DA02-4A5A-9A9C-96D3434AD2A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89100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C32C1CC-4BB6-4D52-B80D-E38F26C4A35C}"/>
              </a:ext>
            </a:extLst>
          </p:cNvPr>
          <p:cNvSpPr>
            <a:spLocks noGrp="1"/>
          </p:cNvSpPr>
          <p:nvPr>
            <p:ph sz="half" idx="2"/>
          </p:nvPr>
        </p:nvSpPr>
        <p:spPr>
          <a:xfrm>
            <a:off x="905774" y="767751"/>
            <a:ext cx="10219426" cy="5374257"/>
          </a:xfrm>
        </p:spPr>
        <p:txBody>
          <a:bodyPr>
            <a:normAutofit/>
          </a:bodyPr>
          <a:lstStyle/>
          <a:p>
            <a:pPr marL="0" indent="0">
              <a:buNone/>
            </a:pPr>
            <a:r>
              <a:rPr lang="en-US" sz="1600" b="1" dirty="0">
                <a:latin typeface="+mj-lt"/>
              </a:rPr>
              <a:t>Properties</a:t>
            </a:r>
          </a:p>
          <a:p>
            <a:r>
              <a:rPr lang="en-US" sz="1600" dirty="0">
                <a:effectLst/>
                <a:latin typeface="+mj-lt"/>
                <a:ea typeface="Times New Roman" panose="02020603050405020304" pitchFamily="18" charset="0"/>
              </a:rPr>
              <a:t>It is simple but crude measure of variation</a:t>
            </a:r>
          </a:p>
          <a:p>
            <a:r>
              <a:rPr lang="en-US" sz="1600" dirty="0">
                <a:effectLst/>
                <a:latin typeface="+mj-lt"/>
                <a:ea typeface="Times New Roman" panose="02020603050405020304" pitchFamily="18" charset="0"/>
              </a:rPr>
              <a:t>It is used to get idea of spread of whole distribution</a:t>
            </a:r>
          </a:p>
          <a:p>
            <a:r>
              <a:rPr lang="en-US" sz="1600" dirty="0">
                <a:latin typeface="+mj-lt"/>
                <a:ea typeface="Times New Roman" panose="02020603050405020304" pitchFamily="18" charset="0"/>
              </a:rPr>
              <a:t>It gives a quick sense of its spread</a:t>
            </a:r>
            <a:endParaRPr lang="en-US" sz="1600" dirty="0">
              <a:effectLst/>
              <a:latin typeface="+mj-lt"/>
              <a:ea typeface="Times New Roman" panose="02020603050405020304" pitchFamily="18" charset="0"/>
            </a:endParaRPr>
          </a:p>
          <a:p>
            <a:r>
              <a:rPr lang="en-US" sz="1600" dirty="0">
                <a:effectLst/>
                <a:latin typeface="+mj-lt"/>
                <a:ea typeface="Times New Roman" panose="02020603050405020304" pitchFamily="18" charset="0"/>
              </a:rPr>
              <a:t>It is based upon two observations only (highest and lowest). So it is not reliable measure. </a:t>
            </a:r>
          </a:p>
          <a:p>
            <a:r>
              <a:rPr lang="en-US" sz="1600" dirty="0">
                <a:effectLst/>
                <a:latin typeface="+mj-lt"/>
                <a:ea typeface="Times New Roman" panose="02020603050405020304" pitchFamily="18" charset="0"/>
              </a:rPr>
              <a:t>It is heavily influence by extreme values. </a:t>
            </a:r>
          </a:p>
          <a:p>
            <a:r>
              <a:rPr lang="en-US" sz="1600" dirty="0">
                <a:effectLst/>
                <a:latin typeface="+mj-lt"/>
                <a:ea typeface="Times New Roman" panose="02020603050405020304" pitchFamily="18" charset="0"/>
              </a:rPr>
              <a:t>It ignores the nature of variation among all the other observations. The spread near the center of the data is not captured at all.</a:t>
            </a:r>
          </a:p>
          <a:p>
            <a:pPr marL="0" indent="0">
              <a:buNone/>
            </a:pPr>
            <a:endParaRPr lang="en-US" sz="1600" dirty="0">
              <a:effectLst/>
              <a:latin typeface="+mj-lt"/>
              <a:ea typeface="Times New Roman" panose="02020603050405020304" pitchFamily="18" charset="0"/>
            </a:endParaRPr>
          </a:p>
          <a:p>
            <a:pPr marL="0" indent="0">
              <a:buNone/>
            </a:pPr>
            <a:r>
              <a:rPr lang="en-US" sz="1600" b="1" dirty="0">
                <a:latin typeface="+mj-lt"/>
              </a:rPr>
              <a:t>Uses</a:t>
            </a:r>
            <a:r>
              <a:rPr lang="en-US" sz="1600" dirty="0">
                <a:latin typeface="+mj-lt"/>
              </a:rPr>
              <a:t>:</a:t>
            </a:r>
          </a:p>
          <a:p>
            <a:pPr marL="342900" indent="-342900">
              <a:buAutoNum type="arabicPeriod"/>
            </a:pPr>
            <a:r>
              <a:rPr lang="en-US" sz="1600" dirty="0">
                <a:latin typeface="+mj-lt"/>
              </a:rPr>
              <a:t>Analysis of stock data; the difference between highest and lowest value of stock.</a:t>
            </a:r>
          </a:p>
          <a:p>
            <a:pPr marL="342900" indent="-342900">
              <a:buAutoNum type="arabicPeriod"/>
            </a:pPr>
            <a:r>
              <a:rPr lang="en-US" sz="1600" dirty="0">
                <a:latin typeface="+mj-lt"/>
              </a:rPr>
              <a:t>Analysis of temperature difference per day.</a:t>
            </a:r>
          </a:p>
          <a:p>
            <a:pPr marL="0" indent="0">
              <a:buNone/>
            </a:pPr>
            <a:endParaRPr lang="en-US" dirty="0"/>
          </a:p>
        </p:txBody>
      </p:sp>
      <p:sp>
        <p:nvSpPr>
          <p:cNvPr id="2" name="Footer Placeholder 1">
            <a:extLst>
              <a:ext uri="{FF2B5EF4-FFF2-40B4-BE49-F238E27FC236}">
                <a16:creationId xmlns:a16="http://schemas.microsoft.com/office/drawing/2014/main" id="{A105E02E-CC6B-413D-8371-0C202A40E12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722423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4EE6C-0FAB-4450-95CF-7CFDF33DB858}"/>
              </a:ext>
            </a:extLst>
          </p:cNvPr>
          <p:cNvSpPr>
            <a:spLocks noGrp="1"/>
          </p:cNvSpPr>
          <p:nvPr>
            <p:ph type="title"/>
          </p:nvPr>
        </p:nvSpPr>
        <p:spPr>
          <a:xfrm>
            <a:off x="646981" y="504571"/>
            <a:ext cx="10203899" cy="363246"/>
          </a:xfrm>
        </p:spPr>
        <p:txBody>
          <a:bodyPr>
            <a:normAutofit fontScale="90000"/>
          </a:bodyPr>
          <a:lstStyle/>
          <a:p>
            <a:r>
              <a:rPr lang="en-US" sz="2000" b="1" dirty="0"/>
              <a:t>Fractiles or Partitioning values</a:t>
            </a:r>
          </a:p>
        </p:txBody>
      </p:sp>
      <p:sp>
        <p:nvSpPr>
          <p:cNvPr id="3" name="Content Placeholder 2">
            <a:extLst>
              <a:ext uri="{FF2B5EF4-FFF2-40B4-BE49-F238E27FC236}">
                <a16:creationId xmlns:a16="http://schemas.microsoft.com/office/drawing/2014/main" id="{292E916E-959F-45BF-A09C-1866409D4FB1}"/>
              </a:ext>
            </a:extLst>
          </p:cNvPr>
          <p:cNvSpPr>
            <a:spLocks noGrp="1"/>
          </p:cNvSpPr>
          <p:nvPr>
            <p:ph sz="half" idx="1"/>
          </p:nvPr>
        </p:nvSpPr>
        <p:spPr>
          <a:xfrm>
            <a:off x="646981" y="1112807"/>
            <a:ext cx="10895162" cy="5240621"/>
          </a:xfrm>
        </p:spPr>
        <p:txBody>
          <a:bodyPr>
            <a:normAutofit fontScale="92500" lnSpcReduction="10000"/>
          </a:bodyPr>
          <a:lstStyle/>
          <a:p>
            <a:pPr marL="0" indent="0">
              <a:buNone/>
            </a:pPr>
            <a:r>
              <a:rPr lang="en-US" b="0" i="0" dirty="0">
                <a:solidFill>
                  <a:srgbClr val="222222"/>
                </a:solidFill>
                <a:effectLst/>
                <a:latin typeface="arial" panose="020B0604020202020204" pitchFamily="34" charset="0"/>
              </a:rPr>
              <a:t>A </a:t>
            </a:r>
            <a:r>
              <a:rPr lang="en-US" b="1" i="0" dirty="0">
                <a:solidFill>
                  <a:srgbClr val="222222"/>
                </a:solidFill>
                <a:effectLst/>
                <a:latin typeface="arial" panose="020B0604020202020204" pitchFamily="34" charset="0"/>
              </a:rPr>
              <a:t>fractile</a:t>
            </a:r>
            <a:r>
              <a:rPr lang="en-US" b="0" i="0" dirty="0">
                <a:solidFill>
                  <a:srgbClr val="222222"/>
                </a:solidFill>
                <a:effectLst/>
                <a:latin typeface="arial" panose="020B0604020202020204" pitchFamily="34" charset="0"/>
              </a:rPr>
              <a:t> is the cut off point for a certain fraction of a sample.</a:t>
            </a:r>
          </a:p>
          <a:p>
            <a:pPr marL="0" marR="0" indent="0">
              <a:spcBef>
                <a:spcPts val="0"/>
              </a:spcBef>
              <a:spcAft>
                <a:spcPts val="0"/>
              </a:spcAft>
              <a:buNone/>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pPr>
            <a:r>
              <a:rPr lang="en-US" sz="1800" dirty="0">
                <a:effectLst/>
                <a:latin typeface="Calibri" panose="020F0502020204030204" pitchFamily="34" charset="0"/>
                <a:ea typeface="Times New Roman" panose="02020603050405020304" pitchFamily="18" charset="0"/>
              </a:rPr>
              <a:t>Fractiles are:</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dirty="0">
                <a:effectLst/>
                <a:latin typeface="Calibri" panose="020F0502020204030204" pitchFamily="34" charset="0"/>
                <a:ea typeface="Times New Roman" panose="02020603050405020304" pitchFamily="18" charset="0"/>
              </a:rPr>
              <a:t>Quartiles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dirty="0">
                <a:effectLst/>
                <a:latin typeface="Calibri" panose="020F0502020204030204" pitchFamily="34" charset="0"/>
                <a:ea typeface="Times New Roman" panose="02020603050405020304" pitchFamily="18" charset="0"/>
              </a:rPr>
              <a:t>Deciles</a:t>
            </a:r>
            <a:endParaRPr lang="en-US" sz="1800"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0"/>
              </a:spcAft>
              <a:buFont typeface="+mj-lt"/>
              <a:buAutoNum type="arabicPeriod"/>
            </a:pPr>
            <a:r>
              <a:rPr lang="en-US" sz="1800" dirty="0">
                <a:effectLst/>
                <a:latin typeface="Calibri" panose="020F0502020204030204" pitchFamily="34" charset="0"/>
                <a:ea typeface="Times New Roman" panose="02020603050405020304" pitchFamily="18" charset="0"/>
              </a:rPr>
              <a:t>Percentiles</a:t>
            </a:r>
          </a:p>
          <a:p>
            <a:pPr marL="0" marR="0" lvl="0" indent="0">
              <a:spcBef>
                <a:spcPts val="0"/>
              </a:spcBef>
              <a:spcAft>
                <a:spcPts val="0"/>
              </a:spcAft>
              <a:buNone/>
            </a:pPr>
            <a:endParaRPr lang="en-US" dirty="0">
              <a:latin typeface="Calibri" panose="020F0502020204030204" pitchFamily="34" charset="0"/>
              <a:ea typeface="Times New Roman" panose="02020603050405020304" pitchFamily="18" charset="0"/>
            </a:endParaRPr>
          </a:p>
          <a:p>
            <a:pPr marL="0" marR="0" lvl="0" indent="0">
              <a:spcBef>
                <a:spcPts val="0"/>
              </a:spcBef>
              <a:spcAft>
                <a:spcPts val="0"/>
              </a:spcAft>
              <a:buNone/>
            </a:pPr>
            <a:r>
              <a:rPr lang="en-US" sz="1800" b="1" dirty="0">
                <a:effectLst/>
                <a:latin typeface="Calibri" panose="020F0502020204030204" pitchFamily="34" charset="0"/>
                <a:ea typeface="Times New Roman" panose="02020603050405020304" pitchFamily="18" charset="0"/>
              </a:rPr>
              <a:t>Quartiles</a:t>
            </a:r>
            <a:r>
              <a:rPr lang="en-US" sz="1800" dirty="0">
                <a:effectLst/>
                <a:latin typeface="Calibri" panose="020F0502020204030204" pitchFamily="34" charset="0"/>
                <a:ea typeface="Times New Roman" panose="02020603050405020304" pitchFamily="18" charset="0"/>
              </a:rPr>
              <a:t>:</a:t>
            </a:r>
          </a:p>
          <a:p>
            <a:pPr marL="0" marR="0" indent="0">
              <a:spcBef>
                <a:spcPts val="0"/>
              </a:spcBef>
              <a:spcAft>
                <a:spcPts val="0"/>
              </a:spcAft>
              <a:buNone/>
            </a:pPr>
            <a:r>
              <a:rPr lang="en-US" sz="1800" b="1" dirty="0">
                <a:effectLst/>
                <a:latin typeface="Calibri" panose="020F0502020204030204" pitchFamily="34" charset="0"/>
                <a:ea typeface="Times New Roman" panose="02020603050405020304" pitchFamily="18" charset="0"/>
              </a:rPr>
              <a:t>Quartiles</a:t>
            </a:r>
            <a:r>
              <a:rPr lang="en-US" sz="1800" dirty="0">
                <a:effectLst/>
                <a:latin typeface="Calibri" panose="020F0502020204030204" pitchFamily="34" charset="0"/>
                <a:ea typeface="Times New Roman" panose="02020603050405020304" pitchFamily="18" charset="0"/>
              </a:rPr>
              <a:t> are partitioning values which divide the data in four equal parts and in three points. The three partitioning points are:</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Calibri" panose="020F0502020204030204" pitchFamily="34"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b="1" dirty="0">
                <a:effectLst/>
                <a:latin typeface="Calibri" panose="020F0502020204030204" pitchFamily="34" charset="0"/>
                <a:ea typeface="Times New Roman" panose="02020603050405020304" pitchFamily="18" charset="0"/>
              </a:rPr>
              <a:t>	Q</a:t>
            </a:r>
            <a:r>
              <a:rPr lang="en-US" sz="1800" b="1" baseline="-25000" dirty="0">
                <a:effectLst/>
                <a:latin typeface="Calibri" panose="020F0502020204030204" pitchFamily="34" charset="0"/>
                <a:ea typeface="Times New Roman" panose="02020603050405020304" pitchFamily="18" charset="0"/>
              </a:rPr>
              <a:t>1</a:t>
            </a:r>
            <a:r>
              <a:rPr lang="en-US" sz="1800" dirty="0">
                <a:effectLst/>
                <a:latin typeface="Calibri" panose="020F0502020204030204" pitchFamily="34" charset="0"/>
                <a:ea typeface="Times New Roman" panose="02020603050405020304" pitchFamily="18" charset="0"/>
              </a:rPr>
              <a:t> = First Quartile or Lower Quartile. </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b="1" dirty="0">
                <a:latin typeface="Calibri" panose="020F0502020204030204" pitchFamily="34" charset="0"/>
                <a:ea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rPr>
              <a:t>Q</a:t>
            </a:r>
            <a:r>
              <a:rPr lang="en-US" sz="1800" b="1" baseline="-25000" dirty="0">
                <a:effectLst/>
                <a:latin typeface="Calibri" panose="020F0502020204030204" pitchFamily="34" charset="0"/>
                <a:ea typeface="Times New Roman" panose="02020603050405020304" pitchFamily="18" charset="0"/>
              </a:rPr>
              <a:t>2</a:t>
            </a:r>
            <a:r>
              <a:rPr lang="en-US" sz="1800" dirty="0">
                <a:effectLst/>
                <a:latin typeface="Calibri" panose="020F0502020204030204" pitchFamily="34" charset="0"/>
                <a:ea typeface="Times New Roman" panose="02020603050405020304" pitchFamily="18" charset="0"/>
              </a:rPr>
              <a:t> = Second Quartile and equals to median.</a:t>
            </a:r>
            <a:endParaRPr lang="en-US" sz="18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b="1" dirty="0">
                <a:latin typeface="Calibri" panose="020F0502020204030204" pitchFamily="34" charset="0"/>
                <a:ea typeface="Times New Roman" panose="02020603050405020304" pitchFamily="18" charset="0"/>
              </a:rPr>
              <a:t>	</a:t>
            </a:r>
            <a:r>
              <a:rPr lang="en-US" sz="1800" b="1" dirty="0">
                <a:effectLst/>
                <a:latin typeface="Calibri" panose="020F0502020204030204" pitchFamily="34" charset="0"/>
                <a:ea typeface="Times New Roman" panose="02020603050405020304" pitchFamily="18" charset="0"/>
              </a:rPr>
              <a:t>Q</a:t>
            </a:r>
            <a:r>
              <a:rPr lang="en-US" sz="1800" b="1" baseline="-25000" dirty="0">
                <a:effectLst/>
                <a:latin typeface="Calibri" panose="020F0502020204030204" pitchFamily="34" charset="0"/>
                <a:ea typeface="Times New Roman" panose="02020603050405020304" pitchFamily="18" charset="0"/>
              </a:rPr>
              <a:t>3</a:t>
            </a:r>
            <a:r>
              <a:rPr lang="en-US" sz="1800" dirty="0">
                <a:effectLst/>
                <a:latin typeface="Calibri" panose="020F0502020204030204" pitchFamily="34" charset="0"/>
                <a:ea typeface="Times New Roman" panose="02020603050405020304" pitchFamily="18" charset="0"/>
              </a:rPr>
              <a:t> = Third Quartile or Upper Quartile.</a:t>
            </a:r>
            <a:endParaRPr lang="en-US" sz="18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None/>
            </a:pPr>
            <a:endParaRPr lang="en-US" b="1" dirty="0">
              <a:latin typeface="Times New Roman" panose="02020603050405020304" pitchFamily="18" charset="0"/>
              <a:ea typeface="Times New Roman" panose="02020603050405020304" pitchFamily="18" charset="0"/>
            </a:endParaRPr>
          </a:p>
          <a:p>
            <a:pPr marL="0" marR="0" lvl="0" indent="0">
              <a:spcBef>
                <a:spcPts val="0"/>
              </a:spcBef>
              <a:spcAft>
                <a:spcPts val="0"/>
              </a:spcAft>
              <a:buNone/>
            </a:pPr>
            <a:r>
              <a:rPr lang="en-US" b="1" dirty="0">
                <a:latin typeface="Times New Roman" panose="02020603050405020304" pitchFamily="18" charset="0"/>
                <a:ea typeface="Times New Roman" panose="02020603050405020304" pitchFamily="18" charset="0"/>
              </a:rPr>
              <a:t>Deciles:</a:t>
            </a:r>
          </a:p>
          <a:p>
            <a:pPr marL="0" marR="0" lvl="0" indent="0">
              <a:spcBef>
                <a:spcPts val="0"/>
              </a:spcBef>
              <a:spcAft>
                <a:spcPts val="0"/>
              </a:spcAft>
              <a:buNone/>
            </a:pPr>
            <a:r>
              <a:rPr lang="en-US" sz="1800" b="1" dirty="0">
                <a:effectLst/>
                <a:latin typeface="Calibri" panose="020F0502020204030204" pitchFamily="34" charset="0"/>
                <a:ea typeface="Times New Roman" panose="02020603050405020304" pitchFamily="18" charset="0"/>
              </a:rPr>
              <a:t>Deciles</a:t>
            </a:r>
            <a:r>
              <a:rPr lang="en-US" sz="1800" dirty="0">
                <a:effectLst/>
                <a:latin typeface="Calibri" panose="020F0502020204030204" pitchFamily="34" charset="0"/>
                <a:ea typeface="Times New Roman" panose="02020603050405020304" pitchFamily="18" charset="0"/>
              </a:rPr>
              <a:t> are partitioning values which divide the whole distribution in ten equal parts and in nine points. There are nine partitioning points and are symbolized by </a:t>
            </a:r>
            <a:r>
              <a:rPr lang="en-US" sz="1800" b="1" dirty="0">
                <a:effectLst/>
                <a:latin typeface="Calibri" panose="020F0502020204030204" pitchFamily="34" charset="0"/>
                <a:ea typeface="Times New Roman" panose="02020603050405020304" pitchFamily="18" charset="0"/>
              </a:rPr>
              <a:t>D</a:t>
            </a:r>
            <a:r>
              <a:rPr lang="en-US" sz="1800" b="1" baseline="-25000" dirty="0">
                <a:effectLst/>
                <a:latin typeface="Calibri" panose="020F0502020204030204" pitchFamily="34" charset="0"/>
                <a:ea typeface="Times New Roman" panose="02020603050405020304" pitchFamily="18" charset="0"/>
              </a:rPr>
              <a:t>1</a:t>
            </a:r>
            <a:r>
              <a:rPr lang="en-US" sz="1800" b="1" dirty="0">
                <a:effectLst/>
                <a:latin typeface="Calibri" panose="020F0502020204030204" pitchFamily="34" charset="0"/>
                <a:ea typeface="Times New Roman" panose="02020603050405020304" pitchFamily="18" charset="0"/>
              </a:rPr>
              <a:t>, D</a:t>
            </a:r>
            <a:r>
              <a:rPr lang="en-US" sz="1800" b="1" baseline="-25000" dirty="0">
                <a:effectLst/>
                <a:latin typeface="Calibri" panose="020F0502020204030204" pitchFamily="34" charset="0"/>
                <a:ea typeface="Times New Roman" panose="02020603050405020304" pitchFamily="18" charset="0"/>
              </a:rPr>
              <a:t>2</a:t>
            </a:r>
            <a:r>
              <a:rPr lang="en-US" sz="1800" b="1" dirty="0">
                <a:effectLst/>
                <a:latin typeface="Calibri" panose="020F0502020204030204" pitchFamily="34" charset="0"/>
                <a:ea typeface="Times New Roman" panose="02020603050405020304" pitchFamily="18" charset="0"/>
              </a:rPr>
              <a:t>... D</a:t>
            </a:r>
            <a:r>
              <a:rPr lang="en-US" sz="1800" b="1" baseline="-25000" dirty="0">
                <a:effectLst/>
                <a:latin typeface="Calibri" panose="020F0502020204030204" pitchFamily="34" charset="0"/>
                <a:ea typeface="Times New Roman" panose="02020603050405020304" pitchFamily="18" charset="0"/>
              </a:rPr>
              <a:t>9</a:t>
            </a:r>
            <a:endParaRPr lang="en-US" b="1" baseline="-25000" dirty="0">
              <a:latin typeface="Calibri" panose="020F0502020204030204" pitchFamily="34" charset="0"/>
              <a:ea typeface="Times New Roman" panose="02020603050405020304" pitchFamily="18" charset="0"/>
            </a:endParaRPr>
          </a:p>
          <a:p>
            <a:pPr marL="0" marR="0" lvl="0" indent="0">
              <a:spcBef>
                <a:spcPts val="0"/>
              </a:spcBef>
              <a:spcAft>
                <a:spcPts val="0"/>
              </a:spcAft>
              <a:buNone/>
            </a:pPr>
            <a:endParaRPr lang="en-US" sz="1800" dirty="0">
              <a:effectLst/>
              <a:latin typeface="Calibri" panose="020F0502020204030204" pitchFamily="34" charset="0"/>
              <a:ea typeface="Times New Roman" panose="02020603050405020304" pitchFamily="18" charset="0"/>
            </a:endParaRPr>
          </a:p>
          <a:p>
            <a:pPr marL="0" indent="0">
              <a:spcBef>
                <a:spcPts val="0"/>
              </a:spcBef>
              <a:buNone/>
            </a:pPr>
            <a:r>
              <a:rPr lang="en-US" sz="1800" b="1" dirty="0">
                <a:effectLst/>
                <a:latin typeface="Calibri" panose="020F0502020204030204" pitchFamily="34" charset="0"/>
                <a:ea typeface="Times New Roman" panose="02020603050405020304" pitchFamily="18" charset="0"/>
              </a:rPr>
              <a:t>Percentiles</a:t>
            </a:r>
            <a:r>
              <a:rPr lang="en-US" sz="1800" dirty="0">
                <a:effectLst/>
                <a:latin typeface="Calibri" panose="020F0502020204030204" pitchFamily="34" charset="0"/>
                <a:ea typeface="Times New Roman" panose="02020603050405020304" pitchFamily="18" charset="0"/>
              </a:rPr>
              <a:t> are those partitioning values which divide the data set into hundred equal parts and in ninety nine points. Obviously there are ninety nine partitioning points are symbolized by </a:t>
            </a:r>
            <a:r>
              <a:rPr lang="en-US" sz="1800" b="1" dirty="0">
                <a:effectLst/>
                <a:latin typeface="Calibri" panose="020F0502020204030204" pitchFamily="34" charset="0"/>
                <a:ea typeface="Times New Roman" panose="02020603050405020304" pitchFamily="18" charset="0"/>
              </a:rPr>
              <a:t>P</a:t>
            </a:r>
            <a:r>
              <a:rPr lang="en-US" sz="1800" b="1" baseline="-25000" dirty="0">
                <a:effectLst/>
                <a:latin typeface="Calibri" panose="020F0502020204030204" pitchFamily="34" charset="0"/>
                <a:ea typeface="Times New Roman" panose="02020603050405020304" pitchFamily="18" charset="0"/>
              </a:rPr>
              <a:t>1</a:t>
            </a:r>
            <a:r>
              <a:rPr lang="en-US" sz="1800" b="1" dirty="0">
                <a:effectLst/>
                <a:latin typeface="Calibri" panose="020F0502020204030204" pitchFamily="34" charset="0"/>
                <a:ea typeface="Times New Roman" panose="02020603050405020304" pitchFamily="18" charset="0"/>
              </a:rPr>
              <a:t>, P</a:t>
            </a:r>
            <a:r>
              <a:rPr lang="en-US" sz="1800" b="1" baseline="-25000" dirty="0">
                <a:effectLst/>
                <a:latin typeface="Calibri" panose="020F0502020204030204" pitchFamily="34" charset="0"/>
                <a:ea typeface="Times New Roman" panose="02020603050405020304" pitchFamily="18" charset="0"/>
              </a:rPr>
              <a:t>2</a:t>
            </a:r>
            <a:r>
              <a:rPr lang="en-US" sz="1800" b="1" dirty="0">
                <a:effectLst/>
                <a:latin typeface="Calibri" panose="020F0502020204030204" pitchFamily="34" charset="0"/>
                <a:ea typeface="Times New Roman" panose="02020603050405020304" pitchFamily="18" charset="0"/>
              </a:rPr>
              <a:t>,..., P</a:t>
            </a:r>
            <a:r>
              <a:rPr lang="en-US" sz="1800" b="1" baseline="-25000" dirty="0">
                <a:effectLst/>
                <a:latin typeface="Calibri" panose="020F0502020204030204" pitchFamily="34" charset="0"/>
                <a:ea typeface="Times New Roman" panose="02020603050405020304" pitchFamily="18" charset="0"/>
              </a:rPr>
              <a:t>99</a:t>
            </a:r>
            <a:r>
              <a:rPr lang="en-US" sz="1800" dirty="0">
                <a:effectLst/>
                <a:latin typeface="Calibri" panose="020F050202020403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75565DE4-F504-4BDB-9604-5172EF04755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310073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53D2-D12C-43AE-9EA6-1B7E7CAD1C0D}"/>
              </a:ext>
            </a:extLst>
          </p:cNvPr>
          <p:cNvSpPr>
            <a:spLocks noGrp="1"/>
          </p:cNvSpPr>
          <p:nvPr>
            <p:ph type="title"/>
          </p:nvPr>
        </p:nvSpPr>
        <p:spPr>
          <a:xfrm>
            <a:off x="695864" y="547703"/>
            <a:ext cx="10058400" cy="363246"/>
          </a:xfrm>
        </p:spPr>
        <p:txBody>
          <a:bodyPr>
            <a:normAutofit fontScale="90000"/>
          </a:bodyPr>
          <a:lstStyle/>
          <a:p>
            <a:r>
              <a:rPr lang="en-US" sz="2000" b="1" dirty="0"/>
              <a:t>Inter-fractile Range</a:t>
            </a:r>
          </a:p>
        </p:txBody>
      </p:sp>
      <p:sp>
        <p:nvSpPr>
          <p:cNvPr id="3" name="Content Placeholder 2">
            <a:extLst>
              <a:ext uri="{FF2B5EF4-FFF2-40B4-BE49-F238E27FC236}">
                <a16:creationId xmlns:a16="http://schemas.microsoft.com/office/drawing/2014/main" id="{954C7599-F8C5-4818-B6BB-94E6C01A3FCB}"/>
              </a:ext>
            </a:extLst>
          </p:cNvPr>
          <p:cNvSpPr>
            <a:spLocks noGrp="1"/>
          </p:cNvSpPr>
          <p:nvPr>
            <p:ph sz="half" idx="1"/>
          </p:nvPr>
        </p:nvSpPr>
        <p:spPr>
          <a:xfrm>
            <a:off x="695864" y="1155939"/>
            <a:ext cx="5125816" cy="5154357"/>
          </a:xfrm>
        </p:spPr>
        <p:txBody>
          <a:bodyPr>
            <a:normAutofit/>
          </a:bodyPr>
          <a:lstStyle/>
          <a:p>
            <a:pPr marL="342900" indent="-342900">
              <a:buAutoNum type="arabicPeriod"/>
            </a:pPr>
            <a:r>
              <a:rPr lang="en-US" sz="1600" dirty="0">
                <a:latin typeface="+mj-lt"/>
              </a:rPr>
              <a:t>Inter-Quartile range or Middle 50 % rang or Quartile Deviation = Q</a:t>
            </a:r>
            <a:r>
              <a:rPr lang="en-US" sz="1600" baseline="-25000" dirty="0">
                <a:latin typeface="+mj-lt"/>
              </a:rPr>
              <a:t>3</a:t>
            </a:r>
            <a:r>
              <a:rPr lang="en-US" sz="1600" dirty="0">
                <a:latin typeface="+mj-lt"/>
              </a:rPr>
              <a:t> – Q</a:t>
            </a:r>
            <a:r>
              <a:rPr lang="en-US" sz="1600" baseline="-25000" dirty="0">
                <a:latin typeface="+mj-lt"/>
              </a:rPr>
              <a:t>1</a:t>
            </a:r>
          </a:p>
          <a:p>
            <a:pPr marL="233363" indent="0">
              <a:buNone/>
            </a:pPr>
            <a:r>
              <a:rPr lang="en-US" sz="1500" dirty="0">
                <a:ea typeface="Times New Roman" panose="02020603050405020304" pitchFamily="18" charset="0"/>
              </a:rPr>
              <a:t>I</a:t>
            </a:r>
            <a:r>
              <a:rPr lang="en-US" sz="1500" dirty="0">
                <a:effectLst/>
                <a:ea typeface="Times New Roman" panose="02020603050405020304" pitchFamily="18" charset="0"/>
              </a:rPr>
              <a:t>t considers the spread in the middle 50 % of the data and therefore it is not influenced by extreme values. A large IQR indicates a large amount of variability among the middle 50 % of the observations and small IQR indicates that the main bulk of the data is fairly concentrated</a:t>
            </a:r>
          </a:p>
          <a:p>
            <a:pPr marL="233363" indent="0">
              <a:buNone/>
            </a:pPr>
            <a:r>
              <a:rPr lang="en-US" sz="1600" dirty="0">
                <a:effectLst/>
                <a:latin typeface="+mj-lt"/>
                <a:ea typeface="Times New Roman" panose="02020603050405020304" pitchFamily="18" charset="0"/>
              </a:rPr>
              <a:t>          25%          25%          25%         25%</a:t>
            </a:r>
          </a:p>
          <a:p>
            <a:pPr marL="0" indent="0">
              <a:buNone/>
            </a:pPr>
            <a:endParaRPr lang="en-US" baseline="-25000" dirty="0">
              <a:latin typeface="+mj-lt"/>
            </a:endParaRPr>
          </a:p>
          <a:p>
            <a:pPr marL="0" indent="0">
              <a:buNone/>
            </a:pPr>
            <a:r>
              <a:rPr lang="en-US" baseline="-25000" dirty="0">
                <a:latin typeface="+mj-lt"/>
              </a:rPr>
              <a:t>          </a:t>
            </a:r>
            <a:r>
              <a:rPr lang="en-US" baseline="-25000" dirty="0" err="1">
                <a:latin typeface="+mj-lt"/>
              </a:rPr>
              <a:t>Xmin</a:t>
            </a:r>
            <a:r>
              <a:rPr lang="en-US" baseline="-25000" dirty="0">
                <a:latin typeface="+mj-lt"/>
              </a:rPr>
              <a:t>            Q1               Q2                   Q3               </a:t>
            </a:r>
            <a:r>
              <a:rPr lang="en-US" baseline="-25000" dirty="0" err="1">
                <a:latin typeface="+mj-lt"/>
              </a:rPr>
              <a:t>Xmax</a:t>
            </a:r>
            <a:endParaRPr lang="en-US" baseline="-25000" dirty="0">
              <a:latin typeface="+mj-lt"/>
            </a:endParaRPr>
          </a:p>
          <a:p>
            <a:pPr marL="0" indent="0">
              <a:buNone/>
            </a:pPr>
            <a:endParaRPr lang="en-US" baseline="-25000" dirty="0">
              <a:latin typeface="+mj-lt"/>
            </a:endParaRPr>
          </a:p>
          <a:p>
            <a:pPr marL="0" indent="0">
              <a:buNone/>
            </a:pPr>
            <a:r>
              <a:rPr lang="en-US" baseline="-25000" dirty="0">
                <a:latin typeface="+mj-lt"/>
              </a:rPr>
              <a:t>Semi-interquartile range = </a:t>
            </a:r>
          </a:p>
          <a:p>
            <a:pPr marL="0" indent="0">
              <a:buNone/>
            </a:pPr>
            <a:endParaRPr lang="en-US" baseline="-25000" dirty="0">
              <a:latin typeface="+mj-lt"/>
            </a:endParaRPr>
          </a:p>
          <a:p>
            <a:pPr marL="0" indent="0">
              <a:buNone/>
            </a:pPr>
            <a:r>
              <a:rPr lang="en-US" baseline="-25000" dirty="0">
                <a:latin typeface="+mj-lt"/>
              </a:rPr>
              <a:t>Coefficient of Quartile Deviation = </a:t>
            </a:r>
          </a:p>
          <a:p>
            <a:pPr marL="0" indent="0">
              <a:buNone/>
            </a:pPr>
            <a:endParaRPr lang="en-US" baseline="-25000" dirty="0">
              <a:latin typeface="+mj-lt"/>
            </a:endParaRPr>
          </a:p>
          <a:p>
            <a:pPr marL="0" indent="0">
              <a:buNone/>
            </a:pPr>
            <a:endParaRPr lang="en-US" baseline="-25000" dirty="0">
              <a:latin typeface="+mj-lt"/>
            </a:endParaRPr>
          </a:p>
        </p:txBody>
      </p:sp>
      <p:sp>
        <p:nvSpPr>
          <p:cNvPr id="4" name="Content Placeholder 3">
            <a:extLst>
              <a:ext uri="{FF2B5EF4-FFF2-40B4-BE49-F238E27FC236}">
                <a16:creationId xmlns:a16="http://schemas.microsoft.com/office/drawing/2014/main" id="{3719D384-222F-4F39-B322-393F84986F0B}"/>
              </a:ext>
            </a:extLst>
          </p:cNvPr>
          <p:cNvSpPr>
            <a:spLocks noGrp="1"/>
          </p:cNvSpPr>
          <p:nvPr>
            <p:ph sz="half" idx="2"/>
          </p:nvPr>
        </p:nvSpPr>
        <p:spPr>
          <a:xfrm>
            <a:off x="6370320" y="1155939"/>
            <a:ext cx="5275340" cy="5154357"/>
          </a:xfrm>
        </p:spPr>
        <p:txBody>
          <a:bodyPr>
            <a:normAutofit/>
          </a:bodyPr>
          <a:lstStyle/>
          <a:p>
            <a:pPr marL="0" indent="0">
              <a:buNone/>
            </a:pPr>
            <a:r>
              <a:rPr lang="en-US" dirty="0"/>
              <a:t>2. </a:t>
            </a:r>
            <a:r>
              <a:rPr lang="en-US" sz="1600" dirty="0">
                <a:effectLst/>
                <a:latin typeface="Calibri" panose="020F0502020204030204" pitchFamily="34" charset="0"/>
                <a:ea typeface="Times New Roman" panose="02020603050405020304" pitchFamily="18" charset="0"/>
              </a:rPr>
              <a:t>The inter-fractile range between 5</a:t>
            </a:r>
            <a:r>
              <a:rPr lang="en-US" sz="1600" baseline="30000" dirty="0">
                <a:effectLst/>
                <a:latin typeface="Calibri" panose="020F0502020204030204" pitchFamily="34" charset="0"/>
                <a:ea typeface="Times New Roman" panose="02020603050405020304" pitchFamily="18" charset="0"/>
              </a:rPr>
              <a:t>th</a:t>
            </a:r>
            <a:r>
              <a:rPr lang="en-US" sz="1600" baseline="-25000" dirty="0">
                <a:effectLst/>
                <a:latin typeface="Calibri" panose="020F0502020204030204" pitchFamily="34" charset="0"/>
                <a:ea typeface="Times New Roman" panose="02020603050405020304" pitchFamily="18" charset="0"/>
              </a:rPr>
              <a:t> </a:t>
            </a:r>
            <a:r>
              <a:rPr lang="en-US" sz="1600" dirty="0">
                <a:effectLst/>
                <a:latin typeface="Calibri" panose="020F0502020204030204" pitchFamily="34" charset="0"/>
                <a:ea typeface="Times New Roman" panose="02020603050405020304" pitchFamily="18" charset="0"/>
              </a:rPr>
              <a:t>and 95</a:t>
            </a:r>
            <a:r>
              <a:rPr lang="en-US" sz="1600" baseline="30000" dirty="0">
                <a:effectLst/>
                <a:latin typeface="Calibri" panose="020F0502020204030204" pitchFamily="34" charset="0"/>
                <a:ea typeface="Times New Roman" panose="02020603050405020304" pitchFamily="18" charset="0"/>
              </a:rPr>
              <a:t>th</a:t>
            </a:r>
            <a:r>
              <a:rPr lang="en-US" sz="1600" baseline="-25000" dirty="0">
                <a:effectLst/>
                <a:latin typeface="Calibri" panose="020F0502020204030204" pitchFamily="34" charset="0"/>
                <a:ea typeface="Times New Roman" panose="02020603050405020304" pitchFamily="18" charset="0"/>
              </a:rPr>
              <a:t> </a:t>
            </a:r>
            <a:r>
              <a:rPr lang="en-US" sz="1600" dirty="0">
                <a:effectLst/>
                <a:latin typeface="Calibri" panose="020F0502020204030204" pitchFamily="34" charset="0"/>
                <a:ea typeface="Times New Roman" panose="02020603050405020304" pitchFamily="18" charset="0"/>
              </a:rPr>
              <a:t>percentile = </a:t>
            </a:r>
            <a:r>
              <a:rPr lang="en-US" sz="1600" dirty="0"/>
              <a:t>Middle 90 % range = P</a:t>
            </a:r>
            <a:r>
              <a:rPr lang="en-US" sz="1600" baseline="-25000" dirty="0"/>
              <a:t>95</a:t>
            </a:r>
            <a:r>
              <a:rPr lang="en-US" sz="1600" dirty="0"/>
              <a:t> – P</a:t>
            </a:r>
            <a:r>
              <a:rPr lang="en-US" sz="1600" baseline="-25000" dirty="0"/>
              <a:t>5</a:t>
            </a:r>
          </a:p>
          <a:p>
            <a:pPr marL="0" indent="0">
              <a:buNone/>
            </a:pPr>
            <a:r>
              <a:rPr lang="en-US" sz="1600" dirty="0">
                <a:effectLst/>
                <a:latin typeface="Calibri" panose="020F0502020204030204" pitchFamily="34" charset="0"/>
                <a:ea typeface="Times New Roman" panose="02020603050405020304" pitchFamily="18" charset="0"/>
              </a:rPr>
              <a:t>It considers middle 90 % variability.</a:t>
            </a:r>
          </a:p>
          <a:p>
            <a:pPr marL="0" indent="0">
              <a:buNone/>
            </a:pPr>
            <a:r>
              <a:rPr lang="en-US" sz="1600" dirty="0">
                <a:effectLst/>
                <a:latin typeface="Calibri" panose="020F0502020204030204" pitchFamily="34" charset="0"/>
                <a:ea typeface="Times New Roman" panose="02020603050405020304" pitchFamily="18" charset="0"/>
              </a:rPr>
              <a:t> </a:t>
            </a:r>
            <a:endParaRPr lang="en-US" sz="1600" dirty="0"/>
          </a:p>
          <a:p>
            <a:pPr marL="0" indent="0">
              <a:buNone/>
            </a:pPr>
            <a:r>
              <a:rPr lang="en-US" sz="1600" dirty="0"/>
              <a:t>3. Middle 80 % range = P</a:t>
            </a:r>
            <a:r>
              <a:rPr lang="en-US" sz="1600" baseline="-25000" dirty="0"/>
              <a:t>90</a:t>
            </a:r>
            <a:r>
              <a:rPr lang="en-US" sz="1600" dirty="0"/>
              <a:t> – P</a:t>
            </a:r>
            <a:r>
              <a:rPr lang="en-US" sz="1600" baseline="-25000" dirty="0"/>
              <a:t>10</a:t>
            </a:r>
            <a:r>
              <a:rPr lang="en-US" sz="1600" dirty="0"/>
              <a:t> = D</a:t>
            </a:r>
            <a:r>
              <a:rPr lang="en-US" sz="1600" baseline="-25000" dirty="0"/>
              <a:t>9</a:t>
            </a:r>
            <a:r>
              <a:rPr lang="en-US" sz="1600" dirty="0"/>
              <a:t> – D</a:t>
            </a:r>
            <a:r>
              <a:rPr lang="en-US" sz="1600" baseline="-25000" dirty="0"/>
              <a:t>1</a:t>
            </a:r>
          </a:p>
          <a:p>
            <a:pPr marL="0" indent="0">
              <a:buNone/>
            </a:pPr>
            <a:endParaRPr lang="en-US" sz="1600" dirty="0"/>
          </a:p>
          <a:p>
            <a:pPr marL="0" indent="0">
              <a:buNone/>
            </a:pPr>
            <a:r>
              <a:rPr lang="en-US" sz="1600" dirty="0"/>
              <a:t>4. Middle 60 % range = P</a:t>
            </a:r>
            <a:r>
              <a:rPr lang="en-US" sz="1600" baseline="-25000" dirty="0"/>
              <a:t>80</a:t>
            </a:r>
            <a:r>
              <a:rPr lang="en-US" sz="1600" dirty="0"/>
              <a:t> – P</a:t>
            </a:r>
            <a:r>
              <a:rPr lang="en-US" sz="1600" baseline="-25000" dirty="0"/>
              <a:t>20</a:t>
            </a:r>
            <a:r>
              <a:rPr lang="en-US" sz="1600" dirty="0"/>
              <a:t> = D</a:t>
            </a:r>
            <a:r>
              <a:rPr lang="en-US" sz="1600" baseline="-25000" dirty="0"/>
              <a:t>8</a:t>
            </a:r>
            <a:r>
              <a:rPr lang="en-US" sz="1600" dirty="0"/>
              <a:t> – D</a:t>
            </a:r>
            <a:r>
              <a:rPr lang="en-US" sz="1600" baseline="-25000" dirty="0"/>
              <a:t>2</a:t>
            </a:r>
          </a:p>
          <a:p>
            <a:pPr marL="0" indent="0">
              <a:buNone/>
            </a:pPr>
            <a:endParaRPr lang="en-US" sz="1600" dirty="0"/>
          </a:p>
          <a:p>
            <a:pPr marL="0" indent="0">
              <a:buNone/>
            </a:pPr>
            <a:r>
              <a:rPr lang="en-US" sz="1600" dirty="0"/>
              <a:t>5. Middle 40 % range = P</a:t>
            </a:r>
            <a:r>
              <a:rPr lang="en-US" sz="1600" baseline="-25000" dirty="0"/>
              <a:t>70</a:t>
            </a:r>
            <a:r>
              <a:rPr lang="en-US" sz="1600" dirty="0"/>
              <a:t> – P</a:t>
            </a:r>
            <a:r>
              <a:rPr lang="en-US" sz="1600" baseline="-25000" dirty="0"/>
              <a:t>30</a:t>
            </a:r>
            <a:r>
              <a:rPr lang="en-US" sz="1600" dirty="0"/>
              <a:t> = D</a:t>
            </a:r>
            <a:r>
              <a:rPr lang="en-US" sz="1600" baseline="-25000" dirty="0"/>
              <a:t>7</a:t>
            </a:r>
            <a:r>
              <a:rPr lang="en-US" sz="1600" dirty="0"/>
              <a:t> – D</a:t>
            </a:r>
            <a:r>
              <a:rPr lang="en-US" sz="1600" baseline="-25000" dirty="0"/>
              <a:t>2</a:t>
            </a:r>
          </a:p>
          <a:p>
            <a:pPr marL="0" indent="0">
              <a:buNone/>
            </a:pPr>
            <a:endParaRPr lang="en-US" dirty="0"/>
          </a:p>
        </p:txBody>
      </p:sp>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D14B9DCC-C2E3-493A-BFC5-8AB2DD7D3E00}"/>
                  </a:ext>
                </a:extLst>
              </p:cNvPr>
              <p:cNvSpPr txBox="1"/>
              <p:nvPr/>
            </p:nvSpPr>
            <p:spPr>
              <a:xfrm>
                <a:off x="2685975" y="4431440"/>
                <a:ext cx="839065" cy="527255"/>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num>
                        <m:den>
                          <m:r>
                            <a:rPr lang="en-US" i="1">
                              <a:solidFill>
                                <a:srgbClr val="000000"/>
                              </a:solidFill>
                              <a:latin typeface="Cambria Math" panose="02040503050406030204" pitchFamily="18" charset="0"/>
                            </a:rPr>
                            <m:t>2</m:t>
                          </m:r>
                        </m:den>
                      </m:f>
                    </m:oMath>
                  </m:oMathPara>
                </a14:m>
                <a:endParaRPr lang="en-US" dirty="0"/>
              </a:p>
            </p:txBody>
          </p:sp>
        </mc:Choice>
        <mc:Fallback xmlns="">
          <p:sp>
            <p:nvSpPr>
              <p:cNvPr id="11" name="Object 10">
                <a:extLst>
                  <a:ext uri="{FF2B5EF4-FFF2-40B4-BE49-F238E27FC236}">
                    <a16:creationId xmlns:a16="http://schemas.microsoft.com/office/drawing/2014/main" id="{D14B9DCC-C2E3-493A-BFC5-8AB2DD7D3E00}"/>
                  </a:ext>
                </a:extLst>
              </p:cNvPr>
              <p:cNvSpPr txBox="1">
                <a:spLocks noRot="1" noChangeAspect="1" noMove="1" noResize="1" noEditPoints="1" noAdjustHandles="1" noChangeArrowheads="1" noChangeShapeType="1" noTextEdit="1"/>
              </p:cNvSpPr>
              <p:nvPr/>
            </p:nvSpPr>
            <p:spPr>
              <a:xfrm>
                <a:off x="2685975" y="4431440"/>
                <a:ext cx="839065" cy="527255"/>
              </a:xfrm>
              <a:prstGeom prst="rect">
                <a:avLst/>
              </a:prstGeom>
              <a:blipFill>
                <a:blip r:embed="rId2"/>
                <a:stretch>
                  <a:fillRect b="-2326"/>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E2A7878F-FAB0-44CA-907B-1A68D4D75B62}"/>
              </a:ext>
            </a:extLst>
          </p:cNvPr>
          <p:cNvCxnSpPr/>
          <p:nvPr/>
        </p:nvCxnSpPr>
        <p:spPr>
          <a:xfrm>
            <a:off x="1276708" y="3817189"/>
            <a:ext cx="365760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0769C04C-D246-441A-947B-6030B450FF68}"/>
              </a:ext>
            </a:extLst>
          </p:cNvPr>
          <p:cNvCxnSpPr/>
          <p:nvPr/>
        </p:nvCxnSpPr>
        <p:spPr>
          <a:xfrm>
            <a:off x="3091703" y="3634309"/>
            <a:ext cx="0" cy="365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CDD86A2-BC16-4909-AF58-123846964BC5}"/>
              </a:ext>
            </a:extLst>
          </p:cNvPr>
          <p:cNvCxnSpPr/>
          <p:nvPr/>
        </p:nvCxnSpPr>
        <p:spPr>
          <a:xfrm>
            <a:off x="4067833" y="3611880"/>
            <a:ext cx="0" cy="365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28EFCBE-366B-4789-8534-0F50651F2A89}"/>
              </a:ext>
            </a:extLst>
          </p:cNvPr>
          <p:cNvCxnSpPr/>
          <p:nvPr/>
        </p:nvCxnSpPr>
        <p:spPr>
          <a:xfrm>
            <a:off x="2136474" y="3611880"/>
            <a:ext cx="0" cy="365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84A0EE-A2A2-4CF9-95EC-FBC490FC98FC}"/>
              </a:ext>
            </a:extLst>
          </p:cNvPr>
          <p:cNvCxnSpPr/>
          <p:nvPr/>
        </p:nvCxnSpPr>
        <p:spPr>
          <a:xfrm>
            <a:off x="4934308" y="3634309"/>
            <a:ext cx="0" cy="365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1C0850-2E61-4404-92F4-1CBD685407F3}"/>
              </a:ext>
            </a:extLst>
          </p:cNvPr>
          <p:cNvCxnSpPr/>
          <p:nvPr/>
        </p:nvCxnSpPr>
        <p:spPr>
          <a:xfrm>
            <a:off x="1276708" y="3634309"/>
            <a:ext cx="0" cy="36576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5" name="Object 4">
            <a:extLst>
              <a:ext uri="{FF2B5EF4-FFF2-40B4-BE49-F238E27FC236}">
                <a16:creationId xmlns:a16="http://schemas.microsoft.com/office/drawing/2014/main" id="{951BC88B-8E94-4AE5-A5EC-3A2664003198}"/>
              </a:ext>
            </a:extLst>
          </p:cNvPr>
          <p:cNvGraphicFramePr>
            <a:graphicFrameLocks noChangeAspect="1"/>
          </p:cNvGraphicFramePr>
          <p:nvPr>
            <p:extLst>
              <p:ext uri="{D42A27DB-BD31-4B8C-83A1-F6EECF244321}">
                <p14:modId xmlns:p14="http://schemas.microsoft.com/office/powerpoint/2010/main" val="3165088727"/>
              </p:ext>
            </p:extLst>
          </p:nvPr>
        </p:nvGraphicFramePr>
        <p:xfrm>
          <a:off x="3365920" y="5081190"/>
          <a:ext cx="839066" cy="486067"/>
        </p:xfrm>
        <a:graphic>
          <a:graphicData uri="http://schemas.openxmlformats.org/presentationml/2006/ole">
            <mc:AlternateContent xmlns:mc="http://schemas.openxmlformats.org/markup-compatibility/2006">
              <mc:Choice xmlns:v="urn:schemas-microsoft-com:vml" Requires="v">
                <p:oleObj name="Equation" r:id="rId3" imgW="545760" imgH="469800" progId="Equation.DSMT4">
                  <p:embed/>
                </p:oleObj>
              </mc:Choice>
              <mc:Fallback>
                <p:oleObj name="Equation" r:id="rId3" imgW="545760" imgH="469800" progId="Equation.DSMT4">
                  <p:embed/>
                  <p:pic>
                    <p:nvPicPr>
                      <p:cNvPr id="0" name=""/>
                      <p:cNvPicPr/>
                      <p:nvPr/>
                    </p:nvPicPr>
                    <p:blipFill>
                      <a:blip r:embed="rId4"/>
                      <a:stretch>
                        <a:fillRect/>
                      </a:stretch>
                    </p:blipFill>
                    <p:spPr>
                      <a:xfrm>
                        <a:off x="3365920" y="5081190"/>
                        <a:ext cx="839066" cy="486067"/>
                      </a:xfrm>
                      <a:prstGeom prst="rect">
                        <a:avLst/>
                      </a:prstGeom>
                    </p:spPr>
                  </p:pic>
                </p:oleObj>
              </mc:Fallback>
            </mc:AlternateContent>
          </a:graphicData>
        </a:graphic>
      </p:graphicFrame>
      <p:sp>
        <p:nvSpPr>
          <p:cNvPr id="7" name="Footer Placeholder 6">
            <a:extLst>
              <a:ext uri="{FF2B5EF4-FFF2-40B4-BE49-F238E27FC236}">
                <a16:creationId xmlns:a16="http://schemas.microsoft.com/office/drawing/2014/main" id="{30717D6E-15AB-4C9C-9DA0-2FAE883E245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827577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F5515AA-4949-419F-9887-15DCB22B3F69}"/>
              </a:ext>
            </a:extLst>
          </p:cNvPr>
          <p:cNvSpPr>
            <a:spLocks noGrp="1"/>
          </p:cNvSpPr>
          <p:nvPr>
            <p:ph sz="half" idx="1"/>
          </p:nvPr>
        </p:nvSpPr>
        <p:spPr>
          <a:xfrm>
            <a:off x="681487" y="448575"/>
            <a:ext cx="5262113" cy="5840082"/>
          </a:xfrm>
        </p:spPr>
        <p:txBody>
          <a:bodyPr>
            <a:normAutofit fontScale="62500" lnSpcReduction="20000"/>
          </a:bodyPr>
          <a:lstStyle/>
          <a:p>
            <a:pPr marL="0" indent="0">
              <a:buNone/>
            </a:pPr>
            <a:r>
              <a:rPr lang="en-US" sz="1900" b="1" dirty="0"/>
              <a:t>Computing fractiles</a:t>
            </a:r>
          </a:p>
          <a:p>
            <a:pPr marL="0" indent="0">
              <a:buNone/>
            </a:pPr>
            <a:r>
              <a:rPr lang="en-US" sz="1900" b="1" dirty="0"/>
              <a:t>Individual data/Raw data/Ungrouped data</a:t>
            </a:r>
          </a:p>
          <a:p>
            <a:pPr marL="0" marR="0" indent="0">
              <a:lnSpc>
                <a:spcPct val="107000"/>
              </a:lnSpc>
              <a:spcBef>
                <a:spcPts val="0"/>
              </a:spcBef>
              <a:spcAft>
                <a:spcPts val="0"/>
              </a:spcAft>
              <a:buNone/>
            </a:pPr>
            <a:r>
              <a:rPr lang="en-US" sz="1900" dirty="0"/>
              <a:t>Example: </a:t>
            </a:r>
            <a:r>
              <a:rPr lang="en-GB" sz="1900" dirty="0">
                <a:effectLst/>
                <a:latin typeface="Calibri" panose="020F0502020204030204" pitchFamily="34" charset="0"/>
                <a:ea typeface="Calibri" panose="020F0502020204030204" pitchFamily="34" charset="0"/>
                <a:cs typeface="Calibri" panose="020F0502020204030204" pitchFamily="34" charset="0"/>
              </a:rPr>
              <a:t>The following data represent the length of life in years, measured to the nearest tenth, of 30 similar fuel pumps:</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900" dirty="0">
                <a:effectLst/>
                <a:latin typeface="Calibri" panose="020F0502020204030204" pitchFamily="34" charset="0"/>
                <a:ea typeface="Calibri" panose="020F0502020204030204" pitchFamily="34" charset="0"/>
                <a:cs typeface="Calibri" panose="020F0502020204030204" pitchFamily="34" charset="0"/>
              </a:rPr>
              <a:t>2.0	3.0	0.3	3.3	1.3	0.4</a:t>
            </a:r>
          </a:p>
          <a:p>
            <a:pPr marL="0" marR="0" indent="0">
              <a:lnSpc>
                <a:spcPct val="107000"/>
              </a:lnSpc>
              <a:spcBef>
                <a:spcPts val="0"/>
              </a:spcBef>
              <a:spcAft>
                <a:spcPts val="0"/>
              </a:spcAft>
              <a:buNone/>
            </a:pPr>
            <a:r>
              <a:rPr lang="en-GB" sz="1900" dirty="0">
                <a:effectLst/>
                <a:latin typeface="Calibri" panose="020F0502020204030204" pitchFamily="34" charset="0"/>
                <a:ea typeface="Calibri" panose="020F0502020204030204" pitchFamily="34" charset="0"/>
                <a:cs typeface="Calibri" panose="020F0502020204030204" pitchFamily="34" charset="0"/>
              </a:rPr>
              <a:t>0.2	6.0	5.5	6.5	0.2	2.3</a:t>
            </a:r>
          </a:p>
          <a:p>
            <a:pPr marL="0" marR="0" indent="0">
              <a:lnSpc>
                <a:spcPct val="107000"/>
              </a:lnSpc>
              <a:spcBef>
                <a:spcPts val="0"/>
              </a:spcBef>
              <a:spcAft>
                <a:spcPts val="0"/>
              </a:spcAft>
              <a:buNone/>
            </a:pPr>
            <a:r>
              <a:rPr lang="en-GB" sz="1900" dirty="0">
                <a:effectLst/>
                <a:latin typeface="Calibri" panose="020F0502020204030204" pitchFamily="34" charset="0"/>
                <a:ea typeface="Calibri" panose="020F0502020204030204" pitchFamily="34" charset="0"/>
                <a:cs typeface="Calibri" panose="020F0502020204030204" pitchFamily="34" charset="0"/>
              </a:rPr>
              <a:t>1.5	4.0	5.9	1.8	4.7	0.7</a:t>
            </a:r>
          </a:p>
          <a:p>
            <a:pPr marL="0" marR="0" indent="0">
              <a:lnSpc>
                <a:spcPct val="107000"/>
              </a:lnSpc>
              <a:spcBef>
                <a:spcPts val="0"/>
              </a:spcBef>
              <a:spcAft>
                <a:spcPts val="0"/>
              </a:spcAft>
              <a:buNone/>
            </a:pPr>
            <a:r>
              <a:rPr lang="en-GB" sz="1900" dirty="0">
                <a:effectLst/>
                <a:latin typeface="Calibri" panose="020F0502020204030204" pitchFamily="34" charset="0"/>
                <a:ea typeface="Calibri" panose="020F0502020204030204" pitchFamily="34" charset="0"/>
                <a:cs typeface="Calibri" panose="020F0502020204030204" pitchFamily="34" charset="0"/>
              </a:rPr>
              <a:t>4.5	0.3	1.5	0.5	2.5	5.0</a:t>
            </a:r>
          </a:p>
          <a:p>
            <a:pPr marL="0" marR="0" indent="0">
              <a:lnSpc>
                <a:spcPct val="107000"/>
              </a:lnSpc>
              <a:spcBef>
                <a:spcPts val="0"/>
              </a:spcBef>
              <a:spcAft>
                <a:spcPts val="0"/>
              </a:spcAft>
              <a:buNone/>
            </a:pPr>
            <a:r>
              <a:rPr lang="en-GB" sz="1900" dirty="0">
                <a:effectLst/>
                <a:latin typeface="Calibri" panose="020F0502020204030204" pitchFamily="34" charset="0"/>
                <a:ea typeface="Calibri" panose="020F0502020204030204" pitchFamily="34" charset="0"/>
                <a:cs typeface="Calibri" panose="020F0502020204030204" pitchFamily="34" charset="0"/>
              </a:rPr>
              <a:t>1.0	6.0	5.6	6.0	1.2	0.2</a:t>
            </a: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lphaLcParenBoth"/>
            </a:pPr>
            <a:r>
              <a:rPr lang="en-US" sz="1900" dirty="0"/>
              <a:t>Find first, second and third quartile</a:t>
            </a:r>
          </a:p>
          <a:p>
            <a:pPr marL="342900" indent="-342900">
              <a:buAutoNum type="alphaLcParenBoth"/>
            </a:pPr>
            <a:r>
              <a:rPr lang="en-US" sz="1900" dirty="0"/>
              <a:t>Find interquartile range (middle 50 % range)</a:t>
            </a:r>
          </a:p>
          <a:p>
            <a:pPr marL="342900" indent="-342900">
              <a:buAutoNum type="alphaLcParenBoth"/>
            </a:pPr>
            <a:r>
              <a:rPr lang="en-US" sz="1900" dirty="0"/>
              <a:t>Find P</a:t>
            </a:r>
            <a:r>
              <a:rPr lang="en-US" sz="1900" baseline="-25000" dirty="0"/>
              <a:t>80</a:t>
            </a:r>
            <a:r>
              <a:rPr lang="en-US" sz="1900" dirty="0"/>
              <a:t> and D</a:t>
            </a:r>
            <a:r>
              <a:rPr lang="en-US" sz="1900" baseline="-25000" dirty="0"/>
              <a:t>4</a:t>
            </a:r>
          </a:p>
          <a:p>
            <a:pPr marL="342900" indent="-342900">
              <a:buAutoNum type="alphaLcParenBoth"/>
            </a:pPr>
            <a:r>
              <a:rPr lang="en-US" sz="1900" dirty="0"/>
              <a:t>Construct Box-and-whisk</a:t>
            </a:r>
            <a:r>
              <a:rPr lang="en-US" sz="1700" dirty="0"/>
              <a:t>er plot and comment on the shape of </a:t>
            </a:r>
            <a:r>
              <a:rPr lang="en-US" sz="1900" dirty="0"/>
              <a:t>distribution</a:t>
            </a:r>
          </a:p>
          <a:p>
            <a:pPr marL="0" indent="0">
              <a:buNone/>
            </a:pPr>
            <a:r>
              <a:rPr lang="en-US" sz="1700" b="1" dirty="0"/>
              <a:t>Solution:</a:t>
            </a:r>
          </a:p>
          <a:p>
            <a:pPr marL="0" indent="0">
              <a:buNone/>
            </a:pPr>
            <a:r>
              <a:rPr lang="en-US" sz="1900" dirty="0"/>
              <a:t>Here the variable (X) = Life of fuel pumps (in years)</a:t>
            </a:r>
          </a:p>
          <a:p>
            <a:pPr marL="0" indent="0">
              <a:buNone/>
            </a:pPr>
            <a:r>
              <a:rPr lang="en-US" sz="1900" dirty="0"/>
              <a:t>Sample size (n) = 30</a:t>
            </a:r>
          </a:p>
          <a:p>
            <a:pPr marL="0" indent="0">
              <a:buNone/>
            </a:pPr>
            <a:r>
              <a:rPr lang="en-US" sz="1700" b="1" dirty="0"/>
              <a:t>Data Array</a:t>
            </a:r>
          </a:p>
          <a:p>
            <a:pPr marL="0" marR="0" indent="0">
              <a:lnSpc>
                <a:spcPct val="107000"/>
              </a:lnSpc>
              <a:spcBef>
                <a:spcPts val="0"/>
              </a:spcBef>
              <a:spcAft>
                <a:spcPts val="0"/>
              </a:spcAft>
              <a:buNone/>
            </a:pPr>
            <a:r>
              <a:rPr lang="en-GB" sz="1700" dirty="0">
                <a:latin typeface="Calibri" panose="020F0502020204030204" pitchFamily="34" charset="0"/>
                <a:ea typeface="Calibri" panose="020F0502020204030204" pitchFamily="34" charset="0"/>
                <a:cs typeface="Calibri" panose="020F0502020204030204" pitchFamily="34" charset="0"/>
              </a:rPr>
              <a:t>0.2	0.2	0.2	0.3	0.3	0.4</a:t>
            </a:r>
          </a:p>
          <a:p>
            <a:pPr marL="0" marR="0" indent="0">
              <a:lnSpc>
                <a:spcPct val="107000"/>
              </a:lnSpc>
              <a:spcBef>
                <a:spcPts val="0"/>
              </a:spcBef>
              <a:spcAft>
                <a:spcPts val="0"/>
              </a:spcAft>
              <a:buNone/>
            </a:pPr>
            <a:r>
              <a:rPr lang="en-GB" sz="1700" dirty="0">
                <a:latin typeface="Calibri" panose="020F0502020204030204" pitchFamily="34" charset="0"/>
                <a:ea typeface="Calibri" panose="020F0502020204030204" pitchFamily="34" charset="0"/>
                <a:cs typeface="Calibri" panose="020F0502020204030204" pitchFamily="34" charset="0"/>
              </a:rPr>
              <a:t>0.5	</a:t>
            </a:r>
            <a:r>
              <a:rPr lang="en-GB" sz="1700" b="1" dirty="0">
                <a:latin typeface="Calibri" panose="020F0502020204030204" pitchFamily="34" charset="0"/>
                <a:ea typeface="Calibri" panose="020F0502020204030204" pitchFamily="34" charset="0"/>
                <a:cs typeface="Calibri" panose="020F0502020204030204" pitchFamily="34" charset="0"/>
              </a:rPr>
              <a:t>0.7</a:t>
            </a:r>
            <a:r>
              <a:rPr lang="en-GB" sz="1700" dirty="0">
                <a:latin typeface="Calibri" panose="020F0502020204030204" pitchFamily="34" charset="0"/>
                <a:ea typeface="Calibri" panose="020F0502020204030204" pitchFamily="34" charset="0"/>
                <a:cs typeface="Calibri" panose="020F0502020204030204" pitchFamily="34" charset="0"/>
              </a:rPr>
              <a:t>	1.0	1.2	1.3	</a:t>
            </a:r>
            <a:r>
              <a:rPr lang="en-GB" sz="1700" b="1" dirty="0">
                <a:latin typeface="Calibri" panose="020F0502020204030204" pitchFamily="34" charset="0"/>
                <a:ea typeface="Calibri" panose="020F0502020204030204" pitchFamily="34" charset="0"/>
                <a:cs typeface="Calibri" panose="020F0502020204030204" pitchFamily="34" charset="0"/>
              </a:rPr>
              <a:t>1.5</a:t>
            </a:r>
          </a:p>
          <a:p>
            <a:pPr marL="0" marR="0" indent="0">
              <a:lnSpc>
                <a:spcPct val="107000"/>
              </a:lnSpc>
              <a:spcBef>
                <a:spcPts val="0"/>
              </a:spcBef>
              <a:spcAft>
                <a:spcPts val="0"/>
              </a:spcAft>
              <a:buNone/>
            </a:pPr>
            <a:r>
              <a:rPr lang="en-GB" sz="1700" dirty="0">
                <a:latin typeface="Calibri" panose="020F0502020204030204" pitchFamily="34" charset="0"/>
                <a:ea typeface="Calibri" panose="020F0502020204030204" pitchFamily="34" charset="0"/>
                <a:cs typeface="Calibri" panose="020F0502020204030204" pitchFamily="34" charset="0"/>
              </a:rPr>
              <a:t>1.5	1.8	</a:t>
            </a:r>
            <a:r>
              <a:rPr lang="en-GB" sz="1700" b="1" dirty="0">
                <a:latin typeface="Calibri" panose="020F0502020204030204" pitchFamily="34" charset="0"/>
                <a:ea typeface="Calibri" panose="020F0502020204030204" pitchFamily="34" charset="0"/>
                <a:cs typeface="Calibri" panose="020F0502020204030204" pitchFamily="34" charset="0"/>
              </a:rPr>
              <a:t>2.0	2.3</a:t>
            </a:r>
            <a:r>
              <a:rPr lang="en-GB" sz="1700" dirty="0">
                <a:latin typeface="Calibri" panose="020F0502020204030204" pitchFamily="34" charset="0"/>
                <a:ea typeface="Calibri" panose="020F0502020204030204" pitchFamily="34" charset="0"/>
                <a:cs typeface="Calibri" panose="020F0502020204030204" pitchFamily="34" charset="0"/>
              </a:rPr>
              <a:t>	2.5	3.0</a:t>
            </a:r>
          </a:p>
          <a:p>
            <a:pPr marL="0" marR="0" indent="0">
              <a:lnSpc>
                <a:spcPct val="107000"/>
              </a:lnSpc>
              <a:spcBef>
                <a:spcPts val="0"/>
              </a:spcBef>
              <a:spcAft>
                <a:spcPts val="0"/>
              </a:spcAft>
              <a:buNone/>
            </a:pPr>
            <a:r>
              <a:rPr lang="en-GB" sz="1700" dirty="0">
                <a:latin typeface="Calibri" panose="020F0502020204030204" pitchFamily="34" charset="0"/>
                <a:ea typeface="Calibri" panose="020F0502020204030204" pitchFamily="34" charset="0"/>
                <a:cs typeface="Calibri" panose="020F0502020204030204" pitchFamily="34" charset="0"/>
              </a:rPr>
              <a:t>3.3	4.0	4.5	4.7	</a:t>
            </a:r>
            <a:r>
              <a:rPr lang="en-GB" sz="1700" b="1" dirty="0">
                <a:latin typeface="Calibri" panose="020F0502020204030204" pitchFamily="34" charset="0"/>
                <a:ea typeface="Calibri" panose="020F0502020204030204" pitchFamily="34" charset="0"/>
                <a:cs typeface="Calibri" panose="020F0502020204030204" pitchFamily="34" charset="0"/>
              </a:rPr>
              <a:t>5.0</a:t>
            </a:r>
            <a:r>
              <a:rPr lang="en-GB" sz="1700" dirty="0">
                <a:latin typeface="Calibri" panose="020F0502020204030204" pitchFamily="34" charset="0"/>
                <a:ea typeface="Calibri" panose="020F0502020204030204" pitchFamily="34" charset="0"/>
                <a:cs typeface="Calibri" panose="020F0502020204030204" pitchFamily="34" charset="0"/>
              </a:rPr>
              <a:t>	5.5</a:t>
            </a:r>
          </a:p>
          <a:p>
            <a:pPr marL="0" marR="0" indent="0">
              <a:lnSpc>
                <a:spcPct val="107000"/>
              </a:lnSpc>
              <a:spcBef>
                <a:spcPts val="0"/>
              </a:spcBef>
              <a:spcAft>
                <a:spcPts val="0"/>
              </a:spcAft>
              <a:buNone/>
            </a:pPr>
            <a:r>
              <a:rPr lang="en-GB" sz="1700" b="1" dirty="0">
                <a:latin typeface="Calibri" panose="020F0502020204030204" pitchFamily="34" charset="0"/>
                <a:ea typeface="Calibri" panose="020F0502020204030204" pitchFamily="34" charset="0"/>
                <a:cs typeface="Calibri" panose="020F0502020204030204" pitchFamily="34" charset="0"/>
              </a:rPr>
              <a:t>5.6</a:t>
            </a:r>
            <a:r>
              <a:rPr lang="en-GB" sz="1700" dirty="0">
                <a:latin typeface="Calibri" panose="020F0502020204030204" pitchFamily="34" charset="0"/>
                <a:ea typeface="Calibri" panose="020F0502020204030204" pitchFamily="34" charset="0"/>
                <a:cs typeface="Calibri" panose="020F0502020204030204" pitchFamily="34" charset="0"/>
              </a:rPr>
              <a:t>	5.9	6.0	6.0	6.0	6.5</a:t>
            </a:r>
          </a:p>
          <a:p>
            <a:pPr marL="0" indent="0">
              <a:buNone/>
            </a:pPr>
            <a:endParaRPr lang="en-US" sz="1700" dirty="0"/>
          </a:p>
          <a:p>
            <a:pPr marL="0" indent="0">
              <a:buNone/>
            </a:pPr>
            <a:r>
              <a:rPr lang="en-US" sz="1700" dirty="0"/>
              <a:t>Q</a:t>
            </a:r>
            <a:r>
              <a:rPr lang="en-US" sz="1700" baseline="-25000" dirty="0"/>
              <a:t>1</a:t>
            </a:r>
            <a:r>
              <a:rPr lang="en-US" sz="1700" dirty="0"/>
              <a:t> = The value of                 ordered data</a:t>
            </a:r>
            <a:endParaRPr lang="en-US" sz="1700" baseline="-25000" dirty="0"/>
          </a:p>
          <a:p>
            <a:pPr marL="0" indent="0">
              <a:buNone/>
            </a:pPr>
            <a:r>
              <a:rPr lang="en-US" sz="1700" dirty="0"/>
              <a:t>     = The value of 7.75</a:t>
            </a:r>
            <a:r>
              <a:rPr lang="en-US" sz="1700" baseline="30000" dirty="0"/>
              <a:t>th</a:t>
            </a:r>
            <a:r>
              <a:rPr lang="en-US" sz="1700" dirty="0"/>
              <a:t> ordered data</a:t>
            </a:r>
          </a:p>
          <a:p>
            <a:pPr marL="0" indent="0">
              <a:buNone/>
            </a:pPr>
            <a:r>
              <a:rPr lang="en-US" sz="1700" dirty="0"/>
              <a:t>     = The value of 8</a:t>
            </a:r>
            <a:r>
              <a:rPr lang="en-US" sz="1700" baseline="30000" dirty="0"/>
              <a:t>th</a:t>
            </a:r>
            <a:r>
              <a:rPr lang="en-US" sz="1700" dirty="0"/>
              <a:t> ordered data</a:t>
            </a:r>
          </a:p>
          <a:p>
            <a:pPr marL="0" indent="0">
              <a:buNone/>
            </a:pPr>
            <a:r>
              <a:rPr lang="en-US" sz="1700" dirty="0"/>
              <a:t>     = 0.7</a:t>
            </a:r>
          </a:p>
        </p:txBody>
      </p:sp>
      <p:sp>
        <p:nvSpPr>
          <p:cNvPr id="9" name="Content Placeholder 8">
            <a:extLst>
              <a:ext uri="{FF2B5EF4-FFF2-40B4-BE49-F238E27FC236}">
                <a16:creationId xmlns:a16="http://schemas.microsoft.com/office/drawing/2014/main" id="{621906C8-9006-45FA-8567-910B35BBCCD2}"/>
              </a:ext>
            </a:extLst>
          </p:cNvPr>
          <p:cNvSpPr>
            <a:spLocks noGrp="1"/>
          </p:cNvSpPr>
          <p:nvPr>
            <p:ph sz="half" idx="2"/>
          </p:nvPr>
        </p:nvSpPr>
        <p:spPr>
          <a:xfrm>
            <a:off x="6370319" y="448575"/>
            <a:ext cx="5262113" cy="5840081"/>
          </a:xfrm>
        </p:spPr>
        <p:txBody>
          <a:bodyPr>
            <a:normAutofit fontScale="62500" lnSpcReduction="20000"/>
          </a:bodyPr>
          <a:lstStyle/>
          <a:p>
            <a:pPr marL="0" indent="0">
              <a:buNone/>
            </a:pPr>
            <a:endParaRPr lang="en-US" sz="1700" dirty="0"/>
          </a:p>
          <a:p>
            <a:pPr marL="0" indent="0">
              <a:buNone/>
            </a:pPr>
            <a:r>
              <a:rPr lang="en-US" sz="1900" dirty="0"/>
              <a:t>Q</a:t>
            </a:r>
            <a:r>
              <a:rPr lang="en-US" sz="1900" baseline="-25000" dirty="0"/>
              <a:t>2</a:t>
            </a:r>
            <a:r>
              <a:rPr lang="en-US" sz="1900" dirty="0"/>
              <a:t> = The value of                ordered data</a:t>
            </a:r>
          </a:p>
          <a:p>
            <a:pPr marL="0" indent="0">
              <a:buNone/>
            </a:pPr>
            <a:r>
              <a:rPr lang="en-US" sz="1900" dirty="0"/>
              <a:t>      = The value of 15.5</a:t>
            </a:r>
            <a:r>
              <a:rPr lang="en-US" sz="1900" baseline="30000" dirty="0"/>
              <a:t>th</a:t>
            </a:r>
            <a:r>
              <a:rPr lang="en-US" sz="1900" dirty="0"/>
              <a:t> ordered data</a:t>
            </a:r>
          </a:p>
          <a:p>
            <a:pPr marL="0" indent="0">
              <a:buNone/>
            </a:pPr>
            <a:r>
              <a:rPr lang="en-US" sz="1900" dirty="0"/>
              <a:t>      = Average value of 15</a:t>
            </a:r>
            <a:r>
              <a:rPr lang="en-US" sz="1900" baseline="30000" dirty="0"/>
              <a:t>th</a:t>
            </a:r>
            <a:r>
              <a:rPr lang="en-US" sz="1900" dirty="0"/>
              <a:t> and 16</a:t>
            </a:r>
            <a:r>
              <a:rPr lang="en-US" sz="1900" baseline="30000" dirty="0"/>
              <a:t>th</a:t>
            </a:r>
            <a:r>
              <a:rPr lang="en-US" sz="1900" dirty="0"/>
              <a:t> ranked data</a:t>
            </a:r>
          </a:p>
          <a:p>
            <a:pPr marL="0" indent="0">
              <a:buNone/>
            </a:pPr>
            <a:r>
              <a:rPr lang="en-US" sz="1900" dirty="0"/>
              <a:t>      =	  = 2.15</a:t>
            </a:r>
          </a:p>
          <a:p>
            <a:pPr marL="0" indent="0">
              <a:buNone/>
            </a:pPr>
            <a:endParaRPr lang="en-US" sz="1900" dirty="0"/>
          </a:p>
          <a:p>
            <a:pPr marL="0" indent="0">
              <a:buNone/>
            </a:pPr>
            <a:r>
              <a:rPr lang="en-US" sz="1900" dirty="0"/>
              <a:t>Q</a:t>
            </a:r>
            <a:r>
              <a:rPr lang="en-US" sz="1900" baseline="-25000" dirty="0"/>
              <a:t>3</a:t>
            </a:r>
            <a:r>
              <a:rPr lang="en-US" sz="1900" dirty="0"/>
              <a:t> = The value of                ordered data</a:t>
            </a:r>
          </a:p>
          <a:p>
            <a:pPr marL="0" indent="0">
              <a:buNone/>
            </a:pPr>
            <a:r>
              <a:rPr lang="en-US" sz="1900" dirty="0"/>
              <a:t>      = The value of 23.25</a:t>
            </a:r>
            <a:r>
              <a:rPr lang="en-US" sz="1900" baseline="30000" dirty="0"/>
              <a:t>th</a:t>
            </a:r>
            <a:r>
              <a:rPr lang="en-US" sz="1900" dirty="0"/>
              <a:t> ordered data</a:t>
            </a:r>
          </a:p>
          <a:p>
            <a:pPr marL="0" indent="0">
              <a:buNone/>
            </a:pPr>
            <a:r>
              <a:rPr lang="en-US" sz="1900" dirty="0"/>
              <a:t>      = The value of 23</a:t>
            </a:r>
            <a:r>
              <a:rPr lang="en-US" sz="1900" baseline="30000" dirty="0"/>
              <a:t>rd</a:t>
            </a:r>
            <a:r>
              <a:rPr lang="en-US" sz="1900" dirty="0"/>
              <a:t> ordered data</a:t>
            </a:r>
          </a:p>
          <a:p>
            <a:pPr marL="0" indent="0">
              <a:buNone/>
            </a:pPr>
            <a:r>
              <a:rPr lang="en-US" sz="1900" dirty="0"/>
              <a:t>      = 5.0</a:t>
            </a:r>
          </a:p>
          <a:p>
            <a:pPr marL="0" indent="0">
              <a:buNone/>
            </a:pPr>
            <a:endParaRPr lang="en-US" sz="1900" dirty="0"/>
          </a:p>
          <a:p>
            <a:pPr marL="0" indent="0">
              <a:buNone/>
            </a:pPr>
            <a:r>
              <a:rPr lang="en-US" sz="1900" dirty="0"/>
              <a:t>IQR = Middle 50 % range = Q</a:t>
            </a:r>
            <a:r>
              <a:rPr lang="en-US" sz="1900" baseline="-25000" dirty="0"/>
              <a:t>3</a:t>
            </a:r>
            <a:r>
              <a:rPr lang="en-US" sz="1900" dirty="0"/>
              <a:t> –Q</a:t>
            </a:r>
            <a:r>
              <a:rPr lang="en-US" sz="1900" baseline="-25000" dirty="0"/>
              <a:t>1</a:t>
            </a:r>
            <a:r>
              <a:rPr lang="en-US" sz="1900" dirty="0"/>
              <a:t> = 5.0 – 0.7 = 4.3 years</a:t>
            </a:r>
          </a:p>
          <a:p>
            <a:pPr marL="0" indent="0">
              <a:buNone/>
            </a:pPr>
            <a:endParaRPr lang="en-US" sz="1900" dirty="0"/>
          </a:p>
          <a:p>
            <a:pPr marL="0" indent="0">
              <a:buNone/>
            </a:pPr>
            <a:r>
              <a:rPr lang="en-US" sz="1900" dirty="0"/>
              <a:t>P</a:t>
            </a:r>
            <a:r>
              <a:rPr lang="en-US" sz="1900" baseline="-25000" dirty="0"/>
              <a:t>80</a:t>
            </a:r>
            <a:r>
              <a:rPr lang="en-US" sz="1900" dirty="0"/>
              <a:t> = The value of                  ordered data</a:t>
            </a:r>
          </a:p>
          <a:p>
            <a:pPr marL="0" indent="0">
              <a:buNone/>
            </a:pPr>
            <a:r>
              <a:rPr lang="en-US" sz="1900" dirty="0"/>
              <a:t>       = The value of 24.8</a:t>
            </a:r>
            <a:r>
              <a:rPr lang="en-US" sz="1900" baseline="30000" dirty="0"/>
              <a:t>th</a:t>
            </a:r>
            <a:r>
              <a:rPr lang="en-US" sz="1900" dirty="0"/>
              <a:t> ordered data</a:t>
            </a:r>
          </a:p>
          <a:p>
            <a:pPr marL="0" indent="0">
              <a:buNone/>
            </a:pPr>
            <a:r>
              <a:rPr lang="en-US" sz="1900" dirty="0"/>
              <a:t>       = The value of 25</a:t>
            </a:r>
            <a:r>
              <a:rPr lang="en-US" sz="1900" baseline="30000" dirty="0"/>
              <a:t>th</a:t>
            </a:r>
            <a:r>
              <a:rPr lang="en-US" sz="1900" dirty="0"/>
              <a:t> ordered data</a:t>
            </a:r>
          </a:p>
          <a:p>
            <a:pPr marL="0" indent="0">
              <a:buNone/>
            </a:pPr>
            <a:r>
              <a:rPr lang="en-US" sz="1900" dirty="0"/>
              <a:t>       = 5.6</a:t>
            </a:r>
          </a:p>
          <a:p>
            <a:pPr marL="0" indent="0">
              <a:buNone/>
            </a:pPr>
            <a:endParaRPr lang="en-US" sz="1900" dirty="0"/>
          </a:p>
          <a:p>
            <a:pPr marL="0" indent="0">
              <a:buNone/>
            </a:pPr>
            <a:r>
              <a:rPr lang="en-US" sz="1900" dirty="0"/>
              <a:t>D</a:t>
            </a:r>
            <a:r>
              <a:rPr lang="en-US" sz="1900" baseline="-25000" dirty="0"/>
              <a:t>4</a:t>
            </a:r>
            <a:r>
              <a:rPr lang="en-US" sz="1900" dirty="0"/>
              <a:t> = The value of                ordered data</a:t>
            </a:r>
          </a:p>
          <a:p>
            <a:pPr marL="0" indent="0">
              <a:buNone/>
            </a:pPr>
            <a:r>
              <a:rPr lang="en-US" sz="1900" dirty="0"/>
              <a:t>      = The value of 12.4</a:t>
            </a:r>
            <a:r>
              <a:rPr lang="en-US" sz="1900" baseline="30000" dirty="0"/>
              <a:t>th</a:t>
            </a:r>
            <a:r>
              <a:rPr lang="en-US" sz="1900" dirty="0"/>
              <a:t> ordered data</a:t>
            </a:r>
          </a:p>
          <a:p>
            <a:pPr marL="0" indent="0">
              <a:buNone/>
            </a:pPr>
            <a:r>
              <a:rPr lang="en-US" sz="1900" dirty="0"/>
              <a:t>      = The value of 12</a:t>
            </a:r>
            <a:r>
              <a:rPr lang="en-US" sz="1900" baseline="30000" dirty="0"/>
              <a:t>th</a:t>
            </a:r>
            <a:r>
              <a:rPr lang="en-US" sz="1900" dirty="0"/>
              <a:t> ordered data</a:t>
            </a:r>
          </a:p>
          <a:p>
            <a:pPr marL="0" indent="0">
              <a:buNone/>
            </a:pPr>
            <a:r>
              <a:rPr lang="en-US" sz="1900" dirty="0"/>
              <a:t>      = 1.5</a:t>
            </a:r>
          </a:p>
        </p:txBody>
      </p:sp>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BF1AF90F-A87E-4136-B7C5-2FDA75EE07E6}"/>
                  </a:ext>
                </a:extLst>
              </p:cNvPr>
              <p:cNvSpPr txBox="1"/>
              <p:nvPr/>
            </p:nvSpPr>
            <p:spPr>
              <a:xfrm>
                <a:off x="1912905" y="5178712"/>
                <a:ext cx="571500" cy="377403"/>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𝑡h</m:t>
                              </m:r>
                            </m:sup>
                          </m:sSup>
                        </m:num>
                        <m:den>
                          <m:r>
                            <a:rPr lang="en-US" i="1">
                              <a:solidFill>
                                <a:srgbClr val="000000"/>
                              </a:solidFill>
                              <a:latin typeface="Cambria Math" panose="02040503050406030204" pitchFamily="18" charset="0"/>
                            </a:rPr>
                            <m:t>4</m:t>
                          </m:r>
                        </m:den>
                      </m:f>
                    </m:oMath>
                  </m:oMathPara>
                </a14:m>
                <a:endParaRPr lang="en-US" dirty="0"/>
              </a:p>
            </p:txBody>
          </p:sp>
        </mc:Choice>
        <mc:Fallback xmlns="">
          <p:sp>
            <p:nvSpPr>
              <p:cNvPr id="11" name="Object 10">
                <a:extLst>
                  <a:ext uri="{FF2B5EF4-FFF2-40B4-BE49-F238E27FC236}">
                    <a16:creationId xmlns:a16="http://schemas.microsoft.com/office/drawing/2014/main" id="{BF1AF90F-A87E-4136-B7C5-2FDA75EE07E6}"/>
                  </a:ext>
                </a:extLst>
              </p:cNvPr>
              <p:cNvSpPr txBox="1">
                <a:spLocks noRot="1" noChangeAspect="1" noMove="1" noResize="1" noEditPoints="1" noAdjustHandles="1" noChangeArrowheads="1" noChangeShapeType="1" noTextEdit="1"/>
              </p:cNvSpPr>
              <p:nvPr/>
            </p:nvSpPr>
            <p:spPr>
              <a:xfrm>
                <a:off x="1912905" y="5178712"/>
                <a:ext cx="571500" cy="377403"/>
              </a:xfrm>
              <a:prstGeom prst="rect">
                <a:avLst/>
              </a:prstGeom>
              <a:blipFill>
                <a:blip r:embed="rId2"/>
                <a:stretch>
                  <a:fillRect r="-117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DACC0C52-7A77-4474-98DB-3E4CE861F344}"/>
                  </a:ext>
                </a:extLst>
              </p:cNvPr>
              <p:cNvSpPr txBox="1"/>
              <p:nvPr/>
            </p:nvSpPr>
            <p:spPr>
              <a:xfrm>
                <a:off x="7793997" y="591709"/>
                <a:ext cx="609600" cy="4191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𝑡h</m:t>
                              </m:r>
                            </m:sup>
                          </m:sSup>
                        </m:num>
                        <m:den>
                          <m:r>
                            <a:rPr lang="en-US" i="1">
                              <a:solidFill>
                                <a:srgbClr val="000000"/>
                              </a:solidFill>
                              <a:latin typeface="Cambria Math" panose="02040503050406030204" pitchFamily="18" charset="0"/>
                            </a:rPr>
                            <m:t>4</m:t>
                          </m:r>
                        </m:den>
                      </m:f>
                    </m:oMath>
                  </m:oMathPara>
                </a14:m>
                <a:endParaRPr lang="en-US"/>
              </a:p>
            </p:txBody>
          </p:sp>
        </mc:Choice>
        <mc:Fallback xmlns="">
          <p:sp>
            <p:nvSpPr>
              <p:cNvPr id="13" name="Object 12">
                <a:extLst>
                  <a:ext uri="{FF2B5EF4-FFF2-40B4-BE49-F238E27FC236}">
                    <a16:creationId xmlns:a16="http://schemas.microsoft.com/office/drawing/2014/main" id="{DACC0C52-7A77-4474-98DB-3E4CE861F344}"/>
                  </a:ext>
                </a:extLst>
              </p:cNvPr>
              <p:cNvSpPr txBox="1">
                <a:spLocks noRot="1" noChangeAspect="1" noMove="1" noResize="1" noEditPoints="1" noAdjustHandles="1" noChangeArrowheads="1" noChangeShapeType="1" noTextEdit="1"/>
              </p:cNvSpPr>
              <p:nvPr/>
            </p:nvSpPr>
            <p:spPr>
              <a:xfrm>
                <a:off x="7793997" y="591709"/>
                <a:ext cx="609600" cy="419100"/>
              </a:xfrm>
              <a:prstGeom prst="rect">
                <a:avLst/>
              </a:prstGeom>
              <a:blipFill>
                <a:blip r:embed="rId3"/>
                <a:stretch>
                  <a:fillRect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23B0FCCA-17BB-4B38-A0F9-41A1F80170C0}"/>
                  </a:ext>
                </a:extLst>
              </p:cNvPr>
              <p:cNvSpPr txBox="1"/>
              <p:nvPr/>
            </p:nvSpPr>
            <p:spPr>
              <a:xfrm>
                <a:off x="6835238" y="1399146"/>
                <a:ext cx="626612" cy="3937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2.0+2.3</m:t>
                          </m:r>
                        </m:num>
                        <m:den>
                          <m:r>
                            <a:rPr lang="en-US" i="1">
                              <a:solidFill>
                                <a:srgbClr val="000000"/>
                              </a:solidFill>
                              <a:latin typeface="Cambria Math" panose="02040503050406030204" pitchFamily="18" charset="0"/>
                            </a:rPr>
                            <m:t>2</m:t>
                          </m:r>
                        </m:den>
                      </m:f>
                    </m:oMath>
                  </m:oMathPara>
                </a14:m>
                <a:endParaRPr lang="en-US" dirty="0"/>
              </a:p>
            </p:txBody>
          </p:sp>
        </mc:Choice>
        <mc:Fallback xmlns="">
          <p:sp>
            <p:nvSpPr>
              <p:cNvPr id="14" name="Object 13">
                <a:extLst>
                  <a:ext uri="{FF2B5EF4-FFF2-40B4-BE49-F238E27FC236}">
                    <a16:creationId xmlns:a16="http://schemas.microsoft.com/office/drawing/2014/main" id="{23B0FCCA-17BB-4B38-A0F9-41A1F80170C0}"/>
                  </a:ext>
                </a:extLst>
              </p:cNvPr>
              <p:cNvSpPr txBox="1">
                <a:spLocks noRot="1" noChangeAspect="1" noMove="1" noResize="1" noEditPoints="1" noAdjustHandles="1" noChangeArrowheads="1" noChangeShapeType="1" noTextEdit="1"/>
              </p:cNvSpPr>
              <p:nvPr/>
            </p:nvSpPr>
            <p:spPr>
              <a:xfrm>
                <a:off x="6835238" y="1399146"/>
                <a:ext cx="626612" cy="3937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15">
                <a:extLst>
                  <a:ext uri="{FF2B5EF4-FFF2-40B4-BE49-F238E27FC236}">
                    <a16:creationId xmlns:a16="http://schemas.microsoft.com/office/drawing/2014/main" id="{490E9C35-B90D-4EA8-8532-70E87B6D7199}"/>
                  </a:ext>
                </a:extLst>
              </p:cNvPr>
              <p:cNvSpPr txBox="1"/>
              <p:nvPr/>
            </p:nvSpPr>
            <p:spPr>
              <a:xfrm>
                <a:off x="7693538" y="1926363"/>
                <a:ext cx="596900" cy="4191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3(</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𝑡h</m:t>
                              </m:r>
                            </m:sup>
                          </m:sSup>
                        </m:num>
                        <m:den>
                          <m:r>
                            <a:rPr lang="en-US" i="1">
                              <a:solidFill>
                                <a:srgbClr val="000000"/>
                              </a:solidFill>
                              <a:latin typeface="Cambria Math" panose="02040503050406030204" pitchFamily="18" charset="0"/>
                            </a:rPr>
                            <m:t>4</m:t>
                          </m:r>
                        </m:den>
                      </m:f>
                    </m:oMath>
                  </m:oMathPara>
                </a14:m>
                <a:endParaRPr lang="en-US" dirty="0"/>
              </a:p>
            </p:txBody>
          </p:sp>
        </mc:Choice>
        <mc:Fallback xmlns="">
          <p:sp>
            <p:nvSpPr>
              <p:cNvPr id="16" name="Object 15">
                <a:extLst>
                  <a:ext uri="{FF2B5EF4-FFF2-40B4-BE49-F238E27FC236}">
                    <a16:creationId xmlns:a16="http://schemas.microsoft.com/office/drawing/2014/main" id="{490E9C35-B90D-4EA8-8532-70E87B6D7199}"/>
                  </a:ext>
                </a:extLst>
              </p:cNvPr>
              <p:cNvSpPr txBox="1">
                <a:spLocks noRot="1" noChangeAspect="1" noMove="1" noResize="1" noEditPoints="1" noAdjustHandles="1" noChangeArrowheads="1" noChangeShapeType="1" noTextEdit="1"/>
              </p:cNvSpPr>
              <p:nvPr/>
            </p:nvSpPr>
            <p:spPr>
              <a:xfrm>
                <a:off x="7693538" y="1926363"/>
                <a:ext cx="596900" cy="419100"/>
              </a:xfrm>
              <a:prstGeom prst="rect">
                <a:avLst/>
              </a:prstGeom>
              <a:blipFill>
                <a:blip r:embed="rId5"/>
                <a:stretch>
                  <a:fillRect r="-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16">
                <a:extLst>
                  <a:ext uri="{FF2B5EF4-FFF2-40B4-BE49-F238E27FC236}">
                    <a16:creationId xmlns:a16="http://schemas.microsoft.com/office/drawing/2014/main" id="{C10DFA0E-A8E1-4B65-AF66-AAAC14462747}"/>
                  </a:ext>
                </a:extLst>
              </p:cNvPr>
              <p:cNvSpPr txBox="1"/>
              <p:nvPr/>
            </p:nvSpPr>
            <p:spPr>
              <a:xfrm>
                <a:off x="7762247" y="3688409"/>
                <a:ext cx="673100" cy="4191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80(</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𝑡h</m:t>
                              </m:r>
                            </m:sup>
                          </m:sSup>
                        </m:num>
                        <m:den>
                          <m:r>
                            <a:rPr lang="en-US" i="1">
                              <a:solidFill>
                                <a:srgbClr val="000000"/>
                              </a:solidFill>
                              <a:latin typeface="Cambria Math" panose="02040503050406030204" pitchFamily="18" charset="0"/>
                            </a:rPr>
                            <m:t>100</m:t>
                          </m:r>
                        </m:den>
                      </m:f>
                    </m:oMath>
                  </m:oMathPara>
                </a14:m>
                <a:endParaRPr lang="en-US" dirty="0"/>
              </a:p>
            </p:txBody>
          </p:sp>
        </mc:Choice>
        <mc:Fallback xmlns="">
          <p:sp>
            <p:nvSpPr>
              <p:cNvPr id="17" name="Object 16">
                <a:extLst>
                  <a:ext uri="{FF2B5EF4-FFF2-40B4-BE49-F238E27FC236}">
                    <a16:creationId xmlns:a16="http://schemas.microsoft.com/office/drawing/2014/main" id="{C10DFA0E-A8E1-4B65-AF66-AAAC14462747}"/>
                  </a:ext>
                </a:extLst>
              </p:cNvPr>
              <p:cNvSpPr txBox="1">
                <a:spLocks noRot="1" noChangeAspect="1" noMove="1" noResize="1" noEditPoints="1" noAdjustHandles="1" noChangeArrowheads="1" noChangeShapeType="1" noTextEdit="1"/>
              </p:cNvSpPr>
              <p:nvPr/>
            </p:nvSpPr>
            <p:spPr>
              <a:xfrm>
                <a:off x="7762247" y="3688409"/>
                <a:ext cx="673100" cy="419100"/>
              </a:xfrm>
              <a:prstGeom prst="rect">
                <a:avLst/>
              </a:prstGeom>
              <a:blipFill>
                <a:blip r:embed="rId6"/>
                <a:stretch>
                  <a:fillRect r="-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Object 18">
                <a:extLst>
                  <a:ext uri="{FF2B5EF4-FFF2-40B4-BE49-F238E27FC236}">
                    <a16:creationId xmlns:a16="http://schemas.microsoft.com/office/drawing/2014/main" id="{A4BD3248-F749-438C-A4B3-7D367E8A70B1}"/>
                  </a:ext>
                </a:extLst>
              </p:cNvPr>
              <p:cNvSpPr txBox="1"/>
              <p:nvPr/>
            </p:nvSpPr>
            <p:spPr>
              <a:xfrm>
                <a:off x="7693538" y="5034128"/>
                <a:ext cx="609600" cy="419100"/>
              </a:xfrm>
              <a:prstGeom prst="rect">
                <a:avLst/>
              </a:prstGeom>
            </p:spPr>
            <p:txBody>
              <a:bodyPr>
                <a:normAutofit fontScale="47500" lnSpcReduction="20000"/>
              </a:bodyPr>
              <a:lstStyle/>
              <a:p>
                <a:pPr/>
                <a14:m>
                  <m:oMathPara xmlns:m="http://schemas.openxmlformats.org/officeDocument/2006/math">
                    <m:oMathParaPr>
                      <m:jc m:val="left"/>
                    </m:oMathParaPr>
                    <m:oMath xmlns:m="http://schemas.openxmlformats.org/officeDocument/2006/math">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𝑡h</m:t>
                              </m:r>
                            </m:sup>
                          </m:sSup>
                        </m:num>
                        <m:den>
                          <m:r>
                            <a:rPr lang="en-US" i="1">
                              <a:solidFill>
                                <a:srgbClr val="000000"/>
                              </a:solidFill>
                              <a:latin typeface="Cambria Math" panose="02040503050406030204" pitchFamily="18" charset="0"/>
                            </a:rPr>
                            <m:t>10</m:t>
                          </m:r>
                        </m:den>
                      </m:f>
                    </m:oMath>
                  </m:oMathPara>
                </a14:m>
                <a:endParaRPr lang="en-US" dirty="0"/>
              </a:p>
            </p:txBody>
          </p:sp>
        </mc:Choice>
        <mc:Fallback xmlns="">
          <p:sp>
            <p:nvSpPr>
              <p:cNvPr id="19" name="Object 18">
                <a:extLst>
                  <a:ext uri="{FF2B5EF4-FFF2-40B4-BE49-F238E27FC236}">
                    <a16:creationId xmlns:a16="http://schemas.microsoft.com/office/drawing/2014/main" id="{A4BD3248-F749-438C-A4B3-7D367E8A70B1}"/>
                  </a:ext>
                </a:extLst>
              </p:cNvPr>
              <p:cNvSpPr txBox="1">
                <a:spLocks noRot="1" noChangeAspect="1" noMove="1" noResize="1" noEditPoints="1" noAdjustHandles="1" noChangeArrowheads="1" noChangeShapeType="1" noTextEdit="1"/>
              </p:cNvSpPr>
              <p:nvPr/>
            </p:nvSpPr>
            <p:spPr>
              <a:xfrm>
                <a:off x="7693538" y="5034128"/>
                <a:ext cx="609600" cy="419100"/>
              </a:xfrm>
              <a:prstGeom prst="rect">
                <a:avLst/>
              </a:prstGeom>
              <a:blipFill>
                <a:blip r:embed="rId7"/>
                <a:stretch>
                  <a:fillRect r="-500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C30566C2-88C1-4F62-803D-74D7CA6AE10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163412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C9D65-6C8B-4398-A756-ED9C9AF006ED}"/>
              </a:ext>
            </a:extLst>
          </p:cNvPr>
          <p:cNvSpPr>
            <a:spLocks noGrp="1"/>
          </p:cNvSpPr>
          <p:nvPr>
            <p:ph type="title"/>
          </p:nvPr>
        </p:nvSpPr>
        <p:spPr>
          <a:xfrm>
            <a:off x="756249" y="533901"/>
            <a:ext cx="10058400" cy="289059"/>
          </a:xfrm>
        </p:spPr>
        <p:txBody>
          <a:bodyPr>
            <a:normAutofit fontScale="90000"/>
          </a:bodyPr>
          <a:lstStyle/>
          <a:p>
            <a:r>
              <a:rPr lang="en-US" sz="2400" b="1" dirty="0"/>
              <a:t>Box-and-whisker plot</a:t>
            </a:r>
          </a:p>
        </p:txBody>
      </p:sp>
      <p:sp>
        <p:nvSpPr>
          <p:cNvPr id="3" name="Content Placeholder 2">
            <a:extLst>
              <a:ext uri="{FF2B5EF4-FFF2-40B4-BE49-F238E27FC236}">
                <a16:creationId xmlns:a16="http://schemas.microsoft.com/office/drawing/2014/main" id="{64DC7DBD-689E-455A-81F6-D3497402CCFF}"/>
              </a:ext>
            </a:extLst>
          </p:cNvPr>
          <p:cNvSpPr>
            <a:spLocks noGrp="1"/>
          </p:cNvSpPr>
          <p:nvPr>
            <p:ph idx="1"/>
          </p:nvPr>
        </p:nvSpPr>
        <p:spPr>
          <a:xfrm>
            <a:off x="819509" y="1112808"/>
            <a:ext cx="10305691" cy="4922232"/>
          </a:xfrm>
        </p:spPr>
        <p:txBody>
          <a:bodyPr/>
          <a:lstStyle/>
          <a:p>
            <a:pPr marL="0" indent="0">
              <a:buNone/>
            </a:pPr>
            <a:r>
              <a:rPr lang="en-US" sz="1600" b="0" i="0" dirty="0">
                <a:solidFill>
                  <a:srgbClr val="21242C"/>
                </a:solidFill>
                <a:effectLst/>
                <a:latin typeface="Lato"/>
              </a:rPr>
              <a:t>A box and whisker plot also called a box plot, displays the five-number summary of a set of data. </a:t>
            </a:r>
            <a:r>
              <a:rPr lang="en-US" sz="1600" dirty="0">
                <a:solidFill>
                  <a:srgbClr val="21242C"/>
                </a:solidFill>
                <a:latin typeface="Lato"/>
              </a:rPr>
              <a:t>This tool is used to detect symmetry or non-symmetry of a data set. It also tells variability in the middle 50 % of the data and in the tails (right or left)</a:t>
            </a:r>
          </a:p>
          <a:p>
            <a:pPr marL="0" indent="0">
              <a:buNone/>
            </a:pPr>
            <a:r>
              <a:rPr lang="en-US" sz="1600" dirty="0">
                <a:solidFill>
                  <a:srgbClr val="21242C"/>
                </a:solidFill>
                <a:latin typeface="Lato"/>
              </a:rPr>
              <a:t>The five number summary is: </a:t>
            </a:r>
          </a:p>
          <a:p>
            <a:pPr marL="342900" indent="-342900">
              <a:buAutoNum type="arabicPeriod"/>
            </a:pPr>
            <a:r>
              <a:rPr lang="en-US" sz="1600" dirty="0" err="1">
                <a:solidFill>
                  <a:srgbClr val="21242C"/>
                </a:solidFill>
                <a:latin typeface="Lato"/>
              </a:rPr>
              <a:t>X</a:t>
            </a:r>
            <a:r>
              <a:rPr lang="en-US" sz="1600" baseline="-25000" dirty="0" err="1">
                <a:solidFill>
                  <a:srgbClr val="21242C"/>
                </a:solidFill>
                <a:latin typeface="Lato"/>
              </a:rPr>
              <a:t>min</a:t>
            </a:r>
            <a:r>
              <a:rPr lang="en-US" sz="1600" dirty="0">
                <a:solidFill>
                  <a:srgbClr val="21242C"/>
                </a:solidFill>
                <a:latin typeface="Lato"/>
              </a:rPr>
              <a:t> = Lowest observation in the data set</a:t>
            </a:r>
          </a:p>
          <a:p>
            <a:pPr marL="342900" indent="-342900">
              <a:buAutoNum type="arabicPeriod"/>
            </a:pPr>
            <a:r>
              <a:rPr lang="en-US" sz="1600" dirty="0">
                <a:solidFill>
                  <a:srgbClr val="21242C"/>
                </a:solidFill>
                <a:latin typeface="Lato"/>
              </a:rPr>
              <a:t>Q</a:t>
            </a:r>
            <a:r>
              <a:rPr lang="en-US" sz="1600" baseline="-25000" dirty="0">
                <a:solidFill>
                  <a:srgbClr val="21242C"/>
                </a:solidFill>
                <a:latin typeface="Lato"/>
              </a:rPr>
              <a:t>1</a:t>
            </a:r>
            <a:r>
              <a:rPr lang="en-US" sz="1600" dirty="0">
                <a:solidFill>
                  <a:srgbClr val="21242C"/>
                </a:solidFill>
                <a:latin typeface="Lato"/>
              </a:rPr>
              <a:t> = First Quartile</a:t>
            </a:r>
          </a:p>
          <a:p>
            <a:pPr marL="342900" indent="-342900">
              <a:buAutoNum type="arabicPeriod"/>
            </a:pPr>
            <a:r>
              <a:rPr lang="en-US" sz="1600" dirty="0">
                <a:solidFill>
                  <a:srgbClr val="21242C"/>
                </a:solidFill>
                <a:latin typeface="Lato"/>
              </a:rPr>
              <a:t>Q</a:t>
            </a:r>
            <a:r>
              <a:rPr lang="en-US" sz="1600" baseline="-25000" dirty="0">
                <a:solidFill>
                  <a:srgbClr val="21242C"/>
                </a:solidFill>
                <a:latin typeface="Lato"/>
              </a:rPr>
              <a:t>2</a:t>
            </a:r>
            <a:r>
              <a:rPr lang="en-US" sz="1600" dirty="0">
                <a:solidFill>
                  <a:srgbClr val="21242C"/>
                </a:solidFill>
                <a:latin typeface="Lato"/>
              </a:rPr>
              <a:t> = Second Quartile</a:t>
            </a:r>
          </a:p>
          <a:p>
            <a:pPr marL="342900" indent="-342900">
              <a:buAutoNum type="arabicPeriod"/>
            </a:pPr>
            <a:r>
              <a:rPr lang="en-US" sz="1600" dirty="0">
                <a:solidFill>
                  <a:srgbClr val="21242C"/>
                </a:solidFill>
                <a:latin typeface="Lato"/>
              </a:rPr>
              <a:t>Q</a:t>
            </a:r>
            <a:r>
              <a:rPr lang="en-US" sz="1600" baseline="-25000" dirty="0">
                <a:solidFill>
                  <a:srgbClr val="21242C"/>
                </a:solidFill>
                <a:latin typeface="Lato"/>
              </a:rPr>
              <a:t>3</a:t>
            </a:r>
            <a:r>
              <a:rPr lang="en-US" sz="1600" dirty="0">
                <a:solidFill>
                  <a:srgbClr val="21242C"/>
                </a:solidFill>
                <a:latin typeface="Lato"/>
              </a:rPr>
              <a:t> = Third Quartile</a:t>
            </a:r>
          </a:p>
          <a:p>
            <a:pPr marL="342900" indent="-342900">
              <a:buAutoNum type="arabicPeriod"/>
            </a:pPr>
            <a:r>
              <a:rPr lang="en-US" sz="1600" dirty="0" err="1">
                <a:solidFill>
                  <a:srgbClr val="21242C"/>
                </a:solidFill>
                <a:latin typeface="Lato"/>
              </a:rPr>
              <a:t>X</a:t>
            </a:r>
            <a:r>
              <a:rPr lang="en-US" sz="1600" baseline="-25000" dirty="0" err="1">
                <a:solidFill>
                  <a:srgbClr val="21242C"/>
                </a:solidFill>
                <a:latin typeface="Lato"/>
              </a:rPr>
              <a:t>max</a:t>
            </a:r>
            <a:r>
              <a:rPr lang="en-US" sz="1600" dirty="0">
                <a:solidFill>
                  <a:srgbClr val="21242C"/>
                </a:solidFill>
                <a:latin typeface="Lato"/>
              </a:rPr>
              <a:t> = Highest observation in the data set</a:t>
            </a:r>
          </a:p>
          <a:p>
            <a:pPr marL="0" indent="0">
              <a:buNone/>
            </a:pPr>
            <a:r>
              <a:rPr lang="en-US" sz="1600" b="0" i="0" dirty="0">
                <a:solidFill>
                  <a:srgbClr val="21242C"/>
                </a:solidFill>
                <a:effectLst/>
                <a:latin typeface="Lato"/>
              </a:rPr>
              <a:t>In a box plot, we draw a box from the first quartile to the third quartile. A vertical line goes through the box at the median. The whiskers go from each quartile to the minimum or maximum.</a:t>
            </a:r>
          </a:p>
          <a:p>
            <a:pPr marL="0" indent="0">
              <a:buNone/>
            </a:pPr>
            <a:endParaRPr lang="en-US" sz="1600" dirty="0">
              <a:solidFill>
                <a:srgbClr val="21242C"/>
              </a:solidFill>
              <a:latin typeface="Lato"/>
            </a:endParaRPr>
          </a:p>
          <a:p>
            <a:pPr marL="0" indent="0">
              <a:buNone/>
            </a:pPr>
            <a:endParaRPr lang="en-US" sz="1600" dirty="0">
              <a:solidFill>
                <a:srgbClr val="21242C"/>
              </a:solidFill>
              <a:latin typeface="Lato"/>
            </a:endParaRPr>
          </a:p>
          <a:p>
            <a:pPr marL="0" indent="0">
              <a:buNone/>
            </a:pPr>
            <a:endParaRPr lang="en-US" dirty="0"/>
          </a:p>
        </p:txBody>
      </p:sp>
      <p:pic>
        <p:nvPicPr>
          <p:cNvPr id="6" name="Picture 5">
            <a:extLst>
              <a:ext uri="{FF2B5EF4-FFF2-40B4-BE49-F238E27FC236}">
                <a16:creationId xmlns:a16="http://schemas.microsoft.com/office/drawing/2014/main" id="{4D0528CC-C41E-4596-B9CB-82E04DB71F91}"/>
              </a:ext>
            </a:extLst>
          </p:cNvPr>
          <p:cNvPicPr>
            <a:picLocks noChangeAspect="1"/>
          </p:cNvPicPr>
          <p:nvPr/>
        </p:nvPicPr>
        <p:blipFill>
          <a:blip r:embed="rId2"/>
          <a:stretch>
            <a:fillRect/>
          </a:stretch>
        </p:blipFill>
        <p:spPr>
          <a:xfrm>
            <a:off x="1746295" y="4796301"/>
            <a:ext cx="2781688" cy="1095528"/>
          </a:xfrm>
          <a:prstGeom prst="rect">
            <a:avLst/>
          </a:prstGeom>
        </p:spPr>
      </p:pic>
      <p:sp>
        <p:nvSpPr>
          <p:cNvPr id="4" name="Footer Placeholder 3">
            <a:extLst>
              <a:ext uri="{FF2B5EF4-FFF2-40B4-BE49-F238E27FC236}">
                <a16:creationId xmlns:a16="http://schemas.microsoft.com/office/drawing/2014/main" id="{72D28B4A-01CC-454E-B92D-A0EA6A6FE54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522295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0F1E87-7025-4DD4-B8BB-AFC7BDDE4CAB}"/>
              </a:ext>
            </a:extLst>
          </p:cNvPr>
          <p:cNvPicPr>
            <a:picLocks noGrp="1" noChangeAspect="1"/>
          </p:cNvPicPr>
          <p:nvPr>
            <p:ph sz="half" idx="1"/>
          </p:nvPr>
        </p:nvPicPr>
        <p:blipFill>
          <a:blip r:embed="rId2"/>
          <a:stretch>
            <a:fillRect/>
          </a:stretch>
        </p:blipFill>
        <p:spPr>
          <a:xfrm>
            <a:off x="569913" y="1742811"/>
            <a:ext cx="5251450" cy="3500966"/>
          </a:xfrm>
          <a:prstGeom prst="rect">
            <a:avLst/>
          </a:prstGeom>
        </p:spPr>
      </p:pic>
      <p:pic>
        <p:nvPicPr>
          <p:cNvPr id="6" name="Content Placeholder 5">
            <a:extLst>
              <a:ext uri="{FF2B5EF4-FFF2-40B4-BE49-F238E27FC236}">
                <a16:creationId xmlns:a16="http://schemas.microsoft.com/office/drawing/2014/main" id="{A4147335-2861-436D-8290-F40CA59E39D0}"/>
              </a:ext>
            </a:extLst>
          </p:cNvPr>
          <p:cNvPicPr>
            <a:picLocks noGrp="1" noChangeAspect="1"/>
          </p:cNvPicPr>
          <p:nvPr>
            <p:ph sz="half" idx="2"/>
          </p:nvPr>
        </p:nvPicPr>
        <p:blipFill>
          <a:blip r:embed="rId3"/>
          <a:stretch>
            <a:fillRect/>
          </a:stretch>
        </p:blipFill>
        <p:spPr>
          <a:xfrm>
            <a:off x="6370638" y="1742811"/>
            <a:ext cx="5251450" cy="3500966"/>
          </a:xfrm>
          <a:prstGeom prst="rect">
            <a:avLst/>
          </a:prstGeom>
        </p:spPr>
      </p:pic>
      <p:sp>
        <p:nvSpPr>
          <p:cNvPr id="2" name="Footer Placeholder 1">
            <a:extLst>
              <a:ext uri="{FF2B5EF4-FFF2-40B4-BE49-F238E27FC236}">
                <a16:creationId xmlns:a16="http://schemas.microsoft.com/office/drawing/2014/main" id="{D4CA35D3-06E9-42E8-A508-278F6D8543D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27691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7AA49-2348-4CDC-9C87-2A071D570783}"/>
              </a:ext>
            </a:extLst>
          </p:cNvPr>
          <p:cNvSpPr>
            <a:spLocks noGrp="1"/>
          </p:cNvSpPr>
          <p:nvPr>
            <p:ph type="title"/>
          </p:nvPr>
        </p:nvSpPr>
        <p:spPr>
          <a:xfrm>
            <a:off x="792480" y="480753"/>
            <a:ext cx="10058400" cy="363246"/>
          </a:xfrm>
        </p:spPr>
        <p:txBody>
          <a:bodyPr>
            <a:normAutofit/>
          </a:bodyPr>
          <a:lstStyle/>
          <a:p>
            <a:r>
              <a:rPr lang="en-US" sz="1800" b="1" dirty="0"/>
              <a:t>Computing partitioning values in frequency distribution</a:t>
            </a:r>
          </a:p>
        </p:txBody>
      </p:sp>
      <p:sp>
        <p:nvSpPr>
          <p:cNvPr id="3" name="Content Placeholder 2">
            <a:extLst>
              <a:ext uri="{FF2B5EF4-FFF2-40B4-BE49-F238E27FC236}">
                <a16:creationId xmlns:a16="http://schemas.microsoft.com/office/drawing/2014/main" id="{60EC845D-724D-4B02-8ED8-EF7B12376C4E}"/>
              </a:ext>
            </a:extLst>
          </p:cNvPr>
          <p:cNvSpPr>
            <a:spLocks noGrp="1"/>
          </p:cNvSpPr>
          <p:nvPr>
            <p:ph sz="half" idx="1"/>
          </p:nvPr>
        </p:nvSpPr>
        <p:spPr>
          <a:xfrm>
            <a:off x="542166" y="1076241"/>
            <a:ext cx="5410873" cy="5227455"/>
          </a:xfrm>
        </p:spPr>
        <p:txBody>
          <a:bodyPr>
            <a:normAutofit lnSpcReduction="10000"/>
          </a:bodyPr>
          <a:lstStyle/>
          <a:p>
            <a:pPr marL="0" indent="0">
              <a:buNone/>
            </a:pPr>
            <a:r>
              <a:rPr lang="en-US" sz="1200" dirty="0"/>
              <a:t>Example:</a:t>
            </a:r>
          </a:p>
          <a:p>
            <a:pPr marL="0" indent="0">
              <a:buNone/>
            </a:pPr>
            <a:r>
              <a:rPr lang="en-US" sz="1200" dirty="0"/>
              <a:t>The grades of students in Statistics module is given in following frequency distribution</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228600" indent="-228600">
              <a:buAutoNum type="alphaLcParenBoth"/>
            </a:pPr>
            <a:endParaRPr lang="en-US" sz="1200" dirty="0"/>
          </a:p>
          <a:p>
            <a:pPr marL="228600" indent="-228600">
              <a:buAutoNum type="alphaLcParenBoth"/>
            </a:pPr>
            <a:endParaRPr lang="en-US" sz="1200" dirty="0"/>
          </a:p>
          <a:p>
            <a:pPr marL="344488" lvl="1" indent="-284163">
              <a:buAutoNum type="alphaLcParenBoth"/>
            </a:pPr>
            <a:r>
              <a:rPr lang="en-US" sz="1200" dirty="0"/>
              <a:t>Compute Q1, Q2 and Q3</a:t>
            </a:r>
          </a:p>
          <a:p>
            <a:pPr marL="344488" lvl="1" indent="-284163">
              <a:buAutoNum type="alphaLcParenBoth"/>
            </a:pPr>
            <a:r>
              <a:rPr lang="en-US" sz="1200" dirty="0"/>
              <a:t>Compute middle 50 % range </a:t>
            </a:r>
          </a:p>
          <a:p>
            <a:pPr marL="344488" lvl="1" indent="-284163">
              <a:buAutoNum type="alphaLcParenBoth"/>
            </a:pPr>
            <a:r>
              <a:rPr lang="en-US" sz="1200" dirty="0"/>
              <a:t>Compute middle 80 % range</a:t>
            </a:r>
          </a:p>
          <a:p>
            <a:pPr marL="344488" lvl="1" indent="-284163">
              <a:buAutoNum type="alphaLcParenBoth"/>
            </a:pPr>
            <a:r>
              <a:rPr lang="en-US" sz="1200" dirty="0"/>
              <a:t>Draw a box-and-whisker plot and comment on the nature of the distribution</a:t>
            </a:r>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F6A55E4F-044B-495F-966D-BFA6C98506F3}"/>
              </a:ext>
            </a:extLst>
          </p:cNvPr>
          <p:cNvSpPr>
            <a:spLocks noGrp="1"/>
          </p:cNvSpPr>
          <p:nvPr>
            <p:ph sz="half" idx="2"/>
          </p:nvPr>
        </p:nvSpPr>
        <p:spPr>
          <a:xfrm>
            <a:off x="6238959" y="844000"/>
            <a:ext cx="5410873" cy="5533247"/>
          </a:xfrm>
        </p:spPr>
        <p:txBody>
          <a:bodyPr>
            <a:normAutofit lnSpcReduction="10000"/>
          </a:bodyPr>
          <a:lstStyle/>
          <a:p>
            <a:pPr marL="0" indent="0">
              <a:buNone/>
            </a:pPr>
            <a:r>
              <a:rPr lang="en-US" sz="1200" dirty="0"/>
              <a:t>Solution:</a:t>
            </a:r>
          </a:p>
          <a:p>
            <a:pPr marL="0" indent="0">
              <a:buNone/>
            </a:pPr>
            <a:r>
              <a:rPr lang="en-US" sz="1200" dirty="0"/>
              <a:t>Here the variable of interest (X) = Grades of students in Statistics</a:t>
            </a:r>
          </a:p>
          <a:p>
            <a:pPr marL="0" indent="0">
              <a:buNone/>
            </a:pPr>
            <a:r>
              <a:rPr lang="en-US" sz="1200" dirty="0"/>
              <a:t>Size of the sample (n) = 80</a:t>
            </a:r>
          </a:p>
          <a:p>
            <a:pPr marL="0" indent="0">
              <a:buNone/>
            </a:pPr>
            <a:r>
              <a:rPr lang="en-US" sz="1200" dirty="0"/>
              <a:t>Computing Quartiles</a:t>
            </a:r>
          </a:p>
          <a:p>
            <a:pPr marL="0" indent="0">
              <a:buNone/>
            </a:pPr>
            <a:r>
              <a:rPr lang="en-US" sz="1200" b="1" dirty="0"/>
              <a:t>First Quartile (Q1)</a:t>
            </a:r>
          </a:p>
          <a:p>
            <a:pPr marL="0" indent="0">
              <a:buNone/>
            </a:pPr>
            <a:r>
              <a:rPr lang="en-US" sz="1200" dirty="0"/>
              <a:t>Q</a:t>
            </a:r>
            <a:r>
              <a:rPr lang="en-US" sz="1200" baseline="-25000" dirty="0"/>
              <a:t>1</a:t>
            </a:r>
            <a:r>
              <a:rPr lang="en-US" sz="1200" dirty="0"/>
              <a:t> = Size of            ordered data = 20</a:t>
            </a:r>
            <a:r>
              <a:rPr lang="en-US" sz="1200" baseline="30000" dirty="0"/>
              <a:t>th</a:t>
            </a:r>
            <a:r>
              <a:rPr lang="en-US" sz="1200" dirty="0"/>
              <a:t> ordered data </a:t>
            </a:r>
          </a:p>
          <a:p>
            <a:pPr marL="0" indent="0">
              <a:buNone/>
            </a:pPr>
            <a:endParaRPr lang="en-US" sz="1200" dirty="0"/>
          </a:p>
          <a:p>
            <a:pPr marL="0" indent="0">
              <a:buNone/>
            </a:pPr>
            <a:r>
              <a:rPr lang="en-US" sz="1200" dirty="0"/>
              <a:t>Hence, Q</a:t>
            </a:r>
            <a:r>
              <a:rPr lang="en-US" sz="1200" baseline="-25000" dirty="0"/>
              <a:t>1</a:t>
            </a:r>
            <a:r>
              <a:rPr lang="en-US" sz="1200" dirty="0"/>
              <a:t> falls in the class 64 – 70.</a:t>
            </a:r>
          </a:p>
          <a:p>
            <a:pPr marL="0" indent="0">
              <a:buNone/>
            </a:pPr>
            <a:r>
              <a:rPr lang="en-US" sz="1200" dirty="0"/>
              <a:t>The actual Q</a:t>
            </a:r>
            <a:r>
              <a:rPr lang="en-US" sz="1200" baseline="-25000" dirty="0"/>
              <a:t>1</a:t>
            </a:r>
            <a:r>
              <a:rPr lang="en-US" sz="1200" dirty="0"/>
              <a:t> is given by,</a:t>
            </a:r>
          </a:p>
          <a:p>
            <a:pPr marL="0" indent="0">
              <a:buNone/>
            </a:pPr>
            <a:endParaRPr lang="en-US" sz="1200" dirty="0"/>
          </a:p>
          <a:p>
            <a:pPr marL="0" indent="0">
              <a:buNone/>
            </a:pPr>
            <a:r>
              <a:rPr lang="en-US" sz="1200" dirty="0"/>
              <a:t>Q</a:t>
            </a:r>
            <a:r>
              <a:rPr lang="en-US" sz="1200" baseline="-25000" dirty="0"/>
              <a:t>1</a:t>
            </a:r>
            <a:r>
              <a:rPr lang="en-US" sz="1200" dirty="0"/>
              <a:t> =                                                    = 67.6</a:t>
            </a:r>
          </a:p>
          <a:p>
            <a:pPr marL="0" indent="0">
              <a:buNone/>
            </a:pPr>
            <a:endParaRPr lang="en-US" sz="1200" b="1" dirty="0"/>
          </a:p>
          <a:p>
            <a:pPr marL="0" indent="0">
              <a:buNone/>
            </a:pPr>
            <a:r>
              <a:rPr lang="en-US" sz="1200" b="1" dirty="0"/>
              <a:t>Second Quartile (Q2)</a:t>
            </a:r>
            <a:endParaRPr lang="en-US" sz="1200" dirty="0"/>
          </a:p>
          <a:p>
            <a:pPr marL="0" indent="0">
              <a:buNone/>
            </a:pPr>
            <a:r>
              <a:rPr lang="en-US" sz="1200" dirty="0"/>
              <a:t>Q</a:t>
            </a:r>
            <a:r>
              <a:rPr lang="en-US" sz="1200" baseline="-25000" dirty="0"/>
              <a:t>2</a:t>
            </a:r>
            <a:r>
              <a:rPr lang="en-US" sz="1200" dirty="0"/>
              <a:t> = Value of            ordered data = 40</a:t>
            </a:r>
            <a:r>
              <a:rPr lang="en-US" sz="1200" baseline="30000" dirty="0"/>
              <a:t>th</a:t>
            </a:r>
            <a:r>
              <a:rPr lang="en-US" sz="1200" dirty="0"/>
              <a:t> ordered data</a:t>
            </a:r>
          </a:p>
          <a:p>
            <a:pPr marL="0" indent="0">
              <a:buNone/>
            </a:pPr>
            <a:endParaRPr lang="en-US" sz="1000" dirty="0"/>
          </a:p>
          <a:p>
            <a:pPr marL="0" indent="0">
              <a:buNone/>
            </a:pPr>
            <a:r>
              <a:rPr lang="en-US" sz="1200" dirty="0"/>
              <a:t>Hence, Q</a:t>
            </a:r>
            <a:r>
              <a:rPr lang="en-US" sz="1200" baseline="-25000" dirty="0"/>
              <a:t>2</a:t>
            </a:r>
            <a:r>
              <a:rPr lang="en-US" sz="1200" dirty="0"/>
              <a:t> falls in the class 70 -76</a:t>
            </a:r>
          </a:p>
          <a:p>
            <a:pPr marL="0" indent="0">
              <a:buNone/>
            </a:pPr>
            <a:r>
              <a:rPr lang="en-US" sz="1200" dirty="0"/>
              <a:t>Then actual Q</a:t>
            </a:r>
            <a:r>
              <a:rPr lang="en-US" sz="1200" baseline="-25000" dirty="0"/>
              <a:t>2</a:t>
            </a:r>
            <a:r>
              <a:rPr lang="en-US" sz="1200" dirty="0"/>
              <a:t> is given by,</a:t>
            </a:r>
          </a:p>
          <a:p>
            <a:pPr marL="0" indent="0">
              <a:buNone/>
            </a:pPr>
            <a:endParaRPr lang="en-US" sz="1200" dirty="0"/>
          </a:p>
          <a:p>
            <a:pPr marL="0" indent="0">
              <a:buNone/>
            </a:pPr>
            <a:r>
              <a:rPr lang="en-US" sz="1200" dirty="0"/>
              <a:t>Q</a:t>
            </a:r>
            <a:r>
              <a:rPr lang="en-US" sz="1200" baseline="-25000" dirty="0"/>
              <a:t>2</a:t>
            </a:r>
            <a:r>
              <a:rPr lang="en-US" sz="1200" dirty="0"/>
              <a:t> =                                                     = 75.05</a:t>
            </a:r>
          </a:p>
          <a:p>
            <a:pPr marL="0" indent="0">
              <a:buNone/>
            </a:pPr>
            <a:endParaRPr lang="en-US" sz="1200" dirty="0"/>
          </a:p>
        </p:txBody>
      </p:sp>
      <p:graphicFrame>
        <p:nvGraphicFramePr>
          <p:cNvPr id="5" name="Object 4">
            <a:extLst>
              <a:ext uri="{FF2B5EF4-FFF2-40B4-BE49-F238E27FC236}">
                <a16:creationId xmlns:a16="http://schemas.microsoft.com/office/drawing/2014/main" id="{08FAC5E9-6C82-43A2-A024-23C2986B5EB8}"/>
              </a:ext>
            </a:extLst>
          </p:cNvPr>
          <p:cNvGraphicFramePr>
            <a:graphicFrameLocks noChangeAspect="1"/>
          </p:cNvGraphicFramePr>
          <p:nvPr>
            <p:extLst>
              <p:ext uri="{D42A27DB-BD31-4B8C-83A1-F6EECF244321}">
                <p14:modId xmlns:p14="http://schemas.microsoft.com/office/powerpoint/2010/main" val="4114479152"/>
              </p:ext>
            </p:extLst>
          </p:nvPr>
        </p:nvGraphicFramePr>
        <p:xfrm>
          <a:off x="688975" y="1944688"/>
          <a:ext cx="3343275" cy="2163762"/>
        </p:xfrm>
        <a:graphic>
          <a:graphicData uri="http://schemas.openxmlformats.org/presentationml/2006/ole">
            <mc:AlternateContent xmlns:mc="http://schemas.openxmlformats.org/markup-compatibility/2006">
              <mc:Choice xmlns:v="urn:schemas-microsoft-com:vml" Requires="v">
                <p:oleObj name="Worksheet" r:id="rId2" imgW="3343215" imgH="1914610" progId="Excel.Sheet.12">
                  <p:embed/>
                </p:oleObj>
              </mc:Choice>
              <mc:Fallback>
                <p:oleObj name="Worksheet" r:id="rId2" imgW="3343215" imgH="1914610" progId="Excel.Sheet.12">
                  <p:embed/>
                  <p:pic>
                    <p:nvPicPr>
                      <p:cNvPr id="0" name=""/>
                      <p:cNvPicPr/>
                      <p:nvPr/>
                    </p:nvPicPr>
                    <p:blipFill>
                      <a:blip r:embed="rId3"/>
                      <a:stretch>
                        <a:fillRect/>
                      </a:stretch>
                    </p:blipFill>
                    <p:spPr>
                      <a:xfrm>
                        <a:off x="688975" y="1944688"/>
                        <a:ext cx="3343275" cy="216376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CF51BD08-888F-4A23-814D-6D97AECBEE67}"/>
                  </a:ext>
                </a:extLst>
              </p:cNvPr>
              <p:cNvSpPr txBox="1"/>
              <p:nvPr/>
            </p:nvSpPr>
            <p:spPr>
              <a:xfrm>
                <a:off x="7220988" y="2163687"/>
                <a:ext cx="368300" cy="4699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e>
                          </m:d>
                        </m:e>
                        <m:sup>
                          <m:r>
                            <a:rPr lang="en-US" i="1">
                              <a:solidFill>
                                <a:srgbClr val="000000"/>
                              </a:solidFill>
                              <a:latin typeface="Cambria Math" panose="02040503050406030204" pitchFamily="18" charset="0"/>
                            </a:rPr>
                            <m:t>𝑡h</m:t>
                          </m:r>
                        </m:sup>
                      </m:sSup>
                    </m:oMath>
                  </m:oMathPara>
                </a14:m>
                <a:endParaRPr lang="en-US" dirty="0"/>
              </a:p>
            </p:txBody>
          </p:sp>
        </mc:Choice>
        <mc:Fallback xmlns="">
          <p:sp>
            <p:nvSpPr>
              <p:cNvPr id="7" name="Object 6">
                <a:extLst>
                  <a:ext uri="{FF2B5EF4-FFF2-40B4-BE49-F238E27FC236}">
                    <a16:creationId xmlns:a16="http://schemas.microsoft.com/office/drawing/2014/main" id="{CF51BD08-888F-4A23-814D-6D97AECBEE67}"/>
                  </a:ext>
                </a:extLst>
              </p:cNvPr>
              <p:cNvSpPr txBox="1">
                <a:spLocks noRot="1" noChangeAspect="1" noMove="1" noResize="1" noEditPoints="1" noAdjustHandles="1" noChangeArrowheads="1" noChangeShapeType="1" noTextEdit="1"/>
              </p:cNvSpPr>
              <p:nvPr/>
            </p:nvSpPr>
            <p:spPr>
              <a:xfrm>
                <a:off x="7220988" y="2163687"/>
                <a:ext cx="368300" cy="469900"/>
              </a:xfrm>
              <a:prstGeom prst="rect">
                <a:avLst/>
              </a:prstGeom>
              <a:blipFill>
                <a:blip r:embed="rId4"/>
                <a:stretch>
                  <a:fillRect r="-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D39F330A-99F9-476A-8A59-B11807A8C033}"/>
                  </a:ext>
                </a:extLst>
              </p:cNvPr>
              <p:cNvSpPr txBox="1"/>
              <p:nvPr/>
            </p:nvSpPr>
            <p:spPr>
              <a:xfrm>
                <a:off x="6664168" y="3469094"/>
                <a:ext cx="2280227" cy="543954"/>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𝐿</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1</m:t>
                              </m:r>
                            </m:sub>
                          </m:sSub>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𝑐</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=64+</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20−14</m:t>
                          </m:r>
                        </m:num>
                        <m:den>
                          <m:r>
                            <a:rPr lang="en-US" i="1">
                              <a:solidFill>
                                <a:srgbClr val="000000"/>
                              </a:solidFill>
                              <a:latin typeface="Cambria Math" panose="02040503050406030204" pitchFamily="18" charset="0"/>
                            </a:rPr>
                            <m:t>10</m:t>
                          </m:r>
                        </m:den>
                      </m:f>
                      <m:r>
                        <a:rPr lang="en-US" i="1">
                          <a:solidFill>
                            <a:srgbClr val="000000"/>
                          </a:solidFill>
                          <a:latin typeface="Cambria Math" panose="02040503050406030204" pitchFamily="18" charset="0"/>
                        </a:rPr>
                        <m:t>∗6</m:t>
                      </m:r>
                    </m:oMath>
                  </m:oMathPara>
                </a14:m>
                <a:endParaRPr lang="en-US" dirty="0"/>
              </a:p>
            </p:txBody>
          </p:sp>
        </mc:Choice>
        <mc:Fallback xmlns="">
          <p:sp>
            <p:nvSpPr>
              <p:cNvPr id="8" name="Object 7">
                <a:extLst>
                  <a:ext uri="{FF2B5EF4-FFF2-40B4-BE49-F238E27FC236}">
                    <a16:creationId xmlns:a16="http://schemas.microsoft.com/office/drawing/2014/main" id="{D39F330A-99F9-476A-8A59-B11807A8C033}"/>
                  </a:ext>
                </a:extLst>
              </p:cNvPr>
              <p:cNvSpPr txBox="1">
                <a:spLocks noRot="1" noChangeAspect="1" noMove="1" noResize="1" noEditPoints="1" noAdjustHandles="1" noChangeArrowheads="1" noChangeShapeType="1" noTextEdit="1"/>
              </p:cNvSpPr>
              <p:nvPr/>
            </p:nvSpPr>
            <p:spPr>
              <a:xfrm>
                <a:off x="6664168" y="3469094"/>
                <a:ext cx="2280227" cy="5439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1FE5768B-7825-4E4C-9F07-78C706EAE8C2}"/>
                  </a:ext>
                </a:extLst>
              </p:cNvPr>
              <p:cNvSpPr txBox="1"/>
              <p:nvPr/>
            </p:nvSpPr>
            <p:spPr>
              <a:xfrm>
                <a:off x="7312445" y="4380448"/>
                <a:ext cx="469900" cy="4699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2</m:t>
                      </m:r>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e>
                          </m:d>
                        </m:e>
                        <m:sup>
                          <m:r>
                            <a:rPr lang="en-US" i="1">
                              <a:solidFill>
                                <a:srgbClr val="000000"/>
                              </a:solidFill>
                              <a:latin typeface="Cambria Math" panose="02040503050406030204" pitchFamily="18" charset="0"/>
                            </a:rPr>
                            <m:t>𝑡h</m:t>
                          </m:r>
                        </m:sup>
                      </m:sSup>
                    </m:oMath>
                  </m:oMathPara>
                </a14:m>
                <a:endParaRPr lang="en-US" dirty="0"/>
              </a:p>
            </p:txBody>
          </p:sp>
        </mc:Choice>
        <mc:Fallback xmlns="">
          <p:sp>
            <p:nvSpPr>
              <p:cNvPr id="9" name="Object 8">
                <a:extLst>
                  <a:ext uri="{FF2B5EF4-FFF2-40B4-BE49-F238E27FC236}">
                    <a16:creationId xmlns:a16="http://schemas.microsoft.com/office/drawing/2014/main" id="{1FE5768B-7825-4E4C-9F07-78C706EAE8C2}"/>
                  </a:ext>
                </a:extLst>
              </p:cNvPr>
              <p:cNvSpPr txBox="1">
                <a:spLocks noRot="1" noChangeAspect="1" noMove="1" noResize="1" noEditPoints="1" noAdjustHandles="1" noChangeArrowheads="1" noChangeShapeType="1" noTextEdit="1"/>
              </p:cNvSpPr>
              <p:nvPr/>
            </p:nvSpPr>
            <p:spPr>
              <a:xfrm>
                <a:off x="7312445" y="4380448"/>
                <a:ext cx="469900" cy="469900"/>
              </a:xfrm>
              <a:prstGeom prst="rect">
                <a:avLst/>
              </a:prstGeom>
              <a:blipFill>
                <a:blip r:embed="rId6"/>
                <a:stretch>
                  <a:fillRect r="-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F3363212-FE7A-4B8C-979C-466F8AE8DF36}"/>
                  </a:ext>
                </a:extLst>
              </p:cNvPr>
              <p:cNvSpPr txBox="1"/>
              <p:nvPr/>
            </p:nvSpPr>
            <p:spPr>
              <a:xfrm>
                <a:off x="6620295" y="5634358"/>
                <a:ext cx="2324100" cy="617726"/>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𝐿</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2</m:t>
                              </m:r>
                            </m:sub>
                          </m:sSub>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𝑐</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=70+</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40−24</m:t>
                          </m:r>
                        </m:num>
                        <m:den>
                          <m:r>
                            <a:rPr lang="en-US" i="1">
                              <a:solidFill>
                                <a:srgbClr val="000000"/>
                              </a:solidFill>
                              <a:latin typeface="Cambria Math" panose="02040503050406030204" pitchFamily="18" charset="0"/>
                            </a:rPr>
                            <m:t>19</m:t>
                          </m:r>
                        </m:den>
                      </m:f>
                      <m:r>
                        <a:rPr lang="en-US" i="1">
                          <a:solidFill>
                            <a:srgbClr val="000000"/>
                          </a:solidFill>
                          <a:latin typeface="Cambria Math" panose="02040503050406030204" pitchFamily="18" charset="0"/>
                        </a:rPr>
                        <m:t>∗6</m:t>
                      </m:r>
                    </m:oMath>
                  </m:oMathPara>
                </a14:m>
                <a:endParaRPr lang="en-US" dirty="0"/>
              </a:p>
            </p:txBody>
          </p:sp>
        </mc:Choice>
        <mc:Fallback xmlns="">
          <p:sp>
            <p:nvSpPr>
              <p:cNvPr id="11" name="Object 10">
                <a:extLst>
                  <a:ext uri="{FF2B5EF4-FFF2-40B4-BE49-F238E27FC236}">
                    <a16:creationId xmlns:a16="http://schemas.microsoft.com/office/drawing/2014/main" id="{F3363212-FE7A-4B8C-979C-466F8AE8DF36}"/>
                  </a:ext>
                </a:extLst>
              </p:cNvPr>
              <p:cNvSpPr txBox="1">
                <a:spLocks noRot="1" noChangeAspect="1" noMove="1" noResize="1" noEditPoints="1" noAdjustHandles="1" noChangeArrowheads="1" noChangeShapeType="1" noTextEdit="1"/>
              </p:cNvSpPr>
              <p:nvPr/>
            </p:nvSpPr>
            <p:spPr>
              <a:xfrm>
                <a:off x="6620295" y="5634358"/>
                <a:ext cx="2324100" cy="617726"/>
              </a:xfrm>
              <a:prstGeom prst="rect">
                <a:avLst/>
              </a:prstGeom>
              <a:blipFill>
                <a:blip r:embed="rId7"/>
                <a:stretch>
                  <a:fillRect/>
                </a:stretch>
              </a:blipFill>
            </p:spPr>
            <p:txBody>
              <a:bodyPr/>
              <a:lstStyle/>
              <a:p>
                <a:r>
                  <a:rPr lang="en-US">
                    <a:noFill/>
                  </a:rPr>
                  <a:t> </a:t>
                </a:r>
              </a:p>
            </p:txBody>
          </p:sp>
        </mc:Fallback>
      </mc:AlternateContent>
      <p:sp>
        <p:nvSpPr>
          <p:cNvPr id="6" name="Footer Placeholder 5">
            <a:extLst>
              <a:ext uri="{FF2B5EF4-FFF2-40B4-BE49-F238E27FC236}">
                <a16:creationId xmlns:a16="http://schemas.microsoft.com/office/drawing/2014/main" id="{DD7F1249-62B6-44D8-8291-36D5FE24BB0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385007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8EF1E-81DC-4817-9E3C-734320A2290E}"/>
              </a:ext>
            </a:extLst>
          </p:cNvPr>
          <p:cNvSpPr>
            <a:spLocks noGrp="1"/>
          </p:cNvSpPr>
          <p:nvPr>
            <p:ph sz="half" idx="1"/>
          </p:nvPr>
        </p:nvSpPr>
        <p:spPr>
          <a:xfrm>
            <a:off x="612475" y="534837"/>
            <a:ext cx="5287993" cy="5753819"/>
          </a:xfrm>
        </p:spPr>
        <p:txBody>
          <a:bodyPr/>
          <a:lstStyle/>
          <a:p>
            <a:pPr marL="0" indent="0">
              <a:buNone/>
            </a:pPr>
            <a:r>
              <a:rPr lang="en-US" sz="1200" b="1" dirty="0"/>
              <a:t>Third Quartile Q</a:t>
            </a:r>
            <a:r>
              <a:rPr lang="en-US" sz="1200" b="1" baseline="-25000" dirty="0"/>
              <a:t>3</a:t>
            </a:r>
          </a:p>
          <a:p>
            <a:pPr marL="0" indent="0">
              <a:buNone/>
            </a:pPr>
            <a:r>
              <a:rPr lang="en-US" sz="1200" dirty="0"/>
              <a:t>Q</a:t>
            </a:r>
            <a:r>
              <a:rPr lang="en-US" sz="1200" baseline="-25000" dirty="0"/>
              <a:t>3</a:t>
            </a:r>
            <a:r>
              <a:rPr lang="en-US" sz="1200" dirty="0"/>
              <a:t> = Value of            ordered data = 60</a:t>
            </a:r>
            <a:r>
              <a:rPr lang="en-US" sz="1200" baseline="30000" dirty="0"/>
              <a:t>th</a:t>
            </a:r>
            <a:r>
              <a:rPr lang="en-US" sz="1200" dirty="0"/>
              <a:t> ordered data</a:t>
            </a:r>
          </a:p>
          <a:p>
            <a:pPr marL="0" indent="0">
              <a:buNone/>
            </a:pPr>
            <a:r>
              <a:rPr lang="en-US" sz="1200" dirty="0"/>
              <a:t>Hence, the third quartile lies in the class 82 – 88</a:t>
            </a:r>
          </a:p>
          <a:p>
            <a:pPr marL="0" indent="0">
              <a:buNone/>
            </a:pPr>
            <a:r>
              <a:rPr lang="en-US" sz="1200" dirty="0"/>
              <a:t>The actual Q</a:t>
            </a:r>
            <a:r>
              <a:rPr lang="en-US" sz="1200" baseline="-25000" dirty="0"/>
              <a:t>3</a:t>
            </a:r>
            <a:r>
              <a:rPr lang="en-US" sz="1200" dirty="0"/>
              <a:t> is given by the formula</a:t>
            </a:r>
          </a:p>
          <a:p>
            <a:pPr marL="0" indent="0">
              <a:buNone/>
            </a:pPr>
            <a:endParaRPr lang="en-US" sz="1200" dirty="0"/>
          </a:p>
          <a:p>
            <a:pPr marL="0" indent="0">
              <a:buNone/>
            </a:pPr>
            <a:r>
              <a:rPr lang="en-US" sz="1200" dirty="0"/>
              <a:t>Q</a:t>
            </a:r>
            <a:r>
              <a:rPr lang="en-US" sz="1200" baseline="-25000" dirty="0"/>
              <a:t>3</a:t>
            </a:r>
            <a:r>
              <a:rPr lang="en-US" sz="1200" dirty="0"/>
              <a:t> =                                                        = 82.67</a:t>
            </a:r>
          </a:p>
          <a:p>
            <a:pPr marL="0" indent="0">
              <a:buNone/>
            </a:pPr>
            <a:r>
              <a:rPr lang="en-US" sz="1200" dirty="0"/>
              <a:t>  </a:t>
            </a:r>
          </a:p>
          <a:p>
            <a:pPr marL="0" indent="0">
              <a:buNone/>
            </a:pPr>
            <a:r>
              <a:rPr lang="en-US" sz="1200" dirty="0"/>
              <a:t>The inter-quartile range (middle 50 % range) </a:t>
            </a:r>
          </a:p>
          <a:p>
            <a:pPr marL="0" indent="0">
              <a:buNone/>
            </a:pPr>
            <a:r>
              <a:rPr lang="en-US" sz="1200" dirty="0"/>
              <a:t>	= Q3 – Q1 = 82.67 – 67.6 = 15.07</a:t>
            </a:r>
          </a:p>
          <a:p>
            <a:pPr marL="0" indent="0">
              <a:buNone/>
            </a:pPr>
            <a:r>
              <a:rPr lang="en-US" sz="1200" dirty="0"/>
              <a:t>The range of variability of marks of middle 50 % is mere 15.07</a:t>
            </a:r>
          </a:p>
          <a:p>
            <a:pPr marL="0" indent="0">
              <a:buNone/>
            </a:pPr>
            <a:endParaRPr lang="en-US" sz="1200" dirty="0"/>
          </a:p>
          <a:p>
            <a:pPr marL="0" indent="0">
              <a:buNone/>
            </a:pPr>
            <a:r>
              <a:rPr lang="en-US" sz="1200" b="1" dirty="0"/>
              <a:t>Tenth Percentile P</a:t>
            </a:r>
            <a:r>
              <a:rPr lang="en-US" sz="1200" b="1" baseline="-25000" dirty="0"/>
              <a:t>10</a:t>
            </a:r>
          </a:p>
          <a:p>
            <a:pPr marL="0" indent="0">
              <a:buNone/>
            </a:pPr>
            <a:r>
              <a:rPr lang="en-US" sz="1200" dirty="0"/>
              <a:t>P</a:t>
            </a:r>
            <a:r>
              <a:rPr lang="en-US" sz="1200" baseline="-25000" dirty="0"/>
              <a:t>10</a:t>
            </a:r>
            <a:r>
              <a:rPr lang="en-US" sz="1200" dirty="0"/>
              <a:t> = Value of                ordered data = 8</a:t>
            </a:r>
            <a:r>
              <a:rPr lang="en-US" sz="1200" baseline="30000" dirty="0"/>
              <a:t>th</a:t>
            </a:r>
            <a:r>
              <a:rPr lang="en-US" sz="1200" dirty="0"/>
              <a:t> ordered data </a:t>
            </a:r>
          </a:p>
          <a:p>
            <a:pPr marL="0" indent="0">
              <a:buNone/>
            </a:pPr>
            <a:r>
              <a:rPr lang="en-US" sz="1200" dirty="0"/>
              <a:t>Hence, tenth percentile P10 lies in the class 58 – 64</a:t>
            </a:r>
          </a:p>
          <a:p>
            <a:pPr marL="0" indent="0">
              <a:buNone/>
            </a:pPr>
            <a:r>
              <a:rPr lang="en-US" sz="1200" dirty="0"/>
              <a:t>The actual P</a:t>
            </a:r>
            <a:r>
              <a:rPr lang="en-US" sz="1200" baseline="-25000" dirty="0"/>
              <a:t>10</a:t>
            </a:r>
            <a:r>
              <a:rPr lang="en-US" sz="1200" dirty="0"/>
              <a:t> class is given by</a:t>
            </a:r>
          </a:p>
          <a:p>
            <a:pPr marL="0" indent="0">
              <a:buNone/>
            </a:pPr>
            <a:endParaRPr lang="en-US" sz="1200" dirty="0"/>
          </a:p>
          <a:p>
            <a:pPr marL="0" indent="0">
              <a:buNone/>
            </a:pPr>
            <a:r>
              <a:rPr lang="en-US" sz="1200" dirty="0"/>
              <a:t>P</a:t>
            </a:r>
            <a:r>
              <a:rPr lang="en-US" sz="1200" baseline="-25000" dirty="0"/>
              <a:t>10 </a:t>
            </a:r>
            <a:r>
              <a:rPr lang="en-US" sz="1200" dirty="0"/>
              <a:t>=                                                              = 61</a:t>
            </a:r>
          </a:p>
          <a:p>
            <a:pPr marL="0" indent="0">
              <a:buNone/>
            </a:pPr>
            <a:endParaRPr lang="en-US" sz="1200" dirty="0"/>
          </a:p>
          <a:p>
            <a:pPr marL="0" indent="0">
              <a:buNone/>
            </a:pPr>
            <a:endParaRPr lang="en-US" dirty="0"/>
          </a:p>
        </p:txBody>
      </p:sp>
      <p:sp>
        <p:nvSpPr>
          <p:cNvPr id="4" name="Content Placeholder 3">
            <a:extLst>
              <a:ext uri="{FF2B5EF4-FFF2-40B4-BE49-F238E27FC236}">
                <a16:creationId xmlns:a16="http://schemas.microsoft.com/office/drawing/2014/main" id="{D8524C7F-9B41-4194-8A3F-967EBD1B2F40}"/>
              </a:ext>
            </a:extLst>
          </p:cNvPr>
          <p:cNvSpPr>
            <a:spLocks noGrp="1"/>
          </p:cNvSpPr>
          <p:nvPr>
            <p:ph sz="half" idx="2"/>
          </p:nvPr>
        </p:nvSpPr>
        <p:spPr>
          <a:xfrm>
            <a:off x="6370319" y="534837"/>
            <a:ext cx="5287993" cy="5753819"/>
          </a:xfrm>
        </p:spPr>
        <p:txBody>
          <a:bodyPr>
            <a:normAutofit/>
          </a:bodyPr>
          <a:lstStyle/>
          <a:p>
            <a:pPr marL="0" indent="0">
              <a:buNone/>
            </a:pPr>
            <a:r>
              <a:rPr lang="en-US" sz="1200" b="1" dirty="0"/>
              <a:t>Ninetieth Percentile P</a:t>
            </a:r>
            <a:r>
              <a:rPr lang="en-US" sz="1200" b="1" baseline="-25000" dirty="0"/>
              <a:t>90</a:t>
            </a:r>
          </a:p>
          <a:p>
            <a:pPr marL="0" indent="0">
              <a:buNone/>
            </a:pPr>
            <a:r>
              <a:rPr lang="en-US" sz="1200" dirty="0"/>
              <a:t>P90 = Value of </a:t>
            </a:r>
            <a:r>
              <a:rPr lang="en-US" sz="1200" b="1" dirty="0"/>
              <a:t>                </a:t>
            </a:r>
            <a:r>
              <a:rPr lang="en-US" sz="1200" dirty="0"/>
              <a:t> ordered data  = 72</a:t>
            </a:r>
            <a:r>
              <a:rPr lang="en-US" sz="1200" baseline="30000" dirty="0"/>
              <a:t>nd</a:t>
            </a:r>
            <a:r>
              <a:rPr lang="en-US" sz="1200" dirty="0"/>
              <a:t> ordered data</a:t>
            </a:r>
          </a:p>
          <a:p>
            <a:pPr marL="0" indent="0">
              <a:buNone/>
            </a:pPr>
            <a:r>
              <a:rPr lang="en-US" sz="1200" dirty="0"/>
              <a:t>Hence, the actual P90 class falls in the class 88 – 94</a:t>
            </a:r>
          </a:p>
          <a:p>
            <a:pPr marL="0" indent="0">
              <a:buNone/>
            </a:pPr>
            <a:r>
              <a:rPr lang="en-US" sz="1200" dirty="0"/>
              <a:t>Now, the actual P90 is calculated as follows</a:t>
            </a:r>
          </a:p>
          <a:p>
            <a:pPr marL="0" indent="0">
              <a:buNone/>
            </a:pPr>
            <a:endParaRPr lang="en-US" sz="1200" dirty="0"/>
          </a:p>
          <a:p>
            <a:pPr marL="0" indent="0">
              <a:buNone/>
            </a:pPr>
            <a:r>
              <a:rPr lang="en-US" sz="1200" dirty="0"/>
              <a:t>P</a:t>
            </a:r>
            <a:r>
              <a:rPr lang="en-US" sz="1200" baseline="-25000" dirty="0"/>
              <a:t>90</a:t>
            </a:r>
            <a:r>
              <a:rPr lang="en-US" sz="1200" dirty="0"/>
              <a:t> =                                                                = 91.43</a:t>
            </a:r>
          </a:p>
          <a:p>
            <a:pPr marL="0" indent="0">
              <a:buNone/>
            </a:pPr>
            <a:endParaRPr lang="en-US" sz="1200" dirty="0"/>
          </a:p>
          <a:p>
            <a:pPr marL="0" indent="0">
              <a:buNone/>
            </a:pPr>
            <a:r>
              <a:rPr lang="en-US" sz="1200" dirty="0"/>
              <a:t>The middle 80 % range = P</a:t>
            </a:r>
            <a:r>
              <a:rPr lang="en-US" sz="1200" baseline="-25000" dirty="0"/>
              <a:t>90</a:t>
            </a:r>
            <a:r>
              <a:rPr lang="en-US" sz="1200" dirty="0"/>
              <a:t> – P</a:t>
            </a:r>
            <a:r>
              <a:rPr lang="en-US" sz="1200" baseline="-25000" dirty="0"/>
              <a:t>10</a:t>
            </a:r>
            <a:r>
              <a:rPr lang="en-US" sz="1200" dirty="0"/>
              <a:t> = 91.43 – 61 = 30.43</a:t>
            </a:r>
          </a:p>
          <a:p>
            <a:pPr marL="0" indent="0">
              <a:buNone/>
            </a:pPr>
            <a:r>
              <a:rPr lang="en-US" sz="1200" dirty="0"/>
              <a:t>Hence, the variability of marks for the middle 80 % (64 ) students is 30.43.</a:t>
            </a:r>
          </a:p>
          <a:p>
            <a:pPr marL="0" indent="0">
              <a:buNone/>
            </a:pPr>
            <a:r>
              <a:rPr lang="en-US" sz="1200" b="1" dirty="0"/>
              <a:t>Box-and-Whisker plot</a:t>
            </a:r>
          </a:p>
          <a:p>
            <a:pPr marL="0" indent="0">
              <a:buNone/>
            </a:pPr>
            <a:r>
              <a:rPr lang="en-US" sz="1200" dirty="0"/>
              <a:t>The five number summary is given by</a:t>
            </a:r>
          </a:p>
          <a:p>
            <a:pPr marL="0" indent="0">
              <a:buNone/>
            </a:pPr>
            <a:r>
              <a:rPr lang="en-US" sz="1200" dirty="0" err="1"/>
              <a:t>X</a:t>
            </a:r>
            <a:r>
              <a:rPr lang="en-US" sz="1200" baseline="-25000" dirty="0" err="1"/>
              <a:t>min</a:t>
            </a:r>
            <a:r>
              <a:rPr lang="en-US" sz="1200" dirty="0"/>
              <a:t> = 52  Q</a:t>
            </a:r>
            <a:r>
              <a:rPr lang="en-US" sz="1200" baseline="-25000" dirty="0"/>
              <a:t>1</a:t>
            </a:r>
            <a:r>
              <a:rPr lang="en-US" sz="1200" dirty="0"/>
              <a:t> = 67.6  Q</a:t>
            </a:r>
            <a:r>
              <a:rPr lang="en-US" sz="1200" baseline="-25000" dirty="0"/>
              <a:t>2</a:t>
            </a:r>
            <a:r>
              <a:rPr lang="en-US" sz="1200" dirty="0"/>
              <a:t> = M</a:t>
            </a:r>
            <a:r>
              <a:rPr lang="en-US" sz="1200" baseline="-25000" dirty="0"/>
              <a:t>d</a:t>
            </a:r>
            <a:r>
              <a:rPr lang="en-US" sz="1200" dirty="0"/>
              <a:t> = 75.05  Q</a:t>
            </a:r>
            <a:r>
              <a:rPr lang="en-US" sz="1200" baseline="-25000" dirty="0"/>
              <a:t>3</a:t>
            </a:r>
            <a:r>
              <a:rPr lang="en-US" sz="1200" dirty="0"/>
              <a:t> = 82.67  </a:t>
            </a:r>
            <a:r>
              <a:rPr lang="en-US" sz="1200" dirty="0" err="1"/>
              <a:t>X</a:t>
            </a:r>
            <a:r>
              <a:rPr lang="en-US" sz="1200" baseline="-25000" dirty="0" err="1"/>
              <a:t>max</a:t>
            </a:r>
            <a:r>
              <a:rPr lang="en-US" sz="1200" dirty="0"/>
              <a:t> = 100</a:t>
            </a:r>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 </a:t>
            </a: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B12D410C-4FD4-40B1-B3D7-1979640D0CE8}"/>
                  </a:ext>
                </a:extLst>
              </p:cNvPr>
              <p:cNvSpPr txBox="1"/>
              <p:nvPr/>
            </p:nvSpPr>
            <p:spPr>
              <a:xfrm>
                <a:off x="1673973" y="776611"/>
                <a:ext cx="457200" cy="4699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3</m:t>
                      </m:r>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e>
                          </m:d>
                        </m:e>
                        <m:sup>
                          <m:r>
                            <a:rPr lang="en-US" i="1">
                              <a:solidFill>
                                <a:srgbClr val="000000"/>
                              </a:solidFill>
                              <a:latin typeface="Cambria Math" panose="02040503050406030204" pitchFamily="18" charset="0"/>
                            </a:rPr>
                            <m:t>𝑡h</m:t>
                          </m:r>
                        </m:sup>
                      </m:sSup>
                    </m:oMath>
                  </m:oMathPara>
                </a14:m>
                <a:endParaRPr lang="en-US" dirty="0"/>
              </a:p>
            </p:txBody>
          </p:sp>
        </mc:Choice>
        <mc:Fallback xmlns="">
          <p:sp>
            <p:nvSpPr>
              <p:cNvPr id="5" name="Object 4">
                <a:extLst>
                  <a:ext uri="{FF2B5EF4-FFF2-40B4-BE49-F238E27FC236}">
                    <a16:creationId xmlns:a16="http://schemas.microsoft.com/office/drawing/2014/main" id="{B12D410C-4FD4-40B1-B3D7-1979640D0CE8}"/>
                  </a:ext>
                </a:extLst>
              </p:cNvPr>
              <p:cNvSpPr txBox="1">
                <a:spLocks noRot="1" noChangeAspect="1" noMove="1" noResize="1" noEditPoints="1" noAdjustHandles="1" noChangeArrowheads="1" noChangeShapeType="1" noTextEdit="1"/>
              </p:cNvSpPr>
              <p:nvPr/>
            </p:nvSpPr>
            <p:spPr>
              <a:xfrm>
                <a:off x="1673973" y="776611"/>
                <a:ext cx="457200" cy="469900"/>
              </a:xfrm>
              <a:prstGeom prst="rect">
                <a:avLst/>
              </a:prstGeom>
              <a:blipFill>
                <a:blip r:embed="rId2"/>
                <a:stretch>
                  <a:fillRect r="-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B7E4F5AF-E511-4C3D-A752-F3B827B82652}"/>
                  </a:ext>
                </a:extLst>
              </p:cNvPr>
              <p:cNvSpPr txBox="1"/>
              <p:nvPr/>
            </p:nvSpPr>
            <p:spPr>
              <a:xfrm>
                <a:off x="1062187" y="1910718"/>
                <a:ext cx="2427773" cy="530558"/>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𝐿</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𝑄</m:t>
                              </m:r>
                            </m:e>
                            <m:sub>
                              <m:r>
                                <a:rPr lang="en-US" i="1">
                                  <a:solidFill>
                                    <a:srgbClr val="000000"/>
                                  </a:solidFill>
                                  <a:latin typeface="Cambria Math" panose="02040503050406030204" pitchFamily="18" charset="0"/>
                                </a:rPr>
                                <m:t>3</m:t>
                              </m:r>
                            </m:sub>
                          </m:sSub>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3</m:t>
                              </m:r>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4</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𝑐</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=82+</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60−59</m:t>
                          </m:r>
                        </m:num>
                        <m:den>
                          <m:r>
                            <a:rPr lang="en-US" i="1">
                              <a:solidFill>
                                <a:srgbClr val="000000"/>
                              </a:solidFill>
                              <a:latin typeface="Cambria Math" panose="02040503050406030204" pitchFamily="18" charset="0"/>
                            </a:rPr>
                            <m:t>9</m:t>
                          </m:r>
                        </m:den>
                      </m:f>
                      <m:r>
                        <a:rPr lang="en-US" i="1">
                          <a:solidFill>
                            <a:srgbClr val="000000"/>
                          </a:solidFill>
                          <a:latin typeface="Cambria Math" panose="02040503050406030204" pitchFamily="18" charset="0"/>
                        </a:rPr>
                        <m:t>∗6</m:t>
                      </m:r>
                    </m:oMath>
                  </m:oMathPara>
                </a14:m>
                <a:endParaRPr lang="en-US" dirty="0"/>
              </a:p>
            </p:txBody>
          </p:sp>
        </mc:Choice>
        <mc:Fallback xmlns="">
          <p:sp>
            <p:nvSpPr>
              <p:cNvPr id="6" name="Object 5">
                <a:extLst>
                  <a:ext uri="{FF2B5EF4-FFF2-40B4-BE49-F238E27FC236}">
                    <a16:creationId xmlns:a16="http://schemas.microsoft.com/office/drawing/2014/main" id="{B7E4F5AF-E511-4C3D-A752-F3B827B82652}"/>
                  </a:ext>
                </a:extLst>
              </p:cNvPr>
              <p:cNvSpPr txBox="1">
                <a:spLocks noRot="1" noChangeAspect="1" noMove="1" noResize="1" noEditPoints="1" noAdjustHandles="1" noChangeArrowheads="1" noChangeShapeType="1" noTextEdit="1"/>
              </p:cNvSpPr>
              <p:nvPr/>
            </p:nvSpPr>
            <p:spPr>
              <a:xfrm>
                <a:off x="1062187" y="1910718"/>
                <a:ext cx="2427773" cy="53055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A8DED244-6BB1-4872-89BC-A31DADF1D45C}"/>
                  </a:ext>
                </a:extLst>
              </p:cNvPr>
              <p:cNvSpPr txBox="1"/>
              <p:nvPr/>
            </p:nvSpPr>
            <p:spPr>
              <a:xfrm>
                <a:off x="1665795" y="4050738"/>
                <a:ext cx="660400" cy="4699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10</m:t>
                      </m:r>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100</m:t>
                                  </m:r>
                                </m:den>
                              </m:f>
                            </m:e>
                          </m:d>
                        </m:e>
                        <m:sup>
                          <m:r>
                            <a:rPr lang="en-US" i="1">
                              <a:solidFill>
                                <a:srgbClr val="000000"/>
                              </a:solidFill>
                              <a:latin typeface="Cambria Math" panose="02040503050406030204" pitchFamily="18" charset="0"/>
                            </a:rPr>
                            <m:t>𝑡</m:t>
                          </m:r>
                          <m:r>
                            <a:rPr lang="en-US" i="1" smtClean="0">
                              <a:solidFill>
                                <a:srgbClr val="000000"/>
                              </a:solidFill>
                              <a:latin typeface="Cambria Math" panose="02040503050406030204" pitchFamily="18" charset="0"/>
                            </a:rPr>
                            <m:t>h</m:t>
                          </m:r>
                        </m:sup>
                      </m:sSup>
                    </m:oMath>
                  </m:oMathPara>
                </a14:m>
                <a:endParaRPr lang="en-US" dirty="0"/>
              </a:p>
            </p:txBody>
          </p:sp>
        </mc:Choice>
        <mc:Fallback xmlns="">
          <p:sp>
            <p:nvSpPr>
              <p:cNvPr id="2" name="Object 1">
                <a:extLst>
                  <a:ext uri="{FF2B5EF4-FFF2-40B4-BE49-F238E27FC236}">
                    <a16:creationId xmlns:a16="http://schemas.microsoft.com/office/drawing/2014/main" id="{A8DED244-6BB1-4872-89BC-A31DADF1D45C}"/>
                  </a:ext>
                </a:extLst>
              </p:cNvPr>
              <p:cNvSpPr txBox="1">
                <a:spLocks noRot="1" noChangeAspect="1" noMove="1" noResize="1" noEditPoints="1" noAdjustHandles="1" noChangeArrowheads="1" noChangeShapeType="1" noTextEdit="1"/>
              </p:cNvSpPr>
              <p:nvPr/>
            </p:nvSpPr>
            <p:spPr>
              <a:xfrm>
                <a:off x="1665795" y="4050738"/>
                <a:ext cx="660400" cy="469900"/>
              </a:xfrm>
              <a:prstGeom prst="rect">
                <a:avLst/>
              </a:prstGeom>
              <a:blipFill>
                <a:blip r:embed="rId4"/>
                <a:stretch>
                  <a:fillRect r="-9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CB6BFC11-8569-4433-A31C-D7E23E7ED3EB}"/>
                  </a:ext>
                </a:extLst>
              </p:cNvPr>
              <p:cNvSpPr txBox="1"/>
              <p:nvPr/>
            </p:nvSpPr>
            <p:spPr>
              <a:xfrm>
                <a:off x="1062187" y="5093029"/>
                <a:ext cx="2636420" cy="747054"/>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𝐿</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10</m:t>
                              </m:r>
                            </m:sub>
                          </m:sSub>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10</m:t>
                              </m:r>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100</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𝑐</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=58+</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8−2</m:t>
                          </m:r>
                        </m:num>
                        <m:den>
                          <m:r>
                            <a:rPr lang="en-US" i="1">
                              <a:solidFill>
                                <a:srgbClr val="000000"/>
                              </a:solidFill>
                              <a:latin typeface="Cambria Math" panose="02040503050406030204" pitchFamily="18" charset="0"/>
                            </a:rPr>
                            <m:t>12</m:t>
                          </m:r>
                        </m:den>
                      </m:f>
                      <m:r>
                        <a:rPr lang="en-US" i="1">
                          <a:solidFill>
                            <a:srgbClr val="000000"/>
                          </a:solidFill>
                          <a:latin typeface="Cambria Math" panose="02040503050406030204" pitchFamily="18" charset="0"/>
                        </a:rPr>
                        <m:t>∗6</m:t>
                      </m:r>
                    </m:oMath>
                  </m:oMathPara>
                </a14:m>
                <a:endParaRPr lang="en-US" dirty="0"/>
              </a:p>
            </p:txBody>
          </p:sp>
        </mc:Choice>
        <mc:Fallback xmlns="">
          <p:sp>
            <p:nvSpPr>
              <p:cNvPr id="7" name="Object 6">
                <a:extLst>
                  <a:ext uri="{FF2B5EF4-FFF2-40B4-BE49-F238E27FC236}">
                    <a16:creationId xmlns:a16="http://schemas.microsoft.com/office/drawing/2014/main" id="{CB6BFC11-8569-4433-A31C-D7E23E7ED3EB}"/>
                  </a:ext>
                </a:extLst>
              </p:cNvPr>
              <p:cNvSpPr txBox="1">
                <a:spLocks noRot="1" noChangeAspect="1" noMove="1" noResize="1" noEditPoints="1" noAdjustHandles="1" noChangeArrowheads="1" noChangeShapeType="1" noTextEdit="1"/>
              </p:cNvSpPr>
              <p:nvPr/>
            </p:nvSpPr>
            <p:spPr>
              <a:xfrm>
                <a:off x="1062187" y="5093029"/>
                <a:ext cx="2636420" cy="7470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657EB931-B142-459B-8BC3-F9D756870135}"/>
                  </a:ext>
                </a:extLst>
              </p:cNvPr>
              <p:cNvSpPr txBox="1"/>
              <p:nvPr/>
            </p:nvSpPr>
            <p:spPr>
              <a:xfrm>
                <a:off x="7557258" y="776611"/>
                <a:ext cx="673100" cy="4699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90</m:t>
                      </m:r>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100</m:t>
                                  </m:r>
                                </m:den>
                              </m:f>
                            </m:e>
                          </m:d>
                        </m:e>
                        <m:sup>
                          <m:r>
                            <a:rPr lang="en-US" i="1">
                              <a:solidFill>
                                <a:srgbClr val="000000"/>
                              </a:solidFill>
                              <a:latin typeface="Cambria Math" panose="02040503050406030204" pitchFamily="18" charset="0"/>
                            </a:rPr>
                            <m:t>𝑡h</m:t>
                          </m:r>
                        </m:sup>
                      </m:sSup>
                    </m:oMath>
                  </m:oMathPara>
                </a14:m>
                <a:endParaRPr lang="en-US" dirty="0"/>
              </a:p>
            </p:txBody>
          </p:sp>
        </mc:Choice>
        <mc:Fallback xmlns="">
          <p:sp>
            <p:nvSpPr>
              <p:cNvPr id="8" name="Object 7">
                <a:extLst>
                  <a:ext uri="{FF2B5EF4-FFF2-40B4-BE49-F238E27FC236}">
                    <a16:creationId xmlns:a16="http://schemas.microsoft.com/office/drawing/2014/main" id="{657EB931-B142-459B-8BC3-F9D756870135}"/>
                  </a:ext>
                </a:extLst>
              </p:cNvPr>
              <p:cNvSpPr txBox="1">
                <a:spLocks noRot="1" noChangeAspect="1" noMove="1" noResize="1" noEditPoints="1" noAdjustHandles="1" noChangeArrowheads="1" noChangeShapeType="1" noTextEdit="1"/>
              </p:cNvSpPr>
              <p:nvPr/>
            </p:nvSpPr>
            <p:spPr>
              <a:xfrm>
                <a:off x="7557258" y="776611"/>
                <a:ext cx="673100" cy="469900"/>
              </a:xfrm>
              <a:prstGeom prst="rect">
                <a:avLst/>
              </a:prstGeom>
              <a:blipFill>
                <a:blip r:embed="rId6"/>
                <a:stretch>
                  <a:fillRect r="-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A50596B9-B3A3-472C-8019-D5BAAABEB1DB}"/>
                  </a:ext>
                </a:extLst>
              </p:cNvPr>
              <p:cNvSpPr txBox="1"/>
              <p:nvPr/>
            </p:nvSpPr>
            <p:spPr>
              <a:xfrm>
                <a:off x="6811843" y="1830345"/>
                <a:ext cx="2837030" cy="654356"/>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𝐿</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90</m:t>
                              </m:r>
                            </m:sub>
                          </m:sSub>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90</m:t>
                              </m:r>
                              <m:r>
                                <a:rPr lang="en-US" i="1">
                                  <a:solidFill>
                                    <a:srgbClr val="000000"/>
                                  </a:solidFill>
                                  <a:latin typeface="Cambria Math" panose="02040503050406030204" pitchFamily="18" charset="0"/>
                                </a:rPr>
                                <m:t>𝑛</m:t>
                              </m:r>
                            </m:num>
                            <m:den>
                              <m:r>
                                <a:rPr lang="en-US" i="1">
                                  <a:solidFill>
                                    <a:srgbClr val="000000"/>
                                  </a:solidFill>
                                  <a:latin typeface="Cambria Math" panose="02040503050406030204" pitchFamily="18" charset="0"/>
                                </a:rPr>
                                <m:t>100</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𝑐</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𝑓</m:t>
                          </m:r>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=88+</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72−68</m:t>
                          </m:r>
                        </m:num>
                        <m:den>
                          <m:r>
                            <a:rPr lang="en-US" i="1">
                              <a:solidFill>
                                <a:srgbClr val="000000"/>
                              </a:solidFill>
                              <a:latin typeface="Cambria Math" panose="02040503050406030204" pitchFamily="18" charset="0"/>
                            </a:rPr>
                            <m:t>7</m:t>
                          </m:r>
                        </m:den>
                      </m:f>
                      <m:r>
                        <a:rPr lang="en-US" i="1">
                          <a:solidFill>
                            <a:srgbClr val="000000"/>
                          </a:solidFill>
                          <a:latin typeface="Cambria Math" panose="02040503050406030204" pitchFamily="18" charset="0"/>
                        </a:rPr>
                        <m:t>∗6</m:t>
                      </m:r>
                    </m:oMath>
                  </m:oMathPara>
                </a14:m>
                <a:endParaRPr lang="en-US" dirty="0"/>
              </a:p>
            </p:txBody>
          </p:sp>
        </mc:Choice>
        <mc:Fallback xmlns="">
          <p:sp>
            <p:nvSpPr>
              <p:cNvPr id="9" name="Object 8">
                <a:extLst>
                  <a:ext uri="{FF2B5EF4-FFF2-40B4-BE49-F238E27FC236}">
                    <a16:creationId xmlns:a16="http://schemas.microsoft.com/office/drawing/2014/main" id="{A50596B9-B3A3-472C-8019-D5BAAABEB1DB}"/>
                  </a:ext>
                </a:extLst>
              </p:cNvPr>
              <p:cNvSpPr txBox="1">
                <a:spLocks noRot="1" noChangeAspect="1" noMove="1" noResize="1" noEditPoints="1" noAdjustHandles="1" noChangeArrowheads="1" noChangeShapeType="1" noTextEdit="1"/>
              </p:cNvSpPr>
              <p:nvPr/>
            </p:nvSpPr>
            <p:spPr>
              <a:xfrm>
                <a:off x="6811843" y="1830345"/>
                <a:ext cx="2837030" cy="654356"/>
              </a:xfrm>
              <a:prstGeom prst="rect">
                <a:avLst/>
              </a:prstGeom>
              <a:blipFill>
                <a:blip r:embed="rId7"/>
                <a:stretch>
                  <a:fillRect/>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F943063B-1490-4E8E-AF19-C3CCC9259568}"/>
              </a:ext>
            </a:extLst>
          </p:cNvPr>
          <p:cNvPicPr>
            <a:picLocks noChangeAspect="1"/>
          </p:cNvPicPr>
          <p:nvPr/>
        </p:nvPicPr>
        <p:blipFill>
          <a:blip r:embed="rId8"/>
          <a:stretch>
            <a:fillRect/>
          </a:stretch>
        </p:blipFill>
        <p:spPr>
          <a:xfrm>
            <a:off x="6590659" y="4454526"/>
            <a:ext cx="4563296" cy="1705213"/>
          </a:xfrm>
          <a:prstGeom prst="rect">
            <a:avLst/>
          </a:prstGeom>
        </p:spPr>
      </p:pic>
      <p:sp>
        <p:nvSpPr>
          <p:cNvPr id="10" name="Footer Placeholder 9">
            <a:extLst>
              <a:ext uri="{FF2B5EF4-FFF2-40B4-BE49-F238E27FC236}">
                <a16:creationId xmlns:a16="http://schemas.microsoft.com/office/drawing/2014/main" id="{97E8FF65-3D22-4F31-90DA-3470A3F4C66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083974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FEFB6-019A-4383-B7D2-841DBA2BB4E8}"/>
              </a:ext>
            </a:extLst>
          </p:cNvPr>
          <p:cNvSpPr>
            <a:spLocks noGrp="1"/>
          </p:cNvSpPr>
          <p:nvPr>
            <p:ph type="title"/>
          </p:nvPr>
        </p:nvSpPr>
        <p:spPr>
          <a:xfrm>
            <a:off x="695864" y="411294"/>
            <a:ext cx="10058400" cy="363246"/>
          </a:xfrm>
        </p:spPr>
        <p:txBody>
          <a:bodyPr>
            <a:normAutofit/>
          </a:bodyPr>
          <a:lstStyle/>
          <a:p>
            <a:r>
              <a:rPr lang="en-US" sz="1600" b="1" dirty="0"/>
              <a:t>Standard Deviation</a:t>
            </a:r>
          </a:p>
        </p:txBody>
      </p:sp>
      <p:sp>
        <p:nvSpPr>
          <p:cNvPr id="3" name="Content Placeholder 2">
            <a:extLst>
              <a:ext uri="{FF2B5EF4-FFF2-40B4-BE49-F238E27FC236}">
                <a16:creationId xmlns:a16="http://schemas.microsoft.com/office/drawing/2014/main" id="{78EC8581-FD2C-47C6-B002-5DBFDD6418D5}"/>
              </a:ext>
            </a:extLst>
          </p:cNvPr>
          <p:cNvSpPr>
            <a:spLocks noGrp="1"/>
          </p:cNvSpPr>
          <p:nvPr>
            <p:ph sz="half" idx="1"/>
          </p:nvPr>
        </p:nvSpPr>
        <p:spPr>
          <a:xfrm>
            <a:off x="612475" y="774541"/>
            <a:ext cx="5357004" cy="5535756"/>
          </a:xfrm>
        </p:spPr>
        <p:txBody>
          <a:bodyPr>
            <a:normAutofit/>
          </a:bodyPr>
          <a:lstStyle/>
          <a:p>
            <a:pPr marL="0" indent="0">
              <a:buNone/>
            </a:pPr>
            <a:r>
              <a:rPr lang="en-US" sz="1200" dirty="0">
                <a:solidFill>
                  <a:srgbClr val="111111"/>
                </a:solidFill>
                <a:latin typeface="+mj-lt"/>
              </a:rPr>
              <a:t>It is a statistic that measures the dispersion or variation of a dataset relative to its mean.</a:t>
            </a:r>
            <a:r>
              <a:rPr lang="en-US" sz="1200" dirty="0">
                <a:latin typeface="+mj-lt"/>
                <a:ea typeface="Times New Roman" panose="02020603050405020304" pitchFamily="18" charset="0"/>
              </a:rPr>
              <a:t> It is an absolute measure of dispersion that expresses variation in the same units as the original data.</a:t>
            </a:r>
            <a:endParaRPr lang="en-US" sz="1200" dirty="0">
              <a:latin typeface="+mj-lt"/>
            </a:endParaRPr>
          </a:p>
          <a:p>
            <a:pPr marL="0" indent="0">
              <a:buNone/>
            </a:pPr>
            <a:r>
              <a:rPr lang="en-US" sz="1200" dirty="0">
                <a:effectLst/>
                <a:latin typeface="+mj-lt"/>
                <a:ea typeface="Times New Roman" panose="02020603050405020304" pitchFamily="18" charset="0"/>
              </a:rPr>
              <a:t>It is defined as the positive square root of the average of the square of the deviations of the measurements from their arithmetic mean. </a:t>
            </a:r>
          </a:p>
          <a:p>
            <a:pPr marL="0" indent="0">
              <a:buNone/>
            </a:pPr>
            <a:r>
              <a:rPr lang="en-US" sz="1200" dirty="0">
                <a:latin typeface="+mj-lt"/>
                <a:ea typeface="Times New Roman" panose="02020603050405020304" pitchFamily="18" charset="0"/>
              </a:rPr>
              <a:t>Notation:</a:t>
            </a:r>
          </a:p>
          <a:p>
            <a:pPr marL="0" indent="0">
              <a:buNone/>
            </a:pPr>
            <a:r>
              <a:rPr lang="en-US" sz="1200" dirty="0">
                <a:latin typeface="+mj-lt"/>
                <a:ea typeface="Times New Roman" panose="02020603050405020304" pitchFamily="18" charset="0"/>
              </a:rPr>
              <a:t>Sample standard deviation = s</a:t>
            </a:r>
          </a:p>
          <a:p>
            <a:pPr marL="0" indent="0">
              <a:buNone/>
            </a:pPr>
            <a:r>
              <a:rPr lang="en-US" sz="1200" dirty="0">
                <a:effectLst/>
                <a:latin typeface="+mj-lt"/>
                <a:ea typeface="Times New Roman" panose="02020603050405020304" pitchFamily="18" charset="0"/>
              </a:rPr>
              <a:t>Population standard deviation = σ</a:t>
            </a:r>
          </a:p>
          <a:p>
            <a:pPr marL="0" indent="0">
              <a:buNone/>
            </a:pPr>
            <a:r>
              <a:rPr lang="en-US" sz="1200" b="1" dirty="0">
                <a:latin typeface="+mj-lt"/>
                <a:ea typeface="Times New Roman" panose="02020603050405020304" pitchFamily="18" charset="0"/>
              </a:rPr>
              <a:t>Sample S.D.</a:t>
            </a:r>
          </a:p>
          <a:p>
            <a:pPr marL="0" indent="0">
              <a:buNone/>
            </a:pPr>
            <a:r>
              <a:rPr lang="en-US" sz="1200" b="1" dirty="0">
                <a:latin typeface="+mj-lt"/>
                <a:ea typeface="Times New Roman" panose="02020603050405020304" pitchFamily="18" charset="0"/>
              </a:rPr>
              <a:t>Raw Data</a:t>
            </a:r>
          </a:p>
          <a:p>
            <a:pPr marL="0" indent="0">
              <a:buNone/>
            </a:pPr>
            <a:r>
              <a:rPr lang="en-US" sz="1200" dirty="0">
                <a:effectLst/>
                <a:latin typeface="+mj-lt"/>
                <a:ea typeface="Times New Roman" panose="02020603050405020304" pitchFamily="18" charset="0"/>
              </a:rPr>
              <a:t>For a sample of n observations x1, x2, …, </a:t>
            </a:r>
            <a:r>
              <a:rPr lang="en-US" sz="1200" dirty="0" err="1">
                <a:effectLst/>
                <a:latin typeface="+mj-lt"/>
                <a:ea typeface="Times New Roman" panose="02020603050405020304" pitchFamily="18" charset="0"/>
              </a:rPr>
              <a:t>xn</a:t>
            </a:r>
            <a:r>
              <a:rPr lang="en-US" sz="1200" dirty="0">
                <a:effectLst/>
                <a:latin typeface="+mj-lt"/>
                <a:ea typeface="Times New Roman" panose="02020603050405020304" pitchFamily="18" charset="0"/>
              </a:rPr>
              <a:t> , the standard deviation is given by,</a:t>
            </a:r>
          </a:p>
          <a:p>
            <a:pPr marL="0" indent="0">
              <a:buNone/>
            </a:pPr>
            <a:r>
              <a:rPr lang="en-US" sz="1200" dirty="0">
                <a:latin typeface="+mj-lt"/>
                <a:ea typeface="Times New Roman" panose="02020603050405020304" pitchFamily="18" charset="0"/>
              </a:rPr>
              <a:t>  s = </a:t>
            </a:r>
          </a:p>
          <a:p>
            <a:pPr marL="0" indent="0">
              <a:buNone/>
            </a:pPr>
            <a:endParaRPr lang="en-US" sz="1200" dirty="0">
              <a:effectLst/>
              <a:latin typeface="+mj-lt"/>
              <a:ea typeface="Times New Roman" panose="02020603050405020304" pitchFamily="18" charset="0"/>
            </a:endParaRPr>
          </a:p>
          <a:p>
            <a:pPr marL="0" indent="0">
              <a:buNone/>
            </a:pPr>
            <a:r>
              <a:rPr lang="en-US" sz="1200" dirty="0"/>
              <a:t>A computationally easier formula is given by,</a:t>
            </a:r>
          </a:p>
          <a:p>
            <a:pPr marL="0" indent="0">
              <a:buNone/>
            </a:pPr>
            <a:endParaRPr lang="en-US" sz="1200" dirty="0"/>
          </a:p>
          <a:p>
            <a:pPr marL="0" indent="0">
              <a:buNone/>
            </a:pPr>
            <a:r>
              <a:rPr lang="en-US" sz="1200" dirty="0"/>
              <a:t>  s =</a:t>
            </a:r>
          </a:p>
          <a:p>
            <a:pPr marL="0" indent="0">
              <a:buNone/>
            </a:pPr>
            <a:endParaRPr lang="en-US" sz="1200" dirty="0"/>
          </a:p>
          <a:p>
            <a:pPr marL="0" indent="0">
              <a:buNone/>
            </a:pPr>
            <a:r>
              <a:rPr lang="en-US" sz="1200" b="1" dirty="0"/>
              <a:t>Note</a:t>
            </a:r>
            <a:r>
              <a:rPr lang="en-US" sz="1200" dirty="0"/>
              <a:t>: The divisor n -1 is used instead of n because the sample standard deviation ‘S’ will be much closer to population standard deviation ‘</a:t>
            </a:r>
            <a:r>
              <a:rPr lang="el-GR" sz="1200" dirty="0"/>
              <a:t>σ</a:t>
            </a:r>
            <a:r>
              <a:rPr lang="en-US" sz="1200" dirty="0"/>
              <a:t>’ when we use divisor n – 1.</a:t>
            </a:r>
          </a:p>
          <a:p>
            <a:pPr marL="0" indent="0">
              <a:buNone/>
            </a:pPr>
            <a:endParaRPr lang="en-US" sz="1200" dirty="0">
              <a:effectLst/>
              <a:latin typeface="+mj-lt"/>
              <a:ea typeface="Times New Roman" panose="02020603050405020304" pitchFamily="18" charset="0"/>
            </a:endParaRPr>
          </a:p>
        </p:txBody>
      </p:sp>
      <p:sp>
        <p:nvSpPr>
          <p:cNvPr id="4" name="Content Placeholder 3">
            <a:extLst>
              <a:ext uri="{FF2B5EF4-FFF2-40B4-BE49-F238E27FC236}">
                <a16:creationId xmlns:a16="http://schemas.microsoft.com/office/drawing/2014/main" id="{B26D332C-8150-49A5-A692-674041194E64}"/>
              </a:ext>
            </a:extLst>
          </p:cNvPr>
          <p:cNvSpPr>
            <a:spLocks noGrp="1"/>
          </p:cNvSpPr>
          <p:nvPr>
            <p:ph sz="half" idx="2"/>
          </p:nvPr>
        </p:nvSpPr>
        <p:spPr>
          <a:xfrm>
            <a:off x="6370320" y="910949"/>
            <a:ext cx="5296618" cy="5399347"/>
          </a:xfrm>
        </p:spPr>
        <p:txBody>
          <a:bodyPr>
            <a:normAutofit/>
          </a:bodyPr>
          <a:lstStyle/>
          <a:p>
            <a:pPr marL="0" indent="0">
              <a:buNone/>
            </a:pPr>
            <a:r>
              <a:rPr lang="en-US" sz="1200" b="1" dirty="0"/>
              <a:t>Ungrouped frequency distribution</a:t>
            </a:r>
          </a:p>
          <a:p>
            <a:pPr marL="0" indent="0">
              <a:buNone/>
            </a:pPr>
            <a:r>
              <a:rPr lang="en-US" sz="1200" dirty="0"/>
              <a:t>For ungrouped frequency distribution we use following formula</a:t>
            </a:r>
          </a:p>
          <a:p>
            <a:pPr marL="0" indent="0">
              <a:buNone/>
            </a:pPr>
            <a:r>
              <a:rPr lang="en-US" sz="1200" dirty="0"/>
              <a:t>Definitional Formula</a:t>
            </a:r>
          </a:p>
          <a:p>
            <a:pPr marL="0" indent="0">
              <a:buNone/>
            </a:pPr>
            <a:r>
              <a:rPr lang="en-US" sz="1200" dirty="0"/>
              <a:t>  s = </a:t>
            </a:r>
          </a:p>
          <a:p>
            <a:pPr marL="0" indent="0">
              <a:buNone/>
            </a:pPr>
            <a:endParaRPr lang="en-US" sz="1200" dirty="0"/>
          </a:p>
          <a:p>
            <a:pPr marL="0" indent="0">
              <a:buNone/>
            </a:pPr>
            <a:r>
              <a:rPr lang="en-US" sz="1200" dirty="0"/>
              <a:t>Computational Formula</a:t>
            </a:r>
          </a:p>
          <a:p>
            <a:pPr marL="0" indent="0">
              <a:buNone/>
            </a:pPr>
            <a:r>
              <a:rPr lang="en-US" sz="1200" dirty="0"/>
              <a:t>  s =</a:t>
            </a:r>
          </a:p>
          <a:p>
            <a:pPr marL="0" indent="0">
              <a:buNone/>
            </a:pPr>
            <a:endParaRPr lang="en-US" sz="1200" dirty="0"/>
          </a:p>
          <a:p>
            <a:pPr marL="0" indent="0">
              <a:buNone/>
            </a:pPr>
            <a:endParaRPr lang="en-US" sz="1200" b="1" dirty="0"/>
          </a:p>
          <a:p>
            <a:pPr marL="0" indent="0">
              <a:buNone/>
            </a:pPr>
            <a:r>
              <a:rPr lang="en-US" sz="1200" b="1" dirty="0"/>
              <a:t>Grouped frequency distribution</a:t>
            </a:r>
          </a:p>
          <a:p>
            <a:pPr marL="0" indent="0">
              <a:buNone/>
            </a:pPr>
            <a:r>
              <a:rPr lang="en-US" sz="1200" dirty="0"/>
              <a:t>For grouped frequency distribution the formula are:</a:t>
            </a:r>
          </a:p>
          <a:p>
            <a:pPr marL="0" indent="0">
              <a:buNone/>
            </a:pPr>
            <a:r>
              <a:rPr lang="en-US" sz="1200" dirty="0"/>
              <a:t>Definitional or Direct Formula</a:t>
            </a:r>
          </a:p>
          <a:p>
            <a:pPr marL="0" indent="0">
              <a:buNone/>
            </a:pPr>
            <a:r>
              <a:rPr lang="en-US" sz="1200" dirty="0"/>
              <a:t>  s = </a:t>
            </a:r>
          </a:p>
          <a:p>
            <a:pPr marL="0" indent="0">
              <a:buNone/>
            </a:pPr>
            <a:endParaRPr lang="en-US" dirty="0"/>
          </a:p>
          <a:p>
            <a:pPr marL="0" indent="0">
              <a:buNone/>
            </a:pPr>
            <a:r>
              <a:rPr lang="en-US" sz="1200" dirty="0"/>
              <a:t>Computational Formula</a:t>
            </a:r>
          </a:p>
          <a:p>
            <a:pPr marL="0" indent="0">
              <a:buNone/>
            </a:pPr>
            <a:r>
              <a:rPr lang="en-US" sz="1200" dirty="0"/>
              <a:t>  s = </a:t>
            </a:r>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15EC0541-F3A1-45E5-9125-85D099FBADEF}"/>
                  </a:ext>
                </a:extLst>
              </p:cNvPr>
              <p:cNvSpPr txBox="1"/>
              <p:nvPr/>
            </p:nvSpPr>
            <p:spPr>
              <a:xfrm>
                <a:off x="971255" y="3864783"/>
                <a:ext cx="3617913" cy="578059"/>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e>
                              </m:nary>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e>
                      </m:rad>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e>
                      </m:rad>
                    </m:oMath>
                  </m:oMathPara>
                </a14:m>
                <a:endParaRPr lang="en-US"/>
              </a:p>
            </p:txBody>
          </p:sp>
        </mc:Choice>
        <mc:Fallback xmlns="">
          <p:sp>
            <p:nvSpPr>
              <p:cNvPr id="6" name="Object 5">
                <a:extLst>
                  <a:ext uri="{FF2B5EF4-FFF2-40B4-BE49-F238E27FC236}">
                    <a16:creationId xmlns:a16="http://schemas.microsoft.com/office/drawing/2014/main" id="{15EC0541-F3A1-45E5-9125-85D099FBADEF}"/>
                  </a:ext>
                </a:extLst>
              </p:cNvPr>
              <p:cNvSpPr txBox="1">
                <a:spLocks noRot="1" noChangeAspect="1" noMove="1" noResize="1" noEditPoints="1" noAdjustHandles="1" noChangeArrowheads="1" noChangeShapeType="1" noTextEdit="1"/>
              </p:cNvSpPr>
              <p:nvPr/>
            </p:nvSpPr>
            <p:spPr>
              <a:xfrm>
                <a:off x="971255" y="3864783"/>
                <a:ext cx="3617913" cy="578059"/>
              </a:xfrm>
              <a:prstGeom prst="rect">
                <a:avLst/>
              </a:prstGeom>
              <a:blipFill>
                <a:blip r:embed="rId2"/>
                <a:stretch>
                  <a:fillRect l="-1178" t="-22105" b="-1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8C0646D7-10B2-44C2-842F-F519BABD8B3F}"/>
                  </a:ext>
                </a:extLst>
              </p:cNvPr>
              <p:cNvSpPr txBox="1"/>
              <p:nvPr/>
            </p:nvSpPr>
            <p:spPr>
              <a:xfrm>
                <a:off x="971255" y="4981471"/>
                <a:ext cx="1939506" cy="578059"/>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m:rPr>
                                      <m:nor/>
                                    </m:rPr>
                                    <a:rPr lang="en-US" i="0">
                                      <a:solidFill>
                                        <a:srgbClr val="000000"/>
                                      </a:solidFill>
                                      <a:latin typeface="Cambria Math" panose="02040503050406030204" pitchFamily="18" charset="0"/>
                                    </a:rPr>
                                    <m:t> .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oMath>
                  </m:oMathPara>
                </a14:m>
                <a:endParaRPr lang="en-US" dirty="0"/>
              </a:p>
            </p:txBody>
          </p:sp>
        </mc:Choice>
        <mc:Fallback xmlns="">
          <p:sp>
            <p:nvSpPr>
              <p:cNvPr id="7" name="Object 6">
                <a:extLst>
                  <a:ext uri="{FF2B5EF4-FFF2-40B4-BE49-F238E27FC236}">
                    <a16:creationId xmlns:a16="http://schemas.microsoft.com/office/drawing/2014/main" id="{8C0646D7-10B2-44C2-842F-F519BABD8B3F}"/>
                  </a:ext>
                </a:extLst>
              </p:cNvPr>
              <p:cNvSpPr txBox="1">
                <a:spLocks noRot="1" noChangeAspect="1" noMove="1" noResize="1" noEditPoints="1" noAdjustHandles="1" noChangeArrowheads="1" noChangeShapeType="1" noTextEdit="1"/>
              </p:cNvSpPr>
              <p:nvPr/>
            </p:nvSpPr>
            <p:spPr>
              <a:xfrm>
                <a:off x="971255" y="4981471"/>
                <a:ext cx="1939506" cy="578059"/>
              </a:xfrm>
              <a:prstGeom prst="rect">
                <a:avLst/>
              </a:prstGeom>
              <a:blipFill>
                <a:blip r:embed="rId3"/>
                <a:stretch>
                  <a:fillRect t="-76842" b="-11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6600159D-D7FC-40A3-8F4A-6B70EF41B116}"/>
                  </a:ext>
                </a:extLst>
              </p:cNvPr>
              <p:cNvSpPr txBox="1"/>
              <p:nvPr/>
            </p:nvSpPr>
            <p:spPr>
              <a:xfrm>
                <a:off x="6728435" y="1765160"/>
                <a:ext cx="1214648" cy="568894"/>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e>
                              </m:nary>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e>
                      </m:rad>
                    </m:oMath>
                  </m:oMathPara>
                </a14:m>
                <a:endParaRPr lang="en-US" dirty="0"/>
              </a:p>
            </p:txBody>
          </p:sp>
        </mc:Choice>
        <mc:Fallback xmlns="">
          <p:sp>
            <p:nvSpPr>
              <p:cNvPr id="5" name="Object 4">
                <a:extLst>
                  <a:ext uri="{FF2B5EF4-FFF2-40B4-BE49-F238E27FC236}">
                    <a16:creationId xmlns:a16="http://schemas.microsoft.com/office/drawing/2014/main" id="{6600159D-D7FC-40A3-8F4A-6B70EF41B116}"/>
                  </a:ext>
                </a:extLst>
              </p:cNvPr>
              <p:cNvSpPr txBox="1">
                <a:spLocks noRot="1" noChangeAspect="1" noMove="1" noResize="1" noEditPoints="1" noAdjustHandles="1" noChangeArrowheads="1" noChangeShapeType="1" noTextEdit="1"/>
              </p:cNvSpPr>
              <p:nvPr/>
            </p:nvSpPr>
            <p:spPr>
              <a:xfrm>
                <a:off x="6728435" y="1765160"/>
                <a:ext cx="1214648" cy="568894"/>
              </a:xfrm>
              <a:prstGeom prst="rect">
                <a:avLst/>
              </a:prstGeom>
              <a:blipFill>
                <a:blip r:embed="rId4"/>
                <a:stretch>
                  <a:fillRect l="-4020" t="-22581" b="-21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849382F0-4048-47A8-89AB-5B936CA5A4B4}"/>
                  </a:ext>
                </a:extLst>
              </p:cNvPr>
              <p:cNvSpPr txBox="1"/>
              <p:nvPr/>
            </p:nvSpPr>
            <p:spPr>
              <a:xfrm>
                <a:off x="6773411" y="2696382"/>
                <a:ext cx="1775365" cy="667919"/>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oMath>
                  </m:oMathPara>
                </a14:m>
                <a:endParaRPr lang="en-US" dirty="0"/>
              </a:p>
            </p:txBody>
          </p:sp>
        </mc:Choice>
        <mc:Fallback xmlns="">
          <p:sp>
            <p:nvSpPr>
              <p:cNvPr id="8" name="Object 7">
                <a:extLst>
                  <a:ext uri="{FF2B5EF4-FFF2-40B4-BE49-F238E27FC236}">
                    <a16:creationId xmlns:a16="http://schemas.microsoft.com/office/drawing/2014/main" id="{849382F0-4048-47A8-89AB-5B936CA5A4B4}"/>
                  </a:ext>
                </a:extLst>
              </p:cNvPr>
              <p:cNvSpPr txBox="1">
                <a:spLocks noRot="1" noChangeAspect="1" noMove="1" noResize="1" noEditPoints="1" noAdjustHandles="1" noChangeArrowheads="1" noChangeShapeType="1" noTextEdit="1"/>
              </p:cNvSpPr>
              <p:nvPr/>
            </p:nvSpPr>
            <p:spPr>
              <a:xfrm>
                <a:off x="6773411" y="2696382"/>
                <a:ext cx="1775365" cy="66791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AD6435B5-AB03-4D24-8D7C-45D6E84D9686}"/>
                  </a:ext>
                </a:extLst>
              </p:cNvPr>
              <p:cNvSpPr txBox="1"/>
              <p:nvPr/>
            </p:nvSpPr>
            <p:spPr>
              <a:xfrm>
                <a:off x="6779762" y="4442841"/>
                <a:ext cx="1208298" cy="687789"/>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𝑚</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e>
                              </m:nary>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e>
                      </m:rad>
                    </m:oMath>
                  </m:oMathPara>
                </a14:m>
                <a:endParaRPr lang="en-US" dirty="0"/>
              </a:p>
            </p:txBody>
          </p:sp>
        </mc:Choice>
        <mc:Fallback xmlns="">
          <p:sp>
            <p:nvSpPr>
              <p:cNvPr id="9" name="Object 8">
                <a:extLst>
                  <a:ext uri="{FF2B5EF4-FFF2-40B4-BE49-F238E27FC236}">
                    <a16:creationId xmlns:a16="http://schemas.microsoft.com/office/drawing/2014/main" id="{AD6435B5-AB03-4D24-8D7C-45D6E84D9686}"/>
                  </a:ext>
                </a:extLst>
              </p:cNvPr>
              <p:cNvSpPr txBox="1">
                <a:spLocks noRot="1" noChangeAspect="1" noMove="1" noResize="1" noEditPoints="1" noAdjustHandles="1" noChangeArrowheads="1" noChangeShapeType="1" noTextEdit="1"/>
              </p:cNvSpPr>
              <p:nvPr/>
            </p:nvSpPr>
            <p:spPr>
              <a:xfrm>
                <a:off x="6779762" y="4442841"/>
                <a:ext cx="1208298" cy="68778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6BE6DE40-C8AC-4569-954B-2081F30E4D48}"/>
                  </a:ext>
                </a:extLst>
              </p:cNvPr>
              <p:cNvSpPr txBox="1"/>
              <p:nvPr/>
            </p:nvSpPr>
            <p:spPr>
              <a:xfrm>
                <a:off x="6706529" y="5402327"/>
                <a:ext cx="1842248" cy="667919"/>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𝑚</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oMath>
                  </m:oMathPara>
                </a14:m>
                <a:endParaRPr lang="en-US" dirty="0"/>
              </a:p>
            </p:txBody>
          </p:sp>
        </mc:Choice>
        <mc:Fallback xmlns="">
          <p:sp>
            <p:nvSpPr>
              <p:cNvPr id="10" name="Object 9">
                <a:extLst>
                  <a:ext uri="{FF2B5EF4-FFF2-40B4-BE49-F238E27FC236}">
                    <a16:creationId xmlns:a16="http://schemas.microsoft.com/office/drawing/2014/main" id="{6BE6DE40-C8AC-4569-954B-2081F30E4D48}"/>
                  </a:ext>
                </a:extLst>
              </p:cNvPr>
              <p:cNvSpPr txBox="1">
                <a:spLocks noRot="1" noChangeAspect="1" noMove="1" noResize="1" noEditPoints="1" noAdjustHandles="1" noChangeArrowheads="1" noChangeShapeType="1" noTextEdit="1"/>
              </p:cNvSpPr>
              <p:nvPr/>
            </p:nvSpPr>
            <p:spPr>
              <a:xfrm>
                <a:off x="6706529" y="5402327"/>
                <a:ext cx="1842248" cy="667919"/>
              </a:xfrm>
              <a:prstGeom prst="rect">
                <a:avLst/>
              </a:prstGeom>
              <a:blipFill>
                <a:blip r:embed="rId7"/>
                <a:stretch>
                  <a:fillRect/>
                </a:stretch>
              </a:blipFill>
            </p:spPr>
            <p:txBody>
              <a:bodyPr/>
              <a:lstStyle/>
              <a:p>
                <a:r>
                  <a:rPr lang="en-US">
                    <a:noFill/>
                  </a:rPr>
                  <a:t> </a:t>
                </a:r>
              </a:p>
            </p:txBody>
          </p:sp>
        </mc:Fallback>
      </mc:AlternateContent>
      <p:sp>
        <p:nvSpPr>
          <p:cNvPr id="11" name="Footer Placeholder 10">
            <a:extLst>
              <a:ext uri="{FF2B5EF4-FFF2-40B4-BE49-F238E27FC236}">
                <a16:creationId xmlns:a16="http://schemas.microsoft.com/office/drawing/2014/main" id="{AA595FE5-6A00-4E20-BF59-2BE941D0323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61108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B9F436-42FA-472E-B36B-DB90E6AB1432}"/>
              </a:ext>
            </a:extLst>
          </p:cNvPr>
          <p:cNvSpPr>
            <a:spLocks noGrp="1"/>
          </p:cNvSpPr>
          <p:nvPr>
            <p:ph sz="half" idx="1"/>
          </p:nvPr>
        </p:nvSpPr>
        <p:spPr>
          <a:xfrm>
            <a:off x="552091" y="569343"/>
            <a:ext cx="5269590" cy="5702061"/>
          </a:xfrm>
        </p:spPr>
        <p:txBody>
          <a:bodyPr>
            <a:normAutofit/>
          </a:bodyPr>
          <a:lstStyle/>
          <a:p>
            <a:pPr marL="0" marR="0" indent="0">
              <a:lnSpc>
                <a:spcPct val="107000"/>
              </a:lnSpc>
              <a:spcBef>
                <a:spcPts val="0"/>
              </a:spcBef>
              <a:spcAft>
                <a:spcPts val="0"/>
              </a:spcAft>
              <a:buNone/>
            </a:pPr>
            <a:r>
              <a:rPr lang="en-US" sz="1200" b="1" dirty="0">
                <a:latin typeface="+mj-lt"/>
              </a:rPr>
              <a:t>Example 1:</a:t>
            </a:r>
            <a:r>
              <a:rPr lang="en-US" sz="1200" dirty="0">
                <a:latin typeface="+mj-lt"/>
              </a:rPr>
              <a:t> </a:t>
            </a:r>
            <a:r>
              <a:rPr lang="en-GB" sz="1200" dirty="0">
                <a:effectLst/>
                <a:latin typeface="+mj-lt"/>
                <a:ea typeface="Calibri" panose="020F0502020204030204" pitchFamily="34" charset="0"/>
                <a:cs typeface="Calibri" panose="020F0502020204030204" pitchFamily="34" charset="0"/>
              </a:rPr>
              <a:t>The random sample of 29 calls made by office staff of a company during a week is given below:</a:t>
            </a:r>
            <a:endParaRPr lang="en-US" sz="12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6.8	2.3	4.8	8.3	15.9	18.7</a:t>
            </a: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11.8	5.6	15.9	10.4</a:t>
            </a:r>
            <a:r>
              <a:rPr lang="en-US" sz="1200" dirty="0">
                <a:latin typeface="+mj-lt"/>
                <a:ea typeface="Calibri" panose="020F0502020204030204" pitchFamily="34" charset="0"/>
                <a:cs typeface="Times New Roman" panose="02020603050405020304" pitchFamily="18" charset="0"/>
              </a:rPr>
              <a:t>	</a:t>
            </a:r>
            <a:r>
              <a:rPr lang="en-GB" sz="1200" dirty="0">
                <a:effectLst/>
                <a:latin typeface="+mj-lt"/>
                <a:ea typeface="Calibri" panose="020F0502020204030204" pitchFamily="34" charset="0"/>
                <a:cs typeface="Calibri" panose="020F0502020204030204" pitchFamily="34" charset="0"/>
              </a:rPr>
              <a:t>15.3	12.3</a:t>
            </a: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9.1	10.4	7.2	14.5	11.2	15.3</a:t>
            </a: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19.8	7.6	17.7	11.1	9.0	13.2</a:t>
            </a: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12.0	3.7	8.0	13.4	12.5</a:t>
            </a:r>
            <a:endParaRPr lang="en-US" sz="12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Compute standard deviation of duration of call.</a:t>
            </a:r>
            <a:endParaRPr lang="en-US" sz="1200" dirty="0">
              <a:effectLst/>
              <a:latin typeface="+mj-lt"/>
              <a:ea typeface="Calibri" panose="020F0502020204030204" pitchFamily="34" charset="0"/>
              <a:cs typeface="Times New Roman" panose="02020603050405020304" pitchFamily="18" charset="0"/>
            </a:endParaRPr>
          </a:p>
          <a:p>
            <a:pPr marL="0" indent="0">
              <a:buNone/>
            </a:pPr>
            <a:r>
              <a:rPr lang="en-US" sz="1200" b="1" dirty="0"/>
              <a:t>Solution:</a:t>
            </a:r>
          </a:p>
          <a:p>
            <a:pPr marL="0" indent="0">
              <a:buNone/>
            </a:pPr>
            <a:r>
              <a:rPr lang="en-US" sz="1200" dirty="0"/>
              <a:t>Variable (X) = Duration of calls by staff</a:t>
            </a:r>
          </a:p>
          <a:p>
            <a:pPr marL="0" indent="0">
              <a:buNone/>
            </a:pPr>
            <a:r>
              <a:rPr lang="en-US" sz="1200" dirty="0"/>
              <a:t>Sample size (n) = 29</a:t>
            </a:r>
          </a:p>
          <a:p>
            <a:pPr marL="0" indent="0">
              <a:buNone/>
            </a:pPr>
            <a:r>
              <a:rPr lang="en-US" sz="1200" dirty="0"/>
              <a:t>The sample standard deviation is given by,</a:t>
            </a:r>
          </a:p>
          <a:p>
            <a:pPr marL="0" indent="0">
              <a:buNone/>
            </a:pPr>
            <a:r>
              <a:rPr lang="en-US" sz="1200" dirty="0"/>
              <a:t>  s =</a:t>
            </a:r>
          </a:p>
          <a:p>
            <a:pPr marL="0" indent="0">
              <a:buNone/>
            </a:pPr>
            <a:endParaRPr lang="en-US" sz="1200" dirty="0"/>
          </a:p>
          <a:p>
            <a:pPr marL="0" indent="0">
              <a:buNone/>
            </a:pPr>
            <a:r>
              <a:rPr lang="en-US" sz="1200" dirty="0"/>
              <a:t>Here,</a:t>
            </a:r>
          </a:p>
          <a:p>
            <a:pPr marL="0" indent="0">
              <a:buNone/>
            </a:pPr>
            <a:r>
              <a:rPr lang="en-US" sz="1200" dirty="0"/>
              <a:t>Σ X = 6.8 + 2.3 + … + 12.5 = 323.8</a:t>
            </a:r>
          </a:p>
          <a:p>
            <a:pPr marL="0" indent="0">
              <a:buNone/>
            </a:pPr>
            <a:r>
              <a:rPr lang="en-US" sz="1200" dirty="0"/>
              <a:t>Σ X</a:t>
            </a:r>
            <a:r>
              <a:rPr lang="en-US" sz="1200" baseline="30000" dirty="0"/>
              <a:t>2</a:t>
            </a:r>
            <a:r>
              <a:rPr lang="en-US" sz="1200" dirty="0"/>
              <a:t> = 6.8</a:t>
            </a:r>
            <a:r>
              <a:rPr lang="en-US" sz="1200" baseline="30000" dirty="0"/>
              <a:t>2</a:t>
            </a:r>
            <a:r>
              <a:rPr lang="en-US" sz="1200" dirty="0"/>
              <a:t> + 2.3</a:t>
            </a:r>
            <a:r>
              <a:rPr lang="en-US" sz="1200" baseline="30000" dirty="0"/>
              <a:t>2</a:t>
            </a:r>
            <a:r>
              <a:rPr lang="en-US" sz="1200" dirty="0"/>
              <a:t> + … + 12.5</a:t>
            </a:r>
            <a:r>
              <a:rPr lang="en-US" sz="1200" baseline="30000" dirty="0"/>
              <a:t>2</a:t>
            </a:r>
            <a:r>
              <a:rPr lang="en-US" sz="1200" dirty="0"/>
              <a:t> = 4174.54</a:t>
            </a:r>
          </a:p>
          <a:p>
            <a:pPr marL="0" indent="0">
              <a:buNone/>
            </a:pPr>
            <a:r>
              <a:rPr lang="en-US" sz="1200" dirty="0"/>
              <a:t>Now,</a:t>
            </a:r>
          </a:p>
          <a:p>
            <a:pPr marL="0" indent="0">
              <a:buNone/>
            </a:pPr>
            <a:r>
              <a:rPr lang="en-US" sz="1200" dirty="0"/>
              <a:t>Mean                                                mins</a:t>
            </a:r>
          </a:p>
          <a:p>
            <a:pPr marL="0" indent="0">
              <a:buNone/>
            </a:pPr>
            <a:endParaRPr lang="en-US" sz="1200" dirty="0"/>
          </a:p>
          <a:p>
            <a:pPr marL="0" indent="0">
              <a:buNone/>
            </a:pPr>
            <a:r>
              <a:rPr lang="en-US" sz="1200" dirty="0"/>
              <a:t>S.D.(s) =                                                                                                 mins </a:t>
            </a:r>
          </a:p>
          <a:p>
            <a:pPr marL="0" indent="0">
              <a:buNone/>
            </a:pPr>
            <a:endParaRPr lang="en-US" dirty="0"/>
          </a:p>
        </p:txBody>
      </p:sp>
      <p:sp>
        <p:nvSpPr>
          <p:cNvPr id="4" name="Content Placeholder 3">
            <a:extLst>
              <a:ext uri="{FF2B5EF4-FFF2-40B4-BE49-F238E27FC236}">
                <a16:creationId xmlns:a16="http://schemas.microsoft.com/office/drawing/2014/main" id="{43B6E5AC-C584-47B0-8AB3-6AA927B7B210}"/>
              </a:ext>
            </a:extLst>
          </p:cNvPr>
          <p:cNvSpPr>
            <a:spLocks noGrp="1"/>
          </p:cNvSpPr>
          <p:nvPr>
            <p:ph sz="half" idx="2"/>
          </p:nvPr>
        </p:nvSpPr>
        <p:spPr>
          <a:xfrm>
            <a:off x="6349041" y="569343"/>
            <a:ext cx="5290867" cy="5702061"/>
          </a:xfrm>
        </p:spPr>
        <p:txBody>
          <a:bodyPr>
            <a:normAutofit/>
          </a:bodyPr>
          <a:lstStyle/>
          <a:p>
            <a:pPr marL="0" marR="0" indent="0">
              <a:lnSpc>
                <a:spcPct val="107000"/>
              </a:lnSpc>
              <a:spcBef>
                <a:spcPts val="0"/>
              </a:spcBef>
              <a:spcAft>
                <a:spcPts val="0"/>
              </a:spcAft>
              <a:buNone/>
            </a:pPr>
            <a:r>
              <a:rPr lang="en-US" sz="1200" b="1" dirty="0">
                <a:latin typeface="+mj-lt"/>
              </a:rPr>
              <a:t>Example 2</a:t>
            </a:r>
            <a:r>
              <a:rPr lang="en-US" sz="1200" dirty="0">
                <a:latin typeface="+mj-lt"/>
              </a:rPr>
              <a:t>: </a:t>
            </a:r>
            <a:r>
              <a:rPr lang="en-GB" sz="1200" dirty="0">
                <a:effectLst/>
                <a:latin typeface="+mj-lt"/>
                <a:ea typeface="Calibri" panose="020F0502020204030204" pitchFamily="34" charset="0"/>
                <a:cs typeface="Calibri" panose="020F0502020204030204" pitchFamily="34" charset="0"/>
              </a:rPr>
              <a:t>A professor in Statistics class was rated by his 30 students on a scale of 1 to 5 where rating of 5 was considered as excellent and the rating of 1 was considered as poor with increasing scale from poor to excellence. These ratings are recorded individually in the following table.</a:t>
            </a:r>
            <a:endParaRPr lang="en-US" sz="12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	4	3	1	1	4	5	2	2	4	4</a:t>
            </a:r>
            <a:endParaRPr lang="en-US" sz="12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	2	3	3	4	3	5	4	4	5	3</a:t>
            </a:r>
            <a:endParaRPr lang="en-US" sz="1200" dirty="0">
              <a:effectLst/>
              <a:latin typeface="+mj-lt"/>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GB" sz="1200" dirty="0">
                <a:effectLst/>
                <a:latin typeface="+mj-lt"/>
                <a:ea typeface="Calibri" panose="020F0502020204030204" pitchFamily="34" charset="0"/>
                <a:cs typeface="Calibri" panose="020F0502020204030204" pitchFamily="34" charset="0"/>
              </a:rPr>
              <a:t>	3	2	2	3	4	4	5	4	5	1</a:t>
            </a:r>
            <a:endParaRPr lang="en-US" sz="1200" dirty="0">
              <a:effectLst/>
              <a:latin typeface="+mj-l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arenBoth"/>
            </a:pPr>
            <a:r>
              <a:rPr lang="en-GB" sz="1200" dirty="0">
                <a:effectLst/>
                <a:latin typeface="+mj-lt"/>
                <a:ea typeface="Calibri" panose="020F0502020204030204" pitchFamily="34" charset="0"/>
                <a:cs typeface="Calibri" panose="020F0502020204030204" pitchFamily="34" charset="0"/>
              </a:rPr>
              <a:t>Construct an ungrouped frequency distribution</a:t>
            </a:r>
            <a:endParaRPr lang="en-US" sz="1200" dirty="0">
              <a:effectLst/>
              <a:latin typeface="+mj-lt"/>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lphaLcParenBoth"/>
            </a:pPr>
            <a:r>
              <a:rPr lang="en-GB" sz="1200" dirty="0">
                <a:effectLst/>
                <a:latin typeface="+mj-lt"/>
                <a:ea typeface="Calibri" panose="020F0502020204030204" pitchFamily="34" charset="0"/>
                <a:cs typeface="Calibri" panose="020F0502020204030204" pitchFamily="34" charset="0"/>
              </a:rPr>
              <a:t>Compute standard deviation of rating obtained by Professor</a:t>
            </a:r>
            <a:endParaRPr lang="en-US" sz="1200" dirty="0">
              <a:effectLst/>
              <a:latin typeface="+mj-lt"/>
              <a:ea typeface="Calibri" panose="020F0502020204030204" pitchFamily="34" charset="0"/>
              <a:cs typeface="Times New Roman" panose="02020603050405020304" pitchFamily="18" charset="0"/>
            </a:endParaRPr>
          </a:p>
          <a:p>
            <a:pPr marL="0" indent="0">
              <a:buNone/>
            </a:pPr>
            <a:r>
              <a:rPr lang="en-US" sz="1200" dirty="0"/>
              <a:t>Solution:</a:t>
            </a:r>
          </a:p>
          <a:p>
            <a:pPr marL="0" indent="0">
              <a:buNone/>
            </a:pPr>
            <a:r>
              <a:rPr lang="en-US" sz="1200" dirty="0"/>
              <a:t>Here variable (X) = Rating score given by students</a:t>
            </a:r>
          </a:p>
          <a:p>
            <a:pPr marL="0" indent="0">
              <a:buNone/>
            </a:pPr>
            <a:r>
              <a:rPr lang="en-US" sz="1200" dirty="0"/>
              <a:t>Sample size (n) = 30</a:t>
            </a:r>
          </a:p>
          <a:p>
            <a:pPr marL="0" indent="0">
              <a:buNone/>
            </a:pPr>
            <a:r>
              <a:rPr lang="en-US" sz="1200" dirty="0"/>
              <a:t>The frequency distribution for this data is</a:t>
            </a:r>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The sample S.D. is given by,  </a:t>
            </a:r>
          </a:p>
          <a:p>
            <a:pPr marL="0" indent="0">
              <a:buNone/>
            </a:pPr>
            <a:r>
              <a:rPr lang="en-US" sz="1200" dirty="0"/>
              <a:t>  s =  </a:t>
            </a:r>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9FBEB552-884B-44E4-B008-1EE159A690C2}"/>
                  </a:ext>
                </a:extLst>
              </p:cNvPr>
              <p:cNvSpPr txBox="1"/>
              <p:nvPr/>
            </p:nvSpPr>
            <p:spPr>
              <a:xfrm>
                <a:off x="993986" y="3420373"/>
                <a:ext cx="1939925" cy="599536"/>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m:rPr>
                                      <m:nor/>
                                    </m:rPr>
                                    <a:rPr lang="en-US" i="0">
                                      <a:solidFill>
                                        <a:srgbClr val="000000"/>
                                      </a:solidFill>
                                      <a:latin typeface="Cambria Math" panose="02040503050406030204" pitchFamily="18" charset="0"/>
                                    </a:rPr>
                                    <m:t> .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oMath>
                  </m:oMathPara>
                </a14:m>
                <a:endParaRPr lang="en-US" dirty="0"/>
              </a:p>
            </p:txBody>
          </p:sp>
        </mc:Choice>
        <mc:Fallback xmlns="">
          <p:sp>
            <p:nvSpPr>
              <p:cNvPr id="6" name="Object 5">
                <a:extLst>
                  <a:ext uri="{FF2B5EF4-FFF2-40B4-BE49-F238E27FC236}">
                    <a16:creationId xmlns:a16="http://schemas.microsoft.com/office/drawing/2014/main" id="{9FBEB552-884B-44E4-B008-1EE159A690C2}"/>
                  </a:ext>
                </a:extLst>
              </p:cNvPr>
              <p:cNvSpPr txBox="1">
                <a:spLocks noRot="1" noChangeAspect="1" noMove="1" noResize="1" noEditPoints="1" noAdjustHandles="1" noChangeArrowheads="1" noChangeShapeType="1" noTextEdit="1"/>
              </p:cNvSpPr>
              <p:nvPr/>
            </p:nvSpPr>
            <p:spPr>
              <a:xfrm>
                <a:off x="993986" y="3420373"/>
                <a:ext cx="1939925" cy="59953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FBDDB2FB-CF0D-4A32-8BFE-4AF961189CB2}"/>
                  </a:ext>
                </a:extLst>
              </p:cNvPr>
              <p:cNvSpPr txBox="1"/>
              <p:nvPr/>
            </p:nvSpPr>
            <p:spPr>
              <a:xfrm>
                <a:off x="1216776" y="5161351"/>
                <a:ext cx="1803400" cy="4318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𝑋</m:t>
                              </m:r>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323.8</m:t>
                          </m:r>
                        </m:num>
                        <m:den>
                          <m:r>
                            <a:rPr lang="en-US" i="1">
                              <a:solidFill>
                                <a:srgbClr val="000000"/>
                              </a:solidFill>
                              <a:latin typeface="Cambria Math" panose="02040503050406030204" pitchFamily="18" charset="0"/>
                            </a:rPr>
                            <m:t>29</m:t>
                          </m:r>
                        </m:den>
                      </m:f>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11.1655</m:t>
                      </m:r>
                    </m:oMath>
                  </m:oMathPara>
                </a14:m>
                <a:endParaRPr lang="en-US"/>
              </a:p>
            </p:txBody>
          </p:sp>
        </mc:Choice>
        <mc:Fallback xmlns="">
          <p:sp>
            <p:nvSpPr>
              <p:cNvPr id="7" name="Object 6">
                <a:extLst>
                  <a:ext uri="{FF2B5EF4-FFF2-40B4-BE49-F238E27FC236}">
                    <a16:creationId xmlns:a16="http://schemas.microsoft.com/office/drawing/2014/main" id="{FBDDB2FB-CF0D-4A32-8BFE-4AF961189CB2}"/>
                  </a:ext>
                </a:extLst>
              </p:cNvPr>
              <p:cNvSpPr txBox="1">
                <a:spLocks noRot="1" noChangeAspect="1" noMove="1" noResize="1" noEditPoints="1" noAdjustHandles="1" noChangeArrowheads="1" noChangeShapeType="1" noTextEdit="1"/>
              </p:cNvSpPr>
              <p:nvPr/>
            </p:nvSpPr>
            <p:spPr>
              <a:xfrm>
                <a:off x="1216776" y="5161351"/>
                <a:ext cx="1803400" cy="431800"/>
              </a:xfrm>
              <a:prstGeom prst="rect">
                <a:avLst/>
              </a:prstGeom>
              <a:blipFill>
                <a:blip r:embed="rId3"/>
                <a:stretch>
                  <a:fillRect t="-52113" b="-366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895AB5D3-C3D9-4FE9-B3FB-8E6073F1ADC4}"/>
                  </a:ext>
                </a:extLst>
              </p:cNvPr>
              <p:cNvSpPr txBox="1"/>
              <p:nvPr/>
            </p:nvSpPr>
            <p:spPr>
              <a:xfrm>
                <a:off x="1116772" y="5615100"/>
                <a:ext cx="4140228" cy="656304"/>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29−1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4174.54−29</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x</m:t>
                              </m:r>
                              <m:r>
                                <m:rPr>
                                  <m:nor/>
                                </m:rPr>
                                <a:rPr lang="en-US" i="0">
                                  <a:solidFill>
                                    <a:srgbClr val="000000"/>
                                  </a:solidFill>
                                  <a:latin typeface="Cambria Math" panose="02040503050406030204" pitchFamily="18" charset="0"/>
                                </a:rPr>
                                <m:t> 124.6684</m:t>
                              </m:r>
                            </m:e>
                          </m:d>
                        </m:e>
                      </m:rad>
                      <m:r>
                        <a:rPr lang="en-US" i="1">
                          <a:solidFill>
                            <a:srgbClr val="000000"/>
                          </a:solidFill>
                          <a:latin typeface="Cambria Math" panose="02040503050406030204" pitchFamily="18" charset="0"/>
                        </a:rPr>
                        <m:t>=4.3910</m:t>
                      </m:r>
                    </m:oMath>
                  </m:oMathPara>
                </a14:m>
                <a:endParaRPr lang="en-US" dirty="0"/>
              </a:p>
            </p:txBody>
          </p:sp>
        </mc:Choice>
        <mc:Fallback xmlns="">
          <p:sp>
            <p:nvSpPr>
              <p:cNvPr id="8" name="Object 7">
                <a:extLst>
                  <a:ext uri="{FF2B5EF4-FFF2-40B4-BE49-F238E27FC236}">
                    <a16:creationId xmlns:a16="http://schemas.microsoft.com/office/drawing/2014/main" id="{895AB5D3-C3D9-4FE9-B3FB-8E6073F1ADC4}"/>
                  </a:ext>
                </a:extLst>
              </p:cNvPr>
              <p:cNvSpPr txBox="1">
                <a:spLocks noRot="1" noChangeAspect="1" noMove="1" noResize="1" noEditPoints="1" noAdjustHandles="1" noChangeArrowheads="1" noChangeShapeType="1" noTextEdit="1"/>
              </p:cNvSpPr>
              <p:nvPr/>
            </p:nvSpPr>
            <p:spPr>
              <a:xfrm>
                <a:off x="1116772" y="5615100"/>
                <a:ext cx="4140228" cy="656304"/>
              </a:xfrm>
              <a:prstGeom prst="rect">
                <a:avLst/>
              </a:prstGeom>
              <a:blipFill>
                <a:blip r:embed="rId4"/>
                <a:stretch>
                  <a:fillRect t="-65741" b="-94444"/>
                </a:stretch>
              </a:blipFill>
            </p:spPr>
            <p:txBody>
              <a:bodyPr/>
              <a:lstStyle/>
              <a:p>
                <a:r>
                  <a:rPr lang="en-US">
                    <a:noFill/>
                  </a:rPr>
                  <a:t> </a:t>
                </a:r>
              </a:p>
            </p:txBody>
          </p:sp>
        </mc:Fallback>
      </mc:AlternateContent>
      <p:graphicFrame>
        <p:nvGraphicFramePr>
          <p:cNvPr id="5" name="Table 8">
            <a:extLst>
              <a:ext uri="{FF2B5EF4-FFF2-40B4-BE49-F238E27FC236}">
                <a16:creationId xmlns:a16="http://schemas.microsoft.com/office/drawing/2014/main" id="{2A391690-2147-432E-B813-F10FC5A5BF31}"/>
              </a:ext>
            </a:extLst>
          </p:cNvPr>
          <p:cNvGraphicFramePr>
            <a:graphicFrameLocks noGrp="1"/>
          </p:cNvGraphicFramePr>
          <p:nvPr>
            <p:extLst>
              <p:ext uri="{D42A27DB-BD31-4B8C-83A1-F6EECF244321}">
                <p14:modId xmlns:p14="http://schemas.microsoft.com/office/powerpoint/2010/main" val="1219234274"/>
              </p:ext>
            </p:extLst>
          </p:nvPr>
        </p:nvGraphicFramePr>
        <p:xfrm>
          <a:off x="6509108" y="4445372"/>
          <a:ext cx="4342922" cy="548640"/>
        </p:xfrm>
        <a:graphic>
          <a:graphicData uri="http://schemas.openxmlformats.org/drawingml/2006/table">
            <a:tbl>
              <a:tblPr firstRow="1" bandRow="1">
                <a:tableStyleId>{3B4B98B0-60AC-42C2-AFA5-B58CD77FA1E5}</a:tableStyleId>
              </a:tblPr>
              <a:tblGrid>
                <a:gridCol w="1003768">
                  <a:extLst>
                    <a:ext uri="{9D8B030D-6E8A-4147-A177-3AD203B41FA5}">
                      <a16:colId xmlns:a16="http://schemas.microsoft.com/office/drawing/2014/main" val="3237621251"/>
                    </a:ext>
                  </a:extLst>
                </a:gridCol>
                <a:gridCol w="656339">
                  <a:extLst>
                    <a:ext uri="{9D8B030D-6E8A-4147-A177-3AD203B41FA5}">
                      <a16:colId xmlns:a16="http://schemas.microsoft.com/office/drawing/2014/main" val="1677101846"/>
                    </a:ext>
                  </a:extLst>
                </a:gridCol>
                <a:gridCol w="603849">
                  <a:extLst>
                    <a:ext uri="{9D8B030D-6E8A-4147-A177-3AD203B41FA5}">
                      <a16:colId xmlns:a16="http://schemas.microsoft.com/office/drawing/2014/main" val="4115225511"/>
                    </a:ext>
                  </a:extLst>
                </a:gridCol>
                <a:gridCol w="560717">
                  <a:extLst>
                    <a:ext uri="{9D8B030D-6E8A-4147-A177-3AD203B41FA5}">
                      <a16:colId xmlns:a16="http://schemas.microsoft.com/office/drawing/2014/main" val="1839264322"/>
                    </a:ext>
                  </a:extLst>
                </a:gridCol>
                <a:gridCol w="646981">
                  <a:extLst>
                    <a:ext uri="{9D8B030D-6E8A-4147-A177-3AD203B41FA5}">
                      <a16:colId xmlns:a16="http://schemas.microsoft.com/office/drawing/2014/main" val="2562224941"/>
                    </a:ext>
                  </a:extLst>
                </a:gridCol>
                <a:gridCol w="871268">
                  <a:extLst>
                    <a:ext uri="{9D8B030D-6E8A-4147-A177-3AD203B41FA5}">
                      <a16:colId xmlns:a16="http://schemas.microsoft.com/office/drawing/2014/main" val="2771660723"/>
                    </a:ext>
                  </a:extLst>
                </a:gridCol>
              </a:tblGrid>
              <a:tr h="214277">
                <a:tc>
                  <a:txBody>
                    <a:bodyPr/>
                    <a:lstStyle/>
                    <a:p>
                      <a:r>
                        <a:rPr lang="en-US" sz="1200" dirty="0"/>
                        <a:t>Rate</a:t>
                      </a:r>
                    </a:p>
                  </a:txBody>
                  <a:tcPr/>
                </a:tc>
                <a:tc>
                  <a:txBody>
                    <a:bodyPr/>
                    <a:lstStyle/>
                    <a:p>
                      <a:r>
                        <a:rPr lang="en-US" sz="1200" dirty="0"/>
                        <a:t>1</a:t>
                      </a:r>
                    </a:p>
                  </a:txBody>
                  <a:tcPr/>
                </a:tc>
                <a:tc>
                  <a:txBody>
                    <a:bodyPr/>
                    <a:lstStyle/>
                    <a:p>
                      <a:r>
                        <a:rPr lang="en-US" sz="1200" dirty="0"/>
                        <a:t>2</a:t>
                      </a:r>
                    </a:p>
                  </a:txBody>
                  <a:tcPr/>
                </a:tc>
                <a:tc>
                  <a:txBody>
                    <a:bodyPr/>
                    <a:lstStyle/>
                    <a:p>
                      <a:r>
                        <a:rPr lang="en-US" sz="1200" dirty="0"/>
                        <a:t>3</a:t>
                      </a:r>
                    </a:p>
                  </a:txBody>
                  <a:tcPr/>
                </a:tc>
                <a:tc>
                  <a:txBody>
                    <a:bodyPr/>
                    <a:lstStyle/>
                    <a:p>
                      <a:r>
                        <a:rPr lang="en-US" sz="1200" dirty="0"/>
                        <a:t>4</a:t>
                      </a:r>
                    </a:p>
                  </a:txBody>
                  <a:tcPr/>
                </a:tc>
                <a:tc>
                  <a:txBody>
                    <a:bodyPr/>
                    <a:lstStyle/>
                    <a:p>
                      <a:r>
                        <a:rPr lang="en-US" sz="1200" dirty="0"/>
                        <a:t>5</a:t>
                      </a:r>
                    </a:p>
                  </a:txBody>
                  <a:tcPr/>
                </a:tc>
                <a:extLst>
                  <a:ext uri="{0D108BD9-81ED-4DB2-BD59-A6C34878D82A}">
                    <a16:rowId xmlns:a16="http://schemas.microsoft.com/office/drawing/2014/main" val="2051646306"/>
                  </a:ext>
                </a:extLst>
              </a:tr>
              <a:tr h="214277">
                <a:tc>
                  <a:txBody>
                    <a:bodyPr/>
                    <a:lstStyle/>
                    <a:p>
                      <a:r>
                        <a:rPr lang="en-US" sz="1200" dirty="0"/>
                        <a:t>Frequency</a:t>
                      </a:r>
                    </a:p>
                  </a:txBody>
                  <a:tcPr/>
                </a:tc>
                <a:tc>
                  <a:txBody>
                    <a:bodyPr/>
                    <a:lstStyle/>
                    <a:p>
                      <a:r>
                        <a:rPr lang="en-US" sz="1200" dirty="0"/>
                        <a:t>3</a:t>
                      </a:r>
                    </a:p>
                  </a:txBody>
                  <a:tcPr/>
                </a:tc>
                <a:tc>
                  <a:txBody>
                    <a:bodyPr/>
                    <a:lstStyle/>
                    <a:p>
                      <a:r>
                        <a:rPr lang="en-US" sz="1200" dirty="0"/>
                        <a:t>5</a:t>
                      </a:r>
                    </a:p>
                  </a:txBody>
                  <a:tcPr/>
                </a:tc>
                <a:tc>
                  <a:txBody>
                    <a:bodyPr/>
                    <a:lstStyle/>
                    <a:p>
                      <a:r>
                        <a:rPr lang="en-US" sz="1200" dirty="0"/>
                        <a:t>7</a:t>
                      </a:r>
                    </a:p>
                  </a:txBody>
                  <a:tcPr/>
                </a:tc>
                <a:tc>
                  <a:txBody>
                    <a:bodyPr/>
                    <a:lstStyle/>
                    <a:p>
                      <a:r>
                        <a:rPr lang="en-US" sz="1200" dirty="0"/>
                        <a:t>10</a:t>
                      </a:r>
                    </a:p>
                  </a:txBody>
                  <a:tcPr/>
                </a:tc>
                <a:tc>
                  <a:txBody>
                    <a:bodyPr/>
                    <a:lstStyle/>
                    <a:p>
                      <a:r>
                        <a:rPr lang="en-US" sz="1200" dirty="0"/>
                        <a:t>5</a:t>
                      </a:r>
                    </a:p>
                  </a:txBody>
                  <a:tcPr/>
                </a:tc>
                <a:extLst>
                  <a:ext uri="{0D108BD9-81ED-4DB2-BD59-A6C34878D82A}">
                    <a16:rowId xmlns:a16="http://schemas.microsoft.com/office/drawing/2014/main" val="1090935046"/>
                  </a:ext>
                </a:extLst>
              </a:tr>
            </a:tbl>
          </a:graphicData>
        </a:graphic>
      </p:graphicFrame>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A003C022-7104-4E20-BAAC-367F4387BF1F}"/>
                  </a:ext>
                </a:extLst>
              </p:cNvPr>
              <p:cNvSpPr txBox="1"/>
              <p:nvPr/>
            </p:nvSpPr>
            <p:spPr>
              <a:xfrm>
                <a:off x="6795849" y="5593151"/>
                <a:ext cx="1774825" cy="569913"/>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0">
                                      <a:solidFill>
                                        <a:srgbClr val="000000"/>
                                      </a:solidFill>
                                      <a:latin typeface="Cambria Math" panose="02040503050406030204" pitchFamily="18" charset="0"/>
                                    </a:rPr>
                                    <m:t> </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oMath>
                  </m:oMathPara>
                </a14:m>
                <a:endParaRPr lang="en-US" dirty="0"/>
              </a:p>
            </p:txBody>
          </p:sp>
        </mc:Choice>
        <mc:Fallback xmlns="">
          <p:sp>
            <p:nvSpPr>
              <p:cNvPr id="9" name="Object 8">
                <a:extLst>
                  <a:ext uri="{FF2B5EF4-FFF2-40B4-BE49-F238E27FC236}">
                    <a16:creationId xmlns:a16="http://schemas.microsoft.com/office/drawing/2014/main" id="{A003C022-7104-4E20-BAAC-367F4387BF1F}"/>
                  </a:ext>
                </a:extLst>
              </p:cNvPr>
              <p:cNvSpPr txBox="1">
                <a:spLocks noRot="1" noChangeAspect="1" noMove="1" noResize="1" noEditPoints="1" noAdjustHandles="1" noChangeArrowheads="1" noChangeShapeType="1" noTextEdit="1"/>
              </p:cNvSpPr>
              <p:nvPr/>
            </p:nvSpPr>
            <p:spPr>
              <a:xfrm>
                <a:off x="6795849" y="5593151"/>
                <a:ext cx="1774825" cy="569913"/>
              </a:xfrm>
              <a:prstGeom prst="rect">
                <a:avLst/>
              </a:prstGeom>
              <a:blipFill>
                <a:blip r:embed="rId5"/>
                <a:stretch>
                  <a:fillRect t="-78495" b="-123656"/>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770DCDF1-9690-4AF6-8564-9140564D34A5}"/>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95715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2862D0-A411-4474-8134-772868CC85D1}"/>
              </a:ext>
            </a:extLst>
          </p:cNvPr>
          <p:cNvSpPr>
            <a:spLocks noGrp="1"/>
          </p:cNvSpPr>
          <p:nvPr>
            <p:ph sz="half" idx="2"/>
          </p:nvPr>
        </p:nvSpPr>
        <p:spPr>
          <a:xfrm>
            <a:off x="6370319" y="621101"/>
            <a:ext cx="5312723" cy="5779697"/>
          </a:xfrm>
        </p:spPr>
        <p:txBody>
          <a:bodyPr>
            <a:normAutofit/>
          </a:bodyPr>
          <a:lstStyle/>
          <a:p>
            <a:pPr marL="0" indent="0">
              <a:buNone/>
            </a:pPr>
            <a:r>
              <a:rPr lang="en-US" sz="1200" b="1" dirty="0"/>
              <a:t>Computing S.D. in grouped frequency distribution</a:t>
            </a:r>
          </a:p>
          <a:p>
            <a:pPr marL="0" indent="0">
              <a:buNone/>
            </a:pPr>
            <a:r>
              <a:rPr lang="en-US" sz="1200" dirty="0"/>
              <a:t>Example 3: The CEO of an IT company wants to study the pattern of absenteeism of employees over a given year. The data from the files of a sample of 50 employees shows the following distribution of number days of these employees were absent.</a:t>
            </a:r>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Compute standard deviation of the distribution</a:t>
            </a:r>
          </a:p>
          <a:p>
            <a:pPr marL="0" indent="0">
              <a:buNone/>
            </a:pPr>
            <a:r>
              <a:rPr lang="en-US" sz="1200" b="1" dirty="0"/>
              <a:t>Solution</a:t>
            </a:r>
            <a:r>
              <a:rPr lang="en-US" sz="1200" dirty="0"/>
              <a:t>:</a:t>
            </a:r>
          </a:p>
          <a:p>
            <a:pPr marL="0" indent="0">
              <a:buNone/>
            </a:pPr>
            <a:r>
              <a:rPr lang="en-US" sz="1200" dirty="0"/>
              <a:t>The variable (X) = No. of days employee of company remain absent</a:t>
            </a:r>
          </a:p>
          <a:p>
            <a:pPr marL="0" indent="0">
              <a:buNone/>
            </a:pPr>
            <a:r>
              <a:rPr lang="en-US" sz="1200" dirty="0"/>
              <a:t>Frequency (f) = No. of students</a:t>
            </a:r>
          </a:p>
          <a:p>
            <a:pPr marL="0" indent="0">
              <a:buNone/>
            </a:pPr>
            <a:r>
              <a:rPr lang="en-US" sz="1200" dirty="0"/>
              <a:t>First we calculate mean of the distribution and then S.D.</a:t>
            </a:r>
          </a:p>
          <a:p>
            <a:pPr marL="0" indent="0">
              <a:buNone/>
            </a:pPr>
            <a:r>
              <a:rPr lang="en-US" sz="1200" b="1" dirty="0"/>
              <a:t>Computation table</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b="1" dirty="0"/>
          </a:p>
        </p:txBody>
      </p:sp>
      <p:sp>
        <p:nvSpPr>
          <p:cNvPr id="7" name="Content Placeholder 6">
            <a:extLst>
              <a:ext uri="{FF2B5EF4-FFF2-40B4-BE49-F238E27FC236}">
                <a16:creationId xmlns:a16="http://schemas.microsoft.com/office/drawing/2014/main" id="{61A5B1BE-2C10-4533-8CC8-AD15D681D67A}"/>
              </a:ext>
            </a:extLst>
          </p:cNvPr>
          <p:cNvSpPr>
            <a:spLocks noGrp="1"/>
          </p:cNvSpPr>
          <p:nvPr>
            <p:ph sz="half" idx="1"/>
          </p:nvPr>
        </p:nvSpPr>
        <p:spPr>
          <a:xfrm>
            <a:off x="612475" y="621101"/>
            <a:ext cx="5312723" cy="5231059"/>
          </a:xfrm>
        </p:spPr>
        <p:txBody>
          <a:bodyPr/>
          <a:lstStyle/>
          <a:p>
            <a:pPr marL="0" indent="0">
              <a:buNone/>
            </a:pPr>
            <a:r>
              <a:rPr lang="en-US" sz="1200" dirty="0"/>
              <a:t>Table</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r>
              <a:rPr lang="en-US" sz="1200" dirty="0"/>
              <a:t>Sample mean is given by</a:t>
            </a:r>
          </a:p>
          <a:p>
            <a:pPr marL="0" indent="0">
              <a:buNone/>
            </a:pPr>
            <a:r>
              <a:rPr lang="en-US" sz="1200" dirty="0"/>
              <a:t>  </a:t>
            </a:r>
          </a:p>
          <a:p>
            <a:pPr marL="0" indent="0">
              <a:buNone/>
            </a:pPr>
            <a:endParaRPr lang="en-US" sz="1200" dirty="0"/>
          </a:p>
          <a:p>
            <a:pPr marL="0" indent="0">
              <a:buNone/>
            </a:pPr>
            <a:r>
              <a:rPr lang="en-US" sz="1200" dirty="0"/>
              <a:t>Sample SD is given by</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dirty="0"/>
          </a:p>
        </p:txBody>
      </p:sp>
      <p:graphicFrame>
        <p:nvGraphicFramePr>
          <p:cNvPr id="9" name="Content Placeholder 4">
            <a:extLst>
              <a:ext uri="{FF2B5EF4-FFF2-40B4-BE49-F238E27FC236}">
                <a16:creationId xmlns:a16="http://schemas.microsoft.com/office/drawing/2014/main" id="{7C6E0A42-50CA-4711-A670-111E473807B0}"/>
              </a:ext>
            </a:extLst>
          </p:cNvPr>
          <p:cNvGraphicFramePr>
            <a:graphicFrameLocks noChangeAspect="1"/>
          </p:cNvGraphicFramePr>
          <p:nvPr>
            <p:extLst>
              <p:ext uri="{D42A27DB-BD31-4B8C-83A1-F6EECF244321}">
                <p14:modId xmlns:p14="http://schemas.microsoft.com/office/powerpoint/2010/main" val="2987522987"/>
              </p:ext>
            </p:extLst>
          </p:nvPr>
        </p:nvGraphicFramePr>
        <p:xfrm>
          <a:off x="679450" y="1006475"/>
          <a:ext cx="5427663" cy="977900"/>
        </p:xfrm>
        <a:graphic>
          <a:graphicData uri="http://schemas.openxmlformats.org/presentationml/2006/ole">
            <mc:AlternateContent xmlns:mc="http://schemas.openxmlformats.org/markup-compatibility/2006">
              <mc:Choice xmlns:v="urn:schemas-microsoft-com:vml" Requires="v">
                <p:oleObj name="Worksheet" r:id="rId2" imgW="4514874" imgH="771525" progId="Excel.Sheet.12">
                  <p:embed/>
                </p:oleObj>
              </mc:Choice>
              <mc:Fallback>
                <p:oleObj name="Worksheet" r:id="rId2" imgW="4514874" imgH="771525" progId="Excel.Sheet.12">
                  <p:embed/>
                  <p:pic>
                    <p:nvPicPr>
                      <p:cNvPr id="5" name="Content Placeholder 4">
                        <a:extLst>
                          <a:ext uri="{FF2B5EF4-FFF2-40B4-BE49-F238E27FC236}">
                            <a16:creationId xmlns:a16="http://schemas.microsoft.com/office/drawing/2014/main" id="{0714DE7B-94E2-46EB-AF3B-D0ED4501FFF8}"/>
                          </a:ext>
                        </a:extLst>
                      </p:cNvPr>
                      <p:cNvPicPr/>
                      <p:nvPr/>
                    </p:nvPicPr>
                    <p:blipFill>
                      <a:blip r:embed="rId3"/>
                      <a:stretch>
                        <a:fillRect/>
                      </a:stretch>
                    </p:blipFill>
                    <p:spPr>
                      <a:xfrm>
                        <a:off x="679450" y="1006475"/>
                        <a:ext cx="5427663" cy="9779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ABCD10E6-5852-4E2D-AC75-CAEFFED7A526}"/>
                  </a:ext>
                </a:extLst>
              </p:cNvPr>
              <p:cNvSpPr txBox="1"/>
              <p:nvPr/>
            </p:nvSpPr>
            <p:spPr>
              <a:xfrm>
                <a:off x="797794" y="3856157"/>
                <a:ext cx="4823778" cy="733095"/>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𝑋</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30−1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371−30∗3.</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3</m:t>
                                  </m:r>
                                </m:e>
                                <m:sup>
                                  <m:r>
                                    <a:rPr lang="en-US" i="1">
                                      <a:solidFill>
                                        <a:srgbClr val="000000"/>
                                      </a:solidFill>
                                      <a:latin typeface="Cambria Math" panose="02040503050406030204" pitchFamily="18" charset="0"/>
                                    </a:rPr>
                                    <m:t>2</m:t>
                                  </m:r>
                                </m:sup>
                              </m:sSup>
                            </m:e>
                          </m:d>
                        </m:e>
                      </m:rad>
                      <m:r>
                        <a:rPr lang="en-US" i="1">
                          <a:solidFill>
                            <a:srgbClr val="000000"/>
                          </a:solidFill>
                          <a:latin typeface="Cambria Math" panose="02040503050406030204" pitchFamily="18" charset="0"/>
                        </a:rPr>
                        <m:t>=1.24</m:t>
                      </m:r>
                    </m:oMath>
                  </m:oMathPara>
                </a14:m>
                <a:endParaRPr lang="en-US" dirty="0"/>
              </a:p>
            </p:txBody>
          </p:sp>
        </mc:Choice>
        <mc:Fallback xmlns="">
          <p:sp>
            <p:nvSpPr>
              <p:cNvPr id="10" name="Object 9">
                <a:extLst>
                  <a:ext uri="{FF2B5EF4-FFF2-40B4-BE49-F238E27FC236}">
                    <a16:creationId xmlns:a16="http://schemas.microsoft.com/office/drawing/2014/main" id="{ABCD10E6-5852-4E2D-AC75-CAEFFED7A526}"/>
                  </a:ext>
                </a:extLst>
              </p:cNvPr>
              <p:cNvSpPr txBox="1">
                <a:spLocks noRot="1" noChangeAspect="1" noMove="1" noResize="1" noEditPoints="1" noAdjustHandles="1" noChangeArrowheads="1" noChangeShapeType="1" noTextEdit="1"/>
              </p:cNvSpPr>
              <p:nvPr/>
            </p:nvSpPr>
            <p:spPr>
              <a:xfrm>
                <a:off x="797794" y="3856157"/>
                <a:ext cx="4823778" cy="73309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AD4FC283-7793-4575-A906-77CD3E23B7C5}"/>
                  </a:ext>
                </a:extLst>
              </p:cNvPr>
              <p:cNvSpPr txBox="1"/>
              <p:nvPr/>
            </p:nvSpPr>
            <p:spPr>
              <a:xfrm>
                <a:off x="965320" y="2691860"/>
                <a:ext cx="1700242" cy="535735"/>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𝑋</m:t>
                              </m:r>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99</m:t>
                          </m:r>
                        </m:num>
                        <m:den>
                          <m:r>
                            <a:rPr lang="en-US" i="1">
                              <a:solidFill>
                                <a:srgbClr val="000000"/>
                              </a:solidFill>
                              <a:latin typeface="Cambria Math" panose="02040503050406030204" pitchFamily="18" charset="0"/>
                            </a:rPr>
                            <m:t>30</m:t>
                          </m:r>
                        </m:den>
                      </m:f>
                      <m:r>
                        <a:rPr lang="en-US" i="1">
                          <a:solidFill>
                            <a:srgbClr val="000000"/>
                          </a:solidFill>
                          <a:latin typeface="Cambria Math" panose="02040503050406030204" pitchFamily="18" charset="0"/>
                        </a:rPr>
                        <m:t>=3.3</m:t>
                      </m:r>
                    </m:oMath>
                  </m:oMathPara>
                </a14:m>
                <a:endParaRPr lang="en-US"/>
              </a:p>
            </p:txBody>
          </p:sp>
        </mc:Choice>
        <mc:Fallback xmlns="">
          <p:sp>
            <p:nvSpPr>
              <p:cNvPr id="11" name="Object 10">
                <a:extLst>
                  <a:ext uri="{FF2B5EF4-FFF2-40B4-BE49-F238E27FC236}">
                    <a16:creationId xmlns:a16="http://schemas.microsoft.com/office/drawing/2014/main" id="{AD4FC283-7793-4575-A906-77CD3E23B7C5}"/>
                  </a:ext>
                </a:extLst>
              </p:cNvPr>
              <p:cNvSpPr txBox="1">
                <a:spLocks noRot="1" noChangeAspect="1" noMove="1" noResize="1" noEditPoints="1" noAdjustHandles="1" noChangeArrowheads="1" noChangeShapeType="1" noTextEdit="1"/>
              </p:cNvSpPr>
              <p:nvPr/>
            </p:nvSpPr>
            <p:spPr>
              <a:xfrm>
                <a:off x="965320" y="2691860"/>
                <a:ext cx="1700242" cy="535735"/>
              </a:xfrm>
              <a:prstGeom prst="rect">
                <a:avLst/>
              </a:prstGeom>
              <a:blipFill>
                <a:blip r:embed="rId6"/>
                <a:stretch>
                  <a:fillRect t="-47126" b="-22989"/>
                </a:stretch>
              </a:blipFill>
            </p:spPr>
            <p:txBody>
              <a:bodyPr/>
              <a:lstStyle/>
              <a:p>
                <a:r>
                  <a:rPr lang="en-US">
                    <a:noFill/>
                  </a:rPr>
                  <a:t> </a:t>
                </a:r>
              </a:p>
            </p:txBody>
          </p:sp>
        </mc:Fallback>
      </mc:AlternateContent>
      <p:graphicFrame>
        <p:nvGraphicFramePr>
          <p:cNvPr id="16" name="Table 15">
            <a:extLst>
              <a:ext uri="{FF2B5EF4-FFF2-40B4-BE49-F238E27FC236}">
                <a16:creationId xmlns:a16="http://schemas.microsoft.com/office/drawing/2014/main" id="{91827232-48E9-44AF-A142-FA329D41D3D7}"/>
              </a:ext>
            </a:extLst>
          </p:cNvPr>
          <p:cNvGraphicFramePr>
            <a:graphicFrameLocks noGrp="1"/>
          </p:cNvGraphicFramePr>
          <p:nvPr>
            <p:extLst>
              <p:ext uri="{D42A27DB-BD31-4B8C-83A1-F6EECF244321}">
                <p14:modId xmlns:p14="http://schemas.microsoft.com/office/powerpoint/2010/main" val="2556606653"/>
              </p:ext>
            </p:extLst>
          </p:nvPr>
        </p:nvGraphicFramePr>
        <p:xfrm>
          <a:off x="6475563" y="1740182"/>
          <a:ext cx="5303515" cy="839116"/>
        </p:xfrm>
        <a:graphic>
          <a:graphicData uri="http://schemas.openxmlformats.org/drawingml/2006/table">
            <a:tbl>
              <a:tblPr firstRow="1" firstCol="1" bandRow="1">
                <a:tableStyleId>{3B4B98B0-60AC-42C2-AFA5-B58CD77FA1E5}</a:tableStyleId>
              </a:tblPr>
              <a:tblGrid>
                <a:gridCol w="1055297">
                  <a:extLst>
                    <a:ext uri="{9D8B030D-6E8A-4147-A177-3AD203B41FA5}">
                      <a16:colId xmlns:a16="http://schemas.microsoft.com/office/drawing/2014/main" val="2501750971"/>
                    </a:ext>
                  </a:extLst>
                </a:gridCol>
                <a:gridCol w="595223">
                  <a:extLst>
                    <a:ext uri="{9D8B030D-6E8A-4147-A177-3AD203B41FA5}">
                      <a16:colId xmlns:a16="http://schemas.microsoft.com/office/drawing/2014/main" val="3669660010"/>
                    </a:ext>
                  </a:extLst>
                </a:gridCol>
                <a:gridCol w="622415">
                  <a:extLst>
                    <a:ext uri="{9D8B030D-6E8A-4147-A177-3AD203B41FA5}">
                      <a16:colId xmlns:a16="http://schemas.microsoft.com/office/drawing/2014/main" val="2266119228"/>
                    </a:ext>
                  </a:extLst>
                </a:gridCol>
                <a:gridCol w="757645">
                  <a:extLst>
                    <a:ext uri="{9D8B030D-6E8A-4147-A177-3AD203B41FA5}">
                      <a16:colId xmlns:a16="http://schemas.microsoft.com/office/drawing/2014/main" val="22533232"/>
                    </a:ext>
                  </a:extLst>
                </a:gridCol>
                <a:gridCol w="757645">
                  <a:extLst>
                    <a:ext uri="{9D8B030D-6E8A-4147-A177-3AD203B41FA5}">
                      <a16:colId xmlns:a16="http://schemas.microsoft.com/office/drawing/2014/main" val="1872765619"/>
                    </a:ext>
                  </a:extLst>
                </a:gridCol>
                <a:gridCol w="757645">
                  <a:extLst>
                    <a:ext uri="{9D8B030D-6E8A-4147-A177-3AD203B41FA5}">
                      <a16:colId xmlns:a16="http://schemas.microsoft.com/office/drawing/2014/main" val="2689442264"/>
                    </a:ext>
                  </a:extLst>
                </a:gridCol>
                <a:gridCol w="757645">
                  <a:extLst>
                    <a:ext uri="{9D8B030D-6E8A-4147-A177-3AD203B41FA5}">
                      <a16:colId xmlns:a16="http://schemas.microsoft.com/office/drawing/2014/main" val="942881294"/>
                    </a:ext>
                  </a:extLst>
                </a:gridCol>
              </a:tblGrid>
              <a:tr h="419558">
                <a:tc>
                  <a:txBody>
                    <a:bodyPr/>
                    <a:lstStyle/>
                    <a:p>
                      <a:pPr marL="0" marR="0">
                        <a:lnSpc>
                          <a:spcPct val="107000"/>
                        </a:lnSpc>
                        <a:spcBef>
                          <a:spcPts val="0"/>
                        </a:spcBef>
                        <a:spcAft>
                          <a:spcPts val="0"/>
                        </a:spcAft>
                      </a:pPr>
                      <a:r>
                        <a:rPr lang="en-GB" sz="1200" dirty="0">
                          <a:effectLst/>
                        </a:rPr>
                        <a:t>No. of days absent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dirty="0">
                          <a:effectLst/>
                        </a:rPr>
                        <a:t>0 to 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dirty="0">
                          <a:effectLst/>
                        </a:rPr>
                        <a:t>3 to 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dirty="0">
                          <a:effectLst/>
                        </a:rPr>
                        <a:t>6 to 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a:effectLst/>
                        </a:rPr>
                        <a:t>9 to 11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a:effectLst/>
                        </a:rPr>
                        <a:t>12 to 14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1200">
                          <a:effectLst/>
                        </a:rPr>
                        <a:t>Total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1472063"/>
                  </a:ext>
                </a:extLst>
              </a:tr>
              <a:tr h="419558">
                <a:tc>
                  <a:txBody>
                    <a:bodyPr/>
                    <a:lstStyle/>
                    <a:p>
                      <a:pPr marL="0" marR="0">
                        <a:lnSpc>
                          <a:spcPct val="107000"/>
                        </a:lnSpc>
                        <a:spcBef>
                          <a:spcPts val="0"/>
                        </a:spcBef>
                        <a:spcAft>
                          <a:spcPts val="0"/>
                        </a:spcAft>
                      </a:pPr>
                      <a:r>
                        <a:rPr lang="en-GB" sz="1200" dirty="0">
                          <a:effectLst/>
                        </a:rPr>
                        <a:t>No. of employees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15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8</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200" dirty="0">
                          <a:effectLst/>
                        </a:rPr>
                        <a:t>50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0053609"/>
                  </a:ext>
                </a:extLst>
              </a:tr>
            </a:tbl>
          </a:graphicData>
        </a:graphic>
      </p:graphicFrame>
      <p:graphicFrame>
        <p:nvGraphicFramePr>
          <p:cNvPr id="19" name="Object 18">
            <a:extLst>
              <a:ext uri="{FF2B5EF4-FFF2-40B4-BE49-F238E27FC236}">
                <a16:creationId xmlns:a16="http://schemas.microsoft.com/office/drawing/2014/main" id="{3C1C94F1-025A-4D51-95C7-564BC6380436}"/>
              </a:ext>
            </a:extLst>
          </p:cNvPr>
          <p:cNvGraphicFramePr>
            <a:graphicFrameLocks noChangeAspect="1"/>
          </p:cNvGraphicFramePr>
          <p:nvPr>
            <p:extLst>
              <p:ext uri="{D42A27DB-BD31-4B8C-83A1-F6EECF244321}">
                <p14:modId xmlns:p14="http://schemas.microsoft.com/office/powerpoint/2010/main" val="3941637668"/>
              </p:ext>
            </p:extLst>
          </p:nvPr>
        </p:nvGraphicFramePr>
        <p:xfrm>
          <a:off x="6569075" y="4489450"/>
          <a:ext cx="5113967" cy="1482372"/>
        </p:xfrm>
        <a:graphic>
          <a:graphicData uri="http://schemas.openxmlformats.org/presentationml/2006/ole">
            <mc:AlternateContent xmlns:mc="http://schemas.openxmlformats.org/markup-compatibility/2006">
              <mc:Choice xmlns:v="urn:schemas-microsoft-com:vml" Requires="v">
                <p:oleObj name="Worksheet" r:id="rId7" imgW="4276785" imgH="1152681" progId="Excel.Sheet.12">
                  <p:embed/>
                </p:oleObj>
              </mc:Choice>
              <mc:Fallback>
                <p:oleObj name="Worksheet" r:id="rId7" imgW="4276785" imgH="1152681" progId="Excel.Sheet.12">
                  <p:embed/>
                  <p:pic>
                    <p:nvPicPr>
                      <p:cNvPr id="0" name=""/>
                      <p:cNvPicPr/>
                      <p:nvPr/>
                    </p:nvPicPr>
                    <p:blipFill>
                      <a:blip r:embed="rId8"/>
                      <a:stretch>
                        <a:fillRect/>
                      </a:stretch>
                    </p:blipFill>
                    <p:spPr>
                      <a:xfrm>
                        <a:off x="6569075" y="4489450"/>
                        <a:ext cx="5113967" cy="1482372"/>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8764ACB9-0ABA-4EA1-A89F-955F60ECEB3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02385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DB316-D252-4478-B912-8218479F1698}"/>
              </a:ext>
            </a:extLst>
          </p:cNvPr>
          <p:cNvSpPr>
            <a:spLocks noGrp="1"/>
          </p:cNvSpPr>
          <p:nvPr>
            <p:ph sz="half" idx="1"/>
          </p:nvPr>
        </p:nvSpPr>
        <p:spPr>
          <a:xfrm>
            <a:off x="603849" y="664233"/>
            <a:ext cx="5217831" cy="5624423"/>
          </a:xfrm>
        </p:spPr>
        <p:txBody>
          <a:bodyPr/>
          <a:lstStyle/>
          <a:p>
            <a:pPr marL="0" indent="0">
              <a:buNone/>
            </a:pPr>
            <a:r>
              <a:rPr lang="en-US" sz="1200" dirty="0"/>
              <a:t>The mean of the distribution is</a:t>
            </a:r>
          </a:p>
          <a:p>
            <a:pPr marL="0" indent="0">
              <a:buNone/>
            </a:pPr>
            <a:r>
              <a:rPr lang="en-US" sz="1200" dirty="0"/>
              <a:t>                               </a:t>
            </a:r>
          </a:p>
          <a:p>
            <a:pPr marL="0" indent="0">
              <a:buNone/>
            </a:pPr>
            <a:r>
              <a:rPr lang="en-US" sz="1200" dirty="0"/>
              <a:t>			</a:t>
            </a:r>
          </a:p>
          <a:p>
            <a:pPr marL="0" indent="0">
              <a:buNone/>
            </a:pPr>
            <a:r>
              <a:rPr lang="en-US" sz="1200" dirty="0"/>
              <a:t>Now the SD of this distribution is</a:t>
            </a:r>
          </a:p>
          <a:p>
            <a:pPr marL="0" indent="0">
              <a:buNone/>
            </a:pPr>
            <a:endParaRPr lang="en-US" dirty="0"/>
          </a:p>
          <a:p>
            <a:pPr marL="0" indent="0">
              <a:buNone/>
            </a:pPr>
            <a:endParaRPr lang="en-US" dirty="0"/>
          </a:p>
          <a:p>
            <a:pPr marL="0" indent="0">
              <a:buNone/>
            </a:pPr>
            <a:r>
              <a:rPr lang="en-US" sz="1200" dirty="0"/>
              <a:t>Hence, the distribution of number of days of absent has mean of 4.54 days and standard deviation of 3.3 days. </a:t>
            </a:r>
          </a:p>
          <a:p>
            <a:pPr marL="0" indent="0">
              <a:buNone/>
            </a:pPr>
            <a:endParaRPr lang="en-US" dirty="0"/>
          </a:p>
        </p:txBody>
      </p:sp>
      <p:sp>
        <p:nvSpPr>
          <p:cNvPr id="4" name="Content Placeholder 3">
            <a:extLst>
              <a:ext uri="{FF2B5EF4-FFF2-40B4-BE49-F238E27FC236}">
                <a16:creationId xmlns:a16="http://schemas.microsoft.com/office/drawing/2014/main" id="{342A84C1-FA71-4FCA-89B9-8E921F00D53E}"/>
              </a:ext>
            </a:extLst>
          </p:cNvPr>
          <p:cNvSpPr>
            <a:spLocks noGrp="1"/>
          </p:cNvSpPr>
          <p:nvPr>
            <p:ph sz="half" idx="2"/>
          </p:nvPr>
        </p:nvSpPr>
        <p:spPr>
          <a:xfrm>
            <a:off x="6370320" y="664233"/>
            <a:ext cx="4754880" cy="5624423"/>
          </a:xfrm>
        </p:spPr>
        <p:txBody>
          <a:bodyPr/>
          <a:lstStyle/>
          <a:p>
            <a:pPr marL="0" indent="0">
              <a:buNone/>
            </a:pPr>
            <a:r>
              <a:rPr lang="en-US" b="1" dirty="0"/>
              <a:t>Properties of S.D.</a:t>
            </a:r>
          </a:p>
          <a:p>
            <a:pPr marL="342900" indent="-342900">
              <a:buAutoNum type="arabicPeriod"/>
            </a:pPr>
            <a:r>
              <a:rPr lang="en-US" sz="1800" dirty="0">
                <a:effectLst/>
                <a:latin typeface="Calibri" panose="020F0502020204030204" pitchFamily="34" charset="0"/>
                <a:ea typeface="Times New Roman" panose="02020603050405020304" pitchFamily="18" charset="0"/>
              </a:rPr>
              <a:t>The standard deviation (or variance) is better measure of variation in the data because the measures take into account of every observation in the data set. </a:t>
            </a:r>
          </a:p>
          <a:p>
            <a:pPr marL="342900" indent="-342900">
              <a:buAutoNum type="arabicPeriod"/>
            </a:pPr>
            <a:r>
              <a:rPr lang="en-US" sz="1800" dirty="0">
                <a:effectLst/>
                <a:latin typeface="Calibri" panose="020F0502020204030204" pitchFamily="34" charset="0"/>
                <a:ea typeface="Times New Roman" panose="02020603050405020304" pitchFamily="18" charset="0"/>
              </a:rPr>
              <a:t>It is best and powerful measure of variation. </a:t>
            </a:r>
          </a:p>
          <a:p>
            <a:pPr marL="342900" indent="-342900">
              <a:buAutoNum type="arabicPeriod"/>
            </a:pPr>
            <a:r>
              <a:rPr lang="en-US" sz="1800" dirty="0">
                <a:effectLst/>
                <a:latin typeface="Calibri" panose="020F0502020204030204" pitchFamily="34" charset="0"/>
                <a:ea typeface="Times New Roman" panose="02020603050405020304" pitchFamily="18" charset="0"/>
              </a:rPr>
              <a:t>It is least affected by sampling fluctuations. </a:t>
            </a:r>
          </a:p>
          <a:p>
            <a:pPr marL="342900" indent="-342900">
              <a:buAutoNum type="arabicPeriod"/>
            </a:pPr>
            <a:r>
              <a:rPr lang="en-US" dirty="0">
                <a:latin typeface="Calibri" panose="020F0502020204030204" pitchFamily="34" charset="0"/>
                <a:ea typeface="Times New Roman" panose="02020603050405020304" pitchFamily="18" charset="0"/>
              </a:rPr>
              <a:t>I</a:t>
            </a:r>
            <a:r>
              <a:rPr lang="en-US" sz="1800" dirty="0">
                <a:effectLst/>
                <a:latin typeface="Calibri" panose="020F0502020204030204" pitchFamily="34" charset="0"/>
                <a:ea typeface="Times New Roman" panose="02020603050405020304" pitchFamily="18" charset="0"/>
              </a:rPr>
              <a:t>t gives greater weight to the extreme values and less to those which are near the mean. It is unduly affected by extreme observations.</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7E0B2458-88A2-40A7-93A7-6A38C34249E0}"/>
                  </a:ext>
                </a:extLst>
              </p:cNvPr>
              <p:cNvSpPr txBox="1"/>
              <p:nvPr/>
            </p:nvSpPr>
            <p:spPr>
              <a:xfrm>
                <a:off x="1022350" y="1000813"/>
                <a:ext cx="1625600" cy="526061"/>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𝑚</m:t>
                              </m:r>
                            </m:e>
                          </m:nary>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227</m:t>
                          </m:r>
                        </m:num>
                        <m:den>
                          <m:r>
                            <a:rPr lang="en-US" i="1">
                              <a:solidFill>
                                <a:srgbClr val="000000"/>
                              </a:solidFill>
                              <a:latin typeface="Cambria Math" panose="02040503050406030204" pitchFamily="18" charset="0"/>
                            </a:rPr>
                            <m:t>50</m:t>
                          </m:r>
                        </m:den>
                      </m:f>
                      <m:r>
                        <a:rPr lang="en-US" i="1">
                          <a:solidFill>
                            <a:srgbClr val="000000"/>
                          </a:solidFill>
                          <a:latin typeface="Cambria Math" panose="02040503050406030204" pitchFamily="18" charset="0"/>
                        </a:rPr>
                        <m:t>=4.54</m:t>
                      </m:r>
                    </m:oMath>
                  </m:oMathPara>
                </a14:m>
                <a:endParaRPr lang="en-US" dirty="0"/>
              </a:p>
            </p:txBody>
          </p:sp>
        </mc:Choice>
        <mc:Fallback xmlns="">
          <p:sp>
            <p:nvSpPr>
              <p:cNvPr id="5" name="Object 4">
                <a:extLst>
                  <a:ext uri="{FF2B5EF4-FFF2-40B4-BE49-F238E27FC236}">
                    <a16:creationId xmlns:a16="http://schemas.microsoft.com/office/drawing/2014/main" id="{7E0B2458-88A2-40A7-93A7-6A38C34249E0}"/>
                  </a:ext>
                </a:extLst>
              </p:cNvPr>
              <p:cNvSpPr txBox="1">
                <a:spLocks noRot="1" noChangeAspect="1" noMove="1" noResize="1" noEditPoints="1" noAdjustHandles="1" noChangeArrowheads="1" noChangeShapeType="1" noTextEdit="1"/>
              </p:cNvSpPr>
              <p:nvPr/>
            </p:nvSpPr>
            <p:spPr>
              <a:xfrm>
                <a:off x="1022350" y="1000813"/>
                <a:ext cx="1625600" cy="526061"/>
              </a:xfrm>
              <a:prstGeom prst="rect">
                <a:avLst/>
              </a:prstGeom>
              <a:blipFill>
                <a:blip r:embed="rId2"/>
                <a:stretch>
                  <a:fillRect t="-43023" b="-12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D6B2CBD1-F762-4624-97B2-7C8B5B2FCD9E}"/>
                  </a:ext>
                </a:extLst>
              </p:cNvPr>
              <p:cNvSpPr txBox="1"/>
              <p:nvPr/>
            </p:nvSpPr>
            <p:spPr>
              <a:xfrm>
                <a:off x="885824" y="1976437"/>
                <a:ext cx="4465403" cy="654619"/>
              </a:xfrm>
              <a:prstGeom prst="rect">
                <a:avLst/>
              </a:prstGeom>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𝑠</m:t>
                      </m:r>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r>
                                    <a:rPr lang="en-US" i="1">
                                      <a:solidFill>
                                        <a:srgbClr val="000000"/>
                                      </a:solidFill>
                                      <a:latin typeface="Cambria Math" panose="02040503050406030204" pitchFamily="18" charset="0"/>
                                    </a:rPr>
                                    <m:t>𝑓</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𝑚</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sSup>
                                    <m:sSupPr>
                                      <m:ctrlPr>
                                        <a:rPr lang="en-US" i="1">
                                          <a:solidFill>
                                            <a:srgbClr val="000000"/>
                                          </a:solidFill>
                                          <a:latin typeface="Cambria Math" panose="02040503050406030204" pitchFamily="18" charset="0"/>
                                        </a:rPr>
                                      </m:ctrlPr>
                                    </m:s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p>
                                      <m:r>
                                        <a:rPr lang="en-US" i="1">
                                          <a:solidFill>
                                            <a:srgbClr val="000000"/>
                                          </a:solidFill>
                                          <a:latin typeface="Cambria Math" panose="02040503050406030204" pitchFamily="18" charset="0"/>
                                        </a:rPr>
                                        <m:t>2</m:t>
                                      </m:r>
                                    </m:sup>
                                  </m:sSup>
                                </m:e>
                              </m:nary>
                            </m:e>
                          </m:d>
                        </m:e>
                      </m:rad>
                      <m: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50−1</m:t>
                              </m:r>
                            </m:den>
                          </m:f>
                          <m:r>
                            <a:rPr lang="en-US" i="0">
                              <a:solidFill>
                                <a:srgbClr val="000000"/>
                              </a:solidFill>
                              <a:latin typeface="Cambria Math" panose="02040503050406030204" pitchFamily="18" charset="0"/>
                            </a:rPr>
                            <m:t> </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1565−50∗4.5</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4</m:t>
                                  </m:r>
                                </m:e>
                                <m:sup>
                                  <m:r>
                                    <a:rPr lang="en-US" i="1">
                                      <a:solidFill>
                                        <a:srgbClr val="000000"/>
                                      </a:solidFill>
                                      <a:latin typeface="Cambria Math" panose="02040503050406030204" pitchFamily="18" charset="0"/>
                                    </a:rPr>
                                    <m:t>2</m:t>
                                  </m:r>
                                </m:sup>
                              </m:sSup>
                            </m:e>
                          </m:d>
                        </m:e>
                      </m:rad>
                      <m:r>
                        <a:rPr lang="en-US" i="1">
                          <a:solidFill>
                            <a:srgbClr val="000000"/>
                          </a:solidFill>
                          <a:latin typeface="Cambria Math" panose="02040503050406030204" pitchFamily="18" charset="0"/>
                        </a:rPr>
                        <m:t>=3.3</m:t>
                      </m:r>
                    </m:oMath>
                  </m:oMathPara>
                </a14:m>
                <a:endParaRPr lang="en-US" dirty="0"/>
              </a:p>
            </p:txBody>
          </p:sp>
        </mc:Choice>
        <mc:Fallback xmlns="">
          <p:sp>
            <p:nvSpPr>
              <p:cNvPr id="6" name="Object 5">
                <a:extLst>
                  <a:ext uri="{FF2B5EF4-FFF2-40B4-BE49-F238E27FC236}">
                    <a16:creationId xmlns:a16="http://schemas.microsoft.com/office/drawing/2014/main" id="{D6B2CBD1-F762-4624-97B2-7C8B5B2FCD9E}"/>
                  </a:ext>
                </a:extLst>
              </p:cNvPr>
              <p:cNvSpPr txBox="1">
                <a:spLocks noRot="1" noChangeAspect="1" noMove="1" noResize="1" noEditPoints="1" noAdjustHandles="1" noChangeArrowheads="1" noChangeShapeType="1" noTextEdit="1"/>
              </p:cNvSpPr>
              <p:nvPr/>
            </p:nvSpPr>
            <p:spPr>
              <a:xfrm>
                <a:off x="885824" y="1976437"/>
                <a:ext cx="4465403" cy="654619"/>
              </a:xfrm>
              <a:prstGeom prst="rect">
                <a:avLst/>
              </a:prstGeom>
              <a:blipFill>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D62294FB-C5B2-473A-B2A8-CCD5E62F271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423305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EDAEE-3322-4C41-9AA6-C4F2C7BB57A9}"/>
              </a:ext>
            </a:extLst>
          </p:cNvPr>
          <p:cNvSpPr>
            <a:spLocks noGrp="1"/>
          </p:cNvSpPr>
          <p:nvPr>
            <p:ph type="title"/>
          </p:nvPr>
        </p:nvSpPr>
        <p:spPr>
          <a:xfrm>
            <a:off x="713117" y="456263"/>
            <a:ext cx="10058400" cy="366697"/>
          </a:xfrm>
        </p:spPr>
        <p:txBody>
          <a:bodyPr>
            <a:normAutofit/>
          </a:bodyPr>
          <a:lstStyle/>
          <a:p>
            <a:r>
              <a:rPr lang="en-US" sz="2000" b="1" dirty="0"/>
              <a:t>Uses of standard deviation</a:t>
            </a:r>
          </a:p>
        </p:txBody>
      </p:sp>
      <p:sp>
        <p:nvSpPr>
          <p:cNvPr id="3" name="Content Placeholder 2">
            <a:extLst>
              <a:ext uri="{FF2B5EF4-FFF2-40B4-BE49-F238E27FC236}">
                <a16:creationId xmlns:a16="http://schemas.microsoft.com/office/drawing/2014/main" id="{643C27E9-2340-4DCB-A21D-C61507ED315F}"/>
              </a:ext>
            </a:extLst>
          </p:cNvPr>
          <p:cNvSpPr>
            <a:spLocks noGrp="1"/>
          </p:cNvSpPr>
          <p:nvPr>
            <p:ph idx="1"/>
          </p:nvPr>
        </p:nvSpPr>
        <p:spPr>
          <a:xfrm>
            <a:off x="713117" y="983411"/>
            <a:ext cx="10412083" cy="5339751"/>
          </a:xfrm>
        </p:spPr>
        <p:txBody>
          <a:bodyPr>
            <a:normAutofit fontScale="92500" lnSpcReduction="10000"/>
          </a:bodyPr>
          <a:lstStyle/>
          <a:p>
            <a:pPr marL="342900" indent="-342900">
              <a:buAutoNum type="arabicPeriod"/>
            </a:pPr>
            <a:r>
              <a:rPr lang="en-US" sz="1400" b="1" dirty="0">
                <a:effectLst/>
                <a:latin typeface="+mj-lt"/>
                <a:ea typeface="Times New Roman" panose="02020603050405020304" pitchFamily="18" charset="0"/>
              </a:rPr>
              <a:t>Spread of the data</a:t>
            </a:r>
            <a:r>
              <a:rPr lang="en-US" sz="1400" dirty="0">
                <a:effectLst/>
                <a:latin typeface="+mj-lt"/>
                <a:ea typeface="Times New Roman" panose="02020603050405020304" pitchFamily="18" charset="0"/>
              </a:rPr>
              <a:t>: The standard deviation is useful in describing departure of individual items in a distribution from the mean i.e. the spread of data. If standard deviation or variance of the data set is large, then data are more dispersed from the mean and in this case the mean becomes less representative. </a:t>
            </a:r>
          </a:p>
          <a:p>
            <a:pPr marL="342900" indent="-342900">
              <a:buFont typeface="Garamond" pitchFamily="18" charset="0"/>
              <a:buAutoNum type="arabicPeriod"/>
            </a:pPr>
            <a:r>
              <a:rPr lang="en-US" sz="1400" b="1" dirty="0">
                <a:effectLst/>
                <a:latin typeface="+mj-lt"/>
                <a:ea typeface="Times New Roman" panose="02020603050405020304" pitchFamily="18" charset="0"/>
              </a:rPr>
              <a:t>Comparing consistency of data sets</a:t>
            </a:r>
            <a:r>
              <a:rPr lang="en-US" sz="1400" dirty="0">
                <a:effectLst/>
                <a:latin typeface="+mj-lt"/>
                <a:ea typeface="Times New Roman" panose="02020603050405020304" pitchFamily="18" charset="0"/>
              </a:rPr>
              <a:t>: To check the variability or consistency of two or more samples, we compare their sample standard deviation values. Comparison is possible or sensible when the samples are related or measurements are done on the same variable on different occasions or different group.</a:t>
            </a:r>
            <a:endParaRPr lang="en-US" sz="1400" dirty="0">
              <a:latin typeface="+mj-lt"/>
              <a:ea typeface="Times New Roman" panose="02020603050405020304" pitchFamily="18" charset="0"/>
            </a:endParaRPr>
          </a:p>
          <a:p>
            <a:pPr marL="342900" indent="-342900">
              <a:buFont typeface="Garamond" pitchFamily="18" charset="0"/>
              <a:buAutoNum type="arabicPeriod"/>
            </a:pPr>
            <a:r>
              <a:rPr lang="en-US" sz="1400" b="1" dirty="0">
                <a:latin typeface="+mj-lt"/>
              </a:rPr>
              <a:t>Comparing standard scores or Z scores</a:t>
            </a:r>
            <a:r>
              <a:rPr lang="en-US" sz="1400" dirty="0">
                <a:latin typeface="+mj-lt"/>
              </a:rPr>
              <a:t>: The sample standard scores tell us how many standard deviations a particular sample observation lies below or above the sample mean. The sample standard score is computed by formula:</a:t>
            </a:r>
          </a:p>
          <a:p>
            <a:pPr marL="0" indent="0">
              <a:buNone/>
            </a:pPr>
            <a:endParaRPr lang="en-US" sz="1400" dirty="0">
              <a:latin typeface="+mj-lt"/>
            </a:endParaRPr>
          </a:p>
          <a:p>
            <a:pPr marL="274320" lvl="1" indent="0">
              <a:buNone/>
            </a:pPr>
            <a:r>
              <a:rPr lang="en-US" sz="1200" dirty="0">
                <a:latin typeface="+mj-lt"/>
              </a:rPr>
              <a:t>	</a:t>
            </a:r>
          </a:p>
          <a:p>
            <a:pPr marL="344488" indent="0">
              <a:buNone/>
            </a:pPr>
            <a:r>
              <a:rPr lang="en-US" sz="1400" dirty="0">
                <a:latin typeface="+mj-lt"/>
              </a:rPr>
              <a:t>It measures the deviation of X from the mean  in terms of standard deviations. The standardized variable Z is often used in educational testing, where it is known as a standard score.</a:t>
            </a:r>
          </a:p>
          <a:p>
            <a:pPr marL="0" indent="0">
              <a:buNone/>
            </a:pPr>
            <a:r>
              <a:rPr lang="en-US" sz="1400" b="1" dirty="0">
                <a:effectLst/>
                <a:latin typeface="+mj-lt"/>
                <a:ea typeface="Times New Roman" panose="02020603050405020304" pitchFamily="18" charset="0"/>
              </a:rPr>
              <a:t>4. To know the percentage value in the range</a:t>
            </a:r>
            <a:r>
              <a:rPr lang="en-US" sz="1400" dirty="0">
                <a:effectLst/>
                <a:latin typeface="+mj-lt"/>
                <a:ea typeface="Times New Roman" panose="02020603050405020304" pitchFamily="18" charset="0"/>
              </a:rPr>
              <a:t>: The standard deviation helps tell us how a set of data clusters or distributes around its mean. In other words, S.D. used to determine the number of data value that fall within a specified interval in a distribution. </a:t>
            </a:r>
          </a:p>
          <a:p>
            <a:pPr marL="344488" indent="0">
              <a:buNone/>
            </a:pPr>
            <a:r>
              <a:rPr lang="en-US" sz="1400" b="1" dirty="0">
                <a:latin typeface="+mj-lt"/>
              </a:rPr>
              <a:t>Empirical rule for normally distributed data:</a:t>
            </a:r>
          </a:p>
          <a:p>
            <a:pPr marL="344488" indent="0">
              <a:buNone/>
            </a:pPr>
            <a:r>
              <a:rPr lang="en-US" sz="1400" dirty="0">
                <a:latin typeface="+mj-lt"/>
              </a:rPr>
              <a:t>For normal distribution, the following rule of clustering of data obeys:</a:t>
            </a:r>
          </a:p>
          <a:p>
            <a:pPr marL="690563" indent="-346075">
              <a:buNone/>
            </a:pPr>
            <a:r>
              <a:rPr lang="en-US" sz="1400" dirty="0">
                <a:latin typeface="+mj-lt"/>
              </a:rPr>
              <a:t>(a)  The interval   includes </a:t>
            </a:r>
            <a:r>
              <a:rPr lang="en-US" sz="1400" b="1" dirty="0">
                <a:latin typeface="+mj-lt"/>
              </a:rPr>
              <a:t>68.26 %</a:t>
            </a:r>
            <a:r>
              <a:rPr lang="en-US" sz="1400" dirty="0">
                <a:latin typeface="+mj-lt"/>
              </a:rPr>
              <a:t> of observations i.e. about 68 % of the values fall within ± one standard deviation from the     mean.</a:t>
            </a:r>
          </a:p>
          <a:p>
            <a:pPr marL="344488" indent="0">
              <a:buNone/>
            </a:pPr>
            <a:r>
              <a:rPr lang="en-US" sz="1400" dirty="0">
                <a:latin typeface="+mj-lt"/>
              </a:rPr>
              <a:t>(b)  The interval  includes </a:t>
            </a:r>
            <a:r>
              <a:rPr lang="en-US" sz="1400" b="1" dirty="0">
                <a:latin typeface="+mj-lt"/>
              </a:rPr>
              <a:t>95.44</a:t>
            </a:r>
            <a:r>
              <a:rPr lang="en-US" sz="1400" dirty="0">
                <a:latin typeface="+mj-lt"/>
              </a:rPr>
              <a:t> % of observations.</a:t>
            </a:r>
          </a:p>
          <a:p>
            <a:pPr marL="344488" indent="0">
              <a:buNone/>
            </a:pPr>
            <a:r>
              <a:rPr lang="en-US" sz="1400" dirty="0">
                <a:latin typeface="+mj-lt"/>
              </a:rPr>
              <a:t>(c)  The interval   includes </a:t>
            </a:r>
            <a:r>
              <a:rPr lang="en-US" sz="1400" b="1" dirty="0">
                <a:latin typeface="+mj-lt"/>
              </a:rPr>
              <a:t>99.74</a:t>
            </a:r>
            <a:r>
              <a:rPr lang="en-US" sz="1400" dirty="0">
                <a:latin typeface="+mj-lt"/>
              </a:rPr>
              <a:t> % of observations.</a:t>
            </a:r>
          </a:p>
          <a:p>
            <a:pPr marL="344488" indent="0">
              <a:buNone/>
            </a:pPr>
            <a:endParaRPr lang="en-US" sz="1400" dirty="0">
              <a:latin typeface="+mj-lt"/>
            </a:endParaRPr>
          </a:p>
        </p:txBody>
      </p:sp>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83088CDF-40D9-4883-8558-4F1F951FA9AF}"/>
                  </a:ext>
                </a:extLst>
              </p:cNvPr>
              <p:cNvSpPr txBox="1"/>
              <p:nvPr/>
            </p:nvSpPr>
            <p:spPr>
              <a:xfrm>
                <a:off x="1810828" y="2798313"/>
                <a:ext cx="1701800" cy="406400"/>
              </a:xfrm>
              <a:prstGeom prst="rect">
                <a:avLst/>
              </a:prstGeom>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𝑍</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𝐷𝑎𝑡𝑎</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𝑀𝑒𝑎𝑛</m:t>
                          </m:r>
                        </m:num>
                        <m:den>
                          <m:r>
                            <a:rPr lang="en-US" i="1">
                              <a:solidFill>
                                <a:srgbClr val="000000"/>
                              </a:solidFill>
                              <a:latin typeface="Cambria Math" panose="02040503050406030204" pitchFamily="18" charset="0"/>
                            </a:rPr>
                            <m:t>𝑆𝐷</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𝑋</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num>
                        <m:den>
                          <m:r>
                            <a:rPr lang="en-US" i="1">
                              <a:solidFill>
                                <a:srgbClr val="000000"/>
                              </a:solidFill>
                              <a:latin typeface="Cambria Math" panose="02040503050406030204" pitchFamily="18" charset="0"/>
                            </a:rPr>
                            <m:t>𝑆</m:t>
                          </m:r>
                        </m:den>
                      </m:f>
                    </m:oMath>
                  </m:oMathPara>
                </a14:m>
                <a:endParaRPr lang="en-US"/>
              </a:p>
            </p:txBody>
          </p:sp>
        </mc:Choice>
        <mc:Fallback xmlns="">
          <p:sp>
            <p:nvSpPr>
              <p:cNvPr id="10" name="Object 9">
                <a:extLst>
                  <a:ext uri="{FF2B5EF4-FFF2-40B4-BE49-F238E27FC236}">
                    <a16:creationId xmlns:a16="http://schemas.microsoft.com/office/drawing/2014/main" id="{83088CDF-40D9-4883-8558-4F1F951FA9AF}"/>
                  </a:ext>
                </a:extLst>
              </p:cNvPr>
              <p:cNvSpPr txBox="1">
                <a:spLocks noRot="1" noChangeAspect="1" noMove="1" noResize="1" noEditPoints="1" noAdjustHandles="1" noChangeArrowheads="1" noChangeShapeType="1" noTextEdit="1"/>
              </p:cNvSpPr>
              <p:nvPr/>
            </p:nvSpPr>
            <p:spPr>
              <a:xfrm>
                <a:off x="1810828" y="2798313"/>
                <a:ext cx="1701800" cy="406400"/>
              </a:xfrm>
              <a:prstGeom prst="rect">
                <a:avLst/>
              </a:prstGeom>
              <a:blipFill>
                <a:blip r:embed="rId2"/>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F56490E-095F-41D1-8BA9-332AA78F4B51}"/>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772835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EDEA-279E-3411-8255-B32E1A32E18F}"/>
              </a:ext>
            </a:extLst>
          </p:cNvPr>
          <p:cNvSpPr>
            <a:spLocks noGrp="1"/>
          </p:cNvSpPr>
          <p:nvPr>
            <p:ph type="title"/>
          </p:nvPr>
        </p:nvSpPr>
        <p:spPr>
          <a:xfrm>
            <a:off x="535857" y="444201"/>
            <a:ext cx="10058400" cy="458619"/>
          </a:xfrm>
        </p:spPr>
        <p:txBody>
          <a:bodyPr>
            <a:normAutofit/>
          </a:bodyPr>
          <a:lstStyle/>
          <a:p>
            <a:r>
              <a:rPr lang="en-US" sz="2400" b="1" dirty="0"/>
              <a:t>Combined Standard Deviation</a:t>
            </a:r>
          </a:p>
        </p:txBody>
      </p:sp>
      <p:pic>
        <p:nvPicPr>
          <p:cNvPr id="6" name="Content Placeholder 5">
            <a:extLst>
              <a:ext uri="{FF2B5EF4-FFF2-40B4-BE49-F238E27FC236}">
                <a16:creationId xmlns:a16="http://schemas.microsoft.com/office/drawing/2014/main" id="{B7C134D7-21C7-BA55-8E5B-DBF0BFB6BF9A}"/>
              </a:ext>
            </a:extLst>
          </p:cNvPr>
          <p:cNvPicPr>
            <a:picLocks noGrp="1" noChangeAspect="1"/>
          </p:cNvPicPr>
          <p:nvPr>
            <p:ph idx="1"/>
          </p:nvPr>
        </p:nvPicPr>
        <p:blipFill>
          <a:blip r:embed="rId2"/>
          <a:stretch>
            <a:fillRect/>
          </a:stretch>
        </p:blipFill>
        <p:spPr>
          <a:xfrm>
            <a:off x="634180" y="1052052"/>
            <a:ext cx="10889226" cy="5132437"/>
          </a:xfrm>
        </p:spPr>
      </p:pic>
      <p:sp>
        <p:nvSpPr>
          <p:cNvPr id="4" name="Footer Placeholder 3">
            <a:extLst>
              <a:ext uri="{FF2B5EF4-FFF2-40B4-BE49-F238E27FC236}">
                <a16:creationId xmlns:a16="http://schemas.microsoft.com/office/drawing/2014/main" id="{1998592A-B3BB-DC30-F759-0B41F8C9FBD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099962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92D238-9E49-42E9-91DC-8FBB93040F86}"/>
              </a:ext>
            </a:extLst>
          </p:cNvPr>
          <p:cNvSpPr>
            <a:spLocks noGrp="1"/>
          </p:cNvSpPr>
          <p:nvPr>
            <p:ph type="title"/>
          </p:nvPr>
        </p:nvSpPr>
        <p:spPr>
          <a:xfrm>
            <a:off x="678612" y="444187"/>
            <a:ext cx="10058400" cy="363246"/>
          </a:xfrm>
        </p:spPr>
        <p:txBody>
          <a:bodyPr>
            <a:noAutofit/>
          </a:bodyPr>
          <a:lstStyle/>
          <a:p>
            <a:r>
              <a:rPr lang="en-US" sz="2000" b="1" dirty="0"/>
              <a:t>Pooled SD or Combined SD</a:t>
            </a:r>
          </a:p>
        </p:txBody>
      </p:sp>
      <p:sp>
        <p:nvSpPr>
          <p:cNvPr id="6" name="Content Placeholder 5">
            <a:extLst>
              <a:ext uri="{FF2B5EF4-FFF2-40B4-BE49-F238E27FC236}">
                <a16:creationId xmlns:a16="http://schemas.microsoft.com/office/drawing/2014/main" id="{82429C94-7FA4-4A08-85B6-AF71343A2E68}"/>
              </a:ext>
            </a:extLst>
          </p:cNvPr>
          <p:cNvSpPr>
            <a:spLocks noGrp="1"/>
          </p:cNvSpPr>
          <p:nvPr>
            <p:ph sz="half" idx="2"/>
          </p:nvPr>
        </p:nvSpPr>
        <p:spPr>
          <a:xfrm>
            <a:off x="511277" y="957533"/>
            <a:ext cx="11099878" cy="5339750"/>
          </a:xfrm>
        </p:spPr>
        <p:txBody>
          <a:bodyPr>
            <a:normAutofit/>
          </a:bodyPr>
          <a:lstStyle/>
          <a:p>
            <a:pPr marL="0" indent="0">
              <a:buNone/>
            </a:pPr>
            <a:r>
              <a:rPr lang="en-US" sz="1400" b="1" dirty="0">
                <a:latin typeface="+mj-lt"/>
              </a:rPr>
              <a:t>Example:</a:t>
            </a:r>
            <a:r>
              <a:rPr lang="en-US" sz="1400" dirty="0">
                <a:latin typeface="+mj-lt"/>
              </a:rPr>
              <a:t> Suppose you are a Quality Assurance Manager at a leading fish cannery. For seven years, at the same time of the year, your lab has been testing a certain species of fish for mercury. Now you decide to do some long-term statistics for the EPA and need the standard deviation of all the data sets collected. </a:t>
            </a:r>
          </a:p>
          <a:p>
            <a:pPr marL="0" indent="0">
              <a:buNone/>
            </a:pPr>
            <a:endParaRPr lang="en-US" sz="1400" dirty="0">
              <a:latin typeface="+mj-lt"/>
            </a:endParaRPr>
          </a:p>
          <a:p>
            <a:pPr marL="0" indent="0">
              <a:buNone/>
            </a:pPr>
            <a:endParaRPr lang="en-US" sz="1400" dirty="0">
              <a:latin typeface="+mj-lt"/>
            </a:endParaRPr>
          </a:p>
          <a:p>
            <a:pPr marL="0" indent="0">
              <a:buNone/>
            </a:pPr>
            <a:endParaRPr lang="en-US" sz="1400" dirty="0">
              <a:latin typeface="+mj-lt"/>
            </a:endParaRPr>
          </a:p>
          <a:p>
            <a:pPr marL="0" indent="0">
              <a:buNone/>
            </a:pPr>
            <a:endParaRPr lang="en-US" sz="1400" dirty="0">
              <a:latin typeface="+mj-lt"/>
            </a:endParaRPr>
          </a:p>
          <a:p>
            <a:pPr marL="0" indent="0">
              <a:buNone/>
            </a:pPr>
            <a:endParaRPr lang="en-US" sz="1400" dirty="0">
              <a:latin typeface="+mj-lt"/>
            </a:endParaRPr>
          </a:p>
          <a:p>
            <a:pPr marL="0" indent="0">
              <a:buNone/>
            </a:pPr>
            <a:endParaRPr lang="en-US" sz="1400" dirty="0">
              <a:latin typeface="+mj-lt"/>
            </a:endParaRPr>
          </a:p>
          <a:p>
            <a:pPr marL="0" indent="0">
              <a:buNone/>
            </a:pPr>
            <a:endParaRPr lang="en-US" sz="1400" dirty="0">
              <a:latin typeface="+mj-lt"/>
            </a:endParaRPr>
          </a:p>
          <a:p>
            <a:pPr marL="342900" indent="-342900">
              <a:buAutoNum type="alphaLcParenBoth"/>
            </a:pPr>
            <a:endParaRPr lang="en-US" sz="1400" dirty="0">
              <a:latin typeface="+mj-lt"/>
            </a:endParaRPr>
          </a:p>
          <a:p>
            <a:pPr marL="342900" indent="-342900">
              <a:buAutoNum type="alphaLcParenBoth"/>
            </a:pPr>
            <a:endParaRPr lang="en-US" sz="1400" dirty="0">
              <a:latin typeface="+mj-lt"/>
            </a:endParaRPr>
          </a:p>
          <a:p>
            <a:pPr marL="342900" indent="-342900">
              <a:buAutoNum type="alphaLcParenBoth"/>
            </a:pPr>
            <a:endParaRPr lang="en-US" sz="1400" dirty="0">
              <a:latin typeface="+mj-lt"/>
            </a:endParaRPr>
          </a:p>
          <a:p>
            <a:pPr marL="342900" indent="-342900">
              <a:buAutoNum type="alphaLcParenBoth"/>
            </a:pPr>
            <a:r>
              <a:rPr lang="en-US" sz="1400" dirty="0">
                <a:latin typeface="+mj-lt"/>
              </a:rPr>
              <a:t>Calculated overall mean mercury content</a:t>
            </a:r>
          </a:p>
          <a:p>
            <a:pPr marL="342900" indent="-342900">
              <a:buAutoNum type="alphaLcParenBoth"/>
            </a:pPr>
            <a:r>
              <a:rPr lang="en-US" sz="1400" dirty="0">
                <a:latin typeface="+mj-lt"/>
              </a:rPr>
              <a:t>Calculated the pooled standard deviation  </a:t>
            </a:r>
          </a:p>
          <a:p>
            <a:pPr marL="0" indent="0">
              <a:buNone/>
            </a:pPr>
            <a:endParaRPr lang="en-US" sz="1400" dirty="0">
              <a:latin typeface="+mj-lt"/>
            </a:endParaRPr>
          </a:p>
          <a:p>
            <a:pPr marL="0" indent="0">
              <a:buNone/>
            </a:pPr>
            <a:endParaRPr lang="en-US" sz="1400" dirty="0">
              <a:latin typeface="+mj-lt"/>
            </a:endParaRPr>
          </a:p>
        </p:txBody>
      </p:sp>
      <p:pic>
        <p:nvPicPr>
          <p:cNvPr id="9" name="Picture 8">
            <a:extLst>
              <a:ext uri="{FF2B5EF4-FFF2-40B4-BE49-F238E27FC236}">
                <a16:creationId xmlns:a16="http://schemas.microsoft.com/office/drawing/2014/main" id="{70D77F3D-D0B6-46F3-95F0-1089A5CEF68F}"/>
              </a:ext>
            </a:extLst>
          </p:cNvPr>
          <p:cNvPicPr>
            <a:picLocks noChangeAspect="1"/>
          </p:cNvPicPr>
          <p:nvPr/>
        </p:nvPicPr>
        <p:blipFill>
          <a:blip r:embed="rId2"/>
          <a:stretch>
            <a:fillRect/>
          </a:stretch>
        </p:blipFill>
        <p:spPr>
          <a:xfrm>
            <a:off x="678612" y="1903142"/>
            <a:ext cx="5584536" cy="2904832"/>
          </a:xfrm>
          <a:prstGeom prst="rect">
            <a:avLst/>
          </a:prstGeom>
        </p:spPr>
      </p:pic>
      <p:sp>
        <p:nvSpPr>
          <p:cNvPr id="3" name="Footer Placeholder 2">
            <a:extLst>
              <a:ext uri="{FF2B5EF4-FFF2-40B4-BE49-F238E27FC236}">
                <a16:creationId xmlns:a16="http://schemas.microsoft.com/office/drawing/2014/main" id="{25710C2F-8E80-4788-B78D-251967CA5B5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550617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B3E87-6EDE-4633-9819-A810CE105873}"/>
              </a:ext>
            </a:extLst>
          </p:cNvPr>
          <p:cNvSpPr>
            <a:spLocks noGrp="1"/>
          </p:cNvSpPr>
          <p:nvPr>
            <p:ph type="title"/>
          </p:nvPr>
        </p:nvSpPr>
        <p:spPr>
          <a:xfrm>
            <a:off x="678383" y="456477"/>
            <a:ext cx="10058400" cy="363246"/>
          </a:xfrm>
        </p:spPr>
        <p:txBody>
          <a:bodyPr>
            <a:normAutofit fontScale="90000"/>
          </a:bodyPr>
          <a:lstStyle/>
          <a:p>
            <a:r>
              <a:rPr lang="en-US" sz="2000" b="1" dirty="0"/>
              <a:t>Coefficient of Variation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4FE28-C597-4E6A-82D6-8D881F6153BC}"/>
                  </a:ext>
                </a:extLst>
              </p:cNvPr>
              <p:cNvSpPr>
                <a:spLocks noGrp="1"/>
              </p:cNvSpPr>
              <p:nvPr>
                <p:ph sz="half" idx="1"/>
              </p:nvPr>
            </p:nvSpPr>
            <p:spPr>
              <a:xfrm>
                <a:off x="678383" y="898215"/>
                <a:ext cx="5143297" cy="5356927"/>
              </a:xfrm>
            </p:spPr>
            <p:txBody>
              <a:bodyPr>
                <a:normAutofit fontScale="92500" lnSpcReduction="20000"/>
              </a:bodyPr>
              <a:lstStyle/>
              <a:p>
                <a:pPr marL="0" indent="0">
                  <a:buNone/>
                </a:pPr>
                <a:r>
                  <a:rPr lang="en-US" sz="1500" dirty="0">
                    <a:effectLst/>
                    <a:latin typeface="+mj-lt"/>
                    <a:ea typeface="Times New Roman" panose="02020603050405020304" pitchFamily="18" charset="0"/>
                  </a:rPr>
                  <a:t>Coefficient of Variation is the relative measure of variation </a:t>
                </a:r>
                <a:r>
                  <a:rPr lang="en-US" sz="1500" dirty="0">
                    <a:latin typeface="+mj-lt"/>
                  </a:rPr>
                  <a:t>and it measures the scatterness in the data relative to the mean. </a:t>
                </a:r>
                <a:r>
                  <a:rPr lang="en-US" sz="1500" dirty="0">
                    <a:effectLst/>
                    <a:latin typeface="+mj-lt"/>
                    <a:ea typeface="Times New Roman" panose="02020603050405020304" pitchFamily="18" charset="0"/>
                  </a:rPr>
                  <a:t> It is the percentage variation in the mean, standard deviation being considered as the total variation in the mean. It relates </a:t>
                </a:r>
                <a14:m>
                  <m:oMath xmlns:m="http://schemas.openxmlformats.org/officeDocument/2006/math">
                    <m:acc>
                      <m:accPr>
                        <m:chr m:val="̅"/>
                        <m:ctrlPr>
                          <a:rPr lang="en-US" sz="1500" i="1" smtClean="0">
                            <a:effectLst/>
                            <a:latin typeface="Cambria Math" panose="02040503050406030204" pitchFamily="18" charset="0"/>
                          </a:rPr>
                        </m:ctrlPr>
                      </m:accPr>
                      <m:e>
                        <m:r>
                          <a:rPr lang="en-US" sz="1500" b="0" i="1" smtClean="0">
                            <a:effectLst/>
                            <a:latin typeface="Cambria Math" panose="02040503050406030204" pitchFamily="18" charset="0"/>
                          </a:rPr>
                          <m:t>𝑋</m:t>
                        </m:r>
                      </m:e>
                    </m:acc>
                  </m:oMath>
                </a14:m>
                <a:r>
                  <a:rPr lang="en-US" sz="1500" dirty="0">
                    <a:effectLst/>
                    <a:latin typeface="+mj-lt"/>
                    <a:ea typeface="Times New Roman" panose="02020603050405020304" pitchFamily="18" charset="0"/>
                  </a:rPr>
                  <a:t>  and s by expressing standard deviation as percentage of the mean.</a:t>
                </a:r>
              </a:p>
              <a:p>
                <a:pPr marL="0" indent="0">
                  <a:buNone/>
                </a:pPr>
                <a:r>
                  <a:rPr lang="en-US" sz="1500" dirty="0">
                    <a:latin typeface="+mj-lt"/>
                    <a:ea typeface="Times New Roman" panose="02020603050405020304" pitchFamily="18" charset="0"/>
                  </a:rPr>
                  <a:t>Sample coefficient of variation is given by,</a:t>
                </a:r>
              </a:p>
              <a:p>
                <a:pPr marL="0" indent="0">
                  <a:buNone/>
                </a:pPr>
                <a:endParaRPr lang="en-US" sz="1500" dirty="0">
                  <a:latin typeface="+mj-lt"/>
                  <a:ea typeface="Times New Roman" panose="02020603050405020304" pitchFamily="18" charset="0"/>
                </a:endParaRPr>
              </a:p>
              <a:p>
                <a:pPr marL="0" indent="0">
                  <a:buNone/>
                </a:pPr>
                <a:endParaRPr lang="en-US" sz="1500" dirty="0">
                  <a:latin typeface="+mj-lt"/>
                  <a:ea typeface="Times New Roman" panose="02020603050405020304" pitchFamily="18" charset="0"/>
                </a:endParaRPr>
              </a:p>
              <a:p>
                <a:pPr marL="0" indent="0">
                  <a:buNone/>
                </a:pPr>
                <a:r>
                  <a:rPr lang="en-US" sz="1500" b="1" dirty="0">
                    <a:latin typeface="+mj-lt"/>
                    <a:ea typeface="Times New Roman" panose="02020603050405020304" pitchFamily="18" charset="0"/>
                  </a:rPr>
                  <a:t>Notation</a:t>
                </a:r>
                <a:r>
                  <a:rPr lang="en-US" sz="1500" dirty="0">
                    <a:latin typeface="+mj-lt"/>
                    <a:ea typeface="Times New Roman" panose="02020603050405020304" pitchFamily="18" charset="0"/>
                  </a:rPr>
                  <a:t>:</a:t>
                </a:r>
              </a:p>
              <a:p>
                <a:pPr marL="0" indent="0">
                  <a:buNone/>
                </a:pPr>
                <a:r>
                  <a:rPr lang="en-US" sz="1500" dirty="0">
                    <a:latin typeface="+mj-lt"/>
                    <a:ea typeface="Times New Roman" panose="02020603050405020304" pitchFamily="18" charset="0"/>
                  </a:rPr>
                  <a:t>S = sample standard deviation</a:t>
                </a:r>
              </a:p>
              <a:p>
                <a:pPr marL="0" indent="0">
                  <a:buNone/>
                </a:pPr>
                <a:r>
                  <a:rPr lang="en-US" sz="1500" dirty="0">
                    <a:latin typeface="+mj-lt"/>
                    <a:ea typeface="Times New Roman" panose="02020603050405020304" pitchFamily="18" charset="0"/>
                  </a:rPr>
                  <a:t>    = Sample mean</a:t>
                </a:r>
              </a:p>
              <a:p>
                <a:pPr marL="0" indent="0">
                  <a:buNone/>
                </a:pPr>
                <a:endParaRPr lang="en-US" sz="1500" dirty="0">
                  <a:latin typeface="+mj-lt"/>
                  <a:ea typeface="Times New Roman" panose="02020603050405020304" pitchFamily="18" charset="0"/>
                </a:endParaRPr>
              </a:p>
              <a:p>
                <a:pPr marL="0" indent="0">
                  <a:buNone/>
                </a:pPr>
                <a:r>
                  <a:rPr lang="en-US" sz="1500" dirty="0">
                    <a:latin typeface="+mj-lt"/>
                    <a:ea typeface="Times New Roman" panose="02020603050405020304" pitchFamily="18" charset="0"/>
                  </a:rPr>
                  <a:t>The population coefficient of variation is given by,</a:t>
                </a:r>
              </a:p>
              <a:p>
                <a:pPr marL="0" indent="0">
                  <a:buNone/>
                </a:pPr>
                <a:endParaRPr lang="en-US" sz="1500" dirty="0">
                  <a:latin typeface="+mj-lt"/>
                  <a:ea typeface="Times New Roman" panose="02020603050405020304" pitchFamily="18" charset="0"/>
                </a:endParaRPr>
              </a:p>
              <a:p>
                <a:pPr marL="0" indent="0">
                  <a:buNone/>
                </a:pPr>
                <a:endParaRPr lang="en-US" sz="1500" dirty="0">
                  <a:latin typeface="+mj-lt"/>
                  <a:ea typeface="Times New Roman" panose="02020603050405020304" pitchFamily="18" charset="0"/>
                </a:endParaRPr>
              </a:p>
              <a:p>
                <a:pPr marL="0" indent="0">
                  <a:buNone/>
                </a:pPr>
                <a:r>
                  <a:rPr lang="en-US" sz="1500" b="1" dirty="0">
                    <a:latin typeface="+mj-lt"/>
                    <a:ea typeface="Times New Roman" panose="02020603050405020304" pitchFamily="18" charset="0"/>
                  </a:rPr>
                  <a:t>Notation</a:t>
                </a:r>
                <a:r>
                  <a:rPr lang="en-US" sz="1500" dirty="0">
                    <a:latin typeface="+mj-lt"/>
                    <a:ea typeface="Times New Roman" panose="02020603050405020304" pitchFamily="18" charset="0"/>
                  </a:rPr>
                  <a:t>:</a:t>
                </a:r>
              </a:p>
              <a:p>
                <a:pPr marL="0" indent="0">
                  <a:buNone/>
                </a:pPr>
                <a:r>
                  <a:rPr lang="en-US" sz="1400" dirty="0">
                    <a:latin typeface="+mj-lt"/>
                    <a:ea typeface="Times New Roman" panose="02020603050405020304" pitchFamily="18" charset="0"/>
                  </a:rPr>
                  <a:t>µ = Population mean</a:t>
                </a:r>
              </a:p>
              <a:p>
                <a:pPr marL="0" indent="0">
                  <a:buNone/>
                </a:pPr>
                <a:r>
                  <a:rPr lang="el-GR" sz="1400" dirty="0">
                    <a:latin typeface="+mj-lt"/>
                    <a:ea typeface="Times New Roman" panose="02020603050405020304" pitchFamily="18" charset="0"/>
                  </a:rPr>
                  <a:t>σ</a:t>
                </a:r>
                <a:r>
                  <a:rPr lang="en-US" sz="1400" dirty="0">
                    <a:latin typeface="+mj-lt"/>
                    <a:ea typeface="Times New Roman" panose="02020603050405020304" pitchFamily="18" charset="0"/>
                  </a:rPr>
                  <a:t> = Population standard deviation</a:t>
                </a:r>
              </a:p>
              <a:p>
                <a:pPr marL="0" indent="0">
                  <a:buNone/>
                </a:pPr>
                <a:endParaRPr lang="en-US" sz="1400" dirty="0">
                  <a:latin typeface="+mj-lt"/>
                  <a:ea typeface="Times New Roman" panose="02020603050405020304" pitchFamily="18" charset="0"/>
                </a:endParaRPr>
              </a:p>
              <a:p>
                <a:pPr marL="0" indent="0">
                  <a:buNone/>
                </a:pPr>
                <a:r>
                  <a:rPr lang="en-US" sz="1400" dirty="0">
                    <a:latin typeface="+mj-lt"/>
                    <a:ea typeface="Times New Roman" panose="02020603050405020304" pitchFamily="18" charset="0"/>
                  </a:rPr>
                  <a:t>	</a:t>
                </a:r>
                <a:endParaRPr lang="en-US" sz="1400" dirty="0">
                  <a:effectLst/>
                  <a:latin typeface="+mj-lt"/>
                  <a:ea typeface="Times New Roman" panose="020206030504050203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1254FE28-C597-4E6A-82D6-8D881F6153BC}"/>
                  </a:ext>
                </a:extLst>
              </p:cNvPr>
              <p:cNvSpPr>
                <a:spLocks noGrp="1" noRot="1" noChangeAspect="1" noMove="1" noResize="1" noEditPoints="1" noAdjustHandles="1" noChangeArrowheads="1" noChangeShapeType="1" noTextEdit="1"/>
              </p:cNvSpPr>
              <p:nvPr>
                <p:ph sz="half" idx="1"/>
              </p:nvPr>
            </p:nvSpPr>
            <p:spPr>
              <a:xfrm>
                <a:off x="678383" y="898215"/>
                <a:ext cx="5143297" cy="5356927"/>
              </a:xfrm>
              <a:blipFill>
                <a:blip r:embed="rId3"/>
                <a:stretch>
                  <a:fillRect l="-355" t="-910" r="-355"/>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9E665DAE-C400-4818-9981-5097D9D79C76}"/>
              </a:ext>
            </a:extLst>
          </p:cNvPr>
          <p:cNvSpPr>
            <a:spLocks noGrp="1"/>
          </p:cNvSpPr>
          <p:nvPr>
            <p:ph sz="half" idx="2"/>
          </p:nvPr>
        </p:nvSpPr>
        <p:spPr>
          <a:xfrm>
            <a:off x="6370319" y="898215"/>
            <a:ext cx="5347915" cy="5356927"/>
          </a:xfrm>
        </p:spPr>
        <p:txBody>
          <a:bodyPr>
            <a:normAutofit fontScale="92500" lnSpcReduction="20000"/>
          </a:bodyPr>
          <a:lstStyle/>
          <a:p>
            <a:pPr marL="0" indent="0">
              <a:spcBef>
                <a:spcPts val="0"/>
              </a:spcBef>
              <a:buNone/>
            </a:pPr>
            <a:r>
              <a:rPr lang="en-US" sz="1900" dirty="0">
                <a:latin typeface="+mj-lt"/>
                <a:ea typeface="Times New Roman" panose="02020603050405020304" pitchFamily="18" charset="0"/>
              </a:rPr>
              <a:t>Higher coefficient of variation means high variability or more spread of the data from their mean. </a:t>
            </a:r>
          </a:p>
          <a:p>
            <a:pPr marL="0" marR="0" indent="0">
              <a:spcBef>
                <a:spcPts val="0"/>
              </a:spcBef>
              <a:spcAft>
                <a:spcPts val="0"/>
              </a:spcAft>
              <a:buNone/>
            </a:pPr>
            <a:endParaRPr lang="en-US" sz="1900" dirty="0">
              <a:latin typeface="+mj-lt"/>
              <a:ea typeface="Times New Roman" panose="02020603050405020304" pitchFamily="18" charset="0"/>
            </a:endParaRPr>
          </a:p>
          <a:p>
            <a:pPr marL="0" marR="0" indent="0">
              <a:spcBef>
                <a:spcPts val="0"/>
              </a:spcBef>
              <a:spcAft>
                <a:spcPts val="0"/>
              </a:spcAft>
              <a:buNone/>
            </a:pPr>
            <a:endParaRPr lang="en-US" sz="1900" dirty="0">
              <a:effectLst/>
              <a:latin typeface="+mj-lt"/>
              <a:ea typeface="Times New Roman" panose="02020603050405020304" pitchFamily="18" charset="0"/>
            </a:endParaRPr>
          </a:p>
          <a:p>
            <a:pPr marL="0" indent="0">
              <a:spcBef>
                <a:spcPts val="0"/>
              </a:spcBef>
              <a:buNone/>
            </a:pPr>
            <a:endParaRPr lang="en-US" sz="1900" dirty="0">
              <a:effectLst/>
              <a:latin typeface="+mj-lt"/>
              <a:ea typeface="Times New Roman" panose="02020603050405020304" pitchFamily="18" charset="0"/>
            </a:endParaRPr>
          </a:p>
          <a:p>
            <a:pPr marL="0" indent="0">
              <a:spcBef>
                <a:spcPts val="0"/>
              </a:spcBef>
              <a:buNone/>
            </a:pPr>
            <a:r>
              <a:rPr lang="en-US" sz="1900" dirty="0">
                <a:effectLst/>
                <a:latin typeface="+mj-lt"/>
                <a:ea typeface="Times New Roman" panose="02020603050405020304" pitchFamily="18" charset="0"/>
              </a:rPr>
              <a:t>It is particularly useful when comparing the variability of two or more data sets that are expressed in different units of measure. It is also useful when comparing two or more sets of data that are measured in the same units but differ to such an extent that a direct comparison of the respective standard deviations is not very helpful</a:t>
            </a: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A45E944D-D738-4552-B1FC-59B3EB91ED2F}"/>
                  </a:ext>
                </a:extLst>
              </p:cNvPr>
              <p:cNvSpPr txBox="1"/>
              <p:nvPr/>
            </p:nvSpPr>
            <p:spPr>
              <a:xfrm>
                <a:off x="1220788" y="2299931"/>
                <a:ext cx="1651808" cy="561063"/>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𝑠</m:t>
                          </m:r>
                        </m:num>
                        <m:den>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den>
                      </m:f>
                      <m:r>
                        <m:rPr>
                          <m:nor/>
                        </m:rPr>
                        <a:rPr lang="en-US" i="0">
                          <a:solidFill>
                            <a:srgbClr val="000000"/>
                          </a:solidFill>
                          <a:latin typeface="Cambria Math" panose="02040503050406030204" pitchFamily="18" charset="0"/>
                        </a:rPr>
                        <m:t> ∗ </m:t>
                      </m:r>
                      <m:r>
                        <a:rPr lang="en-US" i="1">
                          <a:solidFill>
                            <a:srgbClr val="000000"/>
                          </a:solidFill>
                          <a:latin typeface="Cambria Math" panose="02040503050406030204" pitchFamily="18" charset="0"/>
                        </a:rPr>
                        <m:t>100%</m:t>
                      </m:r>
                    </m:oMath>
                  </m:oMathPara>
                </a14:m>
                <a:endParaRPr lang="en-US" dirty="0"/>
              </a:p>
            </p:txBody>
          </p:sp>
        </mc:Choice>
        <mc:Fallback xmlns="">
          <p:sp>
            <p:nvSpPr>
              <p:cNvPr id="10" name="Object 9">
                <a:extLst>
                  <a:ext uri="{FF2B5EF4-FFF2-40B4-BE49-F238E27FC236}">
                    <a16:creationId xmlns:a16="http://schemas.microsoft.com/office/drawing/2014/main" id="{A45E944D-D738-4552-B1FC-59B3EB91ED2F}"/>
                  </a:ext>
                </a:extLst>
              </p:cNvPr>
              <p:cNvSpPr txBox="1">
                <a:spLocks noRot="1" noChangeAspect="1" noMove="1" noResize="1" noEditPoints="1" noAdjustHandles="1" noChangeArrowheads="1" noChangeShapeType="1" noTextEdit="1"/>
              </p:cNvSpPr>
              <p:nvPr/>
            </p:nvSpPr>
            <p:spPr>
              <a:xfrm>
                <a:off x="1220788" y="2299931"/>
                <a:ext cx="1651808" cy="56106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10">
                <a:extLst>
                  <a:ext uri="{FF2B5EF4-FFF2-40B4-BE49-F238E27FC236}">
                    <a16:creationId xmlns:a16="http://schemas.microsoft.com/office/drawing/2014/main" id="{E49265EA-A65C-4D97-896F-FF4BA16897A6}"/>
                  </a:ext>
                </a:extLst>
              </p:cNvPr>
              <p:cNvSpPr txBox="1"/>
              <p:nvPr/>
            </p:nvSpPr>
            <p:spPr>
              <a:xfrm>
                <a:off x="761281" y="3481428"/>
                <a:ext cx="177800" cy="190500"/>
              </a:xfrm>
              <a:prstGeom prst="rect">
                <a:avLst/>
              </a:prstGeom>
            </p:spPr>
            <p:txBody>
              <a:bodyPr>
                <a:normAutofit fontScale="32500" lnSpcReduction="20000"/>
              </a:bodyPr>
              <a:lstStyle/>
              <a:p>
                <a:pPr/>
                <a14:m>
                  <m:oMathPara xmlns:m="http://schemas.openxmlformats.org/officeDocument/2006/math">
                    <m:oMathParaPr>
                      <m:jc m:val="left"/>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oMath>
                  </m:oMathPara>
                </a14:m>
                <a:endParaRPr lang="en-US"/>
              </a:p>
            </p:txBody>
          </p:sp>
        </mc:Choice>
        <mc:Fallback xmlns="">
          <p:sp>
            <p:nvSpPr>
              <p:cNvPr id="11" name="Object 10">
                <a:extLst>
                  <a:ext uri="{FF2B5EF4-FFF2-40B4-BE49-F238E27FC236}">
                    <a16:creationId xmlns:a16="http://schemas.microsoft.com/office/drawing/2014/main" id="{E49265EA-A65C-4D97-896F-FF4BA16897A6}"/>
                  </a:ext>
                </a:extLst>
              </p:cNvPr>
              <p:cNvSpPr txBox="1">
                <a:spLocks noRot="1" noChangeAspect="1" noMove="1" noResize="1" noEditPoints="1" noAdjustHandles="1" noChangeArrowheads="1" noChangeShapeType="1" noTextEdit="1"/>
              </p:cNvSpPr>
              <p:nvPr/>
            </p:nvSpPr>
            <p:spPr>
              <a:xfrm>
                <a:off x="761281" y="3481428"/>
                <a:ext cx="177800" cy="1905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11">
                <a:extLst>
                  <a:ext uri="{FF2B5EF4-FFF2-40B4-BE49-F238E27FC236}">
                    <a16:creationId xmlns:a16="http://schemas.microsoft.com/office/drawing/2014/main" id="{BE9D320D-D5F1-4C05-B4E7-F0D56D1BB28A}"/>
                  </a:ext>
                </a:extLst>
              </p:cNvPr>
              <p:cNvSpPr txBox="1"/>
              <p:nvPr/>
            </p:nvSpPr>
            <p:spPr>
              <a:xfrm>
                <a:off x="1220788" y="4335877"/>
                <a:ext cx="1565544" cy="561063"/>
              </a:xfrm>
              <a:prstGeom prst="rect">
                <a:avLst/>
              </a:prstGeom>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𝜎</m:t>
                          </m:r>
                        </m:num>
                        <m:den>
                          <m:r>
                            <a:rPr lang="en-US" i="1">
                              <a:solidFill>
                                <a:srgbClr val="000000"/>
                              </a:solidFill>
                              <a:latin typeface="Cambria Math" panose="02040503050406030204" pitchFamily="18" charset="0"/>
                            </a:rPr>
                            <m:t>𝜇</m:t>
                          </m:r>
                        </m:den>
                      </m:f>
                      <m:r>
                        <m:rPr>
                          <m:nor/>
                        </m:rPr>
                        <a:rPr lang="en-US" i="0">
                          <a:solidFill>
                            <a:srgbClr val="000000"/>
                          </a:solidFill>
                          <a:latin typeface="Cambria Math" panose="02040503050406030204" pitchFamily="18" charset="0"/>
                        </a:rPr>
                        <m:t> ∗ </m:t>
                      </m:r>
                      <m:r>
                        <a:rPr lang="en-US" i="1">
                          <a:solidFill>
                            <a:srgbClr val="000000"/>
                          </a:solidFill>
                          <a:latin typeface="Cambria Math" panose="02040503050406030204" pitchFamily="18" charset="0"/>
                        </a:rPr>
                        <m:t>100%</m:t>
                      </m:r>
                    </m:oMath>
                  </m:oMathPara>
                </a14:m>
                <a:endParaRPr lang="en-US" dirty="0"/>
              </a:p>
            </p:txBody>
          </p:sp>
        </mc:Choice>
        <mc:Fallback xmlns="">
          <p:sp>
            <p:nvSpPr>
              <p:cNvPr id="12" name="Object 11">
                <a:extLst>
                  <a:ext uri="{FF2B5EF4-FFF2-40B4-BE49-F238E27FC236}">
                    <a16:creationId xmlns:a16="http://schemas.microsoft.com/office/drawing/2014/main" id="{BE9D320D-D5F1-4C05-B4E7-F0D56D1BB28A}"/>
                  </a:ext>
                </a:extLst>
              </p:cNvPr>
              <p:cNvSpPr txBox="1">
                <a:spLocks noRot="1" noChangeAspect="1" noMove="1" noResize="1" noEditPoints="1" noAdjustHandles="1" noChangeArrowheads="1" noChangeShapeType="1" noTextEdit="1"/>
              </p:cNvSpPr>
              <p:nvPr/>
            </p:nvSpPr>
            <p:spPr>
              <a:xfrm>
                <a:off x="1220788" y="4335877"/>
                <a:ext cx="1565544" cy="561063"/>
              </a:xfrm>
              <a:prstGeom prst="rect">
                <a:avLst/>
              </a:prstGeom>
              <a:blipFill>
                <a:blip r:embed="rId6"/>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C0E44591-34A9-4A49-BD32-C70342D513D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638173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CBF7-26E4-498C-875D-22513F7D4749}"/>
              </a:ext>
            </a:extLst>
          </p:cNvPr>
          <p:cNvSpPr>
            <a:spLocks noGrp="1"/>
          </p:cNvSpPr>
          <p:nvPr>
            <p:ph type="title"/>
          </p:nvPr>
        </p:nvSpPr>
        <p:spPr>
          <a:xfrm>
            <a:off x="644106" y="478692"/>
            <a:ext cx="10058400" cy="363246"/>
          </a:xfrm>
        </p:spPr>
        <p:txBody>
          <a:bodyPr>
            <a:normAutofit fontScale="90000"/>
          </a:bodyPr>
          <a:lstStyle/>
          <a:p>
            <a:r>
              <a:rPr lang="en-US" sz="2000" b="1" dirty="0"/>
              <a:t>Example</a:t>
            </a:r>
          </a:p>
        </p:txBody>
      </p:sp>
      <p:sp>
        <p:nvSpPr>
          <p:cNvPr id="3" name="Content Placeholder 2">
            <a:extLst>
              <a:ext uri="{FF2B5EF4-FFF2-40B4-BE49-F238E27FC236}">
                <a16:creationId xmlns:a16="http://schemas.microsoft.com/office/drawing/2014/main" id="{1F866ACD-36E4-4D82-92DE-5DF0F3AE99A0}"/>
              </a:ext>
            </a:extLst>
          </p:cNvPr>
          <p:cNvSpPr>
            <a:spLocks noGrp="1"/>
          </p:cNvSpPr>
          <p:nvPr>
            <p:ph sz="half" idx="1"/>
          </p:nvPr>
        </p:nvSpPr>
        <p:spPr>
          <a:xfrm>
            <a:off x="644106" y="1017917"/>
            <a:ext cx="5177574" cy="5361391"/>
          </a:xfrm>
        </p:spPr>
        <p:txBody>
          <a:bodyPr>
            <a:normAutofit fontScale="92500" lnSpcReduction="10000"/>
          </a:bodyPr>
          <a:lstStyle/>
          <a:p>
            <a:pPr marL="0" indent="0">
              <a:buNone/>
            </a:pPr>
            <a:r>
              <a:rPr lang="en-US" dirty="0"/>
              <a:t>The following are the weights (Kg) and heights (cm) of the 14 patients.</a:t>
            </a:r>
          </a:p>
          <a:p>
            <a:pPr marL="0" indent="0">
              <a:buNone/>
            </a:pPr>
            <a:r>
              <a:rPr lang="en-US" b="1" dirty="0"/>
              <a:t>Weight</a:t>
            </a:r>
          </a:p>
          <a:p>
            <a:pPr marL="0" indent="0">
              <a:buNone/>
            </a:pPr>
            <a:r>
              <a:rPr lang="en-US" dirty="0"/>
              <a:t>83.9	99.0	63.8	71.3	65.3	79.6</a:t>
            </a:r>
          </a:p>
          <a:p>
            <a:pPr marL="0" indent="0">
              <a:buNone/>
            </a:pPr>
            <a:r>
              <a:rPr lang="en-US" dirty="0"/>
              <a:t>70.3	69.2	56.4	66.2	88.7	59.7</a:t>
            </a:r>
          </a:p>
          <a:p>
            <a:pPr marL="0" indent="0">
              <a:buNone/>
            </a:pPr>
            <a:r>
              <a:rPr lang="en-US" dirty="0"/>
              <a:t>64.6	78.8</a:t>
            </a:r>
          </a:p>
          <a:p>
            <a:pPr marL="0" indent="0">
              <a:buNone/>
            </a:pPr>
            <a:r>
              <a:rPr lang="en-US" b="1" dirty="0"/>
              <a:t>Height</a:t>
            </a:r>
          </a:p>
          <a:p>
            <a:pPr marL="0" indent="0">
              <a:buNone/>
            </a:pPr>
            <a:r>
              <a:rPr lang="en-US" dirty="0"/>
              <a:t>185	180	173	168	175	183</a:t>
            </a:r>
          </a:p>
          <a:p>
            <a:pPr marL="0" indent="0">
              <a:buNone/>
            </a:pPr>
            <a:r>
              <a:rPr lang="en-US" dirty="0"/>
              <a:t>184	174	164	169	205	161</a:t>
            </a:r>
          </a:p>
          <a:p>
            <a:pPr marL="0" indent="0">
              <a:buNone/>
            </a:pPr>
            <a:r>
              <a:rPr lang="en-US" dirty="0"/>
              <a:t>177	174</a:t>
            </a:r>
          </a:p>
          <a:p>
            <a:pPr marL="0" indent="0">
              <a:buNone/>
            </a:pPr>
            <a:endParaRPr lang="en-US" dirty="0"/>
          </a:p>
          <a:p>
            <a:pPr marL="0" indent="0">
              <a:buNone/>
            </a:pPr>
            <a:r>
              <a:rPr lang="en-US" dirty="0"/>
              <a:t>(a)For each variable, compute the mean, standard deviation, and coefficient of variation.</a:t>
            </a:r>
          </a:p>
          <a:p>
            <a:pPr marL="0" indent="0">
              <a:buNone/>
            </a:pPr>
            <a:r>
              <a:rPr lang="en-US" dirty="0"/>
              <a:t>(b)Which set of measurements is more variable, weight or height? On what do you base your answer?</a:t>
            </a:r>
          </a:p>
          <a:p>
            <a:pPr marL="0" indent="0">
              <a:buNone/>
            </a:pP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734B8B0-1146-440D-A694-E03181552D55}"/>
                  </a:ext>
                </a:extLst>
              </p:cNvPr>
              <p:cNvSpPr>
                <a:spLocks noGrp="1"/>
              </p:cNvSpPr>
              <p:nvPr>
                <p:ph sz="half" idx="2"/>
              </p:nvPr>
            </p:nvSpPr>
            <p:spPr>
              <a:xfrm>
                <a:off x="6370320" y="383822"/>
                <a:ext cx="5275340" cy="5995486"/>
              </a:xfrm>
            </p:spPr>
            <p:txBody>
              <a:bodyPr>
                <a:normAutofit fontScale="92500" lnSpcReduction="10000"/>
              </a:bodyPr>
              <a:lstStyle/>
              <a:p>
                <a:pPr marL="0" indent="0">
                  <a:buNone/>
                </a:pPr>
                <a:r>
                  <a:rPr lang="en-US" sz="1500" b="1" dirty="0"/>
                  <a:t>Solution</a:t>
                </a:r>
              </a:p>
              <a:p>
                <a:pPr marL="0" indent="0">
                  <a:buNone/>
                </a:pPr>
                <a:r>
                  <a:rPr lang="en-US" sz="1500" dirty="0"/>
                  <a:t>Let variable (X1) = Weight of patients (kg)</a:t>
                </a:r>
              </a:p>
              <a:p>
                <a:pPr marL="0" indent="0">
                  <a:buNone/>
                </a:pPr>
                <a:r>
                  <a:rPr lang="en-US" sz="1500" dirty="0"/>
                  <a:t>and variable (X2) = Height of patients (cm)</a:t>
                </a:r>
              </a:p>
              <a:p>
                <a:pPr marL="0" indent="0">
                  <a:buNone/>
                </a:pPr>
                <a:r>
                  <a:rPr lang="en-US" sz="1500" b="1" dirty="0"/>
                  <a:t>Weight</a:t>
                </a:r>
              </a:p>
              <a:p>
                <a:pPr marL="0" indent="0">
                  <a:buNone/>
                </a:pPr>
                <a:r>
                  <a:rPr lang="en-US" sz="1700" dirty="0"/>
                  <a:t>n</a:t>
                </a:r>
                <a:r>
                  <a:rPr lang="en-US" sz="1700" baseline="-25000" dirty="0"/>
                  <a:t>1</a:t>
                </a:r>
                <a:r>
                  <a:rPr lang="en-US" sz="1700" dirty="0"/>
                  <a:t> = 14</a:t>
                </a:r>
              </a:p>
              <a:p>
                <a:pPr marL="0" indent="0">
                  <a:buNone/>
                </a:pPr>
                <a:r>
                  <a:rPr lang="el-GR" sz="1700" dirty="0"/>
                  <a:t>Σ</a:t>
                </a:r>
                <a:r>
                  <a:rPr lang="en-US" sz="1700" dirty="0"/>
                  <a:t>X</a:t>
                </a:r>
                <a:r>
                  <a:rPr lang="en-US" sz="1700" baseline="-25000" dirty="0"/>
                  <a:t>1</a:t>
                </a:r>
                <a:r>
                  <a:rPr lang="en-US" sz="1700" dirty="0"/>
                  <a:t> = 83.9 + …+ 78.8 = 1016.8</a:t>
                </a:r>
              </a:p>
              <a:p>
                <a:pPr marL="0" indent="0">
                  <a:buNone/>
                </a:pPr>
                <a14:m>
                  <m:oMath xmlns:m="http://schemas.openxmlformats.org/officeDocument/2006/math">
                    <m:nary>
                      <m:naryPr>
                        <m:chr m:val="∑"/>
                        <m:subHide m:val="on"/>
                        <m:supHide m:val="on"/>
                        <m:ctrlPr>
                          <a:rPr lang="en-US" sz="1700" i="1" smtClean="0">
                            <a:latin typeface="Cambria Math" panose="02040503050406030204" pitchFamily="18" charset="0"/>
                          </a:rPr>
                        </m:ctrlPr>
                      </m:naryPr>
                      <m:sub/>
                      <m:sup/>
                      <m:e>
                        <m:sSubSup>
                          <m:sSubSupPr>
                            <m:ctrlPr>
                              <a:rPr lang="en-US" sz="1700" i="1" smtClean="0">
                                <a:latin typeface="Cambria Math" panose="02040503050406030204" pitchFamily="18" charset="0"/>
                              </a:rPr>
                            </m:ctrlPr>
                          </m:sSubSupPr>
                          <m:e>
                            <m:r>
                              <a:rPr lang="en-US" sz="1700" b="0" i="1" smtClean="0">
                                <a:latin typeface="Cambria Math" panose="02040503050406030204" pitchFamily="18" charset="0"/>
                              </a:rPr>
                              <m:t>𝑋</m:t>
                            </m:r>
                          </m:e>
                          <m:sub>
                            <m:r>
                              <a:rPr lang="en-US" sz="1700" b="0" i="1" smtClean="0">
                                <a:latin typeface="Cambria Math" panose="02040503050406030204" pitchFamily="18" charset="0"/>
                              </a:rPr>
                              <m:t>1</m:t>
                            </m:r>
                          </m:sub>
                          <m:sup>
                            <m:r>
                              <a:rPr lang="en-US" sz="1700" b="0" i="1" smtClean="0">
                                <a:latin typeface="Cambria Math" panose="02040503050406030204" pitchFamily="18" charset="0"/>
                              </a:rPr>
                              <m:t>2</m:t>
                            </m:r>
                          </m:sup>
                        </m:sSubSup>
                      </m:e>
                    </m:nary>
                  </m:oMath>
                </a14:m>
                <a:r>
                  <a:rPr lang="en-US" sz="1700" dirty="0"/>
                  <a:t>= 83.9^2 + … + 78.8^2 = 75703.1</a:t>
                </a:r>
              </a:p>
              <a:p>
                <a:pPr marL="0" indent="0">
                  <a:buNone/>
                </a:pPr>
                <a:r>
                  <a:rPr lang="en-US" sz="1500" dirty="0"/>
                  <a:t>Now, </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 11.94</a:t>
                </a:r>
              </a:p>
              <a:p>
                <a:pPr marL="0" indent="0">
                  <a:buNone/>
                </a:pPr>
                <a:endParaRPr lang="en-US" dirty="0"/>
              </a:p>
              <a:p>
                <a:pPr marL="0" indent="0">
                  <a:buNone/>
                </a:pPr>
                <a:r>
                  <a:rPr lang="en-US" dirty="0"/>
                  <a:t>		</a:t>
                </a:r>
              </a:p>
            </p:txBody>
          </p:sp>
        </mc:Choice>
        <mc:Fallback xmlns="">
          <p:sp>
            <p:nvSpPr>
              <p:cNvPr id="4" name="Content Placeholder 3">
                <a:extLst>
                  <a:ext uri="{FF2B5EF4-FFF2-40B4-BE49-F238E27FC236}">
                    <a16:creationId xmlns:a16="http://schemas.microsoft.com/office/drawing/2014/main" id="{1734B8B0-1146-440D-A694-E03181552D55}"/>
                  </a:ext>
                </a:extLst>
              </p:cNvPr>
              <p:cNvSpPr>
                <a:spLocks noGrp="1" noRot="1" noChangeAspect="1" noMove="1" noResize="1" noEditPoints="1" noAdjustHandles="1" noChangeArrowheads="1" noChangeShapeType="1" noTextEdit="1"/>
              </p:cNvSpPr>
              <p:nvPr>
                <p:ph sz="half" idx="2"/>
              </p:nvPr>
            </p:nvSpPr>
            <p:spPr>
              <a:xfrm>
                <a:off x="6370320" y="383822"/>
                <a:ext cx="5275340" cy="5995486"/>
              </a:xfrm>
              <a:blipFill>
                <a:blip r:embed="rId2"/>
                <a:stretch>
                  <a:fillRect l="-5202" t="-6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88FDD785-43CC-4CA1-9D4D-E0BD1F162924}"/>
                  </a:ext>
                </a:extLst>
              </p:cNvPr>
              <p:cNvSpPr txBox="1"/>
              <p:nvPr/>
            </p:nvSpPr>
            <p:spPr>
              <a:xfrm>
                <a:off x="6599238" y="2815136"/>
                <a:ext cx="3055620" cy="82710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Sub>
                            </m:e>
                          </m:nary>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1016.8</m:t>
                          </m:r>
                        </m:num>
                        <m:den>
                          <m:r>
                            <a:rPr lang="en-US" i="1">
                              <a:solidFill>
                                <a:srgbClr val="000000"/>
                              </a:solidFill>
                              <a:latin typeface="Cambria Math" panose="02040503050406030204" pitchFamily="18" charset="0"/>
                            </a:rPr>
                            <m:t>14</m:t>
                          </m:r>
                        </m:den>
                      </m:f>
                      <m:r>
                        <a:rPr lang="en-US" i="1">
                          <a:solidFill>
                            <a:srgbClr val="000000"/>
                          </a:solidFill>
                          <a:latin typeface="Cambria Math" panose="02040503050406030204" pitchFamily="18" charset="0"/>
                        </a:rPr>
                        <m:t>=72.63</m:t>
                      </m:r>
                    </m:oMath>
                  </m:oMathPara>
                </a14:m>
                <a:endParaRPr lang="en-US" dirty="0"/>
              </a:p>
            </p:txBody>
          </p:sp>
        </mc:Choice>
        <mc:Fallback xmlns="">
          <p:sp>
            <p:nvSpPr>
              <p:cNvPr id="5" name="Object 4">
                <a:extLst>
                  <a:ext uri="{FF2B5EF4-FFF2-40B4-BE49-F238E27FC236}">
                    <a16:creationId xmlns:a16="http://schemas.microsoft.com/office/drawing/2014/main" id="{88FDD785-43CC-4CA1-9D4D-E0BD1F162924}"/>
                  </a:ext>
                </a:extLst>
              </p:cNvPr>
              <p:cNvSpPr txBox="1">
                <a:spLocks noRot="1" noChangeAspect="1" noMove="1" noResize="1" noEditPoints="1" noAdjustHandles="1" noChangeArrowheads="1" noChangeShapeType="1" noTextEdit="1"/>
              </p:cNvSpPr>
              <p:nvPr/>
            </p:nvSpPr>
            <p:spPr>
              <a:xfrm>
                <a:off x="6599238" y="2815136"/>
                <a:ext cx="3055620" cy="8271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940C5C68-37B7-4507-915D-E5F33AEBAB34}"/>
                  </a:ext>
                </a:extLst>
              </p:cNvPr>
              <p:cNvSpPr txBox="1"/>
              <p:nvPr/>
            </p:nvSpPr>
            <p:spPr>
              <a:xfrm>
                <a:off x="6599238" y="3642240"/>
                <a:ext cx="3724275" cy="1436173"/>
              </a:xfrm>
              <a:prstGeom prst="rect">
                <a:avLst/>
              </a:prstGeom>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1</m:t>
                          </m:r>
                        </m:sub>
                      </m:sSub>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2</m:t>
                                      </m:r>
                                    </m:sup>
                                  </m:sSub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r>
                                    <a:rPr lang="en-US" i="0">
                                      <a:solidFill>
                                        <a:srgbClr val="000000"/>
                                      </a:solidFill>
                                      <a:latin typeface="Cambria Math" panose="02040503050406030204" pitchFamily="18" charset="0"/>
                                    </a:rPr>
                                    <m:t> </m:t>
                                  </m:r>
                                  <m:sSubSup>
                                    <m:sSubSupPr>
                                      <m:ctrlPr>
                                        <a:rPr lang="en-US" i="1">
                                          <a:solidFill>
                                            <a:srgbClr val="000000"/>
                                          </a:solidFill>
                                          <a:latin typeface="Cambria Math" panose="02040503050406030204" pitchFamily="18" charset="0"/>
                                        </a:rPr>
                                      </m:ctrlPr>
                                    </m:sSubSupPr>
                                    <m:e>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𝑋</m:t>
                                          </m:r>
                                        </m:e>
                                      </m:bar>
                                    </m:e>
                                    <m:sub>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2</m:t>
                                      </m:r>
                                    </m:sup>
                                  </m:sSubSup>
                                </m:e>
                              </m:nary>
                            </m:e>
                          </m:d>
                        </m:e>
                      </m:rad>
                    </m:oMath>
                    <m:oMath xmlns:m="http://schemas.openxmlformats.org/officeDocument/2006/math">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14−1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75703.1−14∗72.6</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3</m:t>
                                  </m:r>
                                </m:e>
                                <m:sup>
                                  <m:r>
                                    <a:rPr lang="en-US" i="1">
                                      <a:solidFill>
                                        <a:srgbClr val="000000"/>
                                      </a:solidFill>
                                      <a:latin typeface="Cambria Math" panose="02040503050406030204" pitchFamily="18" charset="0"/>
                                    </a:rPr>
                                    <m:t>2</m:t>
                                  </m:r>
                                </m:sup>
                              </m:sSup>
                            </m:e>
                          </m:d>
                        </m:e>
                      </m:rad>
                      <m:r>
                        <a:rPr lang="en-US" i="1">
                          <a:solidFill>
                            <a:srgbClr val="000000"/>
                          </a:solidFill>
                          <a:latin typeface="Cambria Math" panose="02040503050406030204" pitchFamily="18" charset="0"/>
                        </a:rPr>
                        <m:t>=11.94</m:t>
                      </m:r>
                    </m:oMath>
                  </m:oMathPara>
                </a14:m>
                <a:endParaRPr lang="en-US" dirty="0"/>
              </a:p>
            </p:txBody>
          </p:sp>
        </mc:Choice>
        <mc:Fallback xmlns="">
          <p:sp>
            <p:nvSpPr>
              <p:cNvPr id="6" name="Object 5">
                <a:extLst>
                  <a:ext uri="{FF2B5EF4-FFF2-40B4-BE49-F238E27FC236}">
                    <a16:creationId xmlns:a16="http://schemas.microsoft.com/office/drawing/2014/main" id="{940C5C68-37B7-4507-915D-E5F33AEBAB34}"/>
                  </a:ext>
                </a:extLst>
              </p:cNvPr>
              <p:cNvSpPr txBox="1">
                <a:spLocks noRot="1" noChangeAspect="1" noMove="1" noResize="1" noEditPoints="1" noAdjustHandles="1" noChangeArrowheads="1" noChangeShapeType="1" noTextEdit="1"/>
              </p:cNvSpPr>
              <p:nvPr/>
            </p:nvSpPr>
            <p:spPr>
              <a:xfrm>
                <a:off x="6599238" y="3642240"/>
                <a:ext cx="3724275" cy="143617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5784CCA1-B56E-4AA8-97A1-45AB5C4DDCC9}"/>
                  </a:ext>
                </a:extLst>
              </p:cNvPr>
              <p:cNvSpPr txBox="1"/>
              <p:nvPr/>
            </p:nvSpPr>
            <p:spPr>
              <a:xfrm>
                <a:off x="6582193" y="5183326"/>
                <a:ext cx="3396693" cy="119598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𝑐</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𝑣</m:t>
                          </m:r>
                        </m:e>
                        <m:sub>
                          <m:r>
                            <a:rPr lang="en-US" i="1">
                              <a:solidFill>
                                <a:srgbClr val="000000"/>
                              </a:solidFill>
                              <a:latin typeface="Cambria Math" panose="02040503050406030204" pitchFamily="18" charset="0"/>
                            </a:rPr>
                            <m:t>1</m:t>
                          </m:r>
                        </m:sub>
                      </m:sSub>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∗100%</m:t>
                      </m:r>
                    </m:oMath>
                  </m:oMathPara>
                </a14:m>
                <a:br>
                  <a:rPr lang="en-US" i="1" dirty="0">
                    <a:solidFill>
                      <a:srgbClr val="000000"/>
                    </a:solidFill>
                    <a:latin typeface="Cambria Math" panose="02040503050406030204" pitchFamily="18" charset="0"/>
                  </a:rPr>
                </a:br>
                <a:r>
                  <a:rPr lang="en-US" i="1" dirty="0">
                    <a:solidFill>
                      <a:srgbClr val="000000"/>
                    </a:solidFill>
                    <a:latin typeface="Cambria Math" panose="02040503050406030204" pitchFamily="18" charset="0"/>
                  </a:rPr>
                  <a:t>	</a:t>
                </a:r>
                <a14:m>
                  <m:oMath xmlns:m="http://schemas.openxmlformats.org/officeDocument/2006/math">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11.94</m:t>
                        </m:r>
                      </m:num>
                      <m:den>
                        <m:r>
                          <a:rPr lang="en-US" i="1">
                            <a:solidFill>
                              <a:srgbClr val="000000"/>
                            </a:solidFill>
                            <a:latin typeface="Cambria Math" panose="02040503050406030204" pitchFamily="18" charset="0"/>
                          </a:rPr>
                          <m:t>72.63</m:t>
                        </m:r>
                      </m:den>
                    </m:f>
                    <m:r>
                      <a:rPr lang="en-US" i="1">
                        <a:solidFill>
                          <a:srgbClr val="000000"/>
                        </a:solidFill>
                        <a:latin typeface="Cambria Math" panose="02040503050406030204" pitchFamily="18" charset="0"/>
                      </a:rPr>
                      <m:t>∗100%=16.44%</m:t>
                    </m:r>
                  </m:oMath>
                </a14:m>
                <a:endParaRPr lang="en-US" dirty="0"/>
              </a:p>
            </p:txBody>
          </p:sp>
        </mc:Choice>
        <mc:Fallback xmlns="">
          <p:sp>
            <p:nvSpPr>
              <p:cNvPr id="7" name="Object 6">
                <a:extLst>
                  <a:ext uri="{FF2B5EF4-FFF2-40B4-BE49-F238E27FC236}">
                    <a16:creationId xmlns:a16="http://schemas.microsoft.com/office/drawing/2014/main" id="{5784CCA1-B56E-4AA8-97A1-45AB5C4DDCC9}"/>
                  </a:ext>
                </a:extLst>
              </p:cNvPr>
              <p:cNvSpPr txBox="1">
                <a:spLocks noRot="1" noChangeAspect="1" noMove="1" noResize="1" noEditPoints="1" noAdjustHandles="1" noChangeArrowheads="1" noChangeShapeType="1" noTextEdit="1"/>
              </p:cNvSpPr>
              <p:nvPr/>
            </p:nvSpPr>
            <p:spPr>
              <a:xfrm>
                <a:off x="6582193" y="5183326"/>
                <a:ext cx="3396693" cy="1195982"/>
              </a:xfrm>
              <a:prstGeom prst="rect">
                <a:avLst/>
              </a:prstGeom>
              <a:blipFill>
                <a:blip r:embed="rId5"/>
                <a:stretch>
                  <a:fillRect/>
                </a:stretch>
              </a:blipFill>
            </p:spPr>
            <p:txBody>
              <a:bodyPr/>
              <a:lstStyle/>
              <a:p>
                <a:r>
                  <a:rPr lang="en-US">
                    <a:noFill/>
                  </a:rPr>
                  <a:t> </a:t>
                </a:r>
              </a:p>
            </p:txBody>
          </p:sp>
        </mc:Fallback>
      </mc:AlternateContent>
      <p:sp>
        <p:nvSpPr>
          <p:cNvPr id="8" name="Object 7">
            <a:extLst>
              <a:ext uri="{FF2B5EF4-FFF2-40B4-BE49-F238E27FC236}">
                <a16:creationId xmlns:a16="http://schemas.microsoft.com/office/drawing/2014/main" id="{82FC044B-506F-4C64-BFD0-2F4EF5A5C870}"/>
              </a:ext>
            </a:extLst>
          </p:cNvPr>
          <p:cNvSpPr txBox="1"/>
          <p:nvPr/>
        </p:nvSpPr>
        <p:spPr>
          <a:xfrm>
            <a:off x="2997200" y="3416300"/>
            <a:ext cx="914400" cy="198438"/>
          </a:xfrm>
          <a:prstGeom prst="rect">
            <a:avLst/>
          </a:prstGeom>
        </p:spPr>
        <p:txBody>
          <a:bodyPr>
            <a:normAutofit fontScale="40000" lnSpcReduction="20000"/>
          </a:bodyPr>
          <a:lstStyle/>
          <a:p>
            <a:endParaRPr lang="en-US"/>
          </a:p>
        </p:txBody>
      </p:sp>
      <p:sp>
        <p:nvSpPr>
          <p:cNvPr id="9" name="Footer Placeholder 8">
            <a:extLst>
              <a:ext uri="{FF2B5EF4-FFF2-40B4-BE49-F238E27FC236}">
                <a16:creationId xmlns:a16="http://schemas.microsoft.com/office/drawing/2014/main" id="{263403B3-F580-4217-AD80-BE5EC9E4A4D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66345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0EE9DB-ADEB-4136-9C0B-BB40A4DF4417}"/>
              </a:ext>
            </a:extLst>
          </p:cNvPr>
          <p:cNvSpPr>
            <a:spLocks noGrp="1"/>
          </p:cNvSpPr>
          <p:nvPr>
            <p:ph sz="half" idx="1"/>
          </p:nvPr>
        </p:nvSpPr>
        <p:spPr>
          <a:xfrm>
            <a:off x="672860" y="672859"/>
            <a:ext cx="10668240" cy="5633049"/>
          </a:xfrm>
        </p:spPr>
        <p:txBody>
          <a:bodyPr>
            <a:normAutofit/>
          </a:bodyPr>
          <a:lstStyle/>
          <a:p>
            <a:pPr marL="0" indent="0">
              <a:buNone/>
            </a:pPr>
            <a:r>
              <a:rPr lang="en-US" sz="1600" b="1" dirty="0"/>
              <a:t>Height</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b="1" dirty="0"/>
              <a:t>Conclusion</a:t>
            </a:r>
            <a:r>
              <a:rPr lang="en-US" sz="1600" dirty="0"/>
              <a:t>: Since coefficient of variation of weight (16.44 %) is higher than that of height (6.196 %), we can conclude that weight is more variable character among a group of patients than the height.</a:t>
            </a: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0FEBF3E8-8123-4A04-AFCB-49F4D7A28980}"/>
                  </a:ext>
                </a:extLst>
              </p:cNvPr>
              <p:cNvSpPr txBox="1"/>
              <p:nvPr/>
            </p:nvSpPr>
            <p:spPr>
              <a:xfrm>
                <a:off x="673100" y="1206500"/>
                <a:ext cx="3060700" cy="852528"/>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2</m:t>
                                  </m:r>
                                </m:sub>
                              </m:sSub>
                            </m:e>
                          </m:nary>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2472</m:t>
                          </m:r>
                        </m:num>
                        <m:den>
                          <m:r>
                            <a:rPr lang="en-US" i="1">
                              <a:solidFill>
                                <a:srgbClr val="000000"/>
                              </a:solidFill>
                              <a:latin typeface="Cambria Math" panose="02040503050406030204" pitchFamily="18" charset="0"/>
                            </a:rPr>
                            <m:t>14</m:t>
                          </m:r>
                        </m:den>
                      </m:f>
                      <m:r>
                        <a:rPr lang="en-US" i="1">
                          <a:solidFill>
                            <a:srgbClr val="000000"/>
                          </a:solidFill>
                          <a:latin typeface="Cambria Math" panose="02040503050406030204" pitchFamily="18" charset="0"/>
                        </a:rPr>
                        <m:t>=176.57</m:t>
                      </m:r>
                    </m:oMath>
                  </m:oMathPara>
                </a14:m>
                <a:endParaRPr lang="en-US" dirty="0"/>
              </a:p>
            </p:txBody>
          </p:sp>
        </mc:Choice>
        <mc:Fallback xmlns="">
          <p:sp>
            <p:nvSpPr>
              <p:cNvPr id="5" name="Object 4">
                <a:extLst>
                  <a:ext uri="{FF2B5EF4-FFF2-40B4-BE49-F238E27FC236}">
                    <a16:creationId xmlns:a16="http://schemas.microsoft.com/office/drawing/2014/main" id="{0FEBF3E8-8123-4A04-AFCB-49F4D7A28980}"/>
                  </a:ext>
                </a:extLst>
              </p:cNvPr>
              <p:cNvSpPr txBox="1">
                <a:spLocks noRot="1" noChangeAspect="1" noMove="1" noResize="1" noEditPoints="1" noAdjustHandles="1" noChangeArrowheads="1" noChangeShapeType="1" noTextEdit="1"/>
              </p:cNvSpPr>
              <p:nvPr/>
            </p:nvSpPr>
            <p:spPr>
              <a:xfrm>
                <a:off x="673100" y="1206500"/>
                <a:ext cx="3060700" cy="85252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B7C65473-5848-4BEE-A36F-5E2D7CBD5972}"/>
                  </a:ext>
                </a:extLst>
              </p:cNvPr>
              <p:cNvSpPr txBox="1"/>
              <p:nvPr/>
            </p:nvSpPr>
            <p:spPr>
              <a:xfrm>
                <a:off x="672860" y="2190553"/>
                <a:ext cx="4838940" cy="1471116"/>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2</m:t>
                          </m:r>
                        </m:sub>
                      </m:sSub>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2</m:t>
                                      </m:r>
                                    </m:sup>
                                  </m:sSub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r>
                                    <a:rPr lang="en-US" i="0">
                                      <a:solidFill>
                                        <a:srgbClr val="000000"/>
                                      </a:solidFill>
                                      <a:latin typeface="Cambria Math" panose="02040503050406030204" pitchFamily="18" charset="0"/>
                                    </a:rPr>
                                    <m:t> </m:t>
                                  </m:r>
                                  <m:sSubSup>
                                    <m:sSubSupPr>
                                      <m:ctrlPr>
                                        <a:rPr lang="en-US" i="1">
                                          <a:solidFill>
                                            <a:srgbClr val="000000"/>
                                          </a:solidFill>
                                          <a:latin typeface="Cambria Math" panose="02040503050406030204" pitchFamily="18" charset="0"/>
                                        </a:rPr>
                                      </m:ctrlPr>
                                    </m:sSubSupPr>
                                    <m:e>
                                      <m:bar>
                                        <m:barPr>
                                          <m:pos m:val="top"/>
                                          <m:ctrlPr>
                                            <a:rPr lang="en-US" i="1">
                                              <a:solidFill>
                                                <a:srgbClr val="000000"/>
                                              </a:solidFill>
                                              <a:latin typeface="Cambria Math" panose="02040503050406030204" pitchFamily="18" charset="0"/>
                                            </a:rPr>
                                          </m:ctrlPr>
                                        </m:barPr>
                                        <m:e>
                                          <m:r>
                                            <a:rPr lang="en-US" i="1">
                                              <a:solidFill>
                                                <a:srgbClr val="000000"/>
                                              </a:solidFill>
                                              <a:latin typeface="Cambria Math" panose="02040503050406030204" pitchFamily="18" charset="0"/>
                                            </a:rPr>
                                            <m:t>𝑋</m:t>
                                          </m:r>
                                        </m:e>
                                      </m:bar>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2</m:t>
                                      </m:r>
                                    </m:sup>
                                  </m:sSubSup>
                                </m:e>
                              </m:nary>
                            </m:e>
                          </m:d>
                        </m:e>
                      </m:rad>
                    </m:oMath>
                    <m:oMath xmlns:m="http://schemas.openxmlformats.org/officeDocument/2006/math">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14−1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438032−14∗176.5</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7</m:t>
                                  </m:r>
                                </m:e>
                                <m:sup>
                                  <m:r>
                                    <a:rPr lang="en-US" i="1">
                                      <a:solidFill>
                                        <a:srgbClr val="000000"/>
                                      </a:solidFill>
                                      <a:latin typeface="Cambria Math" panose="02040503050406030204" pitchFamily="18" charset="0"/>
                                    </a:rPr>
                                    <m:t>2</m:t>
                                  </m:r>
                                </m:sup>
                              </m:sSup>
                            </m:e>
                          </m:d>
                        </m:e>
                      </m:rad>
                      <m:r>
                        <a:rPr lang="en-US" i="1">
                          <a:solidFill>
                            <a:srgbClr val="000000"/>
                          </a:solidFill>
                          <a:latin typeface="Cambria Math" panose="02040503050406030204" pitchFamily="18" charset="0"/>
                        </a:rPr>
                        <m:t>=10.94</m:t>
                      </m:r>
                    </m:oMath>
                  </m:oMathPara>
                </a14:m>
                <a:endParaRPr lang="en-US" dirty="0"/>
              </a:p>
            </p:txBody>
          </p:sp>
        </mc:Choice>
        <mc:Fallback xmlns="">
          <p:sp>
            <p:nvSpPr>
              <p:cNvPr id="7" name="Object 6">
                <a:extLst>
                  <a:ext uri="{FF2B5EF4-FFF2-40B4-BE49-F238E27FC236}">
                    <a16:creationId xmlns:a16="http://schemas.microsoft.com/office/drawing/2014/main" id="{B7C65473-5848-4BEE-A36F-5E2D7CBD5972}"/>
                  </a:ext>
                </a:extLst>
              </p:cNvPr>
              <p:cNvSpPr txBox="1">
                <a:spLocks noRot="1" noChangeAspect="1" noMove="1" noResize="1" noEditPoints="1" noAdjustHandles="1" noChangeArrowheads="1" noChangeShapeType="1" noTextEdit="1"/>
              </p:cNvSpPr>
              <p:nvPr/>
            </p:nvSpPr>
            <p:spPr>
              <a:xfrm>
                <a:off x="672860" y="2190553"/>
                <a:ext cx="4838940" cy="147111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C33EE5C2-48D2-4505-BA72-407F36C486E9}"/>
                  </a:ext>
                </a:extLst>
              </p:cNvPr>
              <p:cNvSpPr txBox="1"/>
              <p:nvPr/>
            </p:nvSpPr>
            <p:spPr>
              <a:xfrm>
                <a:off x="850900" y="3793195"/>
                <a:ext cx="5148263" cy="133196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𝑐</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𝑣</m:t>
                          </m:r>
                        </m:e>
                        <m:sub>
                          <m:r>
                            <a:rPr lang="en-US" i="1">
                              <a:solidFill>
                                <a:srgbClr val="000000"/>
                              </a:solidFill>
                              <a:latin typeface="Cambria Math" panose="02040503050406030204" pitchFamily="18" charset="0"/>
                            </a:rPr>
                            <m:t>2</m:t>
                          </m:r>
                        </m:sub>
                      </m:sSub>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2</m:t>
                              </m:r>
                            </m:sub>
                          </m:sSub>
                        </m:num>
                        <m:den>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∗100%</m:t>
                      </m:r>
                    </m:oMath>
                    <m:oMath xmlns:m="http://schemas.openxmlformats.org/officeDocument/2006/math">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10.94</m:t>
                          </m:r>
                        </m:num>
                        <m:den>
                          <m:r>
                            <a:rPr lang="en-US" i="1">
                              <a:solidFill>
                                <a:srgbClr val="000000"/>
                              </a:solidFill>
                              <a:latin typeface="Cambria Math" panose="02040503050406030204" pitchFamily="18" charset="0"/>
                            </a:rPr>
                            <m:t>176.57</m:t>
                          </m:r>
                        </m:den>
                      </m:f>
                      <m:r>
                        <a:rPr lang="en-US" i="1">
                          <a:solidFill>
                            <a:srgbClr val="000000"/>
                          </a:solidFill>
                          <a:latin typeface="Cambria Math" panose="02040503050406030204" pitchFamily="18" charset="0"/>
                        </a:rPr>
                        <m:t>∗100%=6.196%</m:t>
                      </m:r>
                    </m:oMath>
                  </m:oMathPara>
                </a14:m>
                <a:endParaRPr lang="en-US" dirty="0"/>
              </a:p>
            </p:txBody>
          </p:sp>
        </mc:Choice>
        <mc:Fallback xmlns="">
          <p:sp>
            <p:nvSpPr>
              <p:cNvPr id="2" name="Object 1">
                <a:extLst>
                  <a:ext uri="{FF2B5EF4-FFF2-40B4-BE49-F238E27FC236}">
                    <a16:creationId xmlns:a16="http://schemas.microsoft.com/office/drawing/2014/main" id="{C33EE5C2-48D2-4505-BA72-407F36C486E9}"/>
                  </a:ext>
                </a:extLst>
              </p:cNvPr>
              <p:cNvSpPr txBox="1">
                <a:spLocks noRot="1" noChangeAspect="1" noMove="1" noResize="1" noEditPoints="1" noAdjustHandles="1" noChangeArrowheads="1" noChangeShapeType="1" noTextEdit="1"/>
              </p:cNvSpPr>
              <p:nvPr/>
            </p:nvSpPr>
            <p:spPr>
              <a:xfrm>
                <a:off x="850900" y="3793195"/>
                <a:ext cx="5148263" cy="1331962"/>
              </a:xfrm>
              <a:prstGeom prst="rect">
                <a:avLst/>
              </a:prstGeom>
              <a:blipFill>
                <a:blip r:embed="rId4"/>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034CE25-3265-44E2-87B9-89317C59C83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34731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9A46F-F062-4606-9785-04C44F56B4CA}"/>
              </a:ext>
            </a:extLst>
          </p:cNvPr>
          <p:cNvSpPr>
            <a:spLocks noGrp="1"/>
          </p:cNvSpPr>
          <p:nvPr>
            <p:ph idx="1"/>
          </p:nvPr>
        </p:nvSpPr>
        <p:spPr>
          <a:xfrm>
            <a:off x="724620" y="543464"/>
            <a:ext cx="10886536" cy="5641676"/>
          </a:xfrm>
        </p:spPr>
        <p:txBody>
          <a:bodyPr>
            <a:normAutofit lnSpcReduction="10000"/>
          </a:bodyPr>
          <a:lstStyle/>
          <a:p>
            <a:pPr marL="0" indent="0">
              <a:buNone/>
            </a:pPr>
            <a:r>
              <a:rPr lang="en-US" b="1" dirty="0"/>
              <a:t>Example 4</a:t>
            </a:r>
            <a:r>
              <a:rPr lang="en-US" dirty="0"/>
              <a:t>:</a:t>
            </a:r>
          </a:p>
          <a:p>
            <a:pPr marL="0" indent="0">
              <a:buNone/>
            </a:pPr>
            <a:r>
              <a:rPr lang="en-US" dirty="0"/>
              <a:t>Two automatic filling machines A and B are used to fill tea in 500 grams bag. A random sample of 100 bag on each machine showed the following results:</a:t>
            </a:r>
          </a:p>
          <a:p>
            <a:pPr marL="0" indent="0">
              <a:buNone/>
            </a:pPr>
            <a:r>
              <a:rPr lang="en-US" dirty="0"/>
              <a:t>Tea Contents (in gm)	      Machine A	Machine B</a:t>
            </a:r>
          </a:p>
          <a:p>
            <a:pPr marL="0" indent="0">
              <a:buNone/>
            </a:pPr>
            <a:r>
              <a:rPr lang="en-US" dirty="0"/>
              <a:t>485 – 490			12	10</a:t>
            </a:r>
          </a:p>
          <a:p>
            <a:pPr marL="0" indent="0">
              <a:buNone/>
            </a:pPr>
            <a:r>
              <a:rPr lang="en-US" dirty="0"/>
              <a:t>490 – 495			18	15</a:t>
            </a:r>
          </a:p>
          <a:p>
            <a:pPr marL="0" indent="0">
              <a:buNone/>
            </a:pPr>
            <a:r>
              <a:rPr lang="en-US" dirty="0"/>
              <a:t>495 – 500 			20	24</a:t>
            </a:r>
          </a:p>
          <a:p>
            <a:pPr marL="0" indent="0">
              <a:buNone/>
            </a:pPr>
            <a:r>
              <a:rPr lang="en-US" dirty="0"/>
              <a:t>500 – 505			22	20</a:t>
            </a:r>
          </a:p>
          <a:p>
            <a:pPr marL="0" indent="0">
              <a:buNone/>
            </a:pPr>
            <a:r>
              <a:rPr lang="en-US" dirty="0"/>
              <a:t>505 – 510 			24	18</a:t>
            </a:r>
          </a:p>
          <a:p>
            <a:pPr marL="0" indent="0">
              <a:buNone/>
            </a:pPr>
            <a:r>
              <a:rPr lang="en-US" dirty="0"/>
              <a:t>510 – 515 			4	13</a:t>
            </a:r>
          </a:p>
          <a:p>
            <a:pPr marL="0" indent="0">
              <a:buNone/>
            </a:pPr>
            <a:r>
              <a:rPr lang="en-US" dirty="0"/>
              <a:t>Total				100	100</a:t>
            </a:r>
          </a:p>
          <a:p>
            <a:pPr marL="0" indent="0">
              <a:buNone/>
            </a:pPr>
            <a:r>
              <a:rPr lang="en-US" dirty="0"/>
              <a:t>Comment on the performance of two machines on the basis of following measures:</a:t>
            </a:r>
          </a:p>
          <a:p>
            <a:pPr marL="457200" indent="-60325">
              <a:buNone/>
            </a:pPr>
            <a:r>
              <a:rPr lang="en-US" dirty="0"/>
              <a:t>(a)	Average filling</a:t>
            </a:r>
          </a:p>
          <a:p>
            <a:pPr marL="457200" indent="-60325">
              <a:buNone/>
            </a:pPr>
            <a:r>
              <a:rPr lang="en-US" dirty="0"/>
              <a:t>(b)	Variability in filling</a:t>
            </a:r>
          </a:p>
          <a:p>
            <a:pPr marL="457200" indent="-60325">
              <a:buNone/>
            </a:pPr>
            <a:r>
              <a:rPr lang="en-US" dirty="0"/>
              <a:t>(c)	Consistency in filling</a:t>
            </a:r>
          </a:p>
          <a:p>
            <a:pPr marL="0" indent="0">
              <a:buNone/>
            </a:pPr>
            <a:endParaRPr lang="en-US" dirty="0"/>
          </a:p>
        </p:txBody>
      </p:sp>
      <p:sp>
        <p:nvSpPr>
          <p:cNvPr id="2" name="Footer Placeholder 1">
            <a:extLst>
              <a:ext uri="{FF2B5EF4-FFF2-40B4-BE49-F238E27FC236}">
                <a16:creationId xmlns:a16="http://schemas.microsoft.com/office/drawing/2014/main" id="{224DA4FA-CA54-4E33-B1BC-BC81352CF6C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21576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8775AE-D564-432A-9D25-02EA7CEE8FD9}"/>
              </a:ext>
            </a:extLst>
          </p:cNvPr>
          <p:cNvSpPr>
            <a:spLocks noGrp="1"/>
          </p:cNvSpPr>
          <p:nvPr>
            <p:ph idx="1"/>
          </p:nvPr>
        </p:nvSpPr>
        <p:spPr>
          <a:xfrm>
            <a:off x="698740" y="560717"/>
            <a:ext cx="10895162" cy="5676181"/>
          </a:xfrm>
        </p:spPr>
        <p:txBody>
          <a:bodyPr/>
          <a:lstStyle/>
          <a:p>
            <a:pPr marL="0" indent="0">
              <a:buNone/>
            </a:pPr>
            <a:r>
              <a:rPr lang="en-US" dirty="0"/>
              <a:t>Solution</a:t>
            </a:r>
          </a:p>
          <a:p>
            <a:pPr marL="0" indent="0">
              <a:buNone/>
            </a:pPr>
            <a:r>
              <a:rPr lang="en-US" dirty="0"/>
              <a:t>Let X</a:t>
            </a:r>
            <a:r>
              <a:rPr lang="en-US" baseline="-25000" dirty="0"/>
              <a:t>1</a:t>
            </a:r>
            <a:r>
              <a:rPr lang="en-US" dirty="0"/>
              <a:t> = Weight of tea in bags filled by machine A</a:t>
            </a:r>
          </a:p>
          <a:p>
            <a:pPr marL="0" indent="0">
              <a:buNone/>
            </a:pPr>
            <a:r>
              <a:rPr lang="en-US" dirty="0"/>
              <a:t>      X</a:t>
            </a:r>
            <a:r>
              <a:rPr lang="en-US" baseline="-25000" dirty="0"/>
              <a:t>2</a:t>
            </a:r>
            <a:r>
              <a:rPr lang="en-US" dirty="0"/>
              <a:t> = Weight of tea in bags filled by machine B</a:t>
            </a:r>
          </a:p>
          <a:p>
            <a:pPr marL="0" indent="0">
              <a:buNone/>
            </a:pPr>
            <a:endParaRPr lang="en-US" dirty="0"/>
          </a:p>
          <a:p>
            <a:pPr marL="0" indent="0">
              <a:buNone/>
            </a:pPr>
            <a:endParaRPr lang="en-US" dirty="0"/>
          </a:p>
          <a:p>
            <a:pPr marL="0" indent="0">
              <a:buNone/>
            </a:pPr>
            <a:endParaRPr lang="en-US" dirty="0"/>
          </a:p>
        </p:txBody>
      </p:sp>
      <p:graphicFrame>
        <p:nvGraphicFramePr>
          <p:cNvPr id="10" name="Object 9">
            <a:extLst>
              <a:ext uri="{FF2B5EF4-FFF2-40B4-BE49-F238E27FC236}">
                <a16:creationId xmlns:a16="http://schemas.microsoft.com/office/drawing/2014/main" id="{05F22C7F-DB2D-4044-8A01-8E94CF8D0F3C}"/>
              </a:ext>
            </a:extLst>
          </p:cNvPr>
          <p:cNvGraphicFramePr>
            <a:graphicFrameLocks noChangeAspect="1"/>
          </p:cNvGraphicFramePr>
          <p:nvPr>
            <p:extLst>
              <p:ext uri="{D42A27DB-BD31-4B8C-83A1-F6EECF244321}">
                <p14:modId xmlns:p14="http://schemas.microsoft.com/office/powerpoint/2010/main" val="338703264"/>
              </p:ext>
            </p:extLst>
          </p:nvPr>
        </p:nvGraphicFramePr>
        <p:xfrm>
          <a:off x="1030288" y="1949451"/>
          <a:ext cx="8543925" cy="4089040"/>
        </p:xfrm>
        <a:graphic>
          <a:graphicData uri="http://schemas.openxmlformats.org/presentationml/2006/ole">
            <mc:AlternateContent xmlns:mc="http://schemas.openxmlformats.org/markup-compatibility/2006">
              <mc:Choice xmlns:v="urn:schemas-microsoft-com:vml" Requires="v">
                <p:oleObj name="Worksheet" r:id="rId2" imgW="5886282" imgH="2676539" progId="Excel.Sheet.12">
                  <p:embed/>
                </p:oleObj>
              </mc:Choice>
              <mc:Fallback>
                <p:oleObj name="Worksheet" r:id="rId2" imgW="5886282" imgH="2676539" progId="Excel.Sheet.12">
                  <p:embed/>
                  <p:pic>
                    <p:nvPicPr>
                      <p:cNvPr id="0" name=""/>
                      <p:cNvPicPr/>
                      <p:nvPr/>
                    </p:nvPicPr>
                    <p:blipFill>
                      <a:blip r:embed="rId3"/>
                      <a:stretch>
                        <a:fillRect/>
                      </a:stretch>
                    </p:blipFill>
                    <p:spPr>
                      <a:xfrm>
                        <a:off x="1030288" y="1949451"/>
                        <a:ext cx="8543925" cy="4089040"/>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BC111763-8A75-4FB8-86C6-FA317F755A6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991991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C79038-3710-4F3C-B9CB-BC04B96227C9}"/>
              </a:ext>
            </a:extLst>
          </p:cNvPr>
          <p:cNvSpPr>
            <a:spLocks noGrp="1"/>
          </p:cNvSpPr>
          <p:nvPr>
            <p:ph sz="half" idx="1"/>
          </p:nvPr>
        </p:nvSpPr>
        <p:spPr>
          <a:xfrm>
            <a:off x="730370" y="629728"/>
            <a:ext cx="5256362" cy="5598544"/>
          </a:xfrm>
        </p:spPr>
        <p:txBody>
          <a:bodyPr/>
          <a:lstStyle/>
          <a:p>
            <a:pPr marL="0" indent="0">
              <a:buNone/>
            </a:pPr>
            <a:r>
              <a:rPr lang="en-US" dirty="0"/>
              <a:t>Machine A</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4DB902A8-ED1D-4CDC-B481-BF3FE19D4881}"/>
              </a:ext>
            </a:extLst>
          </p:cNvPr>
          <p:cNvSpPr>
            <a:spLocks noGrp="1"/>
          </p:cNvSpPr>
          <p:nvPr>
            <p:ph sz="half" idx="2"/>
          </p:nvPr>
        </p:nvSpPr>
        <p:spPr>
          <a:xfrm>
            <a:off x="6400799" y="629727"/>
            <a:ext cx="5178725" cy="5598543"/>
          </a:xfrm>
        </p:spPr>
        <p:txBody>
          <a:bodyPr/>
          <a:lstStyle/>
          <a:p>
            <a:pPr marL="0" indent="0">
              <a:buNone/>
            </a:pPr>
            <a:r>
              <a:rPr lang="en-US" dirty="0"/>
              <a:t>Machine B</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1F6F7DDA-F940-4646-83DD-D59669CFD7ED}"/>
                  </a:ext>
                </a:extLst>
              </p:cNvPr>
              <p:cNvSpPr txBox="1"/>
              <p:nvPr/>
            </p:nvSpPr>
            <p:spPr>
              <a:xfrm>
                <a:off x="793749" y="1100138"/>
                <a:ext cx="3096763" cy="798512"/>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𝑓</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𝑚</m:t>
                              </m:r>
                            </m:e>
                          </m:nary>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499.50</m:t>
                          </m:r>
                        </m:num>
                        <m:den>
                          <m:r>
                            <a:rPr lang="en-US" i="1">
                              <a:solidFill>
                                <a:srgbClr val="000000"/>
                              </a:solidFill>
                              <a:latin typeface="Cambria Math" panose="02040503050406030204" pitchFamily="18" charset="0"/>
                            </a:rPr>
                            <m:t>100</m:t>
                          </m:r>
                        </m:den>
                      </m:f>
                      <m:r>
                        <a:rPr lang="en-US" i="1">
                          <a:solidFill>
                            <a:srgbClr val="000000"/>
                          </a:solidFill>
                          <a:latin typeface="Cambria Math" panose="02040503050406030204" pitchFamily="18" charset="0"/>
                        </a:rPr>
                        <m:t>=499.50</m:t>
                      </m:r>
                    </m:oMath>
                  </m:oMathPara>
                </a14:m>
                <a:endParaRPr lang="en-US"/>
              </a:p>
            </p:txBody>
          </p:sp>
        </mc:Choice>
        <mc:Fallback xmlns="">
          <p:sp>
            <p:nvSpPr>
              <p:cNvPr id="5" name="Object 4">
                <a:extLst>
                  <a:ext uri="{FF2B5EF4-FFF2-40B4-BE49-F238E27FC236}">
                    <a16:creationId xmlns:a16="http://schemas.microsoft.com/office/drawing/2014/main" id="{1F6F7DDA-F940-4646-83DD-D59669CFD7ED}"/>
                  </a:ext>
                </a:extLst>
              </p:cNvPr>
              <p:cNvSpPr txBox="1">
                <a:spLocks noRot="1" noChangeAspect="1" noMove="1" noResize="1" noEditPoints="1" noAdjustHandles="1" noChangeArrowheads="1" noChangeShapeType="1" noTextEdit="1"/>
              </p:cNvSpPr>
              <p:nvPr/>
            </p:nvSpPr>
            <p:spPr>
              <a:xfrm>
                <a:off x="793749" y="1100138"/>
                <a:ext cx="3096763" cy="79851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A4F69C62-979D-47C2-BE37-4081BE5D669F}"/>
                  </a:ext>
                </a:extLst>
              </p:cNvPr>
              <p:cNvSpPr txBox="1"/>
              <p:nvPr/>
            </p:nvSpPr>
            <p:spPr>
              <a:xfrm>
                <a:off x="818401" y="2024916"/>
                <a:ext cx="3434421" cy="1951462"/>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1</m:t>
                          </m:r>
                        </m:sub>
                      </m:sSub>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𝑓</m:t>
                                      </m:r>
                                    </m:e>
                                    <m:sub>
                                      <m:r>
                                        <a:rPr lang="en-US" i="1">
                                          <a:solidFill>
                                            <a:srgbClr val="000000"/>
                                          </a:solidFill>
                                          <a:latin typeface="Cambria Math" panose="02040503050406030204" pitchFamily="18" charset="0"/>
                                        </a:rPr>
                                        <m:t>1</m:t>
                                      </m:r>
                                    </m:sub>
                                  </m:sSub>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𝑚</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1</m:t>
                                      </m:r>
                                    </m:sub>
                                  </m:sSub>
                                  <m:r>
                                    <a:rPr lang="en-US" i="0">
                                      <a:solidFill>
                                        <a:srgbClr val="000000"/>
                                      </a:solidFill>
                                      <a:latin typeface="Cambria Math" panose="02040503050406030204" pitchFamily="18" charset="0"/>
                                    </a:rPr>
                                    <m:t> </m:t>
                                  </m:r>
                                  <m:sSubSup>
                                    <m:sSubSupPr>
                                      <m:ctrlPr>
                                        <a:rPr lang="en-US" i="1">
                                          <a:solidFill>
                                            <a:srgbClr val="000000"/>
                                          </a:solidFill>
                                          <a:latin typeface="Cambria Math" panose="02040503050406030204" pitchFamily="18" charset="0"/>
                                        </a:rPr>
                                      </m:ctrlPr>
                                    </m:sSub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1</m:t>
                                      </m:r>
                                    </m:sub>
                                    <m:sup>
                                      <m:r>
                                        <a:rPr lang="en-US" i="1">
                                          <a:solidFill>
                                            <a:srgbClr val="000000"/>
                                          </a:solidFill>
                                          <a:latin typeface="Cambria Math" panose="02040503050406030204" pitchFamily="18" charset="0"/>
                                        </a:rPr>
                                        <m:t>2</m:t>
                                      </m:r>
                                    </m:sup>
                                  </m:sSubSup>
                                </m:e>
                              </m:nary>
                            </m:e>
                          </m:d>
                        </m:e>
                      </m:rad>
                    </m:oMath>
                    <m:oMath xmlns:m="http://schemas.openxmlformats.org/officeDocument/2006/math">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100−1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24955125−100∗499.</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5</m:t>
                                  </m:r>
                                </m:e>
                                <m:sup>
                                  <m:r>
                                    <a:rPr lang="en-US" i="1">
                                      <a:solidFill>
                                        <a:srgbClr val="000000"/>
                                      </a:solidFill>
                                      <a:latin typeface="Cambria Math" panose="02040503050406030204" pitchFamily="18" charset="0"/>
                                    </a:rPr>
                                    <m:t>2</m:t>
                                  </m:r>
                                </m:sup>
                              </m:sSup>
                            </m:e>
                          </m:d>
                        </m:e>
                      </m:rad>
                    </m:oMath>
                    <m:oMath xmlns:m="http://schemas.openxmlformats.org/officeDocument/2006/math">
                      <m:r>
                        <m:rPr>
                          <m:aln/>
                        </m:rP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7.18</m:t>
                      </m:r>
                    </m:oMath>
                  </m:oMathPara>
                </a14:m>
                <a:endParaRPr lang="en-US"/>
              </a:p>
            </p:txBody>
          </p:sp>
        </mc:Choice>
        <mc:Fallback xmlns="">
          <p:sp>
            <p:nvSpPr>
              <p:cNvPr id="6" name="Object 5">
                <a:extLst>
                  <a:ext uri="{FF2B5EF4-FFF2-40B4-BE49-F238E27FC236}">
                    <a16:creationId xmlns:a16="http://schemas.microsoft.com/office/drawing/2014/main" id="{A4F69C62-979D-47C2-BE37-4081BE5D669F}"/>
                  </a:ext>
                </a:extLst>
              </p:cNvPr>
              <p:cNvSpPr txBox="1">
                <a:spLocks noRot="1" noChangeAspect="1" noMove="1" noResize="1" noEditPoints="1" noAdjustHandles="1" noChangeArrowheads="1" noChangeShapeType="1" noTextEdit="1"/>
              </p:cNvSpPr>
              <p:nvPr/>
            </p:nvSpPr>
            <p:spPr>
              <a:xfrm>
                <a:off x="818401" y="2024916"/>
                <a:ext cx="3434421" cy="195146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42CF291B-2440-4093-8778-12B49C6E57AB}"/>
                  </a:ext>
                </a:extLst>
              </p:cNvPr>
              <p:cNvSpPr txBox="1"/>
              <p:nvPr/>
            </p:nvSpPr>
            <p:spPr>
              <a:xfrm>
                <a:off x="6618287" y="1036638"/>
                <a:ext cx="3284837" cy="862012"/>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𝑓</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𝑚</m:t>
                              </m:r>
                            </m:e>
                          </m:nary>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500.50</m:t>
                          </m:r>
                        </m:num>
                        <m:den>
                          <m:r>
                            <a:rPr lang="en-US" i="1">
                              <a:solidFill>
                                <a:srgbClr val="000000"/>
                              </a:solidFill>
                              <a:latin typeface="Cambria Math" panose="02040503050406030204" pitchFamily="18" charset="0"/>
                            </a:rPr>
                            <m:t>100</m:t>
                          </m:r>
                        </m:den>
                      </m:f>
                      <m:r>
                        <a:rPr lang="en-US" i="1">
                          <a:solidFill>
                            <a:srgbClr val="000000"/>
                          </a:solidFill>
                          <a:latin typeface="Cambria Math" panose="02040503050406030204" pitchFamily="18" charset="0"/>
                        </a:rPr>
                        <m:t>=500.5</m:t>
                      </m:r>
                    </m:oMath>
                  </m:oMathPara>
                </a14:m>
                <a:endParaRPr lang="en-US"/>
              </a:p>
            </p:txBody>
          </p:sp>
        </mc:Choice>
        <mc:Fallback xmlns="">
          <p:sp>
            <p:nvSpPr>
              <p:cNvPr id="7" name="Object 6">
                <a:extLst>
                  <a:ext uri="{FF2B5EF4-FFF2-40B4-BE49-F238E27FC236}">
                    <a16:creationId xmlns:a16="http://schemas.microsoft.com/office/drawing/2014/main" id="{42CF291B-2440-4093-8778-12B49C6E57AB}"/>
                  </a:ext>
                </a:extLst>
              </p:cNvPr>
              <p:cNvSpPr txBox="1">
                <a:spLocks noRot="1" noChangeAspect="1" noMove="1" noResize="1" noEditPoints="1" noAdjustHandles="1" noChangeArrowheads="1" noChangeShapeType="1" noTextEdit="1"/>
              </p:cNvSpPr>
              <p:nvPr/>
            </p:nvSpPr>
            <p:spPr>
              <a:xfrm>
                <a:off x="6618287" y="1036638"/>
                <a:ext cx="3284837" cy="8620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95C76F41-048D-47F7-B56B-D98DD33CF90B}"/>
                  </a:ext>
                </a:extLst>
              </p:cNvPr>
              <p:cNvSpPr txBox="1"/>
              <p:nvPr/>
            </p:nvSpPr>
            <p:spPr>
              <a:xfrm>
                <a:off x="6640512" y="2024917"/>
                <a:ext cx="4125254" cy="1951461"/>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2</m:t>
                          </m:r>
                        </m:sub>
                      </m:sSub>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−1</m:t>
                              </m:r>
                            </m:den>
                          </m:f>
                          <m:d>
                            <m:dPr>
                              <m:begChr m:val="{"/>
                              <m:endChr m:val="}"/>
                              <m:ctrlPr>
                                <a:rPr lang="en-US" i="1">
                                  <a:solidFill>
                                    <a:srgbClr val="000000"/>
                                  </a:solidFill>
                                  <a:latin typeface="Cambria Math" panose="02040503050406030204" pitchFamily="18" charset="0"/>
                                </a:rPr>
                              </m:ctrlPr>
                            </m:dPr>
                            <m:e>
                              <m:nary>
                                <m:naryPr>
                                  <m:chr m:val="∑"/>
                                  <m:subHide m:val="on"/>
                                  <m:supHide m:val="on"/>
                                  <m:ctrlPr>
                                    <a:rPr lang="en-US" i="1">
                                      <a:solidFill>
                                        <a:srgbClr val="000000"/>
                                      </a:solidFill>
                                      <a:latin typeface="Cambria Math" panose="02040503050406030204" pitchFamily="18" charset="0"/>
                                    </a:rPr>
                                  </m:ctrlPr>
                                </m:naryPr>
                                <m:sub/>
                                <m:sup/>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𝑓</m:t>
                                      </m:r>
                                    </m:e>
                                    <m:sub>
                                      <m:r>
                                        <a:rPr lang="en-US" i="1">
                                          <a:solidFill>
                                            <a:srgbClr val="000000"/>
                                          </a:solidFill>
                                          <a:latin typeface="Cambria Math" panose="02040503050406030204" pitchFamily="18" charset="0"/>
                                        </a:rPr>
                                        <m:t>2</m:t>
                                      </m:r>
                                    </m:sub>
                                  </m:sSub>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𝑚</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2</m:t>
                                      </m:r>
                                    </m:sub>
                                  </m:sSub>
                                  <m:r>
                                    <a:rPr lang="en-US" i="0">
                                      <a:solidFill>
                                        <a:srgbClr val="000000"/>
                                      </a:solidFill>
                                      <a:latin typeface="Cambria Math" panose="02040503050406030204" pitchFamily="18" charset="0"/>
                                    </a:rPr>
                                    <m:t> </m:t>
                                  </m:r>
                                  <m:sSubSup>
                                    <m:sSubSupPr>
                                      <m:ctrlPr>
                                        <a:rPr lang="en-US" i="1">
                                          <a:solidFill>
                                            <a:srgbClr val="000000"/>
                                          </a:solidFill>
                                          <a:latin typeface="Cambria Math" panose="02040503050406030204" pitchFamily="18" charset="0"/>
                                        </a:rPr>
                                      </m:ctrlPr>
                                    </m:sSubSup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2</m:t>
                                      </m:r>
                                    </m:sub>
                                    <m:sup>
                                      <m:r>
                                        <a:rPr lang="en-US" i="1">
                                          <a:solidFill>
                                            <a:srgbClr val="000000"/>
                                          </a:solidFill>
                                          <a:latin typeface="Cambria Math" panose="02040503050406030204" pitchFamily="18" charset="0"/>
                                        </a:rPr>
                                        <m:t>2</m:t>
                                      </m:r>
                                    </m:sup>
                                  </m:sSubSup>
                                </m:e>
                              </m:nary>
                            </m:e>
                          </m:d>
                        </m:e>
                      </m:rad>
                    </m:oMath>
                    <m:oMath xmlns:m="http://schemas.openxmlformats.org/officeDocument/2006/math">
                      <m:r>
                        <m:rPr>
                          <m:aln/>
                        </m:rPr>
                        <a:rPr lang="en-US" i="1">
                          <a:solidFill>
                            <a:srgbClr val="000000"/>
                          </a:solidFill>
                          <a:latin typeface="Cambria Math" panose="02040503050406030204" pitchFamily="18" charset="0"/>
                        </a:rPr>
                        <m:t>=</m:t>
                      </m:r>
                      <m:rad>
                        <m:radPr>
                          <m:degHide m:val="on"/>
                          <m:ctrlPr>
                            <a:rPr lang="en-US" i="1">
                              <a:solidFill>
                                <a:srgbClr val="000000"/>
                              </a:solidFill>
                              <a:latin typeface="Cambria Math" panose="02040503050406030204" pitchFamily="18" charset="0"/>
                            </a:rPr>
                          </m:ctrlPr>
                        </m:radPr>
                        <m:deg/>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100−1</m:t>
                              </m:r>
                            </m:den>
                          </m:f>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25055725−100∗500.</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5</m:t>
                                  </m:r>
                                </m:e>
                                <m:sup>
                                  <m:r>
                                    <a:rPr lang="en-US" i="1">
                                      <a:solidFill>
                                        <a:srgbClr val="000000"/>
                                      </a:solidFill>
                                      <a:latin typeface="Cambria Math" panose="02040503050406030204" pitchFamily="18" charset="0"/>
                                    </a:rPr>
                                    <m:t>2</m:t>
                                  </m:r>
                                </m:sup>
                              </m:sSup>
                            </m:e>
                          </m:d>
                        </m:e>
                      </m:rad>
                    </m:oMath>
                    <m:oMath xmlns:m="http://schemas.openxmlformats.org/officeDocument/2006/math">
                      <m:r>
                        <m:rPr>
                          <m:aln/>
                        </m:rP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7.59</m:t>
                      </m:r>
                    </m:oMath>
                  </m:oMathPara>
                </a14:m>
                <a:endParaRPr lang="en-US"/>
              </a:p>
            </p:txBody>
          </p:sp>
        </mc:Choice>
        <mc:Fallback xmlns="">
          <p:sp>
            <p:nvSpPr>
              <p:cNvPr id="8" name="Object 7">
                <a:extLst>
                  <a:ext uri="{FF2B5EF4-FFF2-40B4-BE49-F238E27FC236}">
                    <a16:creationId xmlns:a16="http://schemas.microsoft.com/office/drawing/2014/main" id="{95C76F41-048D-47F7-B56B-D98DD33CF90B}"/>
                  </a:ext>
                </a:extLst>
              </p:cNvPr>
              <p:cNvSpPr txBox="1">
                <a:spLocks noRot="1" noChangeAspect="1" noMove="1" noResize="1" noEditPoints="1" noAdjustHandles="1" noChangeArrowheads="1" noChangeShapeType="1" noTextEdit="1"/>
              </p:cNvSpPr>
              <p:nvPr/>
            </p:nvSpPr>
            <p:spPr>
              <a:xfrm>
                <a:off x="6640512" y="2024917"/>
                <a:ext cx="4125254" cy="19514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8DC44A2F-B2A0-4A19-9E62-0C4713D9A596}"/>
                  </a:ext>
                </a:extLst>
              </p:cNvPr>
              <p:cNvSpPr txBox="1"/>
              <p:nvPr/>
            </p:nvSpPr>
            <p:spPr>
              <a:xfrm>
                <a:off x="818401" y="4099938"/>
                <a:ext cx="2977222" cy="1658597"/>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1</m:t>
                          </m:r>
                        </m:sub>
                      </m:sSub>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1</m:t>
                              </m:r>
                            </m:sub>
                          </m:sSub>
                        </m:den>
                      </m:f>
                      <m:r>
                        <a:rPr lang="en-US" i="1">
                          <a:solidFill>
                            <a:srgbClr val="000000"/>
                          </a:solidFill>
                          <a:latin typeface="Cambria Math" panose="02040503050406030204" pitchFamily="18" charset="0"/>
                        </a:rPr>
                        <m:t>∗100%</m:t>
                      </m:r>
                    </m:oMath>
                    <m:oMath xmlns:m="http://schemas.openxmlformats.org/officeDocument/2006/math">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7.18</m:t>
                          </m:r>
                        </m:num>
                        <m:den>
                          <m:r>
                            <a:rPr lang="en-US" i="1">
                              <a:solidFill>
                                <a:srgbClr val="000000"/>
                              </a:solidFill>
                              <a:latin typeface="Cambria Math" panose="02040503050406030204" pitchFamily="18" charset="0"/>
                            </a:rPr>
                            <m:t>499.50</m:t>
                          </m:r>
                        </m:den>
                      </m:f>
                      <m:r>
                        <a:rPr lang="en-US" i="1">
                          <a:solidFill>
                            <a:srgbClr val="000000"/>
                          </a:solidFill>
                          <a:latin typeface="Cambria Math" panose="02040503050406030204" pitchFamily="18" charset="0"/>
                        </a:rPr>
                        <m:t>∗100%</m:t>
                      </m:r>
                    </m:oMath>
                    <m:oMath xmlns:m="http://schemas.openxmlformats.org/officeDocument/2006/math">
                      <m:r>
                        <m:rPr>
                          <m:aln/>
                        </m:rP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1.44</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oMath>
                  </m:oMathPara>
                </a14:m>
                <a:endParaRPr lang="en-US"/>
              </a:p>
            </p:txBody>
          </p:sp>
        </mc:Choice>
        <mc:Fallback xmlns="">
          <p:sp>
            <p:nvSpPr>
              <p:cNvPr id="9" name="Object 8">
                <a:extLst>
                  <a:ext uri="{FF2B5EF4-FFF2-40B4-BE49-F238E27FC236}">
                    <a16:creationId xmlns:a16="http://schemas.microsoft.com/office/drawing/2014/main" id="{8DC44A2F-B2A0-4A19-9E62-0C4713D9A596}"/>
                  </a:ext>
                </a:extLst>
              </p:cNvPr>
              <p:cNvSpPr txBox="1">
                <a:spLocks noRot="1" noChangeAspect="1" noMove="1" noResize="1" noEditPoints="1" noAdjustHandles="1" noChangeArrowheads="1" noChangeShapeType="1" noTextEdit="1"/>
              </p:cNvSpPr>
              <p:nvPr/>
            </p:nvSpPr>
            <p:spPr>
              <a:xfrm>
                <a:off x="818401" y="4099938"/>
                <a:ext cx="2977222" cy="165859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1EFA1025-E377-4C2F-9B7F-1B9315F17BDE}"/>
                  </a:ext>
                </a:extLst>
              </p:cNvPr>
              <p:cNvSpPr txBox="1"/>
              <p:nvPr/>
            </p:nvSpPr>
            <p:spPr>
              <a:xfrm>
                <a:off x="6640513" y="4201064"/>
                <a:ext cx="3090083" cy="1557471"/>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2</m:t>
                          </m:r>
                        </m:sub>
                      </m:sSub>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𝑠</m:t>
                              </m:r>
                            </m:e>
                            <m:sub>
                              <m:r>
                                <a:rPr lang="en-US" i="1">
                                  <a:solidFill>
                                    <a:srgbClr val="000000"/>
                                  </a:solidFill>
                                  <a:latin typeface="Cambria Math" panose="02040503050406030204" pitchFamily="18" charset="0"/>
                                </a:rPr>
                                <m:t>2</m:t>
                              </m:r>
                            </m:sub>
                          </m:sSub>
                        </m:num>
                        <m:den>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𝑋</m:t>
                                  </m:r>
                                </m:e>
                              </m:acc>
                            </m:e>
                            <m:sub>
                              <m:r>
                                <a:rPr lang="en-US" i="1">
                                  <a:solidFill>
                                    <a:srgbClr val="000000"/>
                                  </a:solidFill>
                                  <a:latin typeface="Cambria Math" panose="02040503050406030204" pitchFamily="18" charset="0"/>
                                </a:rPr>
                                <m:t>2</m:t>
                              </m:r>
                            </m:sub>
                          </m:sSub>
                        </m:den>
                      </m:f>
                      <m:r>
                        <a:rPr lang="en-US" i="1">
                          <a:solidFill>
                            <a:srgbClr val="000000"/>
                          </a:solidFill>
                          <a:latin typeface="Cambria Math" panose="02040503050406030204" pitchFamily="18" charset="0"/>
                        </a:rPr>
                        <m:t>∗100%</m:t>
                      </m:r>
                    </m:oMath>
                    <m:oMath xmlns:m="http://schemas.openxmlformats.org/officeDocument/2006/math">
                      <m:r>
                        <m:rPr>
                          <m:aln/>
                        </m:rP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7.59</m:t>
                          </m:r>
                        </m:num>
                        <m:den>
                          <m:r>
                            <a:rPr lang="en-US" i="1">
                              <a:solidFill>
                                <a:srgbClr val="000000"/>
                              </a:solidFill>
                              <a:latin typeface="Cambria Math" panose="02040503050406030204" pitchFamily="18" charset="0"/>
                            </a:rPr>
                            <m:t>500.5</m:t>
                          </m:r>
                        </m:den>
                      </m:f>
                      <m:r>
                        <a:rPr lang="en-US" i="1">
                          <a:solidFill>
                            <a:srgbClr val="000000"/>
                          </a:solidFill>
                          <a:latin typeface="Cambria Math" panose="02040503050406030204" pitchFamily="18" charset="0"/>
                        </a:rPr>
                        <m:t>∗100%</m:t>
                      </m:r>
                    </m:oMath>
                    <m:oMath xmlns:m="http://schemas.openxmlformats.org/officeDocument/2006/math">
                      <m:r>
                        <m:rPr>
                          <m:aln/>
                        </m:rP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1.52</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oMath>
                  </m:oMathPara>
                </a14:m>
                <a:endParaRPr lang="en-US"/>
              </a:p>
            </p:txBody>
          </p:sp>
        </mc:Choice>
        <mc:Fallback xmlns="">
          <p:sp>
            <p:nvSpPr>
              <p:cNvPr id="10" name="Object 9">
                <a:extLst>
                  <a:ext uri="{FF2B5EF4-FFF2-40B4-BE49-F238E27FC236}">
                    <a16:creationId xmlns:a16="http://schemas.microsoft.com/office/drawing/2014/main" id="{1EFA1025-E377-4C2F-9B7F-1B9315F17BDE}"/>
                  </a:ext>
                </a:extLst>
              </p:cNvPr>
              <p:cNvSpPr txBox="1">
                <a:spLocks noRot="1" noChangeAspect="1" noMove="1" noResize="1" noEditPoints="1" noAdjustHandles="1" noChangeArrowheads="1" noChangeShapeType="1" noTextEdit="1"/>
              </p:cNvSpPr>
              <p:nvPr/>
            </p:nvSpPr>
            <p:spPr>
              <a:xfrm>
                <a:off x="6640513" y="4201064"/>
                <a:ext cx="3090083" cy="1557471"/>
              </a:xfrm>
              <a:prstGeom prst="rect">
                <a:avLst/>
              </a:prstGeom>
              <a:blipFill>
                <a:blip r:embed="rId7"/>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FE992665-3083-45D9-AAEF-37095D6597E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84883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DCA01-69A1-47EF-9521-91902039EF7A}"/>
              </a:ext>
            </a:extLst>
          </p:cNvPr>
          <p:cNvSpPr>
            <a:spLocks noGrp="1"/>
          </p:cNvSpPr>
          <p:nvPr>
            <p:ph idx="1"/>
          </p:nvPr>
        </p:nvSpPr>
        <p:spPr>
          <a:xfrm>
            <a:off x="845389" y="698740"/>
            <a:ext cx="10601864" cy="5336300"/>
          </a:xfrm>
        </p:spPr>
        <p:txBody>
          <a:bodyPr/>
          <a:lstStyle/>
          <a:p>
            <a:pPr marL="0" indent="0">
              <a:buNone/>
            </a:pPr>
            <a:r>
              <a:rPr lang="en-US" sz="2400" b="1" dirty="0"/>
              <a:t>Conclusion:</a:t>
            </a:r>
          </a:p>
          <a:p>
            <a:pPr marL="342900" indent="-342900">
              <a:buAutoNum type="alphaLcParenBoth"/>
            </a:pPr>
            <a:r>
              <a:rPr lang="en-US" sz="2400" dirty="0"/>
              <a:t>Machine B has slightly higher mean (500.5) than machine A (499.5)</a:t>
            </a:r>
          </a:p>
          <a:p>
            <a:pPr marL="342900" indent="-342900">
              <a:buAutoNum type="alphaLcParenBoth"/>
            </a:pPr>
            <a:r>
              <a:rPr lang="en-US" sz="2400" dirty="0"/>
              <a:t>Machine A has less variability (7.18) in filling the teabag than machine B (7.59)</a:t>
            </a:r>
          </a:p>
          <a:p>
            <a:pPr marL="342900" indent="-342900">
              <a:buAutoNum type="alphaLcParenBoth"/>
            </a:pPr>
            <a:r>
              <a:rPr lang="en-US" sz="2400" dirty="0"/>
              <a:t>Machine A is more consistent (1.44 %) in filling the teabag than machine B (1.52%)</a:t>
            </a:r>
          </a:p>
          <a:p>
            <a:pPr marL="342900" indent="-342900">
              <a:buAutoNum type="alphaLcParenBoth"/>
            </a:pPr>
            <a:r>
              <a:rPr lang="en-US" sz="2400" dirty="0"/>
              <a:t>Though there is no significant difference between two machine in terms of average, standard deviation and consistency in filling the teabags with tea, we can say machine A is more closer to the confirmation to the quality than machine B.</a:t>
            </a:r>
          </a:p>
          <a:p>
            <a:pPr marL="0" indent="0">
              <a:buNone/>
            </a:pPr>
            <a:endParaRPr lang="en-US" dirty="0"/>
          </a:p>
        </p:txBody>
      </p:sp>
      <p:sp>
        <p:nvSpPr>
          <p:cNvPr id="2" name="Footer Placeholder 1">
            <a:extLst>
              <a:ext uri="{FF2B5EF4-FFF2-40B4-BE49-F238E27FC236}">
                <a16:creationId xmlns:a16="http://schemas.microsoft.com/office/drawing/2014/main" id="{43922966-F780-482E-B836-BD3D7759193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887903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11627-CE2F-43C9-9EC8-D05A0159B4FD}"/>
              </a:ext>
            </a:extLst>
          </p:cNvPr>
          <p:cNvSpPr>
            <a:spLocks noGrp="1"/>
          </p:cNvSpPr>
          <p:nvPr>
            <p:ph idx="1"/>
          </p:nvPr>
        </p:nvSpPr>
        <p:spPr>
          <a:xfrm>
            <a:off x="773723" y="580292"/>
            <a:ext cx="10735408" cy="5454748"/>
          </a:xfrm>
        </p:spPr>
        <p:txBody>
          <a:bodyPr>
            <a:normAutofit/>
          </a:bodyPr>
          <a:lstStyle/>
          <a:p>
            <a:pPr marL="0" indent="0">
              <a:buNone/>
            </a:pPr>
            <a:r>
              <a:rPr lang="en-US" b="1" dirty="0"/>
              <a:t>Example 3</a:t>
            </a:r>
            <a:r>
              <a:rPr lang="en-US" dirty="0"/>
              <a:t>: In a certain test for which the pass marks is 30, the distribution of marks of passing candidates classified by sex (boys and girls) were as given below.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342900" indent="-342900">
              <a:buAutoNum type="alphaLcParenBoth"/>
            </a:pPr>
            <a:endParaRPr lang="en-US" dirty="0"/>
          </a:p>
          <a:p>
            <a:pPr marL="342900" indent="-342900">
              <a:buAutoNum type="alphaLcParenBoth"/>
            </a:pPr>
            <a:r>
              <a:rPr lang="en-US" dirty="0"/>
              <a:t>Find the mean and standard deviation of marks obtained by the boys and girls in the test.</a:t>
            </a:r>
          </a:p>
          <a:p>
            <a:pPr marL="342900" indent="-342900">
              <a:buAutoNum type="alphaLcParenBoth"/>
            </a:pPr>
            <a:r>
              <a:rPr lang="en-US" dirty="0"/>
              <a:t>Compute coefficient of variation of marks obtained by boys and girls in the test and comment on the consistency of performance for two groups.</a:t>
            </a:r>
          </a:p>
          <a:p>
            <a:pPr marL="0" indent="0">
              <a:buNone/>
            </a:pPr>
            <a:endParaRPr lang="en-US" dirty="0"/>
          </a:p>
        </p:txBody>
      </p:sp>
      <p:graphicFrame>
        <p:nvGraphicFramePr>
          <p:cNvPr id="7" name="Table 7">
            <a:extLst>
              <a:ext uri="{FF2B5EF4-FFF2-40B4-BE49-F238E27FC236}">
                <a16:creationId xmlns:a16="http://schemas.microsoft.com/office/drawing/2014/main" id="{F40170BA-4AFF-4BB6-ABD6-D31C07CBB9F4}"/>
              </a:ext>
            </a:extLst>
          </p:cNvPr>
          <p:cNvGraphicFramePr>
            <a:graphicFrameLocks noGrp="1"/>
          </p:cNvGraphicFramePr>
          <p:nvPr>
            <p:extLst>
              <p:ext uri="{D42A27DB-BD31-4B8C-83A1-F6EECF244321}">
                <p14:modId xmlns:p14="http://schemas.microsoft.com/office/powerpoint/2010/main" val="837782048"/>
              </p:ext>
            </p:extLst>
          </p:nvPr>
        </p:nvGraphicFramePr>
        <p:xfrm>
          <a:off x="905772" y="1392526"/>
          <a:ext cx="5527617" cy="2966720"/>
        </p:xfrm>
        <a:graphic>
          <a:graphicData uri="http://schemas.openxmlformats.org/drawingml/2006/table">
            <a:tbl>
              <a:tblPr firstRow="1" bandRow="1">
                <a:tableStyleId>{69012ECD-51FC-41F1-AA8D-1B2483CD663E}</a:tableStyleId>
              </a:tblPr>
              <a:tblGrid>
                <a:gridCol w="1842539">
                  <a:extLst>
                    <a:ext uri="{9D8B030D-6E8A-4147-A177-3AD203B41FA5}">
                      <a16:colId xmlns:a16="http://schemas.microsoft.com/office/drawing/2014/main" val="2635984722"/>
                    </a:ext>
                  </a:extLst>
                </a:gridCol>
                <a:gridCol w="1842539">
                  <a:extLst>
                    <a:ext uri="{9D8B030D-6E8A-4147-A177-3AD203B41FA5}">
                      <a16:colId xmlns:a16="http://schemas.microsoft.com/office/drawing/2014/main" val="4051932440"/>
                    </a:ext>
                  </a:extLst>
                </a:gridCol>
                <a:gridCol w="1842539">
                  <a:extLst>
                    <a:ext uri="{9D8B030D-6E8A-4147-A177-3AD203B41FA5}">
                      <a16:colId xmlns:a16="http://schemas.microsoft.com/office/drawing/2014/main" val="2799177906"/>
                    </a:ext>
                  </a:extLst>
                </a:gridCol>
              </a:tblGrid>
              <a:tr h="370840">
                <a:tc>
                  <a:txBody>
                    <a:bodyPr/>
                    <a:lstStyle/>
                    <a:p>
                      <a:r>
                        <a:rPr lang="en-US" dirty="0"/>
                        <a:t>Marks</a:t>
                      </a:r>
                    </a:p>
                  </a:txBody>
                  <a:tcPr/>
                </a:tc>
                <a:tc>
                  <a:txBody>
                    <a:bodyPr/>
                    <a:lstStyle/>
                    <a:p>
                      <a:r>
                        <a:rPr lang="en-US" dirty="0"/>
                        <a:t>No. of boys</a:t>
                      </a:r>
                    </a:p>
                  </a:txBody>
                  <a:tcPr/>
                </a:tc>
                <a:tc>
                  <a:txBody>
                    <a:bodyPr/>
                    <a:lstStyle/>
                    <a:p>
                      <a:r>
                        <a:rPr lang="en-US" dirty="0"/>
                        <a:t>No. of girls</a:t>
                      </a:r>
                    </a:p>
                  </a:txBody>
                  <a:tcPr/>
                </a:tc>
                <a:extLst>
                  <a:ext uri="{0D108BD9-81ED-4DB2-BD59-A6C34878D82A}">
                    <a16:rowId xmlns:a16="http://schemas.microsoft.com/office/drawing/2014/main" val="4148724992"/>
                  </a:ext>
                </a:extLst>
              </a:tr>
              <a:tr h="370840">
                <a:tc>
                  <a:txBody>
                    <a:bodyPr/>
                    <a:lstStyle/>
                    <a:p>
                      <a:r>
                        <a:rPr lang="en-US" dirty="0"/>
                        <a:t>30 – 34</a:t>
                      </a:r>
                    </a:p>
                  </a:txBody>
                  <a:tcPr/>
                </a:tc>
                <a:tc>
                  <a:txBody>
                    <a:bodyPr/>
                    <a:lstStyle/>
                    <a:p>
                      <a:r>
                        <a:rPr lang="en-US" dirty="0"/>
                        <a:t>5</a:t>
                      </a:r>
                    </a:p>
                  </a:txBody>
                  <a:tcPr/>
                </a:tc>
                <a:tc>
                  <a:txBody>
                    <a:bodyPr/>
                    <a:lstStyle/>
                    <a:p>
                      <a:r>
                        <a:rPr lang="en-US" dirty="0"/>
                        <a:t>15</a:t>
                      </a:r>
                    </a:p>
                  </a:txBody>
                  <a:tcPr/>
                </a:tc>
                <a:extLst>
                  <a:ext uri="{0D108BD9-81ED-4DB2-BD59-A6C34878D82A}">
                    <a16:rowId xmlns:a16="http://schemas.microsoft.com/office/drawing/2014/main" val="2056702315"/>
                  </a:ext>
                </a:extLst>
              </a:tr>
              <a:tr h="370840">
                <a:tc>
                  <a:txBody>
                    <a:bodyPr/>
                    <a:lstStyle/>
                    <a:p>
                      <a:r>
                        <a:rPr lang="en-US" dirty="0"/>
                        <a:t>35 – 39</a:t>
                      </a:r>
                    </a:p>
                  </a:txBody>
                  <a:tcPr/>
                </a:tc>
                <a:tc>
                  <a:txBody>
                    <a:bodyPr/>
                    <a:lstStyle/>
                    <a:p>
                      <a:r>
                        <a:rPr lang="en-US" dirty="0"/>
                        <a:t>10</a:t>
                      </a:r>
                    </a:p>
                  </a:txBody>
                  <a:tcPr/>
                </a:tc>
                <a:tc>
                  <a:txBody>
                    <a:bodyPr/>
                    <a:lstStyle/>
                    <a:p>
                      <a:r>
                        <a:rPr lang="en-US" dirty="0"/>
                        <a:t>25</a:t>
                      </a:r>
                    </a:p>
                  </a:txBody>
                  <a:tcPr/>
                </a:tc>
                <a:extLst>
                  <a:ext uri="{0D108BD9-81ED-4DB2-BD59-A6C34878D82A}">
                    <a16:rowId xmlns:a16="http://schemas.microsoft.com/office/drawing/2014/main" val="535808908"/>
                  </a:ext>
                </a:extLst>
              </a:tr>
              <a:tr h="370840">
                <a:tc>
                  <a:txBody>
                    <a:bodyPr/>
                    <a:lstStyle/>
                    <a:p>
                      <a:r>
                        <a:rPr lang="en-US" dirty="0"/>
                        <a:t>40 – 44</a:t>
                      </a:r>
                    </a:p>
                  </a:txBody>
                  <a:tcPr/>
                </a:tc>
                <a:tc>
                  <a:txBody>
                    <a:bodyPr/>
                    <a:lstStyle/>
                    <a:p>
                      <a:r>
                        <a:rPr lang="en-US" dirty="0"/>
                        <a:t>15</a:t>
                      </a:r>
                    </a:p>
                  </a:txBody>
                  <a:tcPr/>
                </a:tc>
                <a:tc>
                  <a:txBody>
                    <a:bodyPr/>
                    <a:lstStyle/>
                    <a:p>
                      <a:r>
                        <a:rPr lang="en-US" dirty="0"/>
                        <a:t>30</a:t>
                      </a:r>
                    </a:p>
                  </a:txBody>
                  <a:tcPr/>
                </a:tc>
                <a:extLst>
                  <a:ext uri="{0D108BD9-81ED-4DB2-BD59-A6C34878D82A}">
                    <a16:rowId xmlns:a16="http://schemas.microsoft.com/office/drawing/2014/main" val="2403305086"/>
                  </a:ext>
                </a:extLst>
              </a:tr>
              <a:tr h="370840">
                <a:tc>
                  <a:txBody>
                    <a:bodyPr/>
                    <a:lstStyle/>
                    <a:p>
                      <a:r>
                        <a:rPr lang="en-US" dirty="0"/>
                        <a:t>45 – 49</a:t>
                      </a:r>
                    </a:p>
                  </a:txBody>
                  <a:tcPr/>
                </a:tc>
                <a:tc>
                  <a:txBody>
                    <a:bodyPr/>
                    <a:lstStyle/>
                    <a:p>
                      <a:r>
                        <a:rPr lang="en-US" dirty="0"/>
                        <a:t>30</a:t>
                      </a:r>
                    </a:p>
                  </a:txBody>
                  <a:tcPr/>
                </a:tc>
                <a:tc>
                  <a:txBody>
                    <a:bodyPr/>
                    <a:lstStyle/>
                    <a:p>
                      <a:r>
                        <a:rPr lang="en-US" dirty="0"/>
                        <a:t>14</a:t>
                      </a:r>
                    </a:p>
                  </a:txBody>
                  <a:tcPr/>
                </a:tc>
                <a:extLst>
                  <a:ext uri="{0D108BD9-81ED-4DB2-BD59-A6C34878D82A}">
                    <a16:rowId xmlns:a16="http://schemas.microsoft.com/office/drawing/2014/main" val="2824531773"/>
                  </a:ext>
                </a:extLst>
              </a:tr>
              <a:tr h="370840">
                <a:tc>
                  <a:txBody>
                    <a:bodyPr/>
                    <a:lstStyle/>
                    <a:p>
                      <a:r>
                        <a:rPr lang="en-US" dirty="0"/>
                        <a:t>50 – 54 </a:t>
                      </a:r>
                    </a:p>
                  </a:txBody>
                  <a:tcPr/>
                </a:tc>
                <a:tc>
                  <a:txBody>
                    <a:bodyPr/>
                    <a:lstStyle/>
                    <a:p>
                      <a:r>
                        <a:rPr lang="en-US" dirty="0"/>
                        <a:t>5</a:t>
                      </a:r>
                    </a:p>
                  </a:txBody>
                  <a:tcPr/>
                </a:tc>
                <a:tc>
                  <a:txBody>
                    <a:bodyPr/>
                    <a:lstStyle/>
                    <a:p>
                      <a:r>
                        <a:rPr lang="en-US" dirty="0"/>
                        <a:t>5</a:t>
                      </a:r>
                    </a:p>
                  </a:txBody>
                  <a:tcPr/>
                </a:tc>
                <a:extLst>
                  <a:ext uri="{0D108BD9-81ED-4DB2-BD59-A6C34878D82A}">
                    <a16:rowId xmlns:a16="http://schemas.microsoft.com/office/drawing/2014/main" val="2696689815"/>
                  </a:ext>
                </a:extLst>
              </a:tr>
              <a:tr h="370840">
                <a:tc>
                  <a:txBody>
                    <a:bodyPr/>
                    <a:lstStyle/>
                    <a:p>
                      <a:r>
                        <a:rPr lang="en-US" dirty="0"/>
                        <a:t>55 – 59</a:t>
                      </a:r>
                    </a:p>
                  </a:txBody>
                  <a:tcPr/>
                </a:tc>
                <a:tc>
                  <a:txBody>
                    <a:bodyPr/>
                    <a:lstStyle/>
                    <a:p>
                      <a:r>
                        <a:rPr lang="en-US" dirty="0"/>
                        <a:t>5</a:t>
                      </a:r>
                    </a:p>
                  </a:txBody>
                  <a:tcPr/>
                </a:tc>
                <a:tc>
                  <a:txBody>
                    <a:bodyPr/>
                    <a:lstStyle/>
                    <a:p>
                      <a:r>
                        <a:rPr lang="en-US" dirty="0"/>
                        <a:t>1</a:t>
                      </a:r>
                    </a:p>
                  </a:txBody>
                  <a:tcPr/>
                </a:tc>
                <a:extLst>
                  <a:ext uri="{0D108BD9-81ED-4DB2-BD59-A6C34878D82A}">
                    <a16:rowId xmlns:a16="http://schemas.microsoft.com/office/drawing/2014/main" val="3038874723"/>
                  </a:ext>
                </a:extLst>
              </a:tr>
              <a:tr h="370840">
                <a:tc>
                  <a:txBody>
                    <a:bodyPr/>
                    <a:lstStyle/>
                    <a:p>
                      <a:r>
                        <a:rPr lang="en-US" dirty="0"/>
                        <a:t>Total</a:t>
                      </a:r>
                    </a:p>
                  </a:txBody>
                  <a:tcPr/>
                </a:tc>
                <a:tc>
                  <a:txBody>
                    <a:bodyPr/>
                    <a:lstStyle/>
                    <a:p>
                      <a:r>
                        <a:rPr lang="en-US" dirty="0"/>
                        <a:t>70</a:t>
                      </a:r>
                    </a:p>
                  </a:txBody>
                  <a:tcPr/>
                </a:tc>
                <a:tc>
                  <a:txBody>
                    <a:bodyPr/>
                    <a:lstStyle/>
                    <a:p>
                      <a:r>
                        <a:rPr lang="en-US" dirty="0"/>
                        <a:t>90</a:t>
                      </a:r>
                    </a:p>
                  </a:txBody>
                  <a:tcPr/>
                </a:tc>
                <a:extLst>
                  <a:ext uri="{0D108BD9-81ED-4DB2-BD59-A6C34878D82A}">
                    <a16:rowId xmlns:a16="http://schemas.microsoft.com/office/drawing/2014/main" val="2439085249"/>
                  </a:ext>
                </a:extLst>
              </a:tr>
            </a:tbl>
          </a:graphicData>
        </a:graphic>
      </p:graphicFrame>
      <p:sp>
        <p:nvSpPr>
          <p:cNvPr id="2" name="Footer Placeholder 1">
            <a:extLst>
              <a:ext uri="{FF2B5EF4-FFF2-40B4-BE49-F238E27FC236}">
                <a16:creationId xmlns:a16="http://schemas.microsoft.com/office/drawing/2014/main" id="{38E26CD2-F2F0-4CBD-9DB5-AAD870203A5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4523249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28FE05-4E96-4641-9F24-EE9AED1B540A}"/>
              </a:ext>
            </a:extLst>
          </p:cNvPr>
          <p:cNvSpPr>
            <a:spLocks noGrp="1"/>
          </p:cNvSpPr>
          <p:nvPr>
            <p:ph idx="1"/>
          </p:nvPr>
        </p:nvSpPr>
        <p:spPr>
          <a:xfrm>
            <a:off x="636103" y="586409"/>
            <a:ext cx="10962861" cy="5448631"/>
          </a:xfrm>
        </p:spPr>
        <p:txBody>
          <a:bodyPr>
            <a:normAutofit lnSpcReduction="10000"/>
          </a:bodyPr>
          <a:lstStyle/>
          <a:p>
            <a:pPr marL="0" indent="0">
              <a:buNone/>
            </a:pPr>
            <a:r>
              <a:rPr lang="en-US" b="1" dirty="0"/>
              <a:t>Example 1</a:t>
            </a:r>
            <a:r>
              <a:rPr lang="en-US" dirty="0"/>
              <a:t>:</a:t>
            </a:r>
          </a:p>
          <a:p>
            <a:pPr marL="0" indent="0">
              <a:buNone/>
            </a:pPr>
            <a:r>
              <a:rPr lang="en-US" sz="1800" dirty="0">
                <a:latin typeface="+mj-lt"/>
              </a:rPr>
              <a:t>The scores of individual students in the examination and coursework component of a module are given below:</a:t>
            </a:r>
          </a:p>
          <a:p>
            <a:pPr marL="0" indent="0">
              <a:buNone/>
            </a:pPr>
            <a:endParaRPr lang="en-US" sz="1800" dirty="0">
              <a:latin typeface="+mj-lt"/>
            </a:endParaRPr>
          </a:p>
          <a:p>
            <a:pPr marL="0" indent="0">
              <a:buNone/>
            </a:pPr>
            <a:endParaRPr lang="en-US" dirty="0">
              <a:latin typeface="+mj-lt"/>
            </a:endParaRPr>
          </a:p>
          <a:p>
            <a:pPr marL="0" indent="0">
              <a:buNone/>
            </a:pPr>
            <a:endParaRPr lang="en-US" sz="1800" dirty="0">
              <a:latin typeface="+mj-lt"/>
            </a:endParaRPr>
          </a:p>
          <a:p>
            <a:pPr marL="0" indent="0">
              <a:buNone/>
            </a:pPr>
            <a:endParaRPr lang="en-US" dirty="0">
              <a:latin typeface="+mj-lt"/>
            </a:endParaRPr>
          </a:p>
          <a:p>
            <a:pPr marL="0" indent="0">
              <a:buNone/>
            </a:pPr>
            <a:r>
              <a:rPr lang="en-US" dirty="0">
                <a:latin typeface="+mj-lt"/>
              </a:rPr>
              <a:t>Compute the coefficient of variation for both component and conclude which component is more variable for a module?</a:t>
            </a:r>
          </a:p>
          <a:p>
            <a:pPr marL="0" indent="0">
              <a:buNone/>
            </a:pPr>
            <a:r>
              <a:rPr lang="en-US" b="1" dirty="0">
                <a:latin typeface="+mj-lt"/>
              </a:rPr>
              <a:t>Example 2:</a:t>
            </a:r>
            <a:r>
              <a:rPr lang="en-US" dirty="0">
                <a:latin typeface="+mj-lt"/>
              </a:rPr>
              <a:t> 60 students were asked how many books they had read over the past 12 months. The results are listed in the frequency distribution table below.</a:t>
            </a:r>
          </a:p>
          <a:p>
            <a:pPr marL="0" indent="0">
              <a:buNone/>
            </a:pPr>
            <a:r>
              <a:rPr lang="en-US" dirty="0">
                <a:latin typeface="+mj-lt"/>
              </a:rPr>
              <a:t>No. of books	0	1	2	3	4	5	6	7	8</a:t>
            </a:r>
          </a:p>
          <a:p>
            <a:pPr marL="0" indent="0">
              <a:buNone/>
            </a:pPr>
            <a:r>
              <a:rPr lang="en-US" dirty="0">
                <a:latin typeface="+mj-lt"/>
              </a:rPr>
              <a:t>No. of students	1	6	8	10	13	8	5	6	3</a:t>
            </a:r>
          </a:p>
          <a:p>
            <a:pPr marL="342900" indent="-342900">
              <a:buAutoNum type="alphaLcParenBoth"/>
            </a:pPr>
            <a:r>
              <a:rPr lang="en-US" dirty="0">
                <a:latin typeface="+mj-lt"/>
              </a:rPr>
              <a:t>Compute mean and standard deviation</a:t>
            </a:r>
          </a:p>
          <a:p>
            <a:pPr marL="342900" indent="-342900">
              <a:buAutoNum type="alphaLcParenBoth"/>
            </a:pPr>
            <a:r>
              <a:rPr lang="en-US" dirty="0">
                <a:latin typeface="+mj-lt"/>
              </a:rPr>
              <a:t>Compute coefficient of variation.</a:t>
            </a:r>
          </a:p>
          <a:p>
            <a:pPr marL="0" indent="0">
              <a:buNone/>
            </a:pPr>
            <a:endParaRPr lang="en-US" dirty="0">
              <a:latin typeface="+mj-lt"/>
            </a:endParaRPr>
          </a:p>
          <a:p>
            <a:pPr marL="0" indent="0">
              <a:buNone/>
            </a:pPr>
            <a:endParaRPr lang="en-US" dirty="0"/>
          </a:p>
        </p:txBody>
      </p:sp>
      <p:pic>
        <p:nvPicPr>
          <p:cNvPr id="5" name="Picture 4">
            <a:extLst>
              <a:ext uri="{FF2B5EF4-FFF2-40B4-BE49-F238E27FC236}">
                <a16:creationId xmlns:a16="http://schemas.microsoft.com/office/drawing/2014/main" id="{535CB51D-549C-4D05-BE56-8418E1924A99}"/>
              </a:ext>
            </a:extLst>
          </p:cNvPr>
          <p:cNvPicPr>
            <a:picLocks noChangeAspect="1"/>
          </p:cNvPicPr>
          <p:nvPr/>
        </p:nvPicPr>
        <p:blipFill>
          <a:blip r:embed="rId2"/>
          <a:stretch>
            <a:fillRect/>
          </a:stretch>
        </p:blipFill>
        <p:spPr>
          <a:xfrm>
            <a:off x="749752" y="1714126"/>
            <a:ext cx="10473836" cy="1237795"/>
          </a:xfrm>
          <a:prstGeom prst="rect">
            <a:avLst/>
          </a:prstGeom>
        </p:spPr>
      </p:pic>
      <p:sp>
        <p:nvSpPr>
          <p:cNvPr id="2" name="Footer Placeholder 1">
            <a:extLst>
              <a:ext uri="{FF2B5EF4-FFF2-40B4-BE49-F238E27FC236}">
                <a16:creationId xmlns:a16="http://schemas.microsoft.com/office/drawing/2014/main" id="{8090EFFF-0AFE-4D1B-B87D-A26CFAB75D3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016111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9016-7D00-40DC-BB0B-BC72F851E6CA}"/>
              </a:ext>
            </a:extLst>
          </p:cNvPr>
          <p:cNvSpPr>
            <a:spLocks noGrp="1"/>
          </p:cNvSpPr>
          <p:nvPr>
            <p:ph type="title"/>
          </p:nvPr>
        </p:nvSpPr>
        <p:spPr>
          <a:xfrm>
            <a:off x="762000" y="562366"/>
            <a:ext cx="10058400" cy="521188"/>
          </a:xfrm>
        </p:spPr>
        <p:txBody>
          <a:bodyPr>
            <a:normAutofit/>
          </a:bodyPr>
          <a:lstStyle/>
          <a:p>
            <a:r>
              <a:rPr lang="en-US" sz="2800" b="1" dirty="0"/>
              <a:t>Mean Deviation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1C72AF-E497-49B6-9A8F-7D58830FE4E0}"/>
                  </a:ext>
                </a:extLst>
              </p:cNvPr>
              <p:cNvSpPr>
                <a:spLocks noGrp="1"/>
              </p:cNvSpPr>
              <p:nvPr>
                <p:ph idx="1"/>
              </p:nvPr>
            </p:nvSpPr>
            <p:spPr>
              <a:xfrm>
                <a:off x="761999" y="1399309"/>
                <a:ext cx="10584873" cy="4635731"/>
              </a:xfrm>
            </p:spPr>
            <p:txBody>
              <a:bodyPr/>
              <a:lstStyle/>
              <a:p>
                <a:pPr marL="0" indent="0">
                  <a:buNone/>
                </a:pPr>
                <a:r>
                  <a:rPr lang="en-US" sz="1800" dirty="0">
                    <a:effectLst/>
                    <a:latin typeface="Calibri" panose="020F0502020204030204" pitchFamily="34" charset="0"/>
                    <a:ea typeface="Times New Roman" panose="02020603050405020304" pitchFamily="18" charset="0"/>
                  </a:rPr>
                  <a:t>The mean absolute deviation (MAD) is calculated by summing the absolute deviations around the arithmetic mean (mostly of the time) and dividing by the number of observations. </a:t>
                </a:r>
              </a:p>
              <a:p>
                <a:pPr marL="0" indent="0">
                  <a:buNone/>
                </a:pPr>
                <a:r>
                  <a:rPr lang="en-US" dirty="0">
                    <a:latin typeface="Calibri" panose="020F0502020204030204" pitchFamily="34" charset="0"/>
                  </a:rPr>
                  <a:t>The mean deviation or mean absolute deviation from an average A is given by,</a:t>
                </a:r>
              </a:p>
              <a:p>
                <a:pPr marL="0" indent="0">
                  <a:buNone/>
                </a:pPr>
                <a:r>
                  <a:rPr lang="en-US" dirty="0">
                    <a:latin typeface="Calibri" panose="020F0502020204030204" pitchFamily="34" charset="0"/>
                  </a:rPr>
                  <a:t>	M.D. =  </a:t>
                </a:r>
                <a14:m>
                  <m:oMath xmlns:m="http://schemas.openxmlformats.org/officeDocument/2006/math">
                    <m:f>
                      <m:fPr>
                        <m:ctrlPr>
                          <a:rPr lang="en-US" sz="3200" i="1" smtClean="0">
                            <a:latin typeface="Cambria Math" panose="02040503050406030204" pitchFamily="18" charset="0"/>
                          </a:rPr>
                        </m:ctrlPr>
                      </m:fPr>
                      <m:num>
                        <m:nary>
                          <m:naryPr>
                            <m:chr m:val="∑"/>
                            <m:subHide m:val="on"/>
                            <m:supHide m:val="on"/>
                            <m:ctrlPr>
                              <a:rPr lang="en-US" sz="3200" i="1" smtClean="0">
                                <a:latin typeface="Cambria Math" panose="02040503050406030204" pitchFamily="18" charset="0"/>
                              </a:rPr>
                            </m:ctrlPr>
                          </m:naryPr>
                          <m:sub/>
                          <m:sup/>
                          <m:e>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𝑋</m:t>
                                </m:r>
                                <m:r>
                                  <a:rPr lang="en-US" sz="3200" b="0" i="1" smtClean="0">
                                    <a:latin typeface="Cambria Math" panose="02040503050406030204" pitchFamily="18" charset="0"/>
                                  </a:rPr>
                                  <m:t>−</m:t>
                                </m:r>
                                <m:r>
                                  <a:rPr lang="en-US" sz="3200" b="0" i="1" smtClean="0">
                                    <a:latin typeface="Cambria Math" panose="02040503050406030204" pitchFamily="18" charset="0"/>
                                  </a:rPr>
                                  <m:t>𝐴</m:t>
                                </m:r>
                              </m:e>
                            </m:d>
                          </m:e>
                        </m:nary>
                      </m:num>
                      <m:den>
                        <m:r>
                          <a:rPr lang="en-US" sz="3200" b="0" i="1" smtClean="0">
                            <a:latin typeface="Cambria Math" panose="02040503050406030204" pitchFamily="18" charset="0"/>
                          </a:rPr>
                          <m:t>𝑛</m:t>
                        </m:r>
                      </m:den>
                    </m:f>
                  </m:oMath>
                </a14:m>
                <a:endParaRPr lang="en-US" sz="3200" dirty="0"/>
              </a:p>
              <a:p>
                <a:pPr marL="0" indent="0">
                  <a:buNone/>
                </a:pPr>
                <a:r>
                  <a:rPr lang="en-US" dirty="0"/>
                  <a:t>Where,</a:t>
                </a:r>
              </a:p>
              <a:p>
                <a:pPr marL="0" indent="0">
                  <a:buNone/>
                </a:pPr>
                <a:r>
                  <a:rPr lang="en-US" dirty="0"/>
                  <a:t>	X = Data</a:t>
                </a:r>
              </a:p>
              <a:p>
                <a:pPr marL="0" indent="0">
                  <a:buNone/>
                </a:pPr>
                <a:r>
                  <a:rPr lang="en-US" dirty="0"/>
                  <a:t>	A = Average (arithmetic mean </a:t>
                </a:r>
                <a:r>
                  <a:rPr lang="en-US"/>
                  <a:t>or median </a:t>
                </a:r>
                <a:r>
                  <a:rPr lang="en-US" dirty="0"/>
                  <a:t>or mode)</a:t>
                </a:r>
              </a:p>
              <a:p>
                <a:pPr marL="0" indent="0">
                  <a:buNone/>
                </a:pPr>
                <a:r>
                  <a:rPr lang="en-US" dirty="0"/>
                  <a:t>The coefficient of mean deviation from an average A is given by,</a:t>
                </a:r>
              </a:p>
              <a:p>
                <a:pPr marL="0" indent="0">
                  <a:buNone/>
                </a:pPr>
                <a:r>
                  <a:rPr lang="en-US" dirty="0"/>
                  <a:t>	Coefficient of M.D.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𝑀𝑒𝑎𝑛</m:t>
                        </m:r>
                        <m:r>
                          <a:rPr lang="en-US" sz="2400" b="0" i="1" smtClean="0">
                            <a:latin typeface="Cambria Math" panose="02040503050406030204" pitchFamily="18" charset="0"/>
                          </a:rPr>
                          <m:t> </m:t>
                        </m:r>
                        <m:r>
                          <a:rPr lang="en-US" sz="2400" b="0" i="1" smtClean="0">
                            <a:latin typeface="Cambria Math" panose="02040503050406030204" pitchFamily="18" charset="0"/>
                          </a:rPr>
                          <m:t>𝐷𝑒𝑣𝑖𝑎𝑖𝑡𝑜𝑛</m:t>
                        </m:r>
                        <m:r>
                          <a:rPr lang="en-US" sz="2400" b="0" i="1" smtClean="0">
                            <a:latin typeface="Cambria Math" panose="02040503050406030204" pitchFamily="18" charset="0"/>
                          </a:rPr>
                          <m:t> </m:t>
                        </m:r>
                        <m:r>
                          <a:rPr lang="en-US" sz="2400" b="0" i="1" smtClean="0">
                            <a:latin typeface="Cambria Math" panose="02040503050406030204" pitchFamily="18" charset="0"/>
                          </a:rPr>
                          <m:t>𝑓𝑟𝑜𝑚</m:t>
                        </m:r>
                        <m:r>
                          <a:rPr lang="en-US" sz="2400" b="0" i="1" smtClean="0">
                            <a:latin typeface="Cambria Math" panose="02040503050406030204" pitchFamily="18" charset="0"/>
                          </a:rPr>
                          <m:t> </m:t>
                        </m:r>
                        <m:r>
                          <a:rPr lang="en-US" sz="2400" b="0" i="1" smtClean="0">
                            <a:latin typeface="Cambria Math" panose="02040503050406030204" pitchFamily="18" charset="0"/>
                          </a:rPr>
                          <m:t>𝑎𝑛</m:t>
                        </m:r>
                        <m:r>
                          <a:rPr lang="en-US" sz="2400" b="0" i="1" smtClean="0">
                            <a:latin typeface="Cambria Math" panose="02040503050406030204" pitchFamily="18" charset="0"/>
                          </a:rPr>
                          <m:t> </m:t>
                        </m:r>
                        <m:r>
                          <a:rPr lang="en-US" sz="2400" b="0" i="1" smtClean="0">
                            <a:latin typeface="Cambria Math" panose="02040503050406030204" pitchFamily="18" charset="0"/>
                          </a:rPr>
                          <m:t>𝑎𝑣𝑒𝑟𝑎𝑔𝑒</m:t>
                        </m:r>
                        <m:r>
                          <a:rPr lang="en-US" sz="2400" b="0" i="1" smtClean="0">
                            <a:latin typeface="Cambria Math" panose="02040503050406030204" pitchFamily="18" charset="0"/>
                          </a:rPr>
                          <m:t> </m:t>
                        </m:r>
                        <m:r>
                          <a:rPr lang="en-US" sz="2400" b="0" i="1" smtClean="0">
                            <a:latin typeface="Cambria Math" panose="02040503050406030204" pitchFamily="18" charset="0"/>
                          </a:rPr>
                          <m:t>𝐴</m:t>
                        </m:r>
                      </m:num>
                      <m:den>
                        <m:r>
                          <a:rPr lang="en-US" sz="2400" b="0" i="1" smtClean="0">
                            <a:latin typeface="Cambria Math" panose="02040503050406030204" pitchFamily="18" charset="0"/>
                          </a:rPr>
                          <m:t>𝐴</m:t>
                        </m:r>
                      </m:den>
                    </m:f>
                  </m:oMath>
                </a14:m>
                <a:endParaRPr lang="en-US" sz="2400" dirty="0"/>
              </a:p>
              <a:p>
                <a:pPr marL="0" indent="0">
                  <a:buNone/>
                </a:pPr>
                <a:r>
                  <a:rPr lang="en-US" sz="1800" dirty="0">
                    <a:effectLst/>
                    <a:latin typeface="Calibri" panose="020F0502020204030204" pitchFamily="34" charset="0"/>
                    <a:ea typeface="Times New Roman" panose="02020603050405020304" pitchFamily="18" charset="0"/>
                  </a:rPr>
                  <a:t>It doesn’t give satisfactory result when deviations are taken from mode as mode is ill-defined.</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2800" dirty="0"/>
              </a:p>
            </p:txBody>
          </p:sp>
        </mc:Choice>
        <mc:Fallback xmlns="">
          <p:sp>
            <p:nvSpPr>
              <p:cNvPr id="3" name="Content Placeholder 2">
                <a:extLst>
                  <a:ext uri="{FF2B5EF4-FFF2-40B4-BE49-F238E27FC236}">
                    <a16:creationId xmlns:a16="http://schemas.microsoft.com/office/drawing/2014/main" id="{691C72AF-E497-49B6-9A8F-7D58830FE4E0}"/>
                  </a:ext>
                </a:extLst>
              </p:cNvPr>
              <p:cNvSpPr>
                <a:spLocks noGrp="1" noRot="1" noChangeAspect="1" noMove="1" noResize="1" noEditPoints="1" noAdjustHandles="1" noChangeArrowheads="1" noChangeShapeType="1" noTextEdit="1"/>
              </p:cNvSpPr>
              <p:nvPr>
                <p:ph idx="1"/>
              </p:nvPr>
            </p:nvSpPr>
            <p:spPr>
              <a:xfrm>
                <a:off x="761999" y="1399309"/>
                <a:ext cx="10584873" cy="4635731"/>
              </a:xfrm>
              <a:blipFill>
                <a:blip r:embed="rId2"/>
                <a:stretch>
                  <a:fillRect l="-461" t="-78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EE52CB1-9944-4243-BA11-B3CB077FC89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0929021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1935B0-87F8-4A2A-8DE4-7F8B39CE4EA7}">
  <we:reference id="wa104178141" version="4.3.3.0" store="en-US"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CB38EC-895A-4F8F-8F75-E263501ABB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Savon</Template>
  <TotalTime>1404</TotalTime>
  <Words>4416</Words>
  <Application>Microsoft Office PowerPoint</Application>
  <PresentationFormat>Widescreen</PresentationFormat>
  <Paragraphs>672</Paragraphs>
  <Slides>30</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30</vt:i4>
      </vt:variant>
    </vt:vector>
  </HeadingPairs>
  <TitlesOfParts>
    <vt:vector size="42" baseType="lpstr">
      <vt:lpstr>Arial</vt:lpstr>
      <vt:lpstr>Arial</vt:lpstr>
      <vt:lpstr>Calibri</vt:lpstr>
      <vt:lpstr>Cambria Math</vt:lpstr>
      <vt:lpstr>Century Gothic</vt:lpstr>
      <vt:lpstr>Garamond</vt:lpstr>
      <vt:lpstr>Lato</vt:lpstr>
      <vt:lpstr>Times New Roman</vt:lpstr>
      <vt:lpstr>Wingdings</vt:lpstr>
      <vt:lpstr>Savon</vt:lpstr>
      <vt:lpstr>Equation</vt:lpstr>
      <vt:lpstr>Worksheet</vt:lpstr>
      <vt:lpstr>Variability</vt:lpstr>
      <vt:lpstr>PowerPoint Presentation</vt:lpstr>
      <vt:lpstr>PowerPoint Presentation</vt:lpstr>
      <vt:lpstr>Measures of variation or spread may be either absolute of relative. </vt:lpstr>
      <vt:lpstr>Range</vt:lpstr>
      <vt:lpstr>PowerPoint Presentation</vt:lpstr>
      <vt:lpstr>Fractiles or Partitioning values</vt:lpstr>
      <vt:lpstr>Inter-fractile Range</vt:lpstr>
      <vt:lpstr>PowerPoint Presentation</vt:lpstr>
      <vt:lpstr>Box-and-whisker plot</vt:lpstr>
      <vt:lpstr>PowerPoint Presentation</vt:lpstr>
      <vt:lpstr>Computing partitioning values in frequency distribution</vt:lpstr>
      <vt:lpstr>PowerPoint Presentation</vt:lpstr>
      <vt:lpstr>Standard Deviation</vt:lpstr>
      <vt:lpstr>PowerPoint Presentation</vt:lpstr>
      <vt:lpstr>PowerPoint Presentation</vt:lpstr>
      <vt:lpstr>PowerPoint Presentation</vt:lpstr>
      <vt:lpstr>Uses of standard deviation</vt:lpstr>
      <vt:lpstr>Combined Standard Deviation</vt:lpstr>
      <vt:lpstr>Pooled SD or Combined SD</vt:lpstr>
      <vt:lpstr>Coefficient of Variation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Mean Deviation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Variability</dc:title>
  <dc:creator>Santosh Chhatkuli</dc:creator>
  <cp:lastModifiedBy>Santosh Chhatkuli</cp:lastModifiedBy>
  <cp:revision>192</cp:revision>
  <dcterms:created xsi:type="dcterms:W3CDTF">2020-09-03T12:39:32Z</dcterms:created>
  <dcterms:modified xsi:type="dcterms:W3CDTF">2024-06-09T04:05:48Z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