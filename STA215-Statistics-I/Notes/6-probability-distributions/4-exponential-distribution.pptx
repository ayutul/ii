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sldIdLst>
    <p:sldId id="268" r:id="rId5"/>
    <p:sldId id="311" r:id="rId6"/>
    <p:sldId id="313" r:id="rId7"/>
    <p:sldId id="312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9" autoAdjust="0"/>
  </p:normalViewPr>
  <p:slideViewPr>
    <p:cSldViewPr snapToGrid="0">
      <p:cViewPr varScale="1">
        <p:scale>
          <a:sx n="63" d="100"/>
          <a:sy n="63" d="100"/>
        </p:scale>
        <p:origin x="6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DE71A-DB37-461C-BA66-C90AC2496D44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0BAF-ABF1-4155-908B-A278370F7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21F1AE2-6710-4188-912E-E00D62552D1F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325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05B6-F1E6-43DA-BAC9-6B01E80E6DB5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9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C195ED2-8BF6-4AB1-AC60-49264004F4F0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9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8BF8-8EBF-4E04-9A3F-9235C6E11C1A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08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078F-DA64-4C11-976C-90933A99AD4E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2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DEB98-777B-4998-89BD-4519168AAB48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19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6DBA2-4682-42AD-A61B-A7F7D4EA83FD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6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7052-B560-41F3-B887-8DED95235618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0360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FEC970A-E72C-4B6E-83AE-312BD5605F7C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5117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99A2A-CB4B-4EF5-A059-2B1A3ADD4C9F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8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0BC2A-C9AF-424A-9691-2582A7C6B4E7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61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E02A49-84C8-4676-A735-F471B01EFF50}" type="datetime1">
              <a:rPr lang="en-US" smtClean="0"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CopyRight: Santosh Chhatkuli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72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615" y="639097"/>
            <a:ext cx="6608631" cy="3686015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EXPONENTIAL DISTRIBUTUION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SANTOSH CHHATKULI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0E32B-28C6-4A36-B28C-E77166FD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567D-BE1C-4CAF-9D1A-49680DAF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463" y="514244"/>
            <a:ext cx="10058400" cy="456364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7DA6D-A1DD-4DD3-A1AC-D0680C055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463" y="1266738"/>
            <a:ext cx="10837177" cy="4848836"/>
          </a:xfrm>
        </p:spPr>
        <p:txBody>
          <a:bodyPr>
            <a:normAutofit/>
          </a:bodyPr>
          <a:lstStyle/>
          <a:p>
            <a:r>
              <a:rPr lang="en-US" sz="2800" dirty="0"/>
              <a:t>The </a:t>
            </a:r>
            <a:r>
              <a:rPr lang="en-US" sz="2800" b="1" dirty="0"/>
              <a:t>exponential distribution</a:t>
            </a:r>
            <a:r>
              <a:rPr lang="en-US" sz="2800" dirty="0"/>
              <a:t> is a continuous </a:t>
            </a:r>
            <a:r>
              <a:rPr lang="en-US" sz="2800" b="1" dirty="0"/>
              <a:t>probability distribution used</a:t>
            </a:r>
            <a:r>
              <a:rPr lang="en-US" sz="2800" dirty="0"/>
              <a:t> to model the time we need to wait before a given event occurs. It is the continuous counterpart of the geometric </a:t>
            </a:r>
            <a:r>
              <a:rPr lang="en-US" sz="2800" b="1" dirty="0"/>
              <a:t>distribution</a:t>
            </a:r>
            <a:r>
              <a:rPr lang="en-US" sz="2800" dirty="0"/>
              <a:t>, which is instead discrete. </a:t>
            </a:r>
          </a:p>
          <a:p>
            <a:r>
              <a:rPr lang="en-US" sz="2800" dirty="0"/>
              <a:t>It is the probability distribution that describes the time between events in a Poisson point process i.e., a process in which events occur continuously and independently at a constant average rate </a:t>
            </a:r>
            <a:r>
              <a:rPr lang="el-GR" sz="2800" dirty="0"/>
              <a:t>λ</a:t>
            </a:r>
            <a:r>
              <a:rPr lang="en-US" sz="2800" dirty="0"/>
              <a:t>. </a:t>
            </a:r>
          </a:p>
          <a:p>
            <a:r>
              <a:rPr lang="en-GB" sz="2800" dirty="0"/>
              <a:t>It is mostly used in product reliability.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75132-7D6A-4031-B745-38E60632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25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A4698-995E-4A61-98F1-49F6F9CAA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467" y="829733"/>
            <a:ext cx="10532533" cy="5205307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Exponential distribution may be used to answers the following questions.</a:t>
            </a:r>
            <a:endParaRPr lang="en-US" sz="2400" dirty="0"/>
          </a:p>
          <a:p>
            <a:pPr marL="342900" lvl="0" indent="-342900">
              <a:buFont typeface="+mj-lt"/>
              <a:buAutoNum type="arabicPeriod"/>
            </a:pPr>
            <a:r>
              <a:rPr lang="en-GB" sz="2400" dirty="0"/>
              <a:t>How much time will elapse an earthquake occurs in a given region?</a:t>
            </a:r>
            <a:endParaRPr lang="en-US" sz="2400" dirty="0"/>
          </a:p>
          <a:p>
            <a:pPr marL="342900" lvl="0" indent="-342900">
              <a:buFont typeface="+mj-lt"/>
              <a:buAutoNum type="arabicPeriod"/>
            </a:pPr>
            <a:r>
              <a:rPr lang="en-GB" sz="2400" dirty="0"/>
              <a:t>How long do we need to wait before a customer enters our shop?</a:t>
            </a:r>
            <a:endParaRPr lang="en-US" sz="2400" dirty="0"/>
          </a:p>
          <a:p>
            <a:pPr marL="342900" lvl="0" indent="-342900">
              <a:buFont typeface="+mj-lt"/>
              <a:buAutoNum type="arabicPeriod"/>
            </a:pPr>
            <a:r>
              <a:rPr lang="en-GB" sz="2400" dirty="0"/>
              <a:t>How long will it take before a call centre receive the next phone call?</a:t>
            </a:r>
            <a:endParaRPr lang="en-US" sz="2400" dirty="0"/>
          </a:p>
          <a:p>
            <a:pPr marL="342900" lvl="0" indent="-342900">
              <a:buFont typeface="+mj-lt"/>
              <a:buAutoNum type="arabicPeriod"/>
            </a:pPr>
            <a:r>
              <a:rPr lang="en-GB" sz="2400" dirty="0"/>
              <a:t>How long will a piece of machine work without breaking down?</a:t>
            </a:r>
            <a:endParaRPr lang="en-US" sz="2400" dirty="0"/>
          </a:p>
          <a:p>
            <a:pPr marL="342900" lvl="0" indent="-342900">
              <a:buFont typeface="+mj-lt"/>
              <a:buAutoNum type="arabicPeriod"/>
            </a:pPr>
            <a:r>
              <a:rPr lang="en-GB" sz="2400" dirty="0"/>
              <a:t>How long battery in the mobile device lasts before it is replaced?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6CFBCA-683D-4A95-9BBC-482EEB0E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92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D3A0-FF5F-4855-B70D-6C85C51A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842" y="615750"/>
            <a:ext cx="10058400" cy="414419"/>
          </a:xfrm>
        </p:spPr>
        <p:txBody>
          <a:bodyPr>
            <a:noAutofit/>
          </a:bodyPr>
          <a:lstStyle/>
          <a:p>
            <a:r>
              <a:rPr lang="en-US" sz="2400" b="1" dirty="0"/>
              <a:t>Probability Density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AB4020-6D0D-4415-87B0-A349338FAB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9842" y="1258349"/>
                <a:ext cx="10813409" cy="49839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 random variable X is said to follow exponential distribution if its probability density function is given by,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	         	 0 	otherwise</a:t>
                </a:r>
              </a:p>
              <a:p>
                <a:pPr marL="0" indent="0">
                  <a:buNone/>
                </a:pPr>
                <a:r>
                  <a:rPr lang="en-US" sz="2400" dirty="0"/>
                  <a:t>where, </a:t>
                </a:r>
                <a:r>
                  <a:rPr lang="el-GR" sz="2400" dirty="0"/>
                  <a:t>λ</a:t>
                </a:r>
                <a:r>
                  <a:rPr lang="en-US" sz="2400" dirty="0"/>
                  <a:t> is a real positive constant, a parameter of exponential distribution. It is also called rate parameter. </a:t>
                </a:r>
              </a:p>
              <a:p>
                <a:pPr marL="0" indent="0">
                  <a:buNone/>
                </a:pPr>
                <a:r>
                  <a:rPr lang="en-US" sz="2400" dirty="0"/>
                  <a:t>If X is time measured in minutes then </a:t>
                </a:r>
                <a:r>
                  <a:rPr lang="el-GR" sz="2400" dirty="0"/>
                  <a:t>λ</a:t>
                </a:r>
                <a:r>
                  <a:rPr lang="en-US" sz="2400" dirty="0"/>
                  <a:t> is a frequency measured in min-1. Hence </a:t>
                </a:r>
                <a:r>
                  <a:rPr lang="el-GR" sz="2400" dirty="0"/>
                  <a:t>λ</a:t>
                </a:r>
                <a:r>
                  <a:rPr lang="en-US" sz="2400" dirty="0"/>
                  <a:t> is the inverse (reciprocal) of the expected duration E(X).</a:t>
                </a:r>
              </a:p>
              <a:p>
                <a:pPr marL="0" indent="0">
                  <a:buNone/>
                </a:pPr>
                <a:r>
                  <a:rPr lang="en-US" sz="2400" dirty="0"/>
                  <a:t>The time X we need to wait before an event occurs has an exponential distribution if the probability that the event occurs during a certain time interval is proportional to the length of that time interval.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AB4020-6D0D-4415-87B0-A349338FAB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9842" y="1258349"/>
                <a:ext cx="10813409" cy="4983901"/>
              </a:xfrm>
              <a:blipFill>
                <a:blip r:embed="rId2"/>
                <a:stretch>
                  <a:fillRect l="-902" t="-978" r="-1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2DAAA-D6F7-48B0-9267-E78C477F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6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D6D3-E96C-488A-8B17-4B3633D38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0674"/>
            <a:ext cx="10058400" cy="582199"/>
          </a:xfrm>
        </p:spPr>
        <p:txBody>
          <a:bodyPr>
            <a:normAutofit/>
          </a:bodyPr>
          <a:lstStyle/>
          <a:p>
            <a:r>
              <a:rPr lang="en-US" sz="3200" b="1" dirty="0"/>
              <a:t>Graph of exponential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2D1442-0D47-4C26-A91A-02042D829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1" y="1561512"/>
            <a:ext cx="8412480" cy="428752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53D37-D1D0-4461-8E3C-766953B2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48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E8C5-38C5-413A-BFD7-0C3F020A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574" y="578000"/>
            <a:ext cx="10058400" cy="489920"/>
          </a:xfrm>
        </p:spPr>
        <p:txBody>
          <a:bodyPr>
            <a:normAutofit/>
          </a:bodyPr>
          <a:lstStyle/>
          <a:p>
            <a:r>
              <a:rPr lang="en-US" sz="2400" b="1" dirty="0"/>
              <a:t>Mean of Exponential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BF17CF-FA8C-4761-8DD2-61083CE70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456" y="1182848"/>
            <a:ext cx="9908704" cy="4899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F8F273-3F1C-4028-97EC-1EE30452B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160" y="1487785"/>
            <a:ext cx="6624320" cy="88849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8F2464-1394-48E3-A31E-36DA257D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92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3E05-D789-47BB-A8B1-4E250099C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95" y="548638"/>
            <a:ext cx="10058400" cy="380863"/>
          </a:xfrm>
        </p:spPr>
        <p:txBody>
          <a:bodyPr>
            <a:noAutofit/>
          </a:bodyPr>
          <a:lstStyle/>
          <a:p>
            <a:r>
              <a:rPr lang="en-US" sz="2400" b="1" dirty="0"/>
              <a:t>Variance of Exponential Distribution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A5DCEE-1188-4B86-AD2D-DAF7C77EF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362" y="1226016"/>
            <a:ext cx="7524135" cy="508165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01566-9C3A-497B-A9C0-9E42A68B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668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0B45-DE68-4B94-8810-1014B53E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629" y="525148"/>
            <a:ext cx="10058400" cy="414419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Cummulative density function of Exponential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1464A-18E0-45E0-9C67-310248C47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629" y="1275127"/>
            <a:ext cx="10385571" cy="47599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cummulative distribution function (CDF) of an exponential distribution is given by,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960E6-4260-4CB4-B65F-48311868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48" y="1919407"/>
            <a:ext cx="7305692" cy="411563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19BC-0382-4B16-93D9-942FB8F8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8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333C-2174-4923-80AE-4ACFBCB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93" y="491592"/>
            <a:ext cx="10510007" cy="481531"/>
          </a:xfrm>
        </p:spPr>
        <p:txBody>
          <a:bodyPr>
            <a:normAutofit/>
          </a:bodyPr>
          <a:lstStyle/>
          <a:p>
            <a:r>
              <a:rPr lang="en-US" sz="2400" b="1" dirty="0"/>
              <a:t>Relationship between Exponential Distribution and 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49BFC-3A70-4EAF-A3E6-DF873E6C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93" y="1325461"/>
            <a:ext cx="10860946" cy="470957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exponential distribution is closely related to Poisson distribution. It is the probability distribution that describes time between events in a Poisson process. </a:t>
            </a:r>
          </a:p>
          <a:p>
            <a:pPr marL="0" indent="0">
              <a:buNone/>
            </a:pPr>
            <a:r>
              <a:rPr lang="en-US" sz="2400" dirty="0"/>
              <a:t>While the exponential distribution models time between successive events over a continuous time period, the Poisson distribution deals with events that happen over a fixed period of time. </a:t>
            </a:r>
          </a:p>
          <a:p>
            <a:pPr marL="0" indent="0">
              <a:buNone/>
            </a:pPr>
            <a:r>
              <a:rPr lang="en-US" sz="2400" dirty="0"/>
              <a:t>The number of times the event will happen in an interval (0, t) is Poisson distribution if,</a:t>
            </a:r>
          </a:p>
          <a:p>
            <a:pPr marL="568325" indent="-284163"/>
            <a:r>
              <a:rPr lang="en-US" sz="2400" dirty="0"/>
              <a:t>the events can happen more than one time</a:t>
            </a:r>
          </a:p>
          <a:p>
            <a:pPr marL="568325" indent="-284163"/>
            <a:r>
              <a:rPr lang="en-US" sz="2400" dirty="0"/>
              <a:t>if the time elapsed between two events is exponentially distributed</a:t>
            </a:r>
          </a:p>
          <a:p>
            <a:pPr marL="568325" indent="-284163"/>
            <a:r>
              <a:rPr lang="en-US" sz="2400" dirty="0"/>
              <a:t>the events are independent of previous events.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174FF-3FF3-44B2-8FE0-EB9A003EA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75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681F-35D4-4212-B98E-920472496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176" y="788565"/>
            <a:ext cx="10345024" cy="524647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Example:</a:t>
            </a:r>
          </a:p>
          <a:p>
            <a:pPr marL="342900" indent="-342900">
              <a:buAutoNum type="arabicPeriod"/>
            </a:pPr>
            <a:r>
              <a:rPr lang="en-US" sz="2800" dirty="0"/>
              <a:t>Number of breakdowns of server in a given interval of time is Poisson process while the time in between breakdown of servers is given by exponential distribution.</a:t>
            </a:r>
          </a:p>
          <a:p>
            <a:pPr marL="342900" indent="-342900">
              <a:buAutoNum type="arabicPeriod"/>
            </a:pPr>
            <a:r>
              <a:rPr lang="en-US" sz="2800" dirty="0"/>
              <a:t>Number of request of file in a server in an interval (o, t) is Poisson distribution while time between request is an exponential distribution.</a:t>
            </a:r>
          </a:p>
          <a:p>
            <a:pPr marL="342900" indent="-342900">
              <a:buAutoNum type="arabicPeriod"/>
            </a:pPr>
            <a:r>
              <a:rPr lang="en-US" sz="2800" dirty="0"/>
              <a:t>Number of particular electronic device failed in a given interval of time (o, t) follows Poisson distribution while time between failure of components follows exponential distribution.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7DD5EA-9C47-4161-9EA4-9934CFF9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75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F5F0-D0DB-4F2B-8536-A60F9843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129" y="583871"/>
            <a:ext cx="10058400" cy="347307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1EF12-E7FD-4299-8847-50696D3E2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29" y="1124125"/>
            <a:ext cx="10853955" cy="49109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sz="2400" dirty="0"/>
              <a:t>An electronic component is known to have a useful life represented by an exponential density with failure rate of 10-5 failures per hour. what is the mean and variance of time to failure.</a:t>
            </a:r>
          </a:p>
          <a:p>
            <a:pPr marL="0" indent="0">
              <a:buNone/>
            </a:pPr>
            <a:r>
              <a:rPr lang="en-US" sz="2400" dirty="0"/>
              <a:t>2. Suppose that the length of a phone call (in mins) in a phone booth is an exponential random variable X with decay parameter   = 1/12 min-1. If someone arrives at a phone booth just before you arrive, find the probability that you will have to wait </a:t>
            </a:r>
          </a:p>
          <a:p>
            <a:pPr marL="630238" indent="-517525">
              <a:buAutoNum type="alphaLcParenBoth"/>
            </a:pPr>
            <a:r>
              <a:rPr lang="en-US" sz="2400" dirty="0"/>
              <a:t>less than 5 minutes</a:t>
            </a:r>
          </a:p>
          <a:p>
            <a:pPr marL="630238" indent="-517525">
              <a:buAutoNum type="alphaLcParenBoth"/>
            </a:pPr>
            <a:r>
              <a:rPr lang="en-US" sz="2400" dirty="0"/>
              <a:t>greater than 5 minutes</a:t>
            </a:r>
          </a:p>
          <a:p>
            <a:pPr marL="630238" indent="-517525">
              <a:buAutoNum type="alphaLcParenBoth"/>
            </a:pPr>
            <a:r>
              <a:rPr lang="en-US" sz="2400" dirty="0"/>
              <a:t>between 5 and 10 minutes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48D8A-C9F3-48E8-B536-5D214B53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293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E7E63-E3A5-5C1A-1536-D9A0E0DCD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" y="599440"/>
            <a:ext cx="10698480" cy="5435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 In a large corporate computer network, user log-ons to the system can be modeled as a Poisson process with a mean of 25 log-ons per hour. What is the probability that there are no log-ons in an interval of six minutes?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sz="1800" b="0" i="0" dirty="0">
                <a:solidFill>
                  <a:srgbClr val="231F20"/>
                </a:solidFill>
                <a:effectLst/>
              </a:rPr>
              <a:t>The time between the arrival of electronic messages at your computer is exponentially distributed with a mean of two hours.</a:t>
            </a:r>
          </a:p>
          <a:p>
            <a:pPr marL="457200" indent="-284163">
              <a:buNone/>
            </a:pPr>
            <a:r>
              <a:rPr lang="en-US" sz="1800" b="0" i="0" dirty="0">
                <a:solidFill>
                  <a:srgbClr val="231F20"/>
                </a:solidFill>
                <a:effectLst/>
              </a:rPr>
              <a:t>(a) What is the probability that you do not receive a message during a two-hour period?</a:t>
            </a:r>
          </a:p>
          <a:p>
            <a:pPr marL="457200" indent="-284163">
              <a:buNone/>
            </a:pPr>
            <a:r>
              <a:rPr lang="en-US" sz="1800" b="0" i="0" dirty="0">
                <a:solidFill>
                  <a:srgbClr val="231F20"/>
                </a:solidFill>
                <a:effectLst/>
              </a:rPr>
              <a:t>(b) If you have not had a message in the last four hours, what is the probability that you do not receive a message in the next two hours?</a:t>
            </a:r>
          </a:p>
          <a:p>
            <a:pPr marL="457200" indent="-284163">
              <a:buNone/>
            </a:pPr>
            <a:r>
              <a:rPr lang="en-US" sz="1800" b="0" i="0" dirty="0">
                <a:solidFill>
                  <a:srgbClr val="231F20"/>
                </a:solidFill>
                <a:effectLst/>
              </a:rPr>
              <a:t>(c) What is the expected time between your fifth and sixth messages?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B3DDC-DDA7-9018-1AA4-84E71309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CopyRight: Santosh Chhatkuli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39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140</TotalTime>
  <Words>814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Cambria Math</vt:lpstr>
      <vt:lpstr>Century Gothic</vt:lpstr>
      <vt:lpstr>Garamond</vt:lpstr>
      <vt:lpstr>Savon</vt:lpstr>
      <vt:lpstr>EXPONENTIAL DISTRIBUTUION</vt:lpstr>
      <vt:lpstr>Introduction</vt:lpstr>
      <vt:lpstr>PowerPoint Presentation</vt:lpstr>
      <vt:lpstr>Probability Density Function</vt:lpstr>
      <vt:lpstr>Graph of exponential distribution</vt:lpstr>
      <vt:lpstr>Mean of Exponential Distribution</vt:lpstr>
      <vt:lpstr>Variance of Exponential Distribution</vt:lpstr>
      <vt:lpstr>Cummulative density function of Exponential Distribution</vt:lpstr>
      <vt:lpstr>Relationship between Exponential Distribution and Poisson Distribution</vt:lpstr>
      <vt:lpstr>PowerPoint Presentation</vt:lpstr>
      <vt:lpstr>Numerical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EXPONENTIAL DISTRIBUTUION</dc:title>
  <dc:creator>Santosh Chhatkuli</dc:creator>
  <cp:lastModifiedBy>Santosh Chhatkuli</cp:lastModifiedBy>
  <cp:revision>26</cp:revision>
  <dcterms:created xsi:type="dcterms:W3CDTF">2020-11-26T04:04:44Z</dcterms:created>
  <dcterms:modified xsi:type="dcterms:W3CDTF">2024-07-22T12:52:15Z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