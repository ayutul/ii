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2" r:id="rId4"/>
  </p:sldMasterIdLst>
  <p:notesMasterIdLst>
    <p:notesMasterId r:id="rId27"/>
  </p:notesMasterIdLst>
  <p:sldIdLst>
    <p:sldId id="298" r:id="rId5"/>
    <p:sldId id="299" r:id="rId6"/>
    <p:sldId id="300" r:id="rId7"/>
    <p:sldId id="301" r:id="rId8"/>
    <p:sldId id="302" r:id="rId9"/>
    <p:sldId id="303" r:id="rId10"/>
    <p:sldId id="304" r:id="rId11"/>
    <p:sldId id="305" r:id="rId12"/>
    <p:sldId id="306" r:id="rId13"/>
    <p:sldId id="313" r:id="rId14"/>
    <p:sldId id="307" r:id="rId15"/>
    <p:sldId id="311" r:id="rId16"/>
    <p:sldId id="308" r:id="rId17"/>
    <p:sldId id="310" r:id="rId18"/>
    <p:sldId id="312" r:id="rId19"/>
    <p:sldId id="320" r:id="rId20"/>
    <p:sldId id="318" r:id="rId21"/>
    <p:sldId id="321" r:id="rId22"/>
    <p:sldId id="314" r:id="rId23"/>
    <p:sldId id="316" r:id="rId24"/>
    <p:sldId id="317" r:id="rId25"/>
    <p:sldId id="315"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9" autoAdjust="0"/>
  </p:normalViewPr>
  <p:slideViewPr>
    <p:cSldViewPr snapToGrid="0">
      <p:cViewPr varScale="1">
        <p:scale>
          <a:sx n="70" d="100"/>
          <a:sy n="70" d="100"/>
        </p:scale>
        <p:origin x="671"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AB114-B8D1-49EB-B471-54F167A49C06}" type="datetimeFigureOut">
              <a:rPr lang="en-US" smtClean="0"/>
              <a:t>7/15/2024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C311F-F765-416B-ADFD-186A661F5684}" type="slidenum">
              <a:rPr lang="en-US" smtClean="0"/>
              <a:t>‹#›</a:t>
            </a:fld>
            <a:endParaRPr lang="en-US"/>
          </a:p>
        </p:txBody>
      </p:sp>
    </p:spTree>
    <p:extLst>
      <p:ext uri="{BB962C8B-B14F-4D97-AF65-F5344CB8AC3E}">
        <p14:creationId xmlns:p14="http://schemas.microsoft.com/office/powerpoint/2010/main" val="933936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1F0244C1-CF32-484F-A8CB-84ECE4BDB69C}" type="datetime1">
              <a:rPr lang="en-US" smtClean="0"/>
              <a:t>7/15/2024</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r>
              <a:rPr lang="en-US"/>
              <a:t>Copy Right: Santosh Chhatkuli</a:t>
            </a:r>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9125225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08EF16-9276-47B6-B266-8AE9C57DD744}" type="datetime1">
              <a:rPr lang="en-US" smtClean="0"/>
              <a:t>7/15/2024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9063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9E20417F-EA1B-45C8-8C00-19BF4C47D85B}" type="datetime1">
              <a:rPr lang="en-US" smtClean="0"/>
              <a:t>7/15/2024</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4326863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32ED96D-97B8-4365-894D-E2756E28168E}" type="datetime1">
              <a:rPr lang="en-US" smtClean="0"/>
              <a:t>7/15/2024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216303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956AB2-7D6E-4656-A924-12FDA84511C7}" type="datetime1">
              <a:rPr lang="en-US" smtClean="0"/>
              <a:t>7/15/2024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415299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35B456-B621-4621-B80D-58BB2F31886F}" type="datetime1">
              <a:rPr lang="en-US" smtClean="0"/>
              <a:t>7/15/2024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870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907992-B6BC-4336-B79F-4509C611838C}" type="datetime1">
              <a:rPr lang="en-US" smtClean="0"/>
              <a:t>7/15/2024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18461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61983E49-D31A-4035-963C-31DD7F53168D}" type="datetime1">
              <a:rPr lang="en-US" smtClean="0"/>
              <a:t>7/15/2024</a:t>
            </a:fld>
            <a:endParaRPr lang="en-US" dirty="0"/>
          </a:p>
        </p:txBody>
      </p:sp>
      <p:sp>
        <p:nvSpPr>
          <p:cNvPr id="9" name="Footer Placeholder 8"/>
          <p:cNvSpPr>
            <a:spLocks noGrp="1"/>
          </p:cNvSpPr>
          <p:nvPr>
            <p:ph type="ftr" sz="quarter" idx="11"/>
          </p:nvPr>
        </p:nvSpPr>
        <p:spPr/>
        <p:txBody>
          <a:bodyPr/>
          <a:lstStyle>
            <a:lvl1pPr algn="r">
              <a:defRPr/>
            </a:lvl1pPr>
          </a:lstStyle>
          <a:p>
            <a:r>
              <a:rPr lang="en-US"/>
              <a:t>Copy Right: Santosh Chhatkuli</a:t>
            </a:r>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3303374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8A0805CF-330E-462E-B69E-445B318AB51A}" type="datetime1">
              <a:rPr lang="en-US" smtClean="0"/>
              <a:t>7/15/2024</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pPr algn="l"/>
            <a:r>
              <a:rPr lang="en-US"/>
              <a:t>Copy Right: Santosh Chhatkuli</a:t>
            </a:r>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A98EE3D-8CD1-4C3F-BD1C-C98C9596463C}" type="slidenum">
              <a:rPr lang="en-US" smtClean="0"/>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76631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BE684C-F8BE-410E-A809-F020B7FE9057}" type="datetime1">
              <a:rPr lang="en-US" smtClean="0"/>
              <a:t>7/15/2024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1994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2C4AF2-76FD-4054-A09F-D31481D7C2A5}" type="datetime1">
              <a:rPr lang="en-US" smtClean="0"/>
              <a:t>7/15/2024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77336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50365D99-CA1A-4241-AC3D-9ED424058000}" type="datetime1">
              <a:rPr lang="en-US" smtClean="0"/>
              <a:t>7/15/2024</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386008463"/>
      </p:ext>
    </p:extLst>
  </p:cSld>
  <p:clrMap bg1="lt1" tx1="dk1" bg2="lt2" tx2="dk2" accent1="accent1" accent2="accent2" accent3="accent3" accent4="accent4" accent5="accent5" accent6="accent6" hlink="hlink" folHlink="folHlink"/>
  <p:sldLayoutIdLst>
    <p:sldLayoutId id="2147484073" r:id="rId1"/>
    <p:sldLayoutId id="2147484074" r:id="rId2"/>
    <p:sldLayoutId id="2147484075" r:id="rId3"/>
    <p:sldLayoutId id="2147484076" r:id="rId4"/>
    <p:sldLayoutId id="2147484077" r:id="rId5"/>
    <p:sldLayoutId id="2147484078" r:id="rId6"/>
    <p:sldLayoutId id="2147484079" r:id="rId7"/>
    <p:sldLayoutId id="2147484080" r:id="rId8"/>
    <p:sldLayoutId id="2147484081" r:id="rId9"/>
    <p:sldLayoutId id="2147484082" r:id="rId10"/>
    <p:sldLayoutId id="2147484083" r:id="rId11"/>
  </p:sldLayoutIdLst>
  <p:hf sldNum="0"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7768817" y="2510589"/>
            <a:ext cx="3923506" cy="1417160"/>
          </a:xfrm>
        </p:spPr>
        <p:txBody>
          <a:bodyPr anchor="b">
            <a:normAutofit/>
          </a:bodyPr>
          <a:lstStyle/>
          <a:p>
            <a:r>
              <a:rPr lang="en-US" sz="4400" b="1" dirty="0">
                <a:solidFill>
                  <a:srgbClr val="00B0F0"/>
                </a:solidFill>
              </a:rPr>
              <a:t>Binomial Distribution</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429250"/>
          </a:xfrm>
        </p:spPr>
        <p:txBody>
          <a:bodyPr anchor="t">
            <a:normAutofit/>
          </a:bodyPr>
          <a:lstStyle/>
          <a:p>
            <a:pPr>
              <a:lnSpc>
                <a:spcPct val="100000"/>
              </a:lnSpc>
            </a:pPr>
            <a:r>
              <a:rPr lang="en-US" sz="2000" b="1" dirty="0">
                <a:solidFill>
                  <a:srgbClr val="00B0F0"/>
                </a:solidFill>
              </a:rPr>
              <a:t>SANTOSH CHHATKULI</a:t>
            </a:r>
          </a:p>
        </p:txBody>
      </p:sp>
      <p:sp>
        <p:nvSpPr>
          <p:cNvPr id="5" name="Footer Placeholder 4">
            <a:extLst>
              <a:ext uri="{FF2B5EF4-FFF2-40B4-BE49-F238E27FC236}">
                <a16:creationId xmlns:a16="http://schemas.microsoft.com/office/drawing/2014/main" id="{7B5EEDD1-32B5-6476-061A-825A928D31B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2E1D1-F8C2-4C86-B83A-EAD858FC9A05}"/>
              </a:ext>
            </a:extLst>
          </p:cNvPr>
          <p:cNvSpPr>
            <a:spLocks noGrp="1"/>
          </p:cNvSpPr>
          <p:nvPr>
            <p:ph type="title"/>
          </p:nvPr>
        </p:nvSpPr>
        <p:spPr>
          <a:xfrm>
            <a:off x="1066800" y="642594"/>
            <a:ext cx="10058400" cy="849776"/>
          </a:xfrm>
        </p:spPr>
        <p:txBody>
          <a:bodyPr>
            <a:normAutofit/>
          </a:bodyPr>
          <a:lstStyle/>
          <a:p>
            <a:r>
              <a:rPr lang="en-US" sz="3600" b="1" dirty="0"/>
              <a:t>Some Discrete Probability Distributions</a:t>
            </a:r>
          </a:p>
        </p:txBody>
      </p:sp>
      <p:sp>
        <p:nvSpPr>
          <p:cNvPr id="3" name="Content Placeholder 2">
            <a:extLst>
              <a:ext uri="{FF2B5EF4-FFF2-40B4-BE49-F238E27FC236}">
                <a16:creationId xmlns:a16="http://schemas.microsoft.com/office/drawing/2014/main" id="{9F4952EB-4548-431D-99D0-EA1EB0414D9B}"/>
              </a:ext>
            </a:extLst>
          </p:cNvPr>
          <p:cNvSpPr>
            <a:spLocks noGrp="1"/>
          </p:cNvSpPr>
          <p:nvPr>
            <p:ph idx="1"/>
          </p:nvPr>
        </p:nvSpPr>
        <p:spPr/>
        <p:txBody>
          <a:bodyPr/>
          <a:lstStyle/>
          <a:p>
            <a:r>
              <a:rPr lang="en-US" sz="2800" b="1" dirty="0">
                <a:solidFill>
                  <a:srgbClr val="00B0F0"/>
                </a:solidFill>
              </a:rPr>
              <a:t>Binomial Distribution</a:t>
            </a:r>
          </a:p>
          <a:p>
            <a:r>
              <a:rPr lang="en-US" sz="2800" b="0" i="0" dirty="0">
                <a:solidFill>
                  <a:srgbClr val="222222"/>
                </a:solidFill>
                <a:effectLst/>
              </a:rPr>
              <a:t>Negative binomial distribution </a:t>
            </a:r>
          </a:p>
          <a:p>
            <a:r>
              <a:rPr lang="en-US" sz="2800" b="1" dirty="0">
                <a:solidFill>
                  <a:srgbClr val="00B0F0"/>
                </a:solidFill>
              </a:rPr>
              <a:t>Poisson Distribution</a:t>
            </a:r>
          </a:p>
          <a:p>
            <a:pPr algn="l">
              <a:buFont typeface="Arial" panose="020B0604020202020204" pitchFamily="34" charset="0"/>
              <a:buChar char="•"/>
            </a:pPr>
            <a:r>
              <a:rPr lang="en-US" sz="2800" b="0" i="0" dirty="0">
                <a:solidFill>
                  <a:srgbClr val="222222"/>
                </a:solidFill>
                <a:effectLst/>
              </a:rPr>
              <a:t>Geometric Distribution</a:t>
            </a:r>
          </a:p>
          <a:p>
            <a:pPr algn="l">
              <a:buFont typeface="Arial" panose="020B0604020202020204" pitchFamily="34" charset="0"/>
              <a:buChar char="•"/>
            </a:pPr>
            <a:r>
              <a:rPr lang="en-US" sz="2800" b="0" i="0" dirty="0">
                <a:solidFill>
                  <a:srgbClr val="222222"/>
                </a:solidFill>
                <a:effectLst/>
              </a:rPr>
              <a:t>Hypergeometric distribution</a:t>
            </a:r>
          </a:p>
          <a:p>
            <a:pPr algn="l">
              <a:buFont typeface="Arial" panose="020B0604020202020204" pitchFamily="34" charset="0"/>
              <a:buChar char="•"/>
            </a:pPr>
            <a:r>
              <a:rPr lang="en-US" sz="2800" b="0" i="0" dirty="0">
                <a:solidFill>
                  <a:srgbClr val="222222"/>
                </a:solidFill>
                <a:effectLst/>
              </a:rPr>
              <a:t>Multinomial Distribution</a:t>
            </a:r>
          </a:p>
          <a:p>
            <a:endParaRPr lang="en-US" dirty="0"/>
          </a:p>
          <a:p>
            <a:endParaRPr lang="en-US" dirty="0"/>
          </a:p>
        </p:txBody>
      </p:sp>
      <p:sp>
        <p:nvSpPr>
          <p:cNvPr id="4" name="Footer Placeholder 3">
            <a:extLst>
              <a:ext uri="{FF2B5EF4-FFF2-40B4-BE49-F238E27FC236}">
                <a16:creationId xmlns:a16="http://schemas.microsoft.com/office/drawing/2014/main" id="{B98773F8-F2D8-346F-1D82-F9386C0C7E8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269812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F0AA-8C46-4D73-9FC2-67B58A63DB56}"/>
              </a:ext>
            </a:extLst>
          </p:cNvPr>
          <p:cNvSpPr>
            <a:spLocks noGrp="1"/>
          </p:cNvSpPr>
          <p:nvPr>
            <p:ph type="title"/>
          </p:nvPr>
        </p:nvSpPr>
        <p:spPr>
          <a:xfrm>
            <a:off x="1066800" y="539077"/>
            <a:ext cx="10058400" cy="746259"/>
          </a:xfrm>
        </p:spPr>
        <p:txBody>
          <a:bodyPr>
            <a:normAutofit/>
          </a:bodyPr>
          <a:lstStyle/>
          <a:p>
            <a:r>
              <a:rPr lang="en-US" sz="2800" b="1" dirty="0"/>
              <a:t>Binomial Distribution</a:t>
            </a:r>
          </a:p>
        </p:txBody>
      </p:sp>
      <p:sp>
        <p:nvSpPr>
          <p:cNvPr id="3" name="Content Placeholder 2">
            <a:extLst>
              <a:ext uri="{FF2B5EF4-FFF2-40B4-BE49-F238E27FC236}">
                <a16:creationId xmlns:a16="http://schemas.microsoft.com/office/drawing/2014/main" id="{1FEDC945-B93F-41DB-BD3C-E38E98923C91}"/>
              </a:ext>
            </a:extLst>
          </p:cNvPr>
          <p:cNvSpPr>
            <a:spLocks noGrp="1"/>
          </p:cNvSpPr>
          <p:nvPr>
            <p:ph idx="1"/>
          </p:nvPr>
        </p:nvSpPr>
        <p:spPr>
          <a:xfrm>
            <a:off x="793630" y="1406105"/>
            <a:ext cx="10714008" cy="4912817"/>
          </a:xfrm>
        </p:spPr>
        <p:txBody>
          <a:bodyPr/>
          <a:lstStyle/>
          <a:p>
            <a:r>
              <a:rPr lang="en-US" sz="3200" dirty="0"/>
              <a:t>Introduction</a:t>
            </a:r>
          </a:p>
          <a:p>
            <a:r>
              <a:rPr lang="en-US" sz="3200" dirty="0"/>
              <a:t>Conditions required for Binomial Distribution</a:t>
            </a:r>
          </a:p>
          <a:p>
            <a:r>
              <a:rPr lang="en-US" sz="3200" dirty="0"/>
              <a:t>Probability mass function of Binomial Distribution</a:t>
            </a:r>
          </a:p>
          <a:p>
            <a:r>
              <a:rPr lang="en-US" sz="3200" dirty="0"/>
              <a:t>Mean and Standard Deviation of B. D.</a:t>
            </a:r>
          </a:p>
          <a:p>
            <a:r>
              <a:rPr lang="en-US" sz="3200" dirty="0"/>
              <a:t>Probability Problems</a:t>
            </a:r>
          </a:p>
          <a:p>
            <a:r>
              <a:rPr lang="en-US" sz="3200" dirty="0"/>
              <a:t>Fitting of Binomial Distribution</a:t>
            </a:r>
          </a:p>
          <a:p>
            <a:pPr marL="0" indent="0">
              <a:buNone/>
            </a:pPr>
            <a:endParaRPr lang="en-US" dirty="0"/>
          </a:p>
        </p:txBody>
      </p:sp>
      <p:sp>
        <p:nvSpPr>
          <p:cNvPr id="4" name="Footer Placeholder 3">
            <a:extLst>
              <a:ext uri="{FF2B5EF4-FFF2-40B4-BE49-F238E27FC236}">
                <a16:creationId xmlns:a16="http://schemas.microsoft.com/office/drawing/2014/main" id="{94357254-F807-21CD-87F2-3CEF7853E2DC}"/>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34690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7DEE3-B834-4FC2-9B86-701424BEF699}"/>
              </a:ext>
            </a:extLst>
          </p:cNvPr>
          <p:cNvSpPr>
            <a:spLocks noGrp="1"/>
          </p:cNvSpPr>
          <p:nvPr>
            <p:ph type="title"/>
          </p:nvPr>
        </p:nvSpPr>
        <p:spPr>
          <a:xfrm>
            <a:off x="842513" y="510215"/>
            <a:ext cx="10058400" cy="625489"/>
          </a:xfrm>
        </p:spPr>
        <p:txBody>
          <a:bodyPr>
            <a:normAutofit/>
          </a:bodyPr>
          <a:lstStyle/>
          <a:p>
            <a:r>
              <a:rPr lang="en-US" sz="2800" b="1" dirty="0"/>
              <a:t>Introduction</a:t>
            </a:r>
          </a:p>
        </p:txBody>
      </p:sp>
      <p:sp>
        <p:nvSpPr>
          <p:cNvPr id="3" name="Content Placeholder 2">
            <a:extLst>
              <a:ext uri="{FF2B5EF4-FFF2-40B4-BE49-F238E27FC236}">
                <a16:creationId xmlns:a16="http://schemas.microsoft.com/office/drawing/2014/main" id="{1F710550-32AA-419E-B872-68F9AE4148D7}"/>
              </a:ext>
            </a:extLst>
          </p:cNvPr>
          <p:cNvSpPr>
            <a:spLocks noGrp="1"/>
          </p:cNvSpPr>
          <p:nvPr>
            <p:ph idx="1"/>
          </p:nvPr>
        </p:nvSpPr>
        <p:spPr>
          <a:xfrm>
            <a:off x="842513" y="1337093"/>
            <a:ext cx="10742762" cy="5010691"/>
          </a:xfrm>
        </p:spPr>
        <p:txBody>
          <a:bodyPr>
            <a:normAutofit/>
          </a:bodyPr>
          <a:lstStyle/>
          <a:p>
            <a:r>
              <a:rPr lang="en-US" sz="3600" dirty="0"/>
              <a:t>Binomial Distribution is the most common discrete probability distribution. </a:t>
            </a:r>
          </a:p>
          <a:p>
            <a:r>
              <a:rPr lang="en-US" sz="3600" dirty="0"/>
              <a:t>BD is used when there are two possible outcomes in each trial. </a:t>
            </a:r>
          </a:p>
          <a:p>
            <a:r>
              <a:rPr lang="en-US" sz="3600" dirty="0"/>
              <a:t>BD is </a:t>
            </a:r>
            <a:r>
              <a:rPr lang="en-US" sz="3600" b="0" i="0" dirty="0">
                <a:solidFill>
                  <a:srgbClr val="222222"/>
                </a:solidFill>
                <a:effectLst/>
              </a:rPr>
              <a:t>a frequency distribution of the possible number of successful outcomes in a given number of trials in each of which there is the same probability of success. </a:t>
            </a:r>
          </a:p>
          <a:p>
            <a:endParaRPr lang="en-US" sz="2800" dirty="0"/>
          </a:p>
        </p:txBody>
      </p:sp>
      <p:sp>
        <p:nvSpPr>
          <p:cNvPr id="4" name="Footer Placeholder 3">
            <a:extLst>
              <a:ext uri="{FF2B5EF4-FFF2-40B4-BE49-F238E27FC236}">
                <a16:creationId xmlns:a16="http://schemas.microsoft.com/office/drawing/2014/main" id="{D421B6E6-B610-C3D5-DDA1-103C782A8D0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03398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98844-8BB2-4A74-8ED2-35DA6F80BEEC}"/>
              </a:ext>
            </a:extLst>
          </p:cNvPr>
          <p:cNvSpPr>
            <a:spLocks noGrp="1"/>
          </p:cNvSpPr>
          <p:nvPr>
            <p:ph type="title"/>
          </p:nvPr>
        </p:nvSpPr>
        <p:spPr>
          <a:xfrm>
            <a:off x="885646" y="385132"/>
            <a:ext cx="10058400" cy="634115"/>
          </a:xfrm>
        </p:spPr>
        <p:txBody>
          <a:bodyPr>
            <a:normAutofit/>
          </a:bodyPr>
          <a:lstStyle/>
          <a:p>
            <a:r>
              <a:rPr lang="en-US" sz="2800" b="1" dirty="0"/>
              <a:t>Bernoulli Trial</a:t>
            </a:r>
          </a:p>
        </p:txBody>
      </p:sp>
      <p:sp>
        <p:nvSpPr>
          <p:cNvPr id="3" name="Content Placeholder 2">
            <a:extLst>
              <a:ext uri="{FF2B5EF4-FFF2-40B4-BE49-F238E27FC236}">
                <a16:creationId xmlns:a16="http://schemas.microsoft.com/office/drawing/2014/main" id="{B3613177-CB39-4DA1-A70F-949055AF71E3}"/>
              </a:ext>
            </a:extLst>
          </p:cNvPr>
          <p:cNvSpPr>
            <a:spLocks noGrp="1"/>
          </p:cNvSpPr>
          <p:nvPr>
            <p:ph idx="1"/>
          </p:nvPr>
        </p:nvSpPr>
        <p:spPr>
          <a:xfrm>
            <a:off x="885646" y="1140017"/>
            <a:ext cx="10618096" cy="4926486"/>
          </a:xfrm>
        </p:spPr>
        <p:txBody>
          <a:bodyPr>
            <a:noAutofit/>
          </a:bodyPr>
          <a:lstStyle/>
          <a:p>
            <a:pPr marL="0" indent="0">
              <a:buNone/>
            </a:pPr>
            <a:r>
              <a:rPr lang="en-US" sz="2600" dirty="0"/>
              <a:t>The BD describes discrete data resulting from a process known as </a:t>
            </a:r>
            <a:r>
              <a:rPr lang="en-US" sz="2600" b="1" dirty="0"/>
              <a:t>Bernoulli trials</a:t>
            </a:r>
            <a:r>
              <a:rPr lang="en-US" sz="2600" dirty="0"/>
              <a:t>, named after Swiss mathematician James Bernoulli.</a:t>
            </a:r>
          </a:p>
          <a:p>
            <a:pPr marL="0" indent="0">
              <a:buNone/>
            </a:pPr>
            <a:r>
              <a:rPr lang="en-US" sz="2600" dirty="0"/>
              <a:t>When each trial of a random experiment can result in only one of two mutually exclusive outcomes such as, pass/fail, defective/non-defective, dead/alive, test +</a:t>
            </a:r>
            <a:r>
              <a:rPr lang="en-US" sz="2600" dirty="0" err="1"/>
              <a:t>ve</a:t>
            </a:r>
            <a:r>
              <a:rPr lang="en-US" sz="2600" dirty="0"/>
              <a:t>/test -</a:t>
            </a:r>
            <a:r>
              <a:rPr lang="en-US" sz="2600" dirty="0" err="1"/>
              <a:t>ve</a:t>
            </a:r>
            <a:r>
              <a:rPr lang="en-US" sz="2600" dirty="0"/>
              <a:t>, then such trial is called Bernoulli trial or Binomial trial</a:t>
            </a:r>
          </a:p>
          <a:p>
            <a:pPr marL="0" indent="0">
              <a:buNone/>
            </a:pPr>
            <a:r>
              <a:rPr lang="en-US" sz="2600" dirty="0"/>
              <a:t>The sequence of Bernoulli trials which forms a </a:t>
            </a:r>
            <a:r>
              <a:rPr lang="en-US" sz="2600" b="1" dirty="0"/>
              <a:t>Binomial Distribution</a:t>
            </a:r>
            <a:r>
              <a:rPr lang="en-US" sz="2600" dirty="0"/>
              <a:t>. </a:t>
            </a:r>
          </a:p>
          <a:p>
            <a:pPr marL="0" indent="0">
              <a:buNone/>
            </a:pPr>
            <a:r>
              <a:rPr lang="en-US" sz="2600" dirty="0"/>
              <a:t>Thus Binomial Distribution models the number of successes in n independent Bernoulli trials.</a:t>
            </a:r>
          </a:p>
        </p:txBody>
      </p:sp>
      <p:sp>
        <p:nvSpPr>
          <p:cNvPr id="4" name="Footer Placeholder 3">
            <a:extLst>
              <a:ext uri="{FF2B5EF4-FFF2-40B4-BE49-F238E27FC236}">
                <a16:creationId xmlns:a16="http://schemas.microsoft.com/office/drawing/2014/main" id="{16180C1F-1DBD-897B-6C34-34657D60423C}"/>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87606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EF82-7E39-4143-A975-CDB4E5E0521A}"/>
              </a:ext>
            </a:extLst>
          </p:cNvPr>
          <p:cNvSpPr>
            <a:spLocks noGrp="1"/>
          </p:cNvSpPr>
          <p:nvPr>
            <p:ph type="title"/>
          </p:nvPr>
        </p:nvSpPr>
        <p:spPr>
          <a:xfrm>
            <a:off x="635480" y="488649"/>
            <a:ext cx="10058400" cy="513346"/>
          </a:xfrm>
        </p:spPr>
        <p:txBody>
          <a:bodyPr>
            <a:normAutofit/>
          </a:bodyPr>
          <a:lstStyle/>
          <a:p>
            <a:r>
              <a:rPr lang="en-US" sz="2800" b="1" dirty="0"/>
              <a:t>Characteristics of Binomial Distribution</a:t>
            </a:r>
          </a:p>
        </p:txBody>
      </p:sp>
      <p:sp>
        <p:nvSpPr>
          <p:cNvPr id="3" name="Content Placeholder 2">
            <a:extLst>
              <a:ext uri="{FF2B5EF4-FFF2-40B4-BE49-F238E27FC236}">
                <a16:creationId xmlns:a16="http://schemas.microsoft.com/office/drawing/2014/main" id="{36DEA3D2-8300-4759-82FF-8E1A8B5F03EC}"/>
              </a:ext>
            </a:extLst>
          </p:cNvPr>
          <p:cNvSpPr>
            <a:spLocks noGrp="1"/>
          </p:cNvSpPr>
          <p:nvPr>
            <p:ph idx="1"/>
          </p:nvPr>
        </p:nvSpPr>
        <p:spPr>
          <a:xfrm>
            <a:off x="724619" y="1224951"/>
            <a:ext cx="10791646" cy="5066762"/>
          </a:xfrm>
        </p:spPr>
        <p:txBody>
          <a:bodyPr>
            <a:normAutofit lnSpcReduction="10000"/>
          </a:bodyPr>
          <a:lstStyle/>
          <a:p>
            <a:pPr marL="342900" indent="-342900">
              <a:buAutoNum type="arabicPeriod"/>
            </a:pPr>
            <a:r>
              <a:rPr lang="en-US" dirty="0"/>
              <a:t>The experiment or process consists of n identical trials which is fixed in advance (fixed no. of replications)</a:t>
            </a:r>
          </a:p>
          <a:p>
            <a:pPr marL="342900" indent="-342900">
              <a:buAutoNum type="arabicPeriod"/>
            </a:pPr>
            <a:r>
              <a:rPr lang="en-US" dirty="0"/>
              <a:t>Each trial has only two possible outcomes, one of which is called success and other as failure</a:t>
            </a:r>
          </a:p>
          <a:p>
            <a:pPr marL="0" indent="0">
              <a:buNone/>
            </a:pPr>
            <a:r>
              <a:rPr lang="en-US" dirty="0"/>
              <a:t>	S = success (Outcome of interest)</a:t>
            </a:r>
          </a:p>
          <a:p>
            <a:pPr marL="0" indent="0">
              <a:buNone/>
            </a:pPr>
            <a:r>
              <a:rPr lang="en-US" dirty="0"/>
              <a:t>	F = failure (Outcome of non interest)</a:t>
            </a:r>
          </a:p>
          <a:p>
            <a:pPr marL="344488" indent="-344488">
              <a:buNone/>
            </a:pPr>
            <a:r>
              <a:rPr lang="en-US" dirty="0"/>
              <a:t>	we use code ‘1’ for success and code ‘0’ for failure to map outcomes to Binomial R. V.</a:t>
            </a:r>
          </a:p>
          <a:p>
            <a:pPr marL="284163" indent="-284163">
              <a:buNone/>
            </a:pPr>
            <a:r>
              <a:rPr lang="en-US" dirty="0"/>
              <a:t>3. The trials are independent of each other  i.e. outcome of one trial has no effect on outcomes of other trial</a:t>
            </a:r>
          </a:p>
          <a:p>
            <a:pPr marL="0" indent="0">
              <a:buNone/>
            </a:pPr>
            <a:r>
              <a:rPr lang="en-US" dirty="0"/>
              <a:t>4. The probability of success ‘p’ in the population is constant from trial to trial.</a:t>
            </a:r>
          </a:p>
          <a:p>
            <a:pPr marL="0" indent="0">
              <a:buNone/>
            </a:pPr>
            <a:r>
              <a:rPr lang="en-US" dirty="0"/>
              <a:t>	p = probability of success </a:t>
            </a:r>
          </a:p>
          <a:p>
            <a:pPr marL="0" indent="0">
              <a:buNone/>
            </a:pPr>
            <a:r>
              <a:rPr lang="en-US" dirty="0"/>
              <a:t>	q = probability of failure = 1 – p</a:t>
            </a:r>
          </a:p>
          <a:p>
            <a:pPr marL="0" indent="0">
              <a:buNone/>
            </a:pPr>
            <a:endParaRPr lang="en-US" dirty="0"/>
          </a:p>
          <a:p>
            <a:pPr marL="0" indent="0">
              <a:buNone/>
            </a:pPr>
            <a:r>
              <a:rPr lang="en-US" dirty="0"/>
              <a:t>Any process which satisfies above four conditions, we can generate probability distribution for that process.</a:t>
            </a:r>
          </a:p>
          <a:p>
            <a:pPr marL="0" indent="0">
              <a:buNone/>
            </a:pPr>
            <a:r>
              <a:rPr lang="en-US" dirty="0"/>
              <a:t>	</a:t>
            </a:r>
          </a:p>
        </p:txBody>
      </p:sp>
      <p:sp>
        <p:nvSpPr>
          <p:cNvPr id="4" name="Footer Placeholder 3">
            <a:extLst>
              <a:ext uri="{FF2B5EF4-FFF2-40B4-BE49-F238E27FC236}">
                <a16:creationId xmlns:a16="http://schemas.microsoft.com/office/drawing/2014/main" id="{CDDFE99E-FCBB-7B17-FFED-31CCCDB66D0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425264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269E3-15C2-445F-91E8-DE4D112966DB}"/>
              </a:ext>
            </a:extLst>
          </p:cNvPr>
          <p:cNvSpPr>
            <a:spLocks noGrp="1"/>
          </p:cNvSpPr>
          <p:nvPr>
            <p:ph type="title"/>
          </p:nvPr>
        </p:nvSpPr>
        <p:spPr>
          <a:xfrm>
            <a:off x="790754" y="504571"/>
            <a:ext cx="10058400" cy="452961"/>
          </a:xfrm>
        </p:spPr>
        <p:txBody>
          <a:bodyPr>
            <a:normAutofit fontScale="90000"/>
          </a:bodyPr>
          <a:lstStyle/>
          <a:p>
            <a:r>
              <a:rPr lang="en-US" sz="2800" b="1" dirty="0"/>
              <a:t>Binomial Formula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9D906D-2FA6-4AF8-87E3-99DE9B154093}"/>
                  </a:ext>
                </a:extLst>
              </p:cNvPr>
              <p:cNvSpPr>
                <a:spLocks noGrp="1"/>
              </p:cNvSpPr>
              <p:nvPr>
                <p:ph idx="1"/>
              </p:nvPr>
            </p:nvSpPr>
            <p:spPr>
              <a:xfrm>
                <a:off x="877019" y="1242203"/>
                <a:ext cx="10058400" cy="4891177"/>
              </a:xfrm>
            </p:spPr>
            <p:txBody>
              <a:bodyPr>
                <a:noAutofit/>
              </a:bodyPr>
              <a:lstStyle/>
              <a:p>
                <a:pPr marL="0" indent="0">
                  <a:buNone/>
                </a:pPr>
                <a:r>
                  <a:rPr lang="en-US" sz="2000" dirty="0"/>
                  <a:t>Let X be the number of successes in n trials. X is a Binomial random variable. The probability of exactly ‘x’ successes in ‘n’ trials is given by, </a:t>
                </a:r>
              </a:p>
              <a:p>
                <a:pPr marL="0" indent="0">
                  <a:buNone/>
                </a:pPr>
                <a:r>
                  <a:rPr lang="en-US" sz="2000" dirty="0"/>
                  <a:t>	</a:t>
                </a:r>
                <a14:m>
                  <m:oMath xmlns:m="http://schemas.openxmlformats.org/officeDocument/2006/math">
                    <m:r>
                      <a:rPr lang="en-US" sz="3600" b="0" i="1" smtClean="0">
                        <a:latin typeface="Cambria Math" panose="02040503050406030204" pitchFamily="18" charset="0"/>
                      </a:rPr>
                      <m:t>𝑃</m:t>
                    </m:r>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𝑋</m:t>
                        </m:r>
                        <m:r>
                          <a:rPr lang="en-US" sz="3600" b="0" i="1" smtClean="0">
                            <a:latin typeface="Cambria Math" panose="02040503050406030204" pitchFamily="18" charset="0"/>
                          </a:rPr>
                          <m:t>=</m:t>
                        </m:r>
                        <m:r>
                          <a:rPr lang="en-US" sz="3600" b="0" i="1" smtClean="0">
                            <a:latin typeface="Cambria Math" panose="02040503050406030204" pitchFamily="18" charset="0"/>
                          </a:rPr>
                          <m:t>𝑥</m:t>
                        </m:r>
                      </m:e>
                    </m:d>
                    <m:r>
                      <a:rPr lang="en-US" sz="3600" b="0" i="1" smtClean="0">
                        <a:latin typeface="Cambria Math" panose="02040503050406030204" pitchFamily="18" charset="0"/>
                      </a:rPr>
                      <m:t>=</m:t>
                    </m:r>
                    <m:r>
                      <a:rPr lang="en-US" sz="3600" b="0" i="1" smtClean="0">
                        <a:latin typeface="Cambria Math" panose="02040503050406030204" pitchFamily="18" charset="0"/>
                      </a:rPr>
                      <m:t>𝑝</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𝑥</m:t>
                        </m:r>
                      </m:e>
                    </m:d>
                    <m:r>
                      <a:rPr lang="en-US" sz="3600" b="0" i="1" smtClean="0">
                        <a:latin typeface="Cambria Math" panose="02040503050406030204" pitchFamily="18" charset="0"/>
                      </a:rPr>
                      <m:t>=</m:t>
                    </m:r>
                    <m:r>
                      <a:rPr lang="en-US" sz="3600" b="0" i="1" smtClean="0">
                        <a:latin typeface="Cambria Math" panose="02040503050406030204" pitchFamily="18" charset="0"/>
                      </a:rPr>
                      <m:t>𝑛𝐶𝑥</m:t>
                    </m:r>
                    <m:r>
                      <a:rPr lang="en-US" sz="3600" b="0" i="1" smtClean="0">
                        <a:latin typeface="Cambria Math" panose="02040503050406030204" pitchFamily="18" charset="0"/>
                      </a:rPr>
                      <m:t> .  </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𝑝</m:t>
                        </m:r>
                      </m:e>
                      <m:sup>
                        <m:r>
                          <a:rPr lang="en-US" sz="3600" b="0" i="1" smtClean="0">
                            <a:latin typeface="Cambria Math" panose="02040503050406030204" pitchFamily="18" charset="0"/>
                          </a:rPr>
                          <m:t>𝑥</m:t>
                        </m:r>
                      </m:sup>
                    </m:sSup>
                    <m:r>
                      <a:rPr lang="en-US" sz="3600" b="0" i="1" smtClean="0">
                        <a:latin typeface="Cambria Math" panose="02040503050406030204" pitchFamily="18" charset="0"/>
                      </a:rPr>
                      <m:t> .  </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𝑞</m:t>
                        </m:r>
                      </m:e>
                      <m:sup>
                        <m:r>
                          <a:rPr lang="en-US" sz="3600" b="0" i="1" smtClean="0">
                            <a:latin typeface="Cambria Math" panose="02040503050406030204" pitchFamily="18" charset="0"/>
                          </a:rPr>
                          <m:t>𝑛</m:t>
                        </m:r>
                        <m:r>
                          <a:rPr lang="en-US" sz="3600" b="0" i="1" smtClean="0">
                            <a:latin typeface="Cambria Math" panose="02040503050406030204" pitchFamily="18" charset="0"/>
                          </a:rPr>
                          <m:t>−</m:t>
                        </m:r>
                        <m:r>
                          <a:rPr lang="en-US" sz="3600" b="0" i="1" smtClean="0">
                            <a:latin typeface="Cambria Math" panose="02040503050406030204" pitchFamily="18" charset="0"/>
                          </a:rPr>
                          <m:t>𝑥</m:t>
                        </m:r>
                      </m:sup>
                    </m:sSup>
                  </m:oMath>
                </a14:m>
                <a:endParaRPr lang="en-US" sz="3600" dirty="0"/>
              </a:p>
              <a:p>
                <a:pPr marL="0" indent="0">
                  <a:buNone/>
                </a:pPr>
                <a:r>
                  <a:rPr lang="en-US" sz="3600" dirty="0"/>
                  <a:t>			= </a:t>
                </a:r>
                <a14:m>
                  <m:oMath xmlns:m="http://schemas.openxmlformats.org/officeDocument/2006/math">
                    <m:f>
                      <m:fPr>
                        <m:ctrlPr>
                          <a:rPr lang="en-US" sz="3600" i="1" smtClean="0">
                            <a:latin typeface="Cambria Math" panose="02040503050406030204" pitchFamily="18" charset="0"/>
                          </a:rPr>
                        </m:ctrlPr>
                      </m:fPr>
                      <m:num>
                        <m:r>
                          <a:rPr lang="en-US" sz="3600" b="0" i="1" smtClean="0">
                            <a:latin typeface="Cambria Math" panose="02040503050406030204" pitchFamily="18" charset="0"/>
                          </a:rPr>
                          <m:t>𝑛</m:t>
                        </m:r>
                        <m:r>
                          <a:rPr lang="en-US" sz="3600" b="0" i="1" smtClean="0">
                            <a:latin typeface="Cambria Math" panose="02040503050406030204" pitchFamily="18" charset="0"/>
                            <a:ea typeface="Cambria Math" panose="02040503050406030204" pitchFamily="18" charset="0"/>
                          </a:rPr>
                          <m:t>!</m:t>
                        </m:r>
                      </m:num>
                      <m:den>
                        <m:r>
                          <a:rPr lang="en-US" sz="3600" b="0" i="1" smtClean="0">
                            <a:latin typeface="Cambria Math" panose="02040503050406030204" pitchFamily="18" charset="0"/>
                          </a:rPr>
                          <m:t>(</m:t>
                        </m:r>
                        <m:r>
                          <a:rPr lang="en-US" sz="3600" b="0" i="1" smtClean="0">
                            <a:latin typeface="Cambria Math" panose="02040503050406030204" pitchFamily="18" charset="0"/>
                          </a:rPr>
                          <m:t>𝑛</m:t>
                        </m:r>
                        <m:r>
                          <a:rPr lang="en-US" sz="3600" b="0" i="1" smtClean="0">
                            <a:latin typeface="Cambria Math" panose="02040503050406030204" pitchFamily="18" charset="0"/>
                          </a:rPr>
                          <m:t>−</m:t>
                        </m:r>
                        <m:r>
                          <a:rPr lang="en-US" sz="3600" b="0" i="1" smtClean="0">
                            <a:latin typeface="Cambria Math" panose="02040503050406030204" pitchFamily="18" charset="0"/>
                          </a:rPr>
                          <m:t>𝑥</m:t>
                        </m:r>
                        <m:r>
                          <a:rPr lang="en-US" sz="3600" b="0" i="1" smtClean="0">
                            <a:latin typeface="Cambria Math" panose="02040503050406030204" pitchFamily="18" charset="0"/>
                          </a:rPr>
                          <m:t>)!</m:t>
                        </m:r>
                        <m:r>
                          <a:rPr lang="en-US" sz="3600" b="0" i="1" smtClean="0">
                            <a:latin typeface="Cambria Math" panose="02040503050406030204" pitchFamily="18" charset="0"/>
                            <a:ea typeface="Cambria Math" panose="02040503050406030204" pitchFamily="18" charset="0"/>
                          </a:rPr>
                          <m:t>𝑥</m:t>
                        </m:r>
                        <m:r>
                          <a:rPr lang="en-US" sz="3600" b="0" i="1" smtClean="0">
                            <a:latin typeface="Cambria Math" panose="02040503050406030204" pitchFamily="18" charset="0"/>
                            <a:ea typeface="Cambria Math" panose="02040503050406030204" pitchFamily="18" charset="0"/>
                          </a:rPr>
                          <m:t>!</m:t>
                        </m:r>
                      </m:den>
                    </m:f>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𝑝</m:t>
                        </m:r>
                      </m:e>
                      <m:sup>
                        <m:r>
                          <a:rPr lang="en-US" sz="3600" b="0" i="1" smtClean="0">
                            <a:latin typeface="Cambria Math" panose="02040503050406030204" pitchFamily="18" charset="0"/>
                          </a:rPr>
                          <m:t>𝑥</m:t>
                        </m:r>
                      </m:sup>
                    </m:sSup>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𝑞</m:t>
                        </m:r>
                      </m:e>
                      <m:sup>
                        <m:r>
                          <a:rPr lang="en-US" sz="3600" b="0" i="1" smtClean="0">
                            <a:latin typeface="Cambria Math" panose="02040503050406030204" pitchFamily="18" charset="0"/>
                          </a:rPr>
                          <m:t>𝑛</m:t>
                        </m:r>
                        <m:r>
                          <a:rPr lang="en-US" sz="3600" b="0" i="1" smtClean="0">
                            <a:latin typeface="Cambria Math" panose="02040503050406030204" pitchFamily="18" charset="0"/>
                          </a:rPr>
                          <m:t>−</m:t>
                        </m:r>
                        <m:r>
                          <a:rPr lang="en-US" sz="3600" b="0" i="1" smtClean="0">
                            <a:latin typeface="Cambria Math" panose="02040503050406030204" pitchFamily="18" charset="0"/>
                          </a:rPr>
                          <m:t>𝑥</m:t>
                        </m:r>
                      </m:sup>
                    </m:sSup>
                  </m:oMath>
                </a14:m>
                <a:endParaRPr lang="en-US" sz="3600" dirty="0"/>
              </a:p>
              <a:p>
                <a:pPr marL="0" indent="0">
                  <a:buNone/>
                </a:pPr>
                <a:r>
                  <a:rPr lang="en-US" sz="2000" dirty="0"/>
                  <a:t>Notations: </a:t>
                </a:r>
              </a:p>
              <a:p>
                <a:pPr marL="0" indent="0">
                  <a:buNone/>
                </a:pPr>
                <a:r>
                  <a:rPr lang="en-US" sz="2000" dirty="0"/>
                  <a:t>	n = Number of trials </a:t>
                </a:r>
              </a:p>
              <a:p>
                <a:pPr marL="0" indent="0">
                  <a:buNone/>
                </a:pPr>
                <a:r>
                  <a:rPr lang="en-US" sz="2000" dirty="0"/>
                  <a:t>	x = Number of successes in n trials</a:t>
                </a:r>
              </a:p>
              <a:p>
                <a:pPr marL="0" indent="0">
                  <a:buNone/>
                </a:pPr>
                <a:r>
                  <a:rPr lang="en-US" sz="2000" dirty="0"/>
                  <a:t>	n – x = No. of failures in in n trials</a:t>
                </a:r>
              </a:p>
              <a:p>
                <a:pPr marL="0" indent="0">
                  <a:buNone/>
                </a:pPr>
                <a:r>
                  <a:rPr lang="en-US" sz="2000" dirty="0"/>
                  <a:t>	p = probability of success for each trial</a:t>
                </a:r>
              </a:p>
              <a:p>
                <a:pPr marL="0" indent="0">
                  <a:buNone/>
                </a:pPr>
                <a:r>
                  <a:rPr lang="en-US" sz="2000" dirty="0"/>
                  <a:t>	q = probability of failures = 1 – p</a:t>
                </a:r>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339D906D-2FA6-4AF8-87E3-99DE9B154093}"/>
                  </a:ext>
                </a:extLst>
              </p:cNvPr>
              <p:cNvSpPr>
                <a:spLocks noGrp="1" noRot="1" noChangeAspect="1" noMove="1" noResize="1" noEditPoints="1" noAdjustHandles="1" noChangeArrowheads="1" noChangeShapeType="1" noTextEdit="1"/>
              </p:cNvSpPr>
              <p:nvPr>
                <p:ph idx="1"/>
              </p:nvPr>
            </p:nvSpPr>
            <p:spPr>
              <a:xfrm>
                <a:off x="877019" y="1242203"/>
                <a:ext cx="10058400" cy="4891177"/>
              </a:xfrm>
              <a:blipFill>
                <a:blip r:embed="rId2"/>
                <a:stretch>
                  <a:fillRect l="-667" t="-748" r="-182" b="-149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2C1C2FD-4B3B-9D3A-5A3D-65B9BDA478D0}"/>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541479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834F-6EB1-48E8-A717-D436BD8CC97B}"/>
              </a:ext>
            </a:extLst>
          </p:cNvPr>
          <p:cNvSpPr>
            <a:spLocks noGrp="1"/>
          </p:cNvSpPr>
          <p:nvPr>
            <p:ph type="title"/>
          </p:nvPr>
        </p:nvSpPr>
        <p:spPr>
          <a:xfrm>
            <a:off x="756250" y="599462"/>
            <a:ext cx="10058400" cy="841149"/>
          </a:xfrm>
        </p:spPr>
        <p:txBody>
          <a:bodyPr>
            <a:normAutofit/>
          </a:bodyPr>
          <a:lstStyle/>
          <a:p>
            <a:r>
              <a:rPr lang="en-US" sz="3600" b="1" dirty="0"/>
              <a:t>Parameters of Binomial Distribution</a:t>
            </a:r>
          </a:p>
        </p:txBody>
      </p:sp>
      <p:sp>
        <p:nvSpPr>
          <p:cNvPr id="3" name="Content Placeholder 2">
            <a:extLst>
              <a:ext uri="{FF2B5EF4-FFF2-40B4-BE49-F238E27FC236}">
                <a16:creationId xmlns:a16="http://schemas.microsoft.com/office/drawing/2014/main" id="{077D1A95-639F-460E-87E9-6AF2A96813AA}"/>
              </a:ext>
            </a:extLst>
          </p:cNvPr>
          <p:cNvSpPr>
            <a:spLocks noGrp="1"/>
          </p:cNvSpPr>
          <p:nvPr>
            <p:ph idx="1"/>
          </p:nvPr>
        </p:nvSpPr>
        <p:spPr>
          <a:xfrm>
            <a:off x="897147" y="1932317"/>
            <a:ext cx="10228053" cy="4102723"/>
          </a:xfrm>
        </p:spPr>
        <p:txBody>
          <a:bodyPr>
            <a:normAutofit/>
          </a:bodyPr>
          <a:lstStyle/>
          <a:p>
            <a:pPr marL="0" indent="0">
              <a:buNone/>
            </a:pPr>
            <a:r>
              <a:rPr lang="en-US" sz="3600" dirty="0"/>
              <a:t>A Binomial distribution is completely specified if we know the values of ‘n’ and ‘p’. Hence, n and</a:t>
            </a:r>
            <a:r>
              <a:rPr lang="en-US" sz="3600" dirty="0">
                <a:solidFill>
                  <a:srgbClr val="FF0000"/>
                </a:solidFill>
              </a:rPr>
              <a:t> </a:t>
            </a:r>
            <a:r>
              <a:rPr lang="en-US" sz="3600" dirty="0"/>
              <a:t>p are called parameters of Binomial Distribution.</a:t>
            </a:r>
          </a:p>
          <a:p>
            <a:pPr marL="0" indent="0">
              <a:buNone/>
            </a:pPr>
            <a:r>
              <a:rPr lang="en-US" sz="3600" dirty="0"/>
              <a:t>	n = Number of trials in each sample</a:t>
            </a:r>
          </a:p>
          <a:p>
            <a:pPr marL="0" indent="0">
              <a:buNone/>
            </a:pPr>
            <a:r>
              <a:rPr lang="en-US" sz="3600" dirty="0"/>
              <a:t>	p = probability of success </a:t>
            </a:r>
          </a:p>
        </p:txBody>
      </p:sp>
      <p:sp>
        <p:nvSpPr>
          <p:cNvPr id="4" name="Footer Placeholder 3">
            <a:extLst>
              <a:ext uri="{FF2B5EF4-FFF2-40B4-BE49-F238E27FC236}">
                <a16:creationId xmlns:a16="http://schemas.microsoft.com/office/drawing/2014/main" id="{BEB5E80B-A42D-3DD1-74CD-59C532420E3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531597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DF80D-B5FF-446A-AF27-289F02F21DC5}"/>
              </a:ext>
            </a:extLst>
          </p:cNvPr>
          <p:cNvSpPr>
            <a:spLocks noGrp="1"/>
          </p:cNvSpPr>
          <p:nvPr>
            <p:ph type="title"/>
          </p:nvPr>
        </p:nvSpPr>
        <p:spPr/>
        <p:txBody>
          <a:bodyPr/>
          <a:lstStyle/>
          <a:p>
            <a:r>
              <a:rPr lang="en-US" b="1" dirty="0"/>
              <a:t>Shape of Binomial Distribution</a:t>
            </a:r>
          </a:p>
        </p:txBody>
      </p:sp>
      <p:sp>
        <p:nvSpPr>
          <p:cNvPr id="3" name="Content Placeholder 2">
            <a:extLst>
              <a:ext uri="{FF2B5EF4-FFF2-40B4-BE49-F238E27FC236}">
                <a16:creationId xmlns:a16="http://schemas.microsoft.com/office/drawing/2014/main" id="{92629B34-38A4-4801-AA3F-68CFA207B637}"/>
              </a:ext>
            </a:extLst>
          </p:cNvPr>
          <p:cNvSpPr>
            <a:spLocks noGrp="1"/>
          </p:cNvSpPr>
          <p:nvPr>
            <p:ph idx="1"/>
          </p:nvPr>
        </p:nvSpPr>
        <p:spPr/>
        <p:txBody>
          <a:bodyPr>
            <a:normAutofit/>
          </a:bodyPr>
          <a:lstStyle/>
          <a:p>
            <a:pPr marL="342900" indent="-342900">
              <a:buAutoNum type="arabicPeriod"/>
            </a:pPr>
            <a:r>
              <a:rPr lang="en-US" sz="3200" dirty="0"/>
              <a:t>If p = 0.5, a Binomial distribution is symmetrical of zero skewed regardless of n = no. of successes.</a:t>
            </a:r>
          </a:p>
          <a:p>
            <a:pPr marL="342900" indent="-342900">
              <a:buAutoNum type="arabicPeriod"/>
            </a:pPr>
            <a:r>
              <a:rPr lang="en-US" sz="3200" dirty="0"/>
              <a:t>If p ≠ 0.5, a Binomial distribution is non-symmetrical or skewed. In other word if p → 1or p → 0 BD is skewed.</a:t>
            </a:r>
          </a:p>
          <a:p>
            <a:pPr marL="342900" indent="-342900">
              <a:buAutoNum type="arabicPeriod"/>
            </a:pPr>
            <a:r>
              <a:rPr lang="en-US" sz="3200" dirty="0"/>
              <a:t>If n is very large, the BD tends to be symmetrical.</a:t>
            </a:r>
          </a:p>
        </p:txBody>
      </p:sp>
      <p:sp>
        <p:nvSpPr>
          <p:cNvPr id="4" name="Footer Placeholder 3">
            <a:extLst>
              <a:ext uri="{FF2B5EF4-FFF2-40B4-BE49-F238E27FC236}">
                <a16:creationId xmlns:a16="http://schemas.microsoft.com/office/drawing/2014/main" id="{A28739F6-357B-B5FB-07D4-719AEDDC77E7}"/>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142142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FCC00-2BEC-4EE2-9ED8-8C87AFF94486}"/>
              </a:ext>
            </a:extLst>
          </p:cNvPr>
          <p:cNvSpPr>
            <a:spLocks noGrp="1"/>
          </p:cNvSpPr>
          <p:nvPr>
            <p:ph type="title"/>
          </p:nvPr>
        </p:nvSpPr>
        <p:spPr/>
        <p:txBody>
          <a:bodyPr>
            <a:normAutofit/>
          </a:bodyPr>
          <a:lstStyle/>
          <a:p>
            <a:r>
              <a:rPr lang="en-US" sz="2800" b="1" dirty="0"/>
              <a:t>Mean and Variance of Binomial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0C3457C-2CCB-4403-AD6A-49A5F015A7F0}"/>
                  </a:ext>
                </a:extLst>
              </p:cNvPr>
              <p:cNvSpPr>
                <a:spLocks noGrp="1"/>
              </p:cNvSpPr>
              <p:nvPr>
                <p:ph idx="1"/>
              </p:nvPr>
            </p:nvSpPr>
            <p:spPr/>
            <p:txBody>
              <a:bodyPr/>
              <a:lstStyle/>
              <a:p>
                <a:pPr marL="0" indent="0">
                  <a:buNone/>
                </a:pPr>
                <a:r>
                  <a:rPr lang="en-US" sz="2800" dirty="0"/>
                  <a:t>Mean of Binomial Distribution (µ) = </a:t>
                </a:r>
                <a14:m>
                  <m:oMath xmlns:m="http://schemas.openxmlformats.org/officeDocument/2006/math">
                    <m:r>
                      <a:rPr lang="en-US" sz="2800" i="1" dirty="0" smtClean="0">
                        <a:latin typeface="Cambria Math" panose="02040503050406030204" pitchFamily="18" charset="0"/>
                      </a:rPr>
                      <m:t>𝑛</m:t>
                    </m:r>
                    <m:r>
                      <a:rPr lang="en-US" sz="2800" i="1" dirty="0" smtClean="0">
                        <a:latin typeface="Cambria Math" panose="02040503050406030204" pitchFamily="18" charset="0"/>
                      </a:rPr>
                      <m:t> </m:t>
                    </m:r>
                    <m:r>
                      <a:rPr lang="en-US" sz="2800" i="1" dirty="0" smtClean="0">
                        <a:latin typeface="Cambria Math" panose="02040503050406030204" pitchFamily="18" charset="0"/>
                      </a:rPr>
                      <m:t>𝑝</m:t>
                    </m:r>
                  </m:oMath>
                </a14:m>
                <a:endParaRPr lang="en-US" sz="2800" dirty="0"/>
              </a:p>
              <a:p>
                <a:pPr marL="0" indent="0">
                  <a:buNone/>
                </a:pPr>
                <a:endParaRPr lang="en-US" sz="2800" dirty="0"/>
              </a:p>
              <a:p>
                <a:pPr marL="0" indent="0">
                  <a:buNone/>
                </a:pPr>
                <a:r>
                  <a:rPr lang="en-US" sz="2800" dirty="0"/>
                  <a:t>Variance of Binomial Distribution (σ</a:t>
                </a:r>
                <a:r>
                  <a:rPr lang="en-US" sz="2800" baseline="30000" dirty="0"/>
                  <a:t>2</a:t>
                </a:r>
                <a:r>
                  <a:rPr lang="en-US" sz="2800" dirty="0"/>
                  <a:t>) = </a:t>
                </a:r>
                <a14:m>
                  <m:oMath xmlns:m="http://schemas.openxmlformats.org/officeDocument/2006/math">
                    <m:r>
                      <a:rPr lang="en-US" sz="2800" b="0" i="1" smtClean="0">
                        <a:latin typeface="Cambria Math" panose="02040503050406030204" pitchFamily="18" charset="0"/>
                      </a:rPr>
                      <m:t>𝑛𝑝𝑞</m:t>
                    </m:r>
                  </m:oMath>
                </a14:m>
                <a:endParaRPr lang="en-US" sz="2800" dirty="0"/>
              </a:p>
              <a:p>
                <a:pPr marL="0" indent="0">
                  <a:buNone/>
                </a:pPr>
                <a:endParaRPr lang="en-US" sz="2800" dirty="0"/>
              </a:p>
              <a:p>
                <a:pPr marL="0" indent="0">
                  <a:buNone/>
                </a:pPr>
                <a:r>
                  <a:rPr lang="en-US" sz="2800" dirty="0"/>
                  <a:t>Standard Deviation of Binomial Distribution (σ) = </a:t>
                </a:r>
                <a14:m>
                  <m:oMath xmlns:m="http://schemas.openxmlformats.org/officeDocument/2006/math">
                    <m:rad>
                      <m:radPr>
                        <m:degHide m:val="on"/>
                        <m:ctrlPr>
                          <a:rPr lang="en-US" sz="2800" i="1" smtClean="0">
                            <a:latin typeface="Cambria Math" panose="02040503050406030204" pitchFamily="18" charset="0"/>
                          </a:rPr>
                        </m:ctrlPr>
                      </m:radPr>
                      <m:deg/>
                      <m:e>
                        <m:r>
                          <a:rPr lang="en-US" sz="2800" b="0" i="1" smtClean="0">
                            <a:latin typeface="Cambria Math" panose="02040503050406030204" pitchFamily="18" charset="0"/>
                          </a:rPr>
                          <m:t>𝑛𝑝𝑞</m:t>
                        </m:r>
                      </m:e>
                    </m:rad>
                  </m:oMath>
                </a14:m>
                <a:endParaRPr lang="en-US" sz="28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0C3457C-2CCB-4403-AD6A-49A5F015A7F0}"/>
                  </a:ext>
                </a:extLst>
              </p:cNvPr>
              <p:cNvSpPr>
                <a:spLocks noGrp="1" noRot="1" noChangeAspect="1" noMove="1" noResize="1" noEditPoints="1" noAdjustHandles="1" noChangeArrowheads="1" noChangeShapeType="1" noTextEdit="1"/>
              </p:cNvSpPr>
              <p:nvPr>
                <p:ph idx="1"/>
              </p:nvPr>
            </p:nvSpPr>
            <p:spPr>
              <a:blipFill>
                <a:blip r:embed="rId2"/>
                <a:stretch>
                  <a:fillRect l="-1212" t="-1550"/>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247452A-5C40-9E46-D391-A3197AB7399C}"/>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328793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C71B5-4264-4FEE-8F50-B23752693333}"/>
              </a:ext>
            </a:extLst>
          </p:cNvPr>
          <p:cNvSpPr>
            <a:spLocks noGrp="1"/>
          </p:cNvSpPr>
          <p:nvPr>
            <p:ph idx="1"/>
          </p:nvPr>
        </p:nvSpPr>
        <p:spPr>
          <a:xfrm>
            <a:off x="715992" y="724619"/>
            <a:ext cx="11162581" cy="5693434"/>
          </a:xfrm>
        </p:spPr>
        <p:txBody>
          <a:bodyPr>
            <a:noAutofit/>
          </a:bodyPr>
          <a:lstStyle/>
          <a:p>
            <a:pPr marL="0" indent="0">
              <a:buNone/>
            </a:pPr>
            <a:r>
              <a:rPr lang="en-US" sz="2000" b="1" dirty="0"/>
              <a:t>Numerical Example</a:t>
            </a:r>
            <a:r>
              <a:rPr lang="en-US" sz="2000" dirty="0"/>
              <a:t>: A man tosses a coin 10 times. Find the probability of following events.</a:t>
            </a:r>
          </a:p>
          <a:p>
            <a:pPr marL="914400" indent="-457200">
              <a:buAutoNum type="alphaLcParenBoth"/>
            </a:pPr>
            <a:r>
              <a:rPr lang="en-US" sz="2000" dirty="0"/>
              <a:t>Exactly 5 heads</a:t>
            </a:r>
          </a:p>
          <a:p>
            <a:pPr marL="914400" indent="-457200">
              <a:buAutoNum type="alphaLcParenBoth"/>
            </a:pPr>
            <a:r>
              <a:rPr lang="en-US" sz="2000" dirty="0"/>
              <a:t>At least 8 heads</a:t>
            </a:r>
          </a:p>
          <a:p>
            <a:pPr marL="914400" indent="-457200">
              <a:buAutoNum type="alphaLcParenBoth"/>
            </a:pPr>
            <a:r>
              <a:rPr lang="en-US" sz="2000" dirty="0"/>
              <a:t>At most 4 heads</a:t>
            </a:r>
          </a:p>
          <a:p>
            <a:pPr marL="914400" indent="-457200">
              <a:buAutoNum type="alphaLcParenBoth"/>
            </a:pPr>
            <a:r>
              <a:rPr lang="en-US" sz="2000" dirty="0"/>
              <a:t>Between 3 to 6 heads inclusive</a:t>
            </a:r>
          </a:p>
          <a:p>
            <a:pPr marL="914400" indent="-457200">
              <a:buAutoNum type="alphaLcParenBoth"/>
            </a:pPr>
            <a:r>
              <a:rPr lang="en-US" sz="2000" dirty="0"/>
              <a:t>What is the mean no. of successes </a:t>
            </a:r>
          </a:p>
          <a:p>
            <a:pPr marL="914400" indent="-457200">
              <a:buAutoNum type="alphaLcParenBoth"/>
            </a:pPr>
            <a:r>
              <a:rPr lang="en-US" sz="2000" dirty="0"/>
              <a:t>What is the standard deviation of no. of successes</a:t>
            </a:r>
          </a:p>
          <a:p>
            <a:pPr marL="914400" indent="-457200">
              <a:buAutoNum type="alphaLcParenBoth"/>
            </a:pPr>
            <a:r>
              <a:rPr lang="en-US" sz="2000" dirty="0"/>
              <a:t>What is the shape of the distribution in 10 tosses</a:t>
            </a:r>
          </a:p>
        </p:txBody>
      </p:sp>
      <p:sp>
        <p:nvSpPr>
          <p:cNvPr id="2" name="Footer Placeholder 1">
            <a:extLst>
              <a:ext uri="{FF2B5EF4-FFF2-40B4-BE49-F238E27FC236}">
                <a16:creationId xmlns:a16="http://schemas.microsoft.com/office/drawing/2014/main" id="{0C410174-6C25-1043-B399-F195EA0AEDA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42295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DD1D90-00DC-44B0-B595-CB5A72FE85A1}"/>
                  </a:ext>
                </a:extLst>
              </p:cNvPr>
              <p:cNvSpPr>
                <a:spLocks noGrp="1"/>
              </p:cNvSpPr>
              <p:nvPr>
                <p:ph idx="1"/>
              </p:nvPr>
            </p:nvSpPr>
            <p:spPr>
              <a:xfrm>
                <a:off x="802257" y="569343"/>
                <a:ext cx="10826151" cy="5650302"/>
              </a:xfrm>
            </p:spPr>
            <p:txBody>
              <a:bodyPr/>
              <a:lstStyle/>
              <a:p>
                <a:pPr marL="0" indent="0">
                  <a:buNone/>
                </a:pPr>
                <a:r>
                  <a:rPr lang="en-US" sz="1800" b="1" dirty="0"/>
                  <a:t>Solution:</a:t>
                </a:r>
              </a:p>
              <a:p>
                <a:pPr marL="0" indent="0">
                  <a:buNone/>
                </a:pPr>
                <a:r>
                  <a:rPr lang="en-US" sz="2400" dirty="0"/>
                  <a:t>Here flipping a fair coin is a random experiment and each flip can result into either a head (H) or tail (T). Let getting a head success and getting a tail failure. The experiment is performed for fixed no. of trials i.e. 10 times. If a tossed coin to be fair, the result of each toss is independent of each other. So, this particular problem can be solved by using Binomial probability model as it satisfies all the conditions required for the BD.</a:t>
                </a:r>
              </a:p>
              <a:p>
                <a:pPr marL="0" indent="0">
                  <a:buNone/>
                </a:pPr>
                <a:endParaRPr lang="en-US" sz="2400" dirty="0"/>
              </a:p>
              <a:p>
                <a:pPr marL="0" indent="0">
                  <a:buNone/>
                </a:pPr>
                <a:r>
                  <a:rPr lang="en-US" sz="2400" dirty="0"/>
                  <a:t>The probability of ‘x’ no. of successes in ‘n’ trial is given by,</a:t>
                </a:r>
              </a:p>
              <a:p>
                <a:pPr marL="0" indent="0">
                  <a:buNone/>
                </a:pPr>
                <a:r>
                  <a:rPr lang="en-US" sz="2400" dirty="0"/>
                  <a:t>		</a:t>
                </a:r>
                <a:r>
                  <a:rPr lang="en-US" sz="2400" b="0" dirty="0"/>
                  <a:t> </a:t>
                </a:r>
                <a14:m>
                  <m:oMath xmlns:m="http://schemas.openxmlformats.org/officeDocument/2006/math">
                    <m:r>
                      <a:rPr lang="en-US" sz="2400" b="0" i="1" smtClean="0">
                        <a:latin typeface="Cambria Math" panose="02040503050406030204" pitchFamily="18" charset="0"/>
                      </a:rPr>
                      <m:t>𝑃</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𝑋</m:t>
                        </m:r>
                        <m:r>
                          <a:rPr lang="en-US" sz="2400" b="0" i="1" smtClean="0">
                            <a:latin typeface="Cambria Math" panose="02040503050406030204" pitchFamily="18" charset="0"/>
                          </a:rPr>
                          <m:t>=</m:t>
                        </m:r>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𝑛𝐶𝑥</m:t>
                    </m:r>
                    <m:r>
                      <a:rPr lang="en-US" sz="2400" b="0" i="1" smtClean="0">
                        <a:latin typeface="Cambria Math" panose="02040503050406030204" pitchFamily="18" charset="0"/>
                      </a:rPr>
                      <m:t> .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𝑥</m:t>
                        </m:r>
                      </m:sup>
                    </m:sSup>
                    <m:r>
                      <a:rPr lang="en-US" sz="2400" b="0" i="1" smtClean="0">
                        <a:latin typeface="Cambria Math" panose="02040503050406030204" pitchFamily="18" charset="0"/>
                      </a:rPr>
                      <m:t> .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𝑞</m:t>
                        </m:r>
                      </m:e>
                      <m:sup>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𝑥</m:t>
                        </m:r>
                      </m:sup>
                    </m:sSup>
                  </m:oMath>
                </a14:m>
                <a:endParaRPr lang="en-US" sz="2400" dirty="0"/>
              </a:p>
              <a:p>
                <a:pPr marL="0" indent="0">
                  <a:buNone/>
                </a:pPr>
                <a:r>
                  <a:rPr lang="en-US" sz="2400" dirty="0"/>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num>
                      <m:den>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den>
                    </m:f>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𝑥</m:t>
                        </m:r>
                      </m:sup>
                    </m:sSup>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𝑞</m:t>
                        </m:r>
                      </m:e>
                      <m:sup>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𝑥</m:t>
                        </m:r>
                      </m:sup>
                    </m:sSup>
                  </m:oMath>
                </a14:m>
                <a:endParaRPr lang="en-US" sz="240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AFDD1D90-00DC-44B0-B595-CB5A72FE85A1}"/>
                  </a:ext>
                </a:extLst>
              </p:cNvPr>
              <p:cNvSpPr>
                <a:spLocks noGrp="1" noRot="1" noChangeAspect="1" noMove="1" noResize="1" noEditPoints="1" noAdjustHandles="1" noChangeArrowheads="1" noChangeShapeType="1" noTextEdit="1"/>
              </p:cNvSpPr>
              <p:nvPr>
                <p:ph idx="1"/>
              </p:nvPr>
            </p:nvSpPr>
            <p:spPr>
              <a:xfrm>
                <a:off x="802257" y="569343"/>
                <a:ext cx="10826151" cy="5650302"/>
              </a:xfrm>
              <a:blipFill>
                <a:blip r:embed="rId2"/>
                <a:stretch>
                  <a:fillRect l="-901" t="-539" r="-1351"/>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014B6622-CB09-E496-9755-A2271185F4E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143635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7C7434-94D5-4735-8E23-FB5C9A3C3939}"/>
                  </a:ext>
                </a:extLst>
              </p:cNvPr>
              <p:cNvSpPr>
                <a:spLocks noGrp="1"/>
              </p:cNvSpPr>
              <p:nvPr>
                <p:ph idx="1"/>
              </p:nvPr>
            </p:nvSpPr>
            <p:spPr>
              <a:xfrm>
                <a:off x="715992" y="526211"/>
                <a:ext cx="10921042" cy="5779698"/>
              </a:xfrm>
            </p:spPr>
            <p:txBody>
              <a:bodyPr/>
              <a:lstStyle/>
              <a:p>
                <a:pPr marL="0" indent="0">
                  <a:buNone/>
                </a:pPr>
                <a:r>
                  <a:rPr lang="en-US" sz="1600" dirty="0"/>
                  <a:t>No. of trials (n) = 10</a:t>
                </a:r>
              </a:p>
              <a:p>
                <a:pPr marL="0" indent="0">
                  <a:buNone/>
                </a:pPr>
                <a:r>
                  <a:rPr lang="en-US" sz="1600" dirty="0"/>
                  <a:t>Probability of getting head in each toss (p) = ½ = 0.5</a:t>
                </a:r>
              </a:p>
              <a:p>
                <a:pPr marL="0" indent="0">
                  <a:buNone/>
                </a:pPr>
                <a:r>
                  <a:rPr lang="en-US" sz="1600" dirty="0"/>
                  <a:t>Probability of getting tail in each toss (q) = 1 – 0.5 = 0.5</a:t>
                </a:r>
              </a:p>
              <a:p>
                <a:pPr marL="0" indent="0">
                  <a:buNone/>
                </a:pPr>
                <a:r>
                  <a:rPr lang="en-US" sz="1600" dirty="0"/>
                  <a:t>Random Variable X =  No. of heads in the sequence (X = 0, 1, 2, …, 10)</a:t>
                </a:r>
              </a:p>
              <a:p>
                <a:pPr marL="0" indent="0">
                  <a:buNone/>
                </a:pPr>
                <a:r>
                  <a:rPr lang="en-US" sz="1600" dirty="0"/>
                  <a:t>We write,</a:t>
                </a:r>
              </a:p>
              <a:p>
                <a:pPr marL="0" indent="0">
                  <a:buNone/>
                </a:pPr>
                <a:r>
                  <a:rPr lang="en-US" sz="1600" dirty="0"/>
                  <a:t>	X ~ B.D. (n = 10 , p = </a:t>
                </a:r>
                <a14:m>
                  <m:oMath xmlns:m="http://schemas.openxmlformats.org/officeDocument/2006/math">
                    <m:f>
                      <m:fPr>
                        <m:ctrlPr>
                          <a:rPr lang="en-US" sz="1600" i="1" dirty="0" smtClean="0">
                            <a:solidFill>
                              <a:srgbClr val="836967"/>
                            </a:solidFill>
                            <a:latin typeface="Cambria Math" panose="02040503050406030204" pitchFamily="18" charset="0"/>
                          </a:rPr>
                        </m:ctrlPr>
                      </m:fPr>
                      <m:num>
                        <m:r>
                          <a:rPr lang="en-US" sz="1600" dirty="0" smtClean="0">
                            <a:latin typeface="Cambria Math" panose="02040503050406030204" pitchFamily="18" charset="0"/>
                          </a:rPr>
                          <m:t>1</m:t>
                        </m:r>
                      </m:num>
                      <m:den>
                        <m:r>
                          <a:rPr lang="en-US" sz="1600" i="0" dirty="0" smtClean="0">
                            <a:latin typeface="Cambria Math" panose="02040503050406030204" pitchFamily="18" charset="0"/>
                          </a:rPr>
                          <m:t>2</m:t>
                        </m:r>
                      </m:den>
                    </m:f>
                  </m:oMath>
                </a14:m>
                <a:r>
                  <a:rPr lang="en-US" sz="1600" dirty="0"/>
                  <a:t> )		Note: ~ is pronounced as tilde </a:t>
                </a:r>
              </a:p>
              <a:p>
                <a:pPr marL="342900" indent="-342900">
                  <a:buAutoNum type="alphaLcParenBoth"/>
                </a:pPr>
                <a:r>
                  <a:rPr lang="en-US" sz="1600" dirty="0"/>
                  <a:t>Probability of exactly 5 heads = P (X = 5)</a:t>
                </a:r>
              </a:p>
              <a:p>
                <a:pPr marL="822960" lvl="3" indent="0">
                  <a:buNone/>
                </a:pPr>
                <a:r>
                  <a:rPr lang="en-US" sz="1600" dirty="0"/>
                  <a:t>				= 10</a:t>
                </a:r>
                <a14:m>
                  <m:oMath xmlns:m="http://schemas.openxmlformats.org/officeDocument/2006/math">
                    <m:r>
                      <a:rPr lang="en-US" sz="1600" b="0" i="1" smtClean="0">
                        <a:latin typeface="Cambria Math" panose="02040503050406030204" pitchFamily="18" charset="0"/>
                      </a:rPr>
                      <m:t>𝐶</m:t>
                    </m:r>
                    <m:r>
                      <a:rPr lang="en-US" sz="1600" b="0" i="1" smtClean="0">
                        <a:latin typeface="Cambria Math" panose="02040503050406030204" pitchFamily="18" charset="0"/>
                      </a:rPr>
                      <m:t>5 .  </m:t>
                    </m:r>
                    <m:sSup>
                      <m:sSupPr>
                        <m:ctrlPr>
                          <a:rPr lang="en-US" sz="1600" b="0" i="1" smtClean="0">
                            <a:solidFill>
                              <a:srgbClr val="836967"/>
                            </a:solidFill>
                            <a:latin typeface="Cambria Math" panose="02040503050406030204" pitchFamily="18" charset="0"/>
                          </a:rPr>
                        </m:ctrlPr>
                      </m:sSupPr>
                      <m:e>
                        <m:d>
                          <m:dPr>
                            <m:ctrlPr>
                              <a:rPr lang="en-US" sz="1600" b="0" i="1" smtClean="0">
                                <a:solidFill>
                                  <a:srgbClr val="836967"/>
                                </a:solidFill>
                                <a:latin typeface="Cambria Math" panose="02040503050406030204" pitchFamily="18" charset="0"/>
                              </a:rPr>
                            </m:ctrlPr>
                          </m:dPr>
                          <m:e>
                            <m:f>
                              <m:fPr>
                                <m:ctrlPr>
                                  <a:rPr lang="en-US" sz="1600" b="0" i="1" smtClean="0">
                                    <a:solidFill>
                                      <a:srgbClr val="836967"/>
                                    </a:solidFill>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d>
                      </m:e>
                      <m:sup>
                        <m:r>
                          <a:rPr lang="en-US" sz="1600" b="0" i="1" smtClean="0">
                            <a:latin typeface="Cambria Math" panose="02040503050406030204" pitchFamily="18" charset="0"/>
                          </a:rPr>
                          <m:t>5</m:t>
                        </m:r>
                      </m:sup>
                    </m:sSup>
                    <m:r>
                      <a:rPr lang="en-US" sz="1600" b="0" i="1" smtClean="0">
                        <a:latin typeface="Cambria Math" panose="02040503050406030204" pitchFamily="18" charset="0"/>
                      </a:rPr>
                      <m:t> </m:t>
                    </m:r>
                    <m:sSup>
                      <m:sSupPr>
                        <m:ctrlPr>
                          <a:rPr lang="en-US" sz="1600" i="1" dirty="0" smtClean="0">
                            <a:solidFill>
                              <a:srgbClr val="836967"/>
                            </a:solidFill>
                            <a:latin typeface="Cambria Math" panose="02040503050406030204" pitchFamily="18" charset="0"/>
                          </a:rPr>
                        </m:ctrlPr>
                      </m:sSupPr>
                      <m:e>
                        <m:d>
                          <m:dPr>
                            <m:ctrlPr>
                              <a:rPr lang="en-US" sz="1600" i="1" dirty="0" smtClean="0">
                                <a:solidFill>
                                  <a:srgbClr val="836967"/>
                                </a:solidFill>
                                <a:latin typeface="Cambria Math" panose="02040503050406030204" pitchFamily="18" charset="0"/>
                              </a:rPr>
                            </m:ctrlPr>
                          </m:dPr>
                          <m:e>
                            <m:f>
                              <m:fPr>
                                <m:ctrlPr>
                                  <a:rPr lang="en-US" sz="1600" i="1" dirty="0" smtClean="0">
                                    <a:solidFill>
                                      <a:srgbClr val="836967"/>
                                    </a:solidFill>
                                    <a:latin typeface="Cambria Math" panose="02040503050406030204" pitchFamily="18" charset="0"/>
                                  </a:rPr>
                                </m:ctrlPr>
                              </m:fPr>
                              <m:num>
                                <m:r>
                                  <a:rPr lang="en-US" sz="1600" dirty="0" smtClean="0">
                                    <a:latin typeface="Cambria Math" panose="02040503050406030204" pitchFamily="18" charset="0"/>
                                  </a:rPr>
                                  <m:t>1</m:t>
                                </m:r>
                              </m:num>
                              <m:den>
                                <m:r>
                                  <a:rPr lang="en-US" sz="1600" i="0" dirty="0" smtClean="0">
                                    <a:latin typeface="Cambria Math" panose="02040503050406030204" pitchFamily="18" charset="0"/>
                                  </a:rPr>
                                  <m:t>2</m:t>
                                </m:r>
                              </m:den>
                            </m:f>
                          </m:e>
                        </m:d>
                      </m:e>
                      <m:sup>
                        <m:r>
                          <a:rPr lang="en-US" sz="1600" i="0" dirty="0" smtClean="0">
                            <a:latin typeface="Cambria Math" panose="02040503050406030204" pitchFamily="18" charset="0"/>
                          </a:rPr>
                          <m:t>10−5</m:t>
                        </m:r>
                      </m:sup>
                    </m:sSup>
                  </m:oMath>
                </a14:m>
                <a:endParaRPr lang="en-US" sz="1600" dirty="0"/>
              </a:p>
              <a:p>
                <a:pPr marL="822960" lvl="3" indent="0">
                  <a:buNone/>
                </a:pPr>
                <a:r>
                  <a:rPr lang="en-US" sz="1600" dirty="0"/>
                  <a:t>				= </a:t>
                </a:r>
                <a14:m>
                  <m:oMath xmlns:m="http://schemas.openxmlformats.org/officeDocument/2006/math">
                    <m:f>
                      <m:fPr>
                        <m:ctrlPr>
                          <a:rPr lang="en-US" sz="1600" i="1" smtClean="0">
                            <a:latin typeface="Cambria Math" panose="02040503050406030204" pitchFamily="18" charset="0"/>
                          </a:rPr>
                        </m:ctrlPr>
                      </m:fPr>
                      <m:num>
                        <m:r>
                          <a:rPr lang="en-US" sz="1600" b="0" i="1" smtClean="0">
                            <a:latin typeface="Cambria Math" panose="02040503050406030204" pitchFamily="18" charset="0"/>
                          </a:rPr>
                          <m:t>10</m:t>
                        </m:r>
                        <m:r>
                          <a:rPr lang="en-US" sz="1600" b="0" i="1" smtClean="0">
                            <a:latin typeface="Cambria Math" panose="02040503050406030204" pitchFamily="18" charset="0"/>
                            <a:ea typeface="Cambria Math" panose="02040503050406030204" pitchFamily="18" charset="0"/>
                          </a:rPr>
                          <m:t>!</m:t>
                        </m:r>
                      </m:num>
                      <m:den>
                        <m:r>
                          <a:rPr lang="en-US" sz="1600" b="0" i="1" smtClean="0">
                            <a:latin typeface="Cambria Math" panose="02040503050406030204" pitchFamily="18" charset="0"/>
                          </a:rPr>
                          <m:t>(10−5)!5</m:t>
                        </m:r>
                        <m:r>
                          <a:rPr lang="en-US" sz="1600" b="0" i="1" smtClean="0">
                            <a:latin typeface="Cambria Math" panose="02040503050406030204" pitchFamily="18" charset="0"/>
                            <a:ea typeface="Cambria Math" panose="02040503050406030204" pitchFamily="18" charset="0"/>
                          </a:rPr>
                          <m:t>!</m:t>
                        </m:r>
                      </m:den>
                    </m:f>
                    <m:sSup>
                      <m:sSupPr>
                        <m:ctrlPr>
                          <a:rPr lang="en-US" sz="1600" i="1">
                            <a:solidFill>
                              <a:srgbClr val="836967"/>
                            </a:solidFill>
                            <a:latin typeface="Cambria Math" panose="02040503050406030204" pitchFamily="18" charset="0"/>
                          </a:rPr>
                        </m:ctrlPr>
                      </m:sSupPr>
                      <m:e>
                        <m:d>
                          <m:dPr>
                            <m:ctrlPr>
                              <a:rPr lang="en-US" sz="1600" i="1">
                                <a:solidFill>
                                  <a:srgbClr val="836967"/>
                                </a:solidFill>
                                <a:latin typeface="Cambria Math" panose="02040503050406030204" pitchFamily="18" charset="0"/>
                              </a:rPr>
                            </m:ctrlPr>
                          </m:dPr>
                          <m:e>
                            <m:f>
                              <m:fPr>
                                <m:ctrlPr>
                                  <a:rPr lang="en-US" sz="1600" i="1">
                                    <a:solidFill>
                                      <a:srgbClr val="836967"/>
                                    </a:solidFill>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2</m:t>
                                </m:r>
                              </m:den>
                            </m:f>
                          </m:e>
                        </m:d>
                      </m:e>
                      <m:sup>
                        <m:r>
                          <a:rPr lang="en-US" sz="1600" i="1">
                            <a:latin typeface="Cambria Math" panose="02040503050406030204" pitchFamily="18" charset="0"/>
                          </a:rPr>
                          <m:t>5</m:t>
                        </m:r>
                      </m:sup>
                    </m:sSup>
                    <m:r>
                      <a:rPr lang="en-US" sz="1600" i="1">
                        <a:latin typeface="Cambria Math" panose="02040503050406030204" pitchFamily="18" charset="0"/>
                      </a:rPr>
                      <m:t> </m:t>
                    </m:r>
                    <m:sSup>
                      <m:sSupPr>
                        <m:ctrlPr>
                          <a:rPr lang="en-US" sz="1600" i="1" dirty="0">
                            <a:solidFill>
                              <a:srgbClr val="836967"/>
                            </a:solidFill>
                            <a:latin typeface="Cambria Math" panose="02040503050406030204" pitchFamily="18" charset="0"/>
                          </a:rPr>
                        </m:ctrlPr>
                      </m:sSupPr>
                      <m:e>
                        <m:d>
                          <m:dPr>
                            <m:ctrlPr>
                              <a:rPr lang="en-US" sz="1600" i="1" dirty="0">
                                <a:solidFill>
                                  <a:srgbClr val="836967"/>
                                </a:solidFill>
                                <a:latin typeface="Cambria Math" panose="02040503050406030204" pitchFamily="18" charset="0"/>
                              </a:rPr>
                            </m:ctrlPr>
                          </m:dPr>
                          <m:e>
                            <m:f>
                              <m:fPr>
                                <m:ctrlPr>
                                  <a:rPr lang="en-US" sz="1600" i="1" dirty="0">
                                    <a:solidFill>
                                      <a:srgbClr val="836967"/>
                                    </a:solidFill>
                                    <a:latin typeface="Cambria Math" panose="02040503050406030204" pitchFamily="18" charset="0"/>
                                  </a:rPr>
                                </m:ctrlPr>
                              </m:fPr>
                              <m:num>
                                <m:r>
                                  <a:rPr lang="en-US" sz="1600" dirty="0">
                                    <a:latin typeface="Cambria Math" panose="02040503050406030204" pitchFamily="18" charset="0"/>
                                  </a:rPr>
                                  <m:t>1</m:t>
                                </m:r>
                              </m:num>
                              <m:den>
                                <m:r>
                                  <a:rPr lang="en-US" sz="1600" dirty="0">
                                    <a:latin typeface="Cambria Math" panose="02040503050406030204" pitchFamily="18" charset="0"/>
                                  </a:rPr>
                                  <m:t>2</m:t>
                                </m:r>
                              </m:den>
                            </m:f>
                          </m:e>
                        </m:d>
                      </m:e>
                      <m:sup>
                        <m:r>
                          <a:rPr lang="en-US" sz="1600" dirty="0">
                            <a:latin typeface="Cambria Math" panose="02040503050406030204" pitchFamily="18" charset="0"/>
                          </a:rPr>
                          <m:t>10−5</m:t>
                        </m:r>
                      </m:sup>
                    </m:sSup>
                  </m:oMath>
                </a14:m>
                <a:r>
                  <a:rPr lang="en-US" sz="1600" dirty="0"/>
                  <a:t>= 252 </a:t>
                </a:r>
                <a14:m>
                  <m:oMath xmlns:m="http://schemas.openxmlformats.org/officeDocument/2006/math">
                    <m:sSup>
                      <m:sSupPr>
                        <m:ctrlPr>
                          <a:rPr lang="en-US" sz="1600" i="1" dirty="0" smtClean="0">
                            <a:solidFill>
                              <a:srgbClr val="836967"/>
                            </a:solidFill>
                            <a:latin typeface="Cambria Math" panose="02040503050406030204" pitchFamily="18" charset="0"/>
                          </a:rPr>
                        </m:ctrlPr>
                      </m:sSupPr>
                      <m:e>
                        <m:d>
                          <m:dPr>
                            <m:ctrlPr>
                              <a:rPr lang="en-US" sz="1600" i="1" dirty="0">
                                <a:solidFill>
                                  <a:srgbClr val="836967"/>
                                </a:solidFill>
                                <a:latin typeface="Cambria Math" panose="02040503050406030204" pitchFamily="18" charset="0"/>
                              </a:rPr>
                            </m:ctrlPr>
                          </m:dPr>
                          <m:e>
                            <m:f>
                              <m:fPr>
                                <m:ctrlPr>
                                  <a:rPr lang="en-US" sz="1600" i="1" dirty="0">
                                    <a:solidFill>
                                      <a:srgbClr val="836967"/>
                                    </a:solidFill>
                                    <a:latin typeface="Cambria Math" panose="02040503050406030204" pitchFamily="18" charset="0"/>
                                  </a:rPr>
                                </m:ctrlPr>
                              </m:fPr>
                              <m:num>
                                <m:r>
                                  <a:rPr lang="en-US" sz="1600" dirty="0">
                                    <a:latin typeface="Cambria Math" panose="02040503050406030204" pitchFamily="18" charset="0"/>
                                  </a:rPr>
                                  <m:t>1</m:t>
                                </m:r>
                              </m:num>
                              <m:den>
                                <m:r>
                                  <a:rPr lang="en-US" sz="1600" i="0" dirty="0">
                                    <a:latin typeface="Cambria Math" panose="02040503050406030204" pitchFamily="18" charset="0"/>
                                  </a:rPr>
                                  <m:t>2</m:t>
                                </m:r>
                              </m:den>
                            </m:f>
                          </m:e>
                        </m:d>
                      </m:e>
                      <m:sup>
                        <m:r>
                          <a:rPr lang="en-US" sz="1600" i="0" dirty="0">
                            <a:latin typeface="Cambria Math" panose="02040503050406030204" pitchFamily="18" charset="0"/>
                          </a:rPr>
                          <m:t>10</m:t>
                        </m:r>
                      </m:sup>
                    </m:sSup>
                  </m:oMath>
                </a14:m>
                <a:r>
                  <a:rPr lang="en-US" sz="1600" dirty="0"/>
                  <a:t> = </a:t>
                </a:r>
                <a:r>
                  <a:rPr lang="en-US" sz="1600" b="1" dirty="0"/>
                  <a:t>0.24609</a:t>
                </a:r>
              </a:p>
              <a:p>
                <a:pPr marL="822960" lvl="3" indent="0">
                  <a:buNone/>
                </a:pPr>
                <a:endParaRPr lang="en-US" sz="1600" b="1" dirty="0"/>
              </a:p>
              <a:p>
                <a:pPr marL="0" lvl="3" indent="0">
                  <a:buNone/>
                </a:pPr>
                <a:r>
                  <a:rPr lang="en-US" sz="1600" dirty="0"/>
                  <a:t>(b) Probability of at least 8 heads = P (X ≥ 8)</a:t>
                </a:r>
              </a:p>
              <a:p>
                <a:pPr marL="0" lvl="3" indent="0">
                  <a:buNone/>
                </a:pPr>
                <a:r>
                  <a:rPr lang="en-US" sz="1600" dirty="0"/>
                  <a:t>			= P(X = 8) + P(X = 9) + P(X = 10)</a:t>
                </a:r>
              </a:p>
              <a:p>
                <a:pPr marL="0" lvl="3" indent="0">
                  <a:buNone/>
                </a:pPr>
                <a:r>
                  <a:rPr lang="en-US" sz="1600" dirty="0"/>
                  <a:t>			= 10</a:t>
                </a:r>
                <a14:m>
                  <m:oMath xmlns:m="http://schemas.openxmlformats.org/officeDocument/2006/math">
                    <m:r>
                      <a:rPr lang="en-US" sz="1600" b="0" i="1" smtClean="0">
                        <a:latin typeface="Cambria Math" panose="02040503050406030204" pitchFamily="18" charset="0"/>
                      </a:rPr>
                      <m:t>𝐶</m:t>
                    </m:r>
                    <m:r>
                      <a:rPr lang="en-US" sz="1600" b="0" i="1" smtClean="0">
                        <a:latin typeface="Cambria Math" panose="02040503050406030204" pitchFamily="18" charset="0"/>
                      </a:rPr>
                      <m:t>8 .  </m:t>
                    </m:r>
                    <m:sSup>
                      <m:sSupPr>
                        <m:ctrlPr>
                          <a:rPr lang="en-US" sz="1600" b="0" i="1" smtClean="0">
                            <a:solidFill>
                              <a:srgbClr val="836967"/>
                            </a:solidFill>
                            <a:latin typeface="Cambria Math" panose="02040503050406030204" pitchFamily="18" charset="0"/>
                          </a:rPr>
                        </m:ctrlPr>
                      </m:sSupPr>
                      <m:e>
                        <m:d>
                          <m:dPr>
                            <m:ctrlPr>
                              <a:rPr lang="en-US" sz="1600" b="0" i="1" smtClean="0">
                                <a:solidFill>
                                  <a:srgbClr val="836967"/>
                                </a:solidFill>
                                <a:latin typeface="Cambria Math" panose="02040503050406030204" pitchFamily="18" charset="0"/>
                              </a:rPr>
                            </m:ctrlPr>
                          </m:dPr>
                          <m:e>
                            <m:f>
                              <m:fPr>
                                <m:ctrlPr>
                                  <a:rPr lang="en-US" sz="1600" b="0" i="1" smtClean="0">
                                    <a:solidFill>
                                      <a:srgbClr val="836967"/>
                                    </a:solidFill>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d>
                      </m:e>
                      <m:sup>
                        <m:r>
                          <a:rPr lang="en-US" sz="1600" b="0" i="1" smtClean="0">
                            <a:latin typeface="Cambria Math" panose="02040503050406030204" pitchFamily="18" charset="0"/>
                          </a:rPr>
                          <m:t>8</m:t>
                        </m:r>
                      </m:sup>
                    </m:sSup>
                    <m:r>
                      <a:rPr lang="en-US" sz="1600" b="0" i="1" smtClean="0">
                        <a:latin typeface="Cambria Math" panose="02040503050406030204" pitchFamily="18" charset="0"/>
                      </a:rPr>
                      <m:t> </m:t>
                    </m:r>
                    <m:sSup>
                      <m:sSupPr>
                        <m:ctrlPr>
                          <a:rPr lang="en-US" sz="1600" i="1" dirty="0" smtClean="0">
                            <a:solidFill>
                              <a:srgbClr val="836967"/>
                            </a:solidFill>
                            <a:latin typeface="Cambria Math" panose="02040503050406030204" pitchFamily="18" charset="0"/>
                          </a:rPr>
                        </m:ctrlPr>
                      </m:sSupPr>
                      <m:e>
                        <m:d>
                          <m:dPr>
                            <m:ctrlPr>
                              <a:rPr lang="en-US" sz="1600" i="1" dirty="0" smtClean="0">
                                <a:solidFill>
                                  <a:srgbClr val="836967"/>
                                </a:solidFill>
                                <a:latin typeface="Cambria Math" panose="02040503050406030204" pitchFamily="18" charset="0"/>
                              </a:rPr>
                            </m:ctrlPr>
                          </m:dPr>
                          <m:e>
                            <m:f>
                              <m:fPr>
                                <m:ctrlPr>
                                  <a:rPr lang="en-US" sz="1600" i="1" dirty="0" smtClean="0">
                                    <a:solidFill>
                                      <a:srgbClr val="836967"/>
                                    </a:solidFill>
                                    <a:latin typeface="Cambria Math" panose="02040503050406030204" pitchFamily="18" charset="0"/>
                                  </a:rPr>
                                </m:ctrlPr>
                              </m:fPr>
                              <m:num>
                                <m:r>
                                  <a:rPr lang="en-US" sz="1600" dirty="0" smtClean="0">
                                    <a:latin typeface="Cambria Math" panose="02040503050406030204" pitchFamily="18" charset="0"/>
                                  </a:rPr>
                                  <m:t>1</m:t>
                                </m:r>
                              </m:num>
                              <m:den>
                                <m:r>
                                  <a:rPr lang="en-US" sz="1600" i="0" dirty="0" smtClean="0">
                                    <a:latin typeface="Cambria Math" panose="02040503050406030204" pitchFamily="18" charset="0"/>
                                  </a:rPr>
                                  <m:t>2</m:t>
                                </m:r>
                              </m:den>
                            </m:f>
                          </m:e>
                        </m:d>
                      </m:e>
                      <m:sup>
                        <m:r>
                          <a:rPr lang="en-US" sz="1600" i="0" dirty="0" smtClean="0">
                            <a:latin typeface="Cambria Math" panose="02040503050406030204" pitchFamily="18" charset="0"/>
                          </a:rPr>
                          <m:t>10−</m:t>
                        </m:r>
                        <m:r>
                          <a:rPr lang="en-US" sz="1600" b="0" i="0" dirty="0" smtClean="0">
                            <a:latin typeface="Cambria Math" panose="02040503050406030204" pitchFamily="18" charset="0"/>
                          </a:rPr>
                          <m:t>8</m:t>
                        </m:r>
                      </m:sup>
                    </m:sSup>
                  </m:oMath>
                </a14:m>
                <a:r>
                  <a:rPr lang="en-US" sz="1600" dirty="0"/>
                  <a:t>+ 10</a:t>
                </a:r>
                <a14:m>
                  <m:oMath xmlns:m="http://schemas.openxmlformats.org/officeDocument/2006/math">
                    <m:r>
                      <a:rPr lang="en-US" sz="1600" i="1">
                        <a:latin typeface="Cambria Math" panose="02040503050406030204" pitchFamily="18" charset="0"/>
                      </a:rPr>
                      <m:t>𝐶</m:t>
                    </m:r>
                    <m:r>
                      <a:rPr lang="en-US" sz="1600" b="0" i="1" smtClean="0">
                        <a:latin typeface="Cambria Math" panose="02040503050406030204" pitchFamily="18" charset="0"/>
                      </a:rPr>
                      <m:t>9</m:t>
                    </m:r>
                    <m:r>
                      <a:rPr lang="en-US" sz="1600" i="1">
                        <a:latin typeface="Cambria Math" panose="02040503050406030204" pitchFamily="18" charset="0"/>
                      </a:rPr>
                      <m:t> .  </m:t>
                    </m:r>
                    <m:sSup>
                      <m:sSupPr>
                        <m:ctrlPr>
                          <a:rPr lang="en-US" sz="1600" i="1">
                            <a:solidFill>
                              <a:srgbClr val="836967"/>
                            </a:solidFill>
                            <a:latin typeface="Cambria Math" panose="02040503050406030204" pitchFamily="18" charset="0"/>
                          </a:rPr>
                        </m:ctrlPr>
                      </m:sSupPr>
                      <m:e>
                        <m:d>
                          <m:dPr>
                            <m:ctrlPr>
                              <a:rPr lang="en-US" sz="1600" i="1">
                                <a:solidFill>
                                  <a:srgbClr val="836967"/>
                                </a:solidFill>
                                <a:latin typeface="Cambria Math" panose="02040503050406030204" pitchFamily="18" charset="0"/>
                              </a:rPr>
                            </m:ctrlPr>
                          </m:dPr>
                          <m:e>
                            <m:f>
                              <m:fPr>
                                <m:ctrlPr>
                                  <a:rPr lang="en-US" sz="1600" i="1">
                                    <a:solidFill>
                                      <a:srgbClr val="836967"/>
                                    </a:solidFill>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2</m:t>
                                </m:r>
                              </m:den>
                            </m:f>
                          </m:e>
                        </m:d>
                      </m:e>
                      <m:sup>
                        <m:r>
                          <a:rPr lang="en-US" sz="1600" b="0" i="1" smtClean="0">
                            <a:latin typeface="Cambria Math" panose="02040503050406030204" pitchFamily="18" charset="0"/>
                          </a:rPr>
                          <m:t>9</m:t>
                        </m:r>
                      </m:sup>
                    </m:sSup>
                    <m:r>
                      <a:rPr lang="en-US" sz="1600" i="1">
                        <a:latin typeface="Cambria Math" panose="02040503050406030204" pitchFamily="18" charset="0"/>
                      </a:rPr>
                      <m:t> </m:t>
                    </m:r>
                    <m:sSup>
                      <m:sSupPr>
                        <m:ctrlPr>
                          <a:rPr lang="en-US" sz="1600" i="1" dirty="0">
                            <a:solidFill>
                              <a:srgbClr val="836967"/>
                            </a:solidFill>
                            <a:latin typeface="Cambria Math" panose="02040503050406030204" pitchFamily="18" charset="0"/>
                          </a:rPr>
                        </m:ctrlPr>
                      </m:sSupPr>
                      <m:e>
                        <m:d>
                          <m:dPr>
                            <m:ctrlPr>
                              <a:rPr lang="en-US" sz="1600" i="1" dirty="0">
                                <a:solidFill>
                                  <a:srgbClr val="836967"/>
                                </a:solidFill>
                                <a:latin typeface="Cambria Math" panose="02040503050406030204" pitchFamily="18" charset="0"/>
                              </a:rPr>
                            </m:ctrlPr>
                          </m:dPr>
                          <m:e>
                            <m:f>
                              <m:fPr>
                                <m:ctrlPr>
                                  <a:rPr lang="en-US" sz="1600" i="1" dirty="0">
                                    <a:solidFill>
                                      <a:srgbClr val="836967"/>
                                    </a:solidFill>
                                    <a:latin typeface="Cambria Math" panose="02040503050406030204" pitchFamily="18" charset="0"/>
                                  </a:rPr>
                                </m:ctrlPr>
                              </m:fPr>
                              <m:num>
                                <m:r>
                                  <a:rPr lang="en-US" sz="1600" dirty="0">
                                    <a:latin typeface="Cambria Math" panose="02040503050406030204" pitchFamily="18" charset="0"/>
                                  </a:rPr>
                                  <m:t>1</m:t>
                                </m:r>
                              </m:num>
                              <m:den>
                                <m:r>
                                  <a:rPr lang="en-US" sz="1600" dirty="0">
                                    <a:latin typeface="Cambria Math" panose="02040503050406030204" pitchFamily="18" charset="0"/>
                                  </a:rPr>
                                  <m:t>2</m:t>
                                </m:r>
                              </m:den>
                            </m:f>
                          </m:e>
                        </m:d>
                      </m:e>
                      <m:sup>
                        <m:r>
                          <a:rPr lang="en-US" sz="1600" dirty="0">
                            <a:latin typeface="Cambria Math" panose="02040503050406030204" pitchFamily="18" charset="0"/>
                          </a:rPr>
                          <m:t>10−</m:t>
                        </m:r>
                        <m:r>
                          <a:rPr lang="en-US" sz="1600" b="0" i="0" dirty="0" smtClean="0">
                            <a:latin typeface="Cambria Math" panose="02040503050406030204" pitchFamily="18" charset="0"/>
                          </a:rPr>
                          <m:t>9</m:t>
                        </m:r>
                      </m:sup>
                    </m:sSup>
                  </m:oMath>
                </a14:m>
                <a:r>
                  <a:rPr lang="en-US" sz="1600" dirty="0"/>
                  <a:t>+ 10</a:t>
                </a:r>
                <a14:m>
                  <m:oMath xmlns:m="http://schemas.openxmlformats.org/officeDocument/2006/math">
                    <m:r>
                      <a:rPr lang="en-US" sz="1600" i="1">
                        <a:latin typeface="Cambria Math" panose="02040503050406030204" pitchFamily="18" charset="0"/>
                      </a:rPr>
                      <m:t>𝐶</m:t>
                    </m:r>
                    <m:r>
                      <a:rPr lang="en-US" sz="1600" b="0" i="1" smtClean="0">
                        <a:latin typeface="Cambria Math" panose="02040503050406030204" pitchFamily="18" charset="0"/>
                      </a:rPr>
                      <m:t>10</m:t>
                    </m:r>
                    <m:r>
                      <a:rPr lang="en-US" sz="1600" i="1">
                        <a:latin typeface="Cambria Math" panose="02040503050406030204" pitchFamily="18" charset="0"/>
                      </a:rPr>
                      <m:t> .  </m:t>
                    </m:r>
                    <m:sSup>
                      <m:sSupPr>
                        <m:ctrlPr>
                          <a:rPr lang="en-US" sz="1600" i="1">
                            <a:solidFill>
                              <a:srgbClr val="836967"/>
                            </a:solidFill>
                            <a:latin typeface="Cambria Math" panose="02040503050406030204" pitchFamily="18" charset="0"/>
                          </a:rPr>
                        </m:ctrlPr>
                      </m:sSupPr>
                      <m:e>
                        <m:d>
                          <m:dPr>
                            <m:ctrlPr>
                              <a:rPr lang="en-US" sz="1600" i="1">
                                <a:solidFill>
                                  <a:srgbClr val="836967"/>
                                </a:solidFill>
                                <a:latin typeface="Cambria Math" panose="02040503050406030204" pitchFamily="18" charset="0"/>
                              </a:rPr>
                            </m:ctrlPr>
                          </m:dPr>
                          <m:e>
                            <m:f>
                              <m:fPr>
                                <m:ctrlPr>
                                  <a:rPr lang="en-US" sz="1600" i="1">
                                    <a:solidFill>
                                      <a:srgbClr val="836967"/>
                                    </a:solidFill>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2</m:t>
                                </m:r>
                              </m:den>
                            </m:f>
                          </m:e>
                        </m:d>
                      </m:e>
                      <m:sup>
                        <m:r>
                          <a:rPr lang="en-US" sz="1600" b="0" i="1" smtClean="0">
                            <a:latin typeface="Cambria Math" panose="02040503050406030204" pitchFamily="18" charset="0"/>
                          </a:rPr>
                          <m:t>10</m:t>
                        </m:r>
                      </m:sup>
                    </m:sSup>
                    <m:r>
                      <a:rPr lang="en-US" sz="1600" i="1">
                        <a:latin typeface="Cambria Math" panose="02040503050406030204" pitchFamily="18" charset="0"/>
                      </a:rPr>
                      <m:t> </m:t>
                    </m:r>
                    <m:sSup>
                      <m:sSupPr>
                        <m:ctrlPr>
                          <a:rPr lang="en-US" sz="1600" i="1" dirty="0">
                            <a:solidFill>
                              <a:srgbClr val="836967"/>
                            </a:solidFill>
                            <a:latin typeface="Cambria Math" panose="02040503050406030204" pitchFamily="18" charset="0"/>
                          </a:rPr>
                        </m:ctrlPr>
                      </m:sSupPr>
                      <m:e>
                        <m:d>
                          <m:dPr>
                            <m:ctrlPr>
                              <a:rPr lang="en-US" sz="1600" i="1" dirty="0">
                                <a:solidFill>
                                  <a:srgbClr val="836967"/>
                                </a:solidFill>
                                <a:latin typeface="Cambria Math" panose="02040503050406030204" pitchFamily="18" charset="0"/>
                              </a:rPr>
                            </m:ctrlPr>
                          </m:dPr>
                          <m:e>
                            <m:f>
                              <m:fPr>
                                <m:ctrlPr>
                                  <a:rPr lang="en-US" sz="1600" i="1" dirty="0">
                                    <a:solidFill>
                                      <a:srgbClr val="836967"/>
                                    </a:solidFill>
                                    <a:latin typeface="Cambria Math" panose="02040503050406030204" pitchFamily="18" charset="0"/>
                                  </a:rPr>
                                </m:ctrlPr>
                              </m:fPr>
                              <m:num>
                                <m:r>
                                  <a:rPr lang="en-US" sz="1600" dirty="0">
                                    <a:latin typeface="Cambria Math" panose="02040503050406030204" pitchFamily="18" charset="0"/>
                                  </a:rPr>
                                  <m:t>1</m:t>
                                </m:r>
                              </m:num>
                              <m:den>
                                <m:r>
                                  <a:rPr lang="en-US" sz="1600" dirty="0">
                                    <a:latin typeface="Cambria Math" panose="02040503050406030204" pitchFamily="18" charset="0"/>
                                  </a:rPr>
                                  <m:t>2</m:t>
                                </m:r>
                              </m:den>
                            </m:f>
                          </m:e>
                        </m:d>
                      </m:e>
                      <m:sup>
                        <m:r>
                          <a:rPr lang="en-US" sz="1600" dirty="0">
                            <a:latin typeface="Cambria Math" panose="02040503050406030204" pitchFamily="18" charset="0"/>
                          </a:rPr>
                          <m:t>10−</m:t>
                        </m:r>
                        <m:r>
                          <a:rPr lang="en-US" sz="1600" b="0" i="0" dirty="0" smtClean="0">
                            <a:latin typeface="Cambria Math" panose="02040503050406030204" pitchFamily="18" charset="0"/>
                          </a:rPr>
                          <m:t>10</m:t>
                        </m:r>
                      </m:sup>
                    </m:sSup>
                  </m:oMath>
                </a14:m>
                <a:endParaRPr lang="en-US" sz="1600" dirty="0"/>
              </a:p>
              <a:p>
                <a:pPr marL="0" lvl="3" indent="0">
                  <a:buNone/>
                </a:pPr>
                <a:r>
                  <a:rPr lang="en-US" sz="1600" dirty="0"/>
                  <a:t>			= </a:t>
                </a:r>
                <a:r>
                  <a:rPr lang="en-US" sz="1600" b="0" i="0" u="none" strike="noStrike" dirty="0">
                    <a:solidFill>
                      <a:srgbClr val="000000"/>
                    </a:solidFill>
                    <a:effectLst/>
                    <a:latin typeface="Calibri" panose="020F0502020204030204" pitchFamily="34" charset="0"/>
                  </a:rPr>
                  <a:t>0.04395</a:t>
                </a:r>
                <a:r>
                  <a:rPr lang="en-US" sz="1600" dirty="0"/>
                  <a:t>  + </a:t>
                </a:r>
                <a:r>
                  <a:rPr lang="en-US" sz="1600" b="0" i="0" u="none" strike="noStrike" dirty="0">
                    <a:solidFill>
                      <a:srgbClr val="000000"/>
                    </a:solidFill>
                    <a:effectLst/>
                    <a:latin typeface="Calibri" panose="020F0502020204030204" pitchFamily="34" charset="0"/>
                  </a:rPr>
                  <a:t>0.00977</a:t>
                </a:r>
                <a:r>
                  <a:rPr lang="en-US" sz="1600" dirty="0"/>
                  <a:t> + </a:t>
                </a:r>
                <a:r>
                  <a:rPr lang="en-US" sz="1600" b="0" i="0" u="none" strike="noStrike" dirty="0">
                    <a:solidFill>
                      <a:srgbClr val="000000"/>
                    </a:solidFill>
                    <a:effectLst/>
                    <a:latin typeface="Calibri" panose="020F0502020204030204" pitchFamily="34" charset="0"/>
                  </a:rPr>
                  <a:t>0.00098</a:t>
                </a:r>
                <a:r>
                  <a:rPr lang="en-US" sz="1600" dirty="0"/>
                  <a:t> </a:t>
                </a:r>
              </a:p>
              <a:p>
                <a:pPr marL="0" lvl="3" indent="0">
                  <a:buNone/>
                </a:pPr>
                <a:r>
                  <a:rPr lang="en-US" sz="1600" dirty="0"/>
                  <a:t>			= </a:t>
                </a:r>
                <a:r>
                  <a:rPr lang="en-US" sz="1600" b="1" dirty="0"/>
                  <a:t>0.0547</a:t>
                </a:r>
              </a:p>
              <a:p>
                <a:pPr marL="822960" lvl="3" indent="0">
                  <a:buNone/>
                </a:pPr>
                <a:endParaRPr lang="en-US" dirty="0"/>
              </a:p>
            </p:txBody>
          </p:sp>
        </mc:Choice>
        <mc:Fallback xmlns="">
          <p:sp>
            <p:nvSpPr>
              <p:cNvPr id="3" name="Content Placeholder 2">
                <a:extLst>
                  <a:ext uri="{FF2B5EF4-FFF2-40B4-BE49-F238E27FC236}">
                    <a16:creationId xmlns:a16="http://schemas.microsoft.com/office/drawing/2014/main" id="{377C7434-94D5-4735-8E23-FB5C9A3C3939}"/>
                  </a:ext>
                </a:extLst>
              </p:cNvPr>
              <p:cNvSpPr>
                <a:spLocks noGrp="1" noRot="1" noChangeAspect="1" noMove="1" noResize="1" noEditPoints="1" noAdjustHandles="1" noChangeArrowheads="1" noChangeShapeType="1" noTextEdit="1"/>
              </p:cNvSpPr>
              <p:nvPr>
                <p:ph idx="1"/>
              </p:nvPr>
            </p:nvSpPr>
            <p:spPr>
              <a:xfrm>
                <a:off x="715992" y="526211"/>
                <a:ext cx="10921042" cy="5779698"/>
              </a:xfrm>
              <a:blipFill>
                <a:blip r:embed="rId2"/>
                <a:stretch>
                  <a:fillRect l="-279" t="-211"/>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F4D7FD6F-D6A8-E1EE-02F4-175F4C6E3F15}"/>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79626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302255-9D80-4BEF-ABDC-AEA2B4668B23}"/>
                  </a:ext>
                </a:extLst>
              </p:cNvPr>
              <p:cNvSpPr>
                <a:spLocks noGrp="1"/>
              </p:cNvSpPr>
              <p:nvPr>
                <p:ph idx="1"/>
              </p:nvPr>
            </p:nvSpPr>
            <p:spPr>
              <a:xfrm>
                <a:off x="638355" y="586595"/>
                <a:ext cx="11110822" cy="5719313"/>
              </a:xfrm>
            </p:spPr>
            <p:txBody>
              <a:bodyPr/>
              <a:lstStyle/>
              <a:p>
                <a:pPr marL="0" indent="0">
                  <a:buNone/>
                </a:pPr>
                <a:r>
                  <a:rPr lang="en-US" dirty="0"/>
                  <a:t>(c) Probability of at most 4 heads =  P(X ≤ 4)</a:t>
                </a:r>
              </a:p>
              <a:p>
                <a:pPr marL="0" indent="0">
                  <a:buNone/>
                </a:pPr>
                <a:r>
                  <a:rPr lang="en-US" dirty="0"/>
                  <a:t>= P(X = 0) + P(X =1) + P(X = 2) + P(X = 3) + P(X = 4)</a:t>
                </a:r>
              </a:p>
              <a:p>
                <a:pPr marL="0" indent="0">
                  <a:buNone/>
                </a:pPr>
                <a:r>
                  <a:rPr lang="en-US" dirty="0"/>
                  <a:t>=</a:t>
                </a:r>
                <a:r>
                  <a:rPr lang="en-US" sz="1800" dirty="0"/>
                  <a:t> 10</a:t>
                </a:r>
                <a14:m>
                  <m:oMath xmlns:m="http://schemas.openxmlformats.org/officeDocument/2006/math">
                    <m:r>
                      <a:rPr lang="en-US" sz="1800" b="0" i="1" smtClean="0">
                        <a:latin typeface="Cambria Math" panose="02040503050406030204" pitchFamily="18" charset="0"/>
                      </a:rPr>
                      <m:t>𝐶</m:t>
                    </m:r>
                    <m:r>
                      <a:rPr lang="en-US" sz="1800" b="0" i="1" smtClean="0">
                        <a:latin typeface="Cambria Math" panose="02040503050406030204" pitchFamily="18" charset="0"/>
                      </a:rPr>
                      <m:t>0 .  </m:t>
                    </m:r>
                    <m:sSup>
                      <m:sSupPr>
                        <m:ctrlPr>
                          <a:rPr lang="en-US" sz="1800" b="0" i="1" smtClean="0">
                            <a:solidFill>
                              <a:srgbClr val="836967"/>
                            </a:solidFill>
                            <a:latin typeface="Cambria Math" panose="02040503050406030204" pitchFamily="18" charset="0"/>
                          </a:rPr>
                        </m:ctrlPr>
                      </m:sSupPr>
                      <m:e>
                        <m:d>
                          <m:dPr>
                            <m:ctrlPr>
                              <a:rPr lang="en-US" sz="1800" b="0" i="1" smtClean="0">
                                <a:solidFill>
                                  <a:srgbClr val="836967"/>
                                </a:solidFill>
                                <a:latin typeface="Cambria Math" panose="02040503050406030204" pitchFamily="18" charset="0"/>
                              </a:rPr>
                            </m:ctrlPr>
                          </m:dPr>
                          <m:e>
                            <m:f>
                              <m:fPr>
                                <m:ctrlPr>
                                  <a:rPr lang="en-US" sz="1800" b="0" i="1" smtClean="0">
                                    <a:solidFill>
                                      <a:srgbClr val="836967"/>
                                    </a:solidFill>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e>
                        </m:d>
                      </m:e>
                      <m:sup>
                        <m:r>
                          <a:rPr lang="en-US" sz="1800" b="0" i="1" smtClean="0">
                            <a:latin typeface="Cambria Math" panose="02040503050406030204" pitchFamily="18" charset="0"/>
                          </a:rPr>
                          <m:t>0</m:t>
                        </m:r>
                      </m:sup>
                    </m:sSup>
                    <m:r>
                      <a:rPr lang="en-US" sz="1800" b="0" i="1" smtClean="0">
                        <a:latin typeface="Cambria Math" panose="02040503050406030204" pitchFamily="18" charset="0"/>
                      </a:rPr>
                      <m:t> </m:t>
                    </m:r>
                    <m:sSup>
                      <m:sSupPr>
                        <m:ctrlPr>
                          <a:rPr lang="en-US" sz="1800" i="1" dirty="0" smtClean="0">
                            <a:solidFill>
                              <a:srgbClr val="836967"/>
                            </a:solidFill>
                            <a:latin typeface="Cambria Math" panose="02040503050406030204" pitchFamily="18" charset="0"/>
                          </a:rPr>
                        </m:ctrlPr>
                      </m:sSupPr>
                      <m:e>
                        <m:d>
                          <m:dPr>
                            <m:ctrlPr>
                              <a:rPr lang="en-US" sz="1800" i="1" dirty="0" smtClean="0">
                                <a:solidFill>
                                  <a:srgbClr val="836967"/>
                                </a:solidFill>
                                <a:latin typeface="Cambria Math" panose="02040503050406030204" pitchFamily="18" charset="0"/>
                              </a:rPr>
                            </m:ctrlPr>
                          </m:dPr>
                          <m:e>
                            <m:f>
                              <m:fPr>
                                <m:ctrlPr>
                                  <a:rPr lang="en-US" sz="1800" i="1" dirty="0" smtClean="0">
                                    <a:solidFill>
                                      <a:srgbClr val="836967"/>
                                    </a:solidFill>
                                    <a:latin typeface="Cambria Math" panose="02040503050406030204" pitchFamily="18" charset="0"/>
                                  </a:rPr>
                                </m:ctrlPr>
                              </m:fPr>
                              <m:num>
                                <m:r>
                                  <a:rPr lang="en-US" sz="1800" dirty="0" smtClean="0">
                                    <a:latin typeface="Cambria Math" panose="02040503050406030204" pitchFamily="18" charset="0"/>
                                  </a:rPr>
                                  <m:t>1</m:t>
                                </m:r>
                              </m:num>
                              <m:den>
                                <m:r>
                                  <a:rPr lang="en-US" sz="1800" i="0" dirty="0" smtClean="0">
                                    <a:latin typeface="Cambria Math" panose="02040503050406030204" pitchFamily="18" charset="0"/>
                                  </a:rPr>
                                  <m:t>2</m:t>
                                </m:r>
                              </m:den>
                            </m:f>
                          </m:e>
                        </m:d>
                      </m:e>
                      <m:sup>
                        <m:r>
                          <a:rPr lang="en-US" sz="1800" i="0" dirty="0" smtClean="0">
                            <a:latin typeface="Cambria Math" panose="02040503050406030204" pitchFamily="18" charset="0"/>
                          </a:rPr>
                          <m:t>10−</m:t>
                        </m:r>
                        <m:r>
                          <a:rPr lang="en-US" sz="1800" b="0" i="0" dirty="0" smtClean="0">
                            <a:latin typeface="Cambria Math" panose="02040503050406030204" pitchFamily="18" charset="0"/>
                          </a:rPr>
                          <m:t>0</m:t>
                        </m:r>
                      </m:sup>
                    </m:sSup>
                  </m:oMath>
                </a14:m>
                <a:r>
                  <a:rPr lang="en-US" dirty="0"/>
                  <a:t>+ 10</a:t>
                </a:r>
                <a14:m>
                  <m:oMath xmlns:m="http://schemas.openxmlformats.org/officeDocument/2006/math">
                    <m:r>
                      <a:rPr lang="en-US" i="1">
                        <a:latin typeface="Cambria Math" panose="02040503050406030204" pitchFamily="18" charset="0"/>
                      </a:rPr>
                      <m:t>𝐶</m:t>
                    </m:r>
                    <m:r>
                      <a:rPr lang="en-US" b="0" i="1" smtClean="0">
                        <a:latin typeface="Cambria Math" panose="02040503050406030204" pitchFamily="18" charset="0"/>
                      </a:rPr>
                      <m:t>1</m:t>
                    </m:r>
                    <m:r>
                      <a:rPr lang="en-US" i="1">
                        <a:latin typeface="Cambria Math" panose="02040503050406030204" pitchFamily="18" charset="0"/>
                      </a:rPr>
                      <m:t>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b="0" i="1" smtClean="0">
                            <a:latin typeface="Cambria Math" panose="02040503050406030204" pitchFamily="18" charset="0"/>
                          </a:rPr>
                          <m:t>1</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m:t>
                        </m:r>
                        <m:r>
                          <a:rPr lang="en-US" b="0" i="0" dirty="0" smtClean="0">
                            <a:latin typeface="Cambria Math" panose="02040503050406030204" pitchFamily="18" charset="0"/>
                          </a:rPr>
                          <m:t>1</m:t>
                        </m:r>
                      </m:sup>
                    </m:sSup>
                  </m:oMath>
                </a14:m>
                <a:r>
                  <a:rPr lang="en-US" dirty="0"/>
                  <a:t>+ 10</a:t>
                </a:r>
                <a14:m>
                  <m:oMath xmlns:m="http://schemas.openxmlformats.org/officeDocument/2006/math">
                    <m:r>
                      <a:rPr lang="en-US" i="1">
                        <a:latin typeface="Cambria Math" panose="02040503050406030204" pitchFamily="18" charset="0"/>
                      </a:rPr>
                      <m:t>𝐶</m:t>
                    </m:r>
                    <m:r>
                      <a:rPr lang="en-US" b="0" i="1" smtClean="0">
                        <a:latin typeface="Cambria Math" panose="02040503050406030204" pitchFamily="18" charset="0"/>
                      </a:rPr>
                      <m:t>2</m:t>
                    </m:r>
                    <m:r>
                      <a:rPr lang="en-US" i="1">
                        <a:latin typeface="Cambria Math" panose="02040503050406030204" pitchFamily="18" charset="0"/>
                      </a:rPr>
                      <m:t>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b="0" i="1" smtClean="0">
                            <a:latin typeface="Cambria Math" panose="02040503050406030204" pitchFamily="18" charset="0"/>
                          </a:rPr>
                          <m:t>2</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m:t>
                        </m:r>
                        <m:r>
                          <a:rPr lang="en-US" b="0" i="0" dirty="0" smtClean="0">
                            <a:latin typeface="Cambria Math" panose="02040503050406030204" pitchFamily="18" charset="0"/>
                          </a:rPr>
                          <m:t>2</m:t>
                        </m:r>
                      </m:sup>
                    </m:sSup>
                  </m:oMath>
                </a14:m>
                <a:r>
                  <a:rPr lang="en-US" dirty="0"/>
                  <a:t>+ 10</a:t>
                </a:r>
                <a14:m>
                  <m:oMath xmlns:m="http://schemas.openxmlformats.org/officeDocument/2006/math">
                    <m:r>
                      <a:rPr lang="en-US" i="1">
                        <a:latin typeface="Cambria Math" panose="02040503050406030204" pitchFamily="18" charset="0"/>
                      </a:rPr>
                      <m:t>𝐶</m:t>
                    </m:r>
                    <m:r>
                      <a:rPr lang="en-US" b="0" i="1" smtClean="0">
                        <a:latin typeface="Cambria Math" panose="02040503050406030204" pitchFamily="18" charset="0"/>
                      </a:rPr>
                      <m:t>3</m:t>
                    </m:r>
                    <m:r>
                      <a:rPr lang="en-US" i="1">
                        <a:latin typeface="Cambria Math" panose="02040503050406030204" pitchFamily="18" charset="0"/>
                      </a:rPr>
                      <m:t>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b="0" i="1" smtClean="0">
                            <a:latin typeface="Cambria Math" panose="02040503050406030204" pitchFamily="18" charset="0"/>
                          </a:rPr>
                          <m:t>3</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m:t>
                        </m:r>
                        <m:r>
                          <a:rPr lang="en-US" b="0" i="0" dirty="0" smtClean="0">
                            <a:latin typeface="Cambria Math" panose="02040503050406030204" pitchFamily="18" charset="0"/>
                          </a:rPr>
                          <m:t>3</m:t>
                        </m:r>
                      </m:sup>
                    </m:sSup>
                  </m:oMath>
                </a14:m>
                <a:r>
                  <a:rPr lang="en-US" dirty="0"/>
                  <a:t>+ 10</a:t>
                </a:r>
                <a14:m>
                  <m:oMath xmlns:m="http://schemas.openxmlformats.org/officeDocument/2006/math">
                    <m:r>
                      <a:rPr lang="en-US" i="1">
                        <a:latin typeface="Cambria Math" panose="02040503050406030204" pitchFamily="18" charset="0"/>
                      </a:rPr>
                      <m:t>𝐶</m:t>
                    </m:r>
                    <m:r>
                      <a:rPr lang="en-US" b="0" i="1" smtClean="0">
                        <a:latin typeface="Cambria Math" panose="02040503050406030204" pitchFamily="18" charset="0"/>
                      </a:rPr>
                      <m:t>4</m:t>
                    </m:r>
                    <m:r>
                      <a:rPr lang="en-US" i="1">
                        <a:latin typeface="Cambria Math" panose="02040503050406030204" pitchFamily="18" charset="0"/>
                      </a:rPr>
                      <m:t>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b="0" i="1" smtClean="0">
                            <a:latin typeface="Cambria Math" panose="02040503050406030204" pitchFamily="18" charset="0"/>
                          </a:rPr>
                          <m:t>4</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m:t>
                        </m:r>
                        <m:r>
                          <a:rPr lang="en-US" b="0" i="0" dirty="0" smtClean="0">
                            <a:latin typeface="Cambria Math" panose="02040503050406030204" pitchFamily="18" charset="0"/>
                          </a:rPr>
                          <m:t>4</m:t>
                        </m:r>
                      </m:sup>
                    </m:sSup>
                  </m:oMath>
                </a14:m>
                <a:endParaRPr lang="en-US" dirty="0"/>
              </a:p>
              <a:p>
                <a:pPr marL="0" indent="0">
                  <a:buNone/>
                </a:pPr>
                <a:r>
                  <a:rPr lang="en-US" dirty="0"/>
                  <a:t>= </a:t>
                </a:r>
                <a:r>
                  <a:rPr lang="en-US" sz="1800" b="0" i="0" u="none" strike="noStrike" dirty="0">
                    <a:solidFill>
                      <a:srgbClr val="000000"/>
                    </a:solidFill>
                    <a:effectLst/>
                    <a:latin typeface="Calibri" panose="020F0502020204030204" pitchFamily="34" charset="0"/>
                  </a:rPr>
                  <a:t>0.00098</a:t>
                </a:r>
                <a:r>
                  <a:rPr lang="en-US" dirty="0"/>
                  <a:t> + </a:t>
                </a:r>
                <a:r>
                  <a:rPr lang="en-US" sz="1800" b="0" i="0" u="none" strike="noStrike" dirty="0">
                    <a:solidFill>
                      <a:srgbClr val="000000"/>
                    </a:solidFill>
                    <a:effectLst/>
                    <a:latin typeface="Calibri" panose="020F0502020204030204" pitchFamily="34" charset="0"/>
                  </a:rPr>
                  <a:t>0.00977</a:t>
                </a:r>
                <a:r>
                  <a:rPr lang="en-US" dirty="0"/>
                  <a:t> + </a:t>
                </a:r>
                <a:r>
                  <a:rPr lang="en-US" sz="1800" b="0" i="0" u="none" strike="noStrike" dirty="0">
                    <a:solidFill>
                      <a:srgbClr val="000000"/>
                    </a:solidFill>
                    <a:effectLst/>
                    <a:latin typeface="Calibri" panose="020F0502020204030204" pitchFamily="34" charset="0"/>
                  </a:rPr>
                  <a:t>0.04395</a:t>
                </a:r>
                <a:r>
                  <a:rPr lang="en-US" dirty="0"/>
                  <a:t> + </a:t>
                </a:r>
                <a:r>
                  <a:rPr lang="en-US" sz="1800" b="0" i="0" u="none" strike="noStrike" dirty="0">
                    <a:solidFill>
                      <a:srgbClr val="000000"/>
                    </a:solidFill>
                    <a:effectLst/>
                    <a:latin typeface="Calibri" panose="020F0502020204030204" pitchFamily="34" charset="0"/>
                  </a:rPr>
                  <a:t>0.11719</a:t>
                </a:r>
                <a:r>
                  <a:rPr lang="en-US" dirty="0"/>
                  <a:t> + </a:t>
                </a:r>
                <a:r>
                  <a:rPr lang="en-US" sz="1800" b="0" i="0" u="none" strike="noStrike" dirty="0">
                    <a:solidFill>
                      <a:srgbClr val="000000"/>
                    </a:solidFill>
                    <a:effectLst/>
                    <a:latin typeface="Calibri" panose="020F0502020204030204" pitchFamily="34" charset="0"/>
                  </a:rPr>
                  <a:t>0.20508</a:t>
                </a:r>
                <a:r>
                  <a:rPr lang="en-US" dirty="0"/>
                  <a:t> </a:t>
                </a:r>
              </a:p>
              <a:p>
                <a:pPr marL="0" indent="0">
                  <a:buNone/>
                </a:pPr>
                <a:r>
                  <a:rPr lang="en-US" dirty="0"/>
                  <a:t>= </a:t>
                </a:r>
                <a:r>
                  <a:rPr lang="en-US" sz="1800" b="0" i="0" u="none" strike="noStrike" dirty="0">
                    <a:solidFill>
                      <a:srgbClr val="000000"/>
                    </a:solidFill>
                    <a:effectLst/>
                    <a:latin typeface="Calibri" panose="020F0502020204030204" pitchFamily="34" charset="0"/>
                  </a:rPr>
                  <a:t>0.37695</a:t>
                </a:r>
                <a:r>
                  <a:rPr lang="en-US" dirty="0"/>
                  <a:t> </a:t>
                </a:r>
              </a:p>
              <a:p>
                <a:pPr marL="0" indent="0">
                  <a:buNone/>
                </a:pPr>
                <a:endParaRPr lang="en-US" dirty="0"/>
              </a:p>
              <a:p>
                <a:pPr marL="0" indent="0">
                  <a:buNone/>
                </a:pPr>
                <a:r>
                  <a:rPr lang="en-US" dirty="0"/>
                  <a:t>(d) Probability that there will between </a:t>
                </a:r>
                <a:r>
                  <a:rPr lang="en-US" sz="1800" dirty="0"/>
                  <a:t>3 to 6 heads inclusive</a:t>
                </a:r>
              </a:p>
              <a:p>
                <a:pPr marL="0" indent="0">
                  <a:buNone/>
                </a:pPr>
                <a:r>
                  <a:rPr lang="en-US" dirty="0"/>
                  <a:t>= P(3 ≤ X ≤ 6)</a:t>
                </a:r>
              </a:p>
              <a:p>
                <a:pPr marL="0" indent="0">
                  <a:buNone/>
                </a:pPr>
                <a:r>
                  <a:rPr lang="en-US" sz="1800" dirty="0"/>
                  <a:t>= P(X = 3) + P(X = 4) + P(X = 5) + P(X = 6)</a:t>
                </a:r>
              </a:p>
              <a:p>
                <a:pPr marL="0" indent="0">
                  <a:buNone/>
                </a:pPr>
                <a:r>
                  <a:rPr lang="en-US" dirty="0"/>
                  <a:t>= </a:t>
                </a:r>
                <a:r>
                  <a:rPr lang="en-US" sz="1800" dirty="0"/>
                  <a:t>10</a:t>
                </a:r>
                <a14:m>
                  <m:oMath xmlns:m="http://schemas.openxmlformats.org/officeDocument/2006/math">
                    <m:r>
                      <a:rPr lang="en-US" sz="1800" b="0" i="1" smtClean="0">
                        <a:latin typeface="Cambria Math" panose="02040503050406030204" pitchFamily="18" charset="0"/>
                      </a:rPr>
                      <m:t>𝐶</m:t>
                    </m:r>
                    <m:r>
                      <a:rPr lang="en-US" sz="1800" b="0" i="1" smtClean="0">
                        <a:latin typeface="Cambria Math" panose="02040503050406030204" pitchFamily="18" charset="0"/>
                      </a:rPr>
                      <m:t>3 .  </m:t>
                    </m:r>
                    <m:sSup>
                      <m:sSupPr>
                        <m:ctrlPr>
                          <a:rPr lang="en-US" sz="1800" b="0" i="1" smtClean="0">
                            <a:solidFill>
                              <a:srgbClr val="836967"/>
                            </a:solidFill>
                            <a:latin typeface="Cambria Math" panose="02040503050406030204" pitchFamily="18" charset="0"/>
                          </a:rPr>
                        </m:ctrlPr>
                      </m:sSupPr>
                      <m:e>
                        <m:d>
                          <m:dPr>
                            <m:ctrlPr>
                              <a:rPr lang="en-US" sz="1800" b="0" i="1" smtClean="0">
                                <a:solidFill>
                                  <a:srgbClr val="836967"/>
                                </a:solidFill>
                                <a:latin typeface="Cambria Math" panose="02040503050406030204" pitchFamily="18" charset="0"/>
                              </a:rPr>
                            </m:ctrlPr>
                          </m:dPr>
                          <m:e>
                            <m:f>
                              <m:fPr>
                                <m:ctrlPr>
                                  <a:rPr lang="en-US" sz="1800" b="0" i="1" smtClean="0">
                                    <a:solidFill>
                                      <a:srgbClr val="836967"/>
                                    </a:solidFill>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den>
                            </m:f>
                          </m:e>
                        </m:d>
                      </m:e>
                      <m:sup>
                        <m:r>
                          <a:rPr lang="en-US" sz="1800" b="0" i="1" smtClean="0">
                            <a:latin typeface="Cambria Math" panose="02040503050406030204" pitchFamily="18" charset="0"/>
                          </a:rPr>
                          <m:t>3</m:t>
                        </m:r>
                      </m:sup>
                    </m:sSup>
                    <m:r>
                      <a:rPr lang="en-US" sz="1800" b="0" i="1" smtClean="0">
                        <a:latin typeface="Cambria Math" panose="02040503050406030204" pitchFamily="18" charset="0"/>
                      </a:rPr>
                      <m:t> </m:t>
                    </m:r>
                    <m:sSup>
                      <m:sSupPr>
                        <m:ctrlPr>
                          <a:rPr lang="en-US" sz="1800" i="1" dirty="0" smtClean="0">
                            <a:solidFill>
                              <a:srgbClr val="836967"/>
                            </a:solidFill>
                            <a:latin typeface="Cambria Math" panose="02040503050406030204" pitchFamily="18" charset="0"/>
                          </a:rPr>
                        </m:ctrlPr>
                      </m:sSupPr>
                      <m:e>
                        <m:d>
                          <m:dPr>
                            <m:ctrlPr>
                              <a:rPr lang="en-US" sz="1800" i="1" dirty="0" smtClean="0">
                                <a:solidFill>
                                  <a:srgbClr val="836967"/>
                                </a:solidFill>
                                <a:latin typeface="Cambria Math" panose="02040503050406030204" pitchFamily="18" charset="0"/>
                              </a:rPr>
                            </m:ctrlPr>
                          </m:dPr>
                          <m:e>
                            <m:f>
                              <m:fPr>
                                <m:ctrlPr>
                                  <a:rPr lang="en-US" sz="1800" i="1" dirty="0" smtClean="0">
                                    <a:solidFill>
                                      <a:srgbClr val="836967"/>
                                    </a:solidFill>
                                    <a:latin typeface="Cambria Math" panose="02040503050406030204" pitchFamily="18" charset="0"/>
                                  </a:rPr>
                                </m:ctrlPr>
                              </m:fPr>
                              <m:num>
                                <m:r>
                                  <a:rPr lang="en-US" sz="1800" dirty="0" smtClean="0">
                                    <a:latin typeface="Cambria Math" panose="02040503050406030204" pitchFamily="18" charset="0"/>
                                  </a:rPr>
                                  <m:t>1</m:t>
                                </m:r>
                              </m:num>
                              <m:den>
                                <m:r>
                                  <a:rPr lang="en-US" sz="1800" i="0" dirty="0" smtClean="0">
                                    <a:latin typeface="Cambria Math" panose="02040503050406030204" pitchFamily="18" charset="0"/>
                                  </a:rPr>
                                  <m:t>2</m:t>
                                </m:r>
                              </m:den>
                            </m:f>
                          </m:e>
                        </m:d>
                      </m:e>
                      <m:sup>
                        <m:r>
                          <a:rPr lang="en-US" sz="1800" i="0" dirty="0" smtClean="0">
                            <a:latin typeface="Cambria Math" panose="02040503050406030204" pitchFamily="18" charset="0"/>
                          </a:rPr>
                          <m:t>10−</m:t>
                        </m:r>
                        <m:r>
                          <a:rPr lang="en-US" sz="1800" b="0" i="0" dirty="0" smtClean="0">
                            <a:latin typeface="Cambria Math" panose="02040503050406030204" pitchFamily="18" charset="0"/>
                          </a:rPr>
                          <m:t>3</m:t>
                        </m:r>
                      </m:sup>
                    </m:sSup>
                  </m:oMath>
                </a14:m>
                <a:r>
                  <a:rPr lang="en-US" dirty="0"/>
                  <a:t>+ 10</a:t>
                </a:r>
                <a14:m>
                  <m:oMath xmlns:m="http://schemas.openxmlformats.org/officeDocument/2006/math">
                    <m:r>
                      <a:rPr lang="en-US" i="1">
                        <a:latin typeface="Cambria Math" panose="02040503050406030204" pitchFamily="18" charset="0"/>
                      </a:rPr>
                      <m:t>𝐶</m:t>
                    </m:r>
                    <m:r>
                      <a:rPr lang="en-US" b="0" i="1" smtClean="0">
                        <a:latin typeface="Cambria Math" panose="02040503050406030204" pitchFamily="18" charset="0"/>
                      </a:rPr>
                      <m:t>4</m:t>
                    </m:r>
                    <m:r>
                      <a:rPr lang="en-US" i="1">
                        <a:latin typeface="Cambria Math" panose="02040503050406030204" pitchFamily="18" charset="0"/>
                      </a:rPr>
                      <m:t>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b="0" i="1" smtClean="0">
                            <a:latin typeface="Cambria Math" panose="02040503050406030204" pitchFamily="18" charset="0"/>
                          </a:rPr>
                          <m:t>4</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m:t>
                        </m:r>
                        <m:r>
                          <a:rPr lang="en-US" b="0" i="0" dirty="0" smtClean="0">
                            <a:latin typeface="Cambria Math" panose="02040503050406030204" pitchFamily="18" charset="0"/>
                          </a:rPr>
                          <m:t>4</m:t>
                        </m:r>
                      </m:sup>
                    </m:sSup>
                  </m:oMath>
                </a14:m>
                <a:r>
                  <a:rPr lang="en-US" dirty="0"/>
                  <a:t>+ 10</a:t>
                </a:r>
                <a14:m>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5 .  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i="1">
                            <a:latin typeface="Cambria Math" panose="02040503050406030204" pitchFamily="18" charset="0"/>
                          </a:rPr>
                          <m:t>5</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10−5</m:t>
                        </m:r>
                      </m:sup>
                    </m:sSup>
                  </m:oMath>
                </a14:m>
                <a:r>
                  <a:rPr lang="en-US" dirty="0"/>
                  <a:t>+ 10</a:t>
                </a:r>
                <a14:m>
                  <m:oMath xmlns:m="http://schemas.openxmlformats.org/officeDocument/2006/math">
                    <m:r>
                      <a:rPr lang="en-US" i="1">
                        <a:latin typeface="Cambria Math" panose="02040503050406030204" pitchFamily="18" charset="0"/>
                      </a:rPr>
                      <m:t>𝐶</m:t>
                    </m:r>
                    <m:r>
                      <a:rPr lang="en-US" b="0" i="1" smtClean="0">
                        <a:latin typeface="Cambria Math" panose="02040503050406030204" pitchFamily="18" charset="0"/>
                      </a:rPr>
                      <m:t>6</m:t>
                    </m:r>
                    <m:r>
                      <a:rPr lang="en-US" i="1">
                        <a:latin typeface="Cambria Math" panose="02040503050406030204" pitchFamily="18" charset="0"/>
                      </a:rPr>
                      <m:t> .  </m:t>
                    </m:r>
                    <m:sSup>
                      <m:sSupPr>
                        <m:ctrlPr>
                          <a:rPr lang="en-US" i="1">
                            <a:solidFill>
                              <a:srgbClr val="836967"/>
                            </a:solidFill>
                            <a:latin typeface="Cambria Math" panose="02040503050406030204" pitchFamily="18" charset="0"/>
                          </a:rPr>
                        </m:ctrlPr>
                      </m:sSupPr>
                      <m:e>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e>
                        </m:d>
                      </m:e>
                      <m:sup>
                        <m:r>
                          <a:rPr lang="en-US" b="0" i="1" smtClean="0">
                            <a:latin typeface="Cambria Math" panose="02040503050406030204" pitchFamily="18" charset="0"/>
                          </a:rPr>
                          <m:t>6</m:t>
                        </m:r>
                      </m:sup>
                    </m:sSup>
                    <m:r>
                      <a:rPr lang="en-US" i="1">
                        <a:latin typeface="Cambria Math" panose="02040503050406030204" pitchFamily="18" charset="0"/>
                      </a:rPr>
                      <m:t> </m:t>
                    </m:r>
                    <m:sSup>
                      <m:sSupPr>
                        <m:ctrlPr>
                          <a:rPr lang="en-US" i="1" dirty="0">
                            <a:solidFill>
                              <a:srgbClr val="836967"/>
                            </a:solidFill>
                            <a:latin typeface="Cambria Math" panose="02040503050406030204" pitchFamily="18" charset="0"/>
                          </a:rPr>
                        </m:ctrlPr>
                      </m:sSupPr>
                      <m:e>
                        <m:d>
                          <m:dPr>
                            <m:ctrlPr>
                              <a:rPr lang="en-US" i="1" dirty="0">
                                <a:solidFill>
                                  <a:srgbClr val="836967"/>
                                </a:solidFill>
                                <a:latin typeface="Cambria Math" panose="02040503050406030204" pitchFamily="18" charset="0"/>
                              </a:rPr>
                            </m:ctrlPr>
                          </m:dPr>
                          <m:e>
                            <m:f>
                              <m:fPr>
                                <m:ctrlPr>
                                  <a:rPr lang="en-US" i="1" dirty="0">
                                    <a:solidFill>
                                      <a:srgbClr val="836967"/>
                                    </a:solidFill>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e>
                        </m:d>
                      </m:e>
                      <m:sup>
                        <m:r>
                          <a:rPr lang="en-US" dirty="0">
                            <a:latin typeface="Cambria Math" panose="02040503050406030204" pitchFamily="18" charset="0"/>
                          </a:rPr>
                          <m:t>10−</m:t>
                        </m:r>
                        <m:r>
                          <a:rPr lang="en-US" b="0" i="0" dirty="0" smtClean="0">
                            <a:latin typeface="Cambria Math" panose="02040503050406030204" pitchFamily="18" charset="0"/>
                          </a:rPr>
                          <m:t>6</m:t>
                        </m:r>
                      </m:sup>
                    </m:sSup>
                  </m:oMath>
                </a14:m>
                <a:endParaRPr lang="en-US" sz="1800" dirty="0"/>
              </a:p>
              <a:p>
                <a:pPr marL="0" indent="0">
                  <a:buNone/>
                </a:pPr>
                <a:r>
                  <a:rPr lang="en-US" dirty="0"/>
                  <a:t>= </a:t>
                </a:r>
                <a:r>
                  <a:rPr lang="en-US" sz="1800" b="0" i="0" u="none" strike="noStrike" dirty="0">
                    <a:solidFill>
                      <a:srgbClr val="000000"/>
                    </a:solidFill>
                    <a:effectLst/>
                    <a:latin typeface="Calibri" panose="020F0502020204030204" pitchFamily="34" charset="0"/>
                  </a:rPr>
                  <a:t>0.11719</a:t>
                </a:r>
                <a:r>
                  <a:rPr lang="en-US" dirty="0"/>
                  <a:t> + </a:t>
                </a:r>
                <a:r>
                  <a:rPr lang="en-US" sz="1800" b="0" i="0" u="none" strike="noStrike" dirty="0">
                    <a:solidFill>
                      <a:srgbClr val="000000"/>
                    </a:solidFill>
                    <a:effectLst/>
                    <a:latin typeface="Calibri" panose="020F0502020204030204" pitchFamily="34" charset="0"/>
                  </a:rPr>
                  <a:t>0.20508</a:t>
                </a:r>
                <a:r>
                  <a:rPr lang="en-US" dirty="0"/>
                  <a:t> + </a:t>
                </a:r>
                <a:r>
                  <a:rPr lang="en-US" sz="1800" b="0" i="0" u="none" strike="noStrike" dirty="0">
                    <a:solidFill>
                      <a:srgbClr val="000000"/>
                    </a:solidFill>
                    <a:effectLst/>
                    <a:latin typeface="Calibri" panose="020F0502020204030204" pitchFamily="34" charset="0"/>
                  </a:rPr>
                  <a:t>0.24609</a:t>
                </a:r>
                <a:r>
                  <a:rPr lang="en-US" dirty="0"/>
                  <a:t> + </a:t>
                </a:r>
                <a:r>
                  <a:rPr lang="en-US" sz="1800" b="0" i="0" u="none" strike="noStrike" dirty="0">
                    <a:solidFill>
                      <a:srgbClr val="000000"/>
                    </a:solidFill>
                    <a:effectLst/>
                    <a:latin typeface="Calibri" panose="020F0502020204030204" pitchFamily="34" charset="0"/>
                  </a:rPr>
                  <a:t>0.20508</a:t>
                </a:r>
                <a:r>
                  <a:rPr lang="en-US" dirty="0"/>
                  <a:t> </a:t>
                </a:r>
              </a:p>
              <a:p>
                <a:pPr marL="0" indent="0">
                  <a:buNone/>
                </a:pPr>
                <a:r>
                  <a:rPr lang="en-US" sz="1800" dirty="0"/>
                  <a:t>= </a:t>
                </a:r>
                <a:r>
                  <a:rPr lang="en-US" sz="1800" b="0" i="0" u="none" strike="noStrike" dirty="0">
                    <a:solidFill>
                      <a:srgbClr val="000000"/>
                    </a:solidFill>
                    <a:effectLst/>
                    <a:latin typeface="Calibri" panose="020F0502020204030204" pitchFamily="34" charset="0"/>
                  </a:rPr>
                  <a:t>0.77344</a:t>
                </a:r>
                <a:r>
                  <a:rPr lang="en-US" dirty="0"/>
                  <a:t> </a:t>
                </a:r>
                <a:endParaRPr lang="en-US" sz="180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1302255-9D80-4BEF-ABDC-AEA2B4668B23}"/>
                  </a:ext>
                </a:extLst>
              </p:cNvPr>
              <p:cNvSpPr>
                <a:spLocks noGrp="1" noRot="1" noChangeAspect="1" noMove="1" noResize="1" noEditPoints="1" noAdjustHandles="1" noChangeArrowheads="1" noChangeShapeType="1" noTextEdit="1"/>
              </p:cNvSpPr>
              <p:nvPr>
                <p:ph idx="1"/>
              </p:nvPr>
            </p:nvSpPr>
            <p:spPr>
              <a:xfrm>
                <a:off x="638355" y="586595"/>
                <a:ext cx="11110822" cy="5719313"/>
              </a:xfrm>
              <a:blipFill>
                <a:blip r:embed="rId2"/>
                <a:stretch>
                  <a:fillRect l="-494" t="-533"/>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710E8C48-AD65-167A-272C-6992CAFE335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769906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70533E-9ABA-4D3C-9B37-C452F9501902}"/>
                  </a:ext>
                </a:extLst>
              </p:cNvPr>
              <p:cNvSpPr>
                <a:spLocks noGrp="1"/>
              </p:cNvSpPr>
              <p:nvPr>
                <p:ph idx="1"/>
              </p:nvPr>
            </p:nvSpPr>
            <p:spPr>
              <a:xfrm>
                <a:off x="655608" y="690113"/>
                <a:ext cx="10469592" cy="5344927"/>
              </a:xfrm>
            </p:spPr>
            <p:txBody>
              <a:bodyPr/>
              <a:lstStyle/>
              <a:p>
                <a:pPr marL="0" indent="0">
                  <a:buNone/>
                </a:pPr>
                <a:r>
                  <a:rPr lang="en-US" dirty="0"/>
                  <a:t>Mean no. of successes (µ) = n x p</a:t>
                </a:r>
              </a:p>
              <a:p>
                <a:pPr marL="0" indent="0">
                  <a:buNone/>
                </a:pPr>
                <a:r>
                  <a:rPr lang="en-US" dirty="0"/>
                  <a:t>			= 10 x 0.5 = 5</a:t>
                </a:r>
              </a:p>
              <a:p>
                <a:pPr marL="0" indent="0">
                  <a:buNone/>
                </a:pPr>
                <a:r>
                  <a:rPr lang="en-US" dirty="0"/>
                  <a:t>So in average we get 5 heads in 10 tosses</a:t>
                </a:r>
              </a:p>
              <a:p>
                <a:pPr marL="0" indent="0">
                  <a:buNone/>
                </a:pPr>
                <a:endParaRPr lang="en-US" dirty="0"/>
              </a:p>
              <a:p>
                <a:pPr marL="0" indent="0">
                  <a:buNone/>
                </a:pPr>
                <a:r>
                  <a:rPr lang="en-US" dirty="0"/>
                  <a:t>Variance of no. of successes (σ</a:t>
                </a:r>
                <a:r>
                  <a:rPr lang="en-US" baseline="30000" dirty="0"/>
                  <a:t>2</a:t>
                </a:r>
                <a:r>
                  <a:rPr lang="en-US" dirty="0"/>
                  <a:t>) = n x p x q</a:t>
                </a:r>
              </a:p>
              <a:p>
                <a:pPr marL="0" indent="0">
                  <a:buNone/>
                </a:pPr>
                <a:r>
                  <a:rPr lang="en-US" dirty="0"/>
                  <a:t>				= 10 x 0.5 x 0.5</a:t>
                </a:r>
              </a:p>
              <a:p>
                <a:pPr marL="0" indent="0">
                  <a:buNone/>
                </a:pPr>
                <a:r>
                  <a:rPr lang="en-US" dirty="0"/>
                  <a:t>				= 2.5</a:t>
                </a:r>
              </a:p>
              <a:p>
                <a:pPr marL="0" indent="0">
                  <a:buNone/>
                </a:pPr>
                <a:r>
                  <a:rPr lang="en-US" dirty="0"/>
                  <a:t>Standard deviation of no. of successes (</a:t>
                </a:r>
                <a:r>
                  <a:rPr lang="el-GR" dirty="0"/>
                  <a:t>σ</a:t>
                </a:r>
                <a:r>
                  <a:rPr lang="en-US" dirty="0"/>
                  <a:t>) = </a:t>
                </a:r>
                <a14:m>
                  <m:oMath xmlns:m="http://schemas.openxmlformats.org/officeDocument/2006/math">
                    <m:rad>
                      <m:radPr>
                        <m:degHide m:val="on"/>
                        <m:ctrlPr>
                          <a:rPr lang="en-US" i="1" dirty="0" smtClean="0">
                            <a:solidFill>
                              <a:srgbClr val="836967"/>
                            </a:solidFill>
                            <a:latin typeface="Cambria Math" panose="02040503050406030204" pitchFamily="18" charset="0"/>
                          </a:rPr>
                        </m:ctrlPr>
                      </m:radPr>
                      <m:deg/>
                      <m:e>
                        <m:r>
                          <a:rPr lang="en-US" dirty="0">
                            <a:latin typeface="Cambria Math" panose="02040503050406030204" pitchFamily="18" charset="0"/>
                          </a:rPr>
                          <m:t>2</m:t>
                        </m:r>
                        <m:r>
                          <a:rPr lang="en-US" i="0" dirty="0">
                            <a:latin typeface="Cambria Math" panose="02040503050406030204" pitchFamily="18" charset="0"/>
                          </a:rPr>
                          <m:t>⋅5</m:t>
                        </m:r>
                      </m:e>
                    </m:rad>
                  </m:oMath>
                </a14:m>
                <a:r>
                  <a:rPr lang="en-US" dirty="0"/>
                  <a:t> = 1.58</a:t>
                </a:r>
              </a:p>
            </p:txBody>
          </p:sp>
        </mc:Choice>
        <mc:Fallback xmlns="">
          <p:sp>
            <p:nvSpPr>
              <p:cNvPr id="3" name="Content Placeholder 2">
                <a:extLst>
                  <a:ext uri="{FF2B5EF4-FFF2-40B4-BE49-F238E27FC236}">
                    <a16:creationId xmlns:a16="http://schemas.microsoft.com/office/drawing/2014/main" id="{E370533E-9ABA-4D3C-9B37-C452F9501902}"/>
                  </a:ext>
                </a:extLst>
              </p:cNvPr>
              <p:cNvSpPr>
                <a:spLocks noGrp="1" noRot="1" noChangeAspect="1" noMove="1" noResize="1" noEditPoints="1" noAdjustHandles="1" noChangeArrowheads="1" noChangeShapeType="1" noTextEdit="1"/>
              </p:cNvSpPr>
              <p:nvPr>
                <p:ph idx="1"/>
              </p:nvPr>
            </p:nvSpPr>
            <p:spPr>
              <a:xfrm>
                <a:off x="655608" y="690113"/>
                <a:ext cx="10469592" cy="5344927"/>
              </a:xfrm>
              <a:blipFill>
                <a:blip r:embed="rId2"/>
                <a:stretch>
                  <a:fillRect l="-524" t="-570"/>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82140E24-140A-860B-4711-FC6F8AA6515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649818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7A0118-A0D4-8BB7-FA90-C10DCDD1441E}"/>
              </a:ext>
            </a:extLst>
          </p:cNvPr>
          <p:cNvSpPr>
            <a:spLocks noGrp="1"/>
          </p:cNvSpPr>
          <p:nvPr>
            <p:ph sz="half" idx="1"/>
          </p:nvPr>
        </p:nvSpPr>
        <p:spPr>
          <a:xfrm>
            <a:off x="653143" y="605641"/>
            <a:ext cx="2470067" cy="5246519"/>
          </a:xfrm>
        </p:spPr>
        <p:txBody>
          <a:bodyPr>
            <a:normAutofit fontScale="92500" lnSpcReduction="20000"/>
          </a:bodyPr>
          <a:lstStyle/>
          <a:p>
            <a:pPr marL="0" indent="0">
              <a:buNone/>
            </a:pPr>
            <a:r>
              <a:rPr lang="en-US" b="1" dirty="0"/>
              <a:t>Probability Distribution </a:t>
            </a:r>
          </a:p>
          <a:p>
            <a:pPr marL="0" indent="0">
              <a:buNone/>
            </a:pPr>
            <a:r>
              <a:rPr lang="en-US" b="1" dirty="0"/>
              <a:t>n = 10 and p = 0.5</a:t>
            </a:r>
          </a:p>
          <a:p>
            <a:pPr marL="0" indent="0">
              <a:buNone/>
            </a:pPr>
            <a:endParaRPr lang="en-US" dirty="0"/>
          </a:p>
          <a:p>
            <a:pPr marL="0" indent="0">
              <a:buNone/>
            </a:pPr>
            <a:r>
              <a:rPr lang="en-US" dirty="0"/>
              <a:t>X	P(X=x)</a:t>
            </a:r>
          </a:p>
          <a:p>
            <a:pPr marL="0" indent="0">
              <a:buNone/>
            </a:pPr>
            <a:r>
              <a:rPr lang="en-US" dirty="0"/>
              <a:t>0	0.00098</a:t>
            </a:r>
          </a:p>
          <a:p>
            <a:pPr marL="0" indent="0">
              <a:buNone/>
            </a:pPr>
            <a:r>
              <a:rPr lang="en-US" dirty="0"/>
              <a:t>1	0.00977</a:t>
            </a:r>
          </a:p>
          <a:p>
            <a:pPr marL="0" indent="0">
              <a:buNone/>
            </a:pPr>
            <a:r>
              <a:rPr lang="en-US" dirty="0"/>
              <a:t>2	0.04395</a:t>
            </a:r>
          </a:p>
          <a:p>
            <a:pPr marL="0" indent="0">
              <a:buNone/>
            </a:pPr>
            <a:r>
              <a:rPr lang="en-US" dirty="0"/>
              <a:t>3	0.11719</a:t>
            </a:r>
          </a:p>
          <a:p>
            <a:pPr marL="0" indent="0">
              <a:buNone/>
            </a:pPr>
            <a:r>
              <a:rPr lang="en-US" dirty="0"/>
              <a:t>4	0.20508</a:t>
            </a:r>
          </a:p>
          <a:p>
            <a:pPr marL="0" indent="0">
              <a:buNone/>
            </a:pPr>
            <a:r>
              <a:rPr lang="en-US" dirty="0"/>
              <a:t>5	0.24609</a:t>
            </a:r>
          </a:p>
          <a:p>
            <a:pPr marL="0" indent="0">
              <a:buNone/>
            </a:pPr>
            <a:r>
              <a:rPr lang="en-US" dirty="0"/>
              <a:t>6	0.20508</a:t>
            </a:r>
          </a:p>
          <a:p>
            <a:pPr marL="0" indent="0">
              <a:buNone/>
            </a:pPr>
            <a:r>
              <a:rPr lang="en-US" dirty="0"/>
              <a:t>7	0.11719</a:t>
            </a:r>
          </a:p>
          <a:p>
            <a:pPr marL="0" indent="0">
              <a:buNone/>
            </a:pPr>
            <a:r>
              <a:rPr lang="en-US" dirty="0"/>
              <a:t>8	0.04395</a:t>
            </a:r>
          </a:p>
          <a:p>
            <a:pPr marL="0" indent="0">
              <a:buNone/>
            </a:pPr>
            <a:r>
              <a:rPr lang="en-US" dirty="0"/>
              <a:t>9	0.00977</a:t>
            </a:r>
          </a:p>
          <a:p>
            <a:pPr marL="0" indent="0">
              <a:buNone/>
            </a:pPr>
            <a:r>
              <a:rPr lang="en-US" dirty="0"/>
              <a:t>10	0.00098</a:t>
            </a:r>
          </a:p>
          <a:p>
            <a:pPr marL="0" indent="0">
              <a:buNone/>
            </a:pPr>
            <a:endParaRPr lang="en-US" dirty="0"/>
          </a:p>
          <a:p>
            <a:pPr marL="0" indent="0">
              <a:buNone/>
            </a:pPr>
            <a:endParaRPr lang="en-US" dirty="0"/>
          </a:p>
        </p:txBody>
      </p:sp>
      <p:sp>
        <p:nvSpPr>
          <p:cNvPr id="4" name="Content Placeholder 3">
            <a:extLst>
              <a:ext uri="{FF2B5EF4-FFF2-40B4-BE49-F238E27FC236}">
                <a16:creationId xmlns:a16="http://schemas.microsoft.com/office/drawing/2014/main" id="{63DED1B9-9FA5-5B4F-A27D-0A62AF2FFDF0}"/>
              </a:ext>
            </a:extLst>
          </p:cNvPr>
          <p:cNvSpPr>
            <a:spLocks noGrp="1"/>
          </p:cNvSpPr>
          <p:nvPr>
            <p:ph sz="half" idx="2"/>
          </p:nvPr>
        </p:nvSpPr>
        <p:spPr>
          <a:xfrm>
            <a:off x="3396342" y="605641"/>
            <a:ext cx="7728857" cy="5246519"/>
          </a:xfrm>
        </p:spPr>
        <p:txBody>
          <a:bodyPr>
            <a:normAutofit fontScale="92500" lnSpcReduction="20000"/>
          </a:bodyPr>
          <a:lstStyle/>
          <a:p>
            <a:pPr marL="0" indent="0">
              <a:buNone/>
            </a:pPr>
            <a:r>
              <a:rPr lang="en-US" b="1" dirty="0"/>
              <a:t>Shape of the distribution</a:t>
            </a:r>
          </a:p>
          <a:p>
            <a:pPr marL="0" indent="0">
              <a:buNone/>
            </a:pPr>
            <a:endParaRPr lang="en-US" dirty="0"/>
          </a:p>
        </p:txBody>
      </p:sp>
      <p:sp>
        <p:nvSpPr>
          <p:cNvPr id="2" name="Footer Placeholder 1">
            <a:extLst>
              <a:ext uri="{FF2B5EF4-FFF2-40B4-BE49-F238E27FC236}">
                <a16:creationId xmlns:a16="http://schemas.microsoft.com/office/drawing/2014/main" id="{BE01A969-308B-4E2D-0D80-E376D931590C}"/>
              </a:ext>
            </a:extLst>
          </p:cNvPr>
          <p:cNvSpPr>
            <a:spLocks noGrp="1"/>
          </p:cNvSpPr>
          <p:nvPr>
            <p:ph type="ftr" sz="quarter" idx="11"/>
          </p:nvPr>
        </p:nvSpPr>
        <p:spPr/>
        <p:txBody>
          <a:bodyPr/>
          <a:lstStyle/>
          <a:p>
            <a:r>
              <a:rPr lang="en-US"/>
              <a:t>Copy Right: Santosh Chhatkuli</a:t>
            </a:r>
            <a:endParaRPr lang="en-US" dirty="0"/>
          </a:p>
        </p:txBody>
      </p:sp>
      <p:pic>
        <p:nvPicPr>
          <p:cNvPr id="7" name="Picture 6">
            <a:extLst>
              <a:ext uri="{FF2B5EF4-FFF2-40B4-BE49-F238E27FC236}">
                <a16:creationId xmlns:a16="http://schemas.microsoft.com/office/drawing/2014/main" id="{4ED9CBE4-F760-3CDB-7C44-A7B161F4EA90}"/>
              </a:ext>
            </a:extLst>
          </p:cNvPr>
          <p:cNvPicPr>
            <a:picLocks noChangeAspect="1"/>
          </p:cNvPicPr>
          <p:nvPr/>
        </p:nvPicPr>
        <p:blipFill>
          <a:blip r:embed="rId2"/>
          <a:stretch>
            <a:fillRect/>
          </a:stretch>
        </p:blipFill>
        <p:spPr>
          <a:xfrm>
            <a:off x="3721401" y="1128156"/>
            <a:ext cx="7403797" cy="4809506"/>
          </a:xfrm>
          <a:prstGeom prst="rect">
            <a:avLst/>
          </a:prstGeom>
        </p:spPr>
      </p:pic>
    </p:spTree>
    <p:extLst>
      <p:ext uri="{BB962C8B-B14F-4D97-AF65-F5344CB8AC3E}">
        <p14:creationId xmlns:p14="http://schemas.microsoft.com/office/powerpoint/2010/main" val="109740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3D184-94B4-4F29-841A-D349B8CB8D72}"/>
              </a:ext>
            </a:extLst>
          </p:cNvPr>
          <p:cNvSpPr>
            <a:spLocks noGrp="1"/>
          </p:cNvSpPr>
          <p:nvPr>
            <p:ph type="title"/>
          </p:nvPr>
        </p:nvSpPr>
        <p:spPr>
          <a:xfrm>
            <a:off x="1066800" y="642594"/>
            <a:ext cx="10058400" cy="473142"/>
          </a:xfrm>
        </p:spPr>
        <p:txBody>
          <a:bodyPr>
            <a:normAutofit/>
          </a:bodyPr>
          <a:lstStyle/>
          <a:p>
            <a:r>
              <a:rPr lang="en-US" sz="2000" b="1" dirty="0"/>
              <a:t>Examples</a:t>
            </a:r>
          </a:p>
        </p:txBody>
      </p:sp>
      <p:sp>
        <p:nvSpPr>
          <p:cNvPr id="3" name="Content Placeholder 2">
            <a:extLst>
              <a:ext uri="{FF2B5EF4-FFF2-40B4-BE49-F238E27FC236}">
                <a16:creationId xmlns:a16="http://schemas.microsoft.com/office/drawing/2014/main" id="{2AE23D2B-D99F-435B-8499-CF76E76CAA00}"/>
              </a:ext>
            </a:extLst>
          </p:cNvPr>
          <p:cNvSpPr>
            <a:spLocks noGrp="1"/>
          </p:cNvSpPr>
          <p:nvPr>
            <p:ph idx="1"/>
          </p:nvPr>
        </p:nvSpPr>
        <p:spPr>
          <a:xfrm>
            <a:off x="1066799" y="1350628"/>
            <a:ext cx="10375783" cy="4684412"/>
          </a:xfrm>
        </p:spPr>
        <p:txBody>
          <a:bodyPr/>
          <a:lstStyle/>
          <a:p>
            <a:pPr marL="0" indent="0">
              <a:buNone/>
            </a:pPr>
            <a:r>
              <a:rPr lang="en-US" dirty="0"/>
              <a:t>1. </a:t>
            </a:r>
            <a:r>
              <a:rPr lang="en-US" sz="2000" dirty="0"/>
              <a:t>If in a hospital five children were born, what will be the probability of</a:t>
            </a:r>
          </a:p>
          <a:p>
            <a:pPr marL="342900" indent="-342900">
              <a:buAutoNum type="alphaLcParenBoth"/>
            </a:pPr>
            <a:r>
              <a:rPr lang="en-US" sz="2000" dirty="0"/>
              <a:t>All boys (b) 2 boys and 3 girls (c)1 boy and 4 girls (d) 4 boys and 1 girl (e) All girls </a:t>
            </a:r>
          </a:p>
          <a:p>
            <a:pPr marL="342900" indent="-342900">
              <a:buAutoNum type="alphaLcParenBoth"/>
            </a:pPr>
            <a:r>
              <a:rPr lang="en-US" sz="2000" dirty="0"/>
              <a:t>(f) 3 boys and 2 girls.</a:t>
            </a:r>
          </a:p>
          <a:p>
            <a:pPr marL="0" indent="0">
              <a:buNone/>
            </a:pPr>
            <a:r>
              <a:rPr lang="en-US" sz="2000" dirty="0"/>
              <a:t>2. A machine that produces stampings for automobile engines is malfunctioning and producing 10% defectives. The defective and non-defective stampings proceed the machine in a random manner. If the next five stampings are tested, find the probability following probabilities:</a:t>
            </a:r>
          </a:p>
          <a:p>
            <a:pPr marL="457200" indent="-457200">
              <a:buAutoNum type="alphaLcParenBoth"/>
            </a:pPr>
            <a:r>
              <a:rPr lang="en-US" sz="2000" dirty="0"/>
              <a:t>None of them are defective</a:t>
            </a:r>
          </a:p>
          <a:p>
            <a:pPr marL="457200" indent="-457200">
              <a:buAutoNum type="alphaLcParenBoth"/>
            </a:pPr>
            <a:r>
              <a:rPr lang="en-US" sz="2000" dirty="0"/>
              <a:t>Three of them are defective</a:t>
            </a:r>
          </a:p>
          <a:p>
            <a:pPr marL="457200" indent="-457200">
              <a:buAutoNum type="alphaLcParenBoth"/>
            </a:pPr>
            <a:r>
              <a:rPr lang="en-US" sz="2000" dirty="0"/>
              <a:t>At least one of them is defective</a:t>
            </a:r>
          </a:p>
          <a:p>
            <a:pPr marL="457200" indent="-457200">
              <a:buAutoNum type="alphaLcParenBoth"/>
            </a:pPr>
            <a:r>
              <a:rPr lang="en-US" sz="2000" dirty="0"/>
              <a:t>At most two of them are defective</a:t>
            </a:r>
          </a:p>
          <a:p>
            <a:pPr marL="457200" indent="-457200">
              <a:buAutoNum type="alphaLcParenBoth"/>
            </a:pPr>
            <a:r>
              <a:rPr lang="en-US" sz="2000" dirty="0"/>
              <a:t>Between one to three of them (inclusive) are defective </a:t>
            </a:r>
          </a:p>
          <a:p>
            <a:endParaRPr lang="en-US" sz="2000" dirty="0"/>
          </a:p>
          <a:p>
            <a:pPr marL="0" indent="0">
              <a:buNone/>
            </a:pPr>
            <a:endParaRPr lang="en-US" dirty="0"/>
          </a:p>
        </p:txBody>
      </p:sp>
      <p:sp>
        <p:nvSpPr>
          <p:cNvPr id="4" name="Footer Placeholder 3">
            <a:extLst>
              <a:ext uri="{FF2B5EF4-FFF2-40B4-BE49-F238E27FC236}">
                <a16:creationId xmlns:a16="http://schemas.microsoft.com/office/drawing/2014/main" id="{E6B4A6EC-65C9-A812-721F-55299974A84A}"/>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942234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3335E9-4CD8-A807-7381-DFDCB129047C}"/>
              </a:ext>
            </a:extLst>
          </p:cNvPr>
          <p:cNvSpPr>
            <a:spLocks noGrp="1"/>
          </p:cNvSpPr>
          <p:nvPr>
            <p:ph idx="1"/>
          </p:nvPr>
        </p:nvSpPr>
        <p:spPr>
          <a:xfrm>
            <a:off x="905773" y="698741"/>
            <a:ext cx="10584611" cy="5336300"/>
          </a:xfrm>
        </p:spPr>
        <p:txBody>
          <a:bodyPr>
            <a:normAutofit lnSpcReduction="10000"/>
          </a:bodyPr>
          <a:lstStyle/>
          <a:p>
            <a:pPr marL="225425" indent="0">
              <a:buNone/>
            </a:pPr>
            <a:r>
              <a:rPr lang="en-US" dirty="0"/>
              <a:t>3. A retailer sells both the Apple iPhone and Google Android cell phones online. Assume that 80% of the phones the retailer sells online are iPhones and 20% are Androids.</a:t>
            </a:r>
          </a:p>
          <a:p>
            <a:pPr marL="463550" indent="-238125">
              <a:buFont typeface="+mj-lt"/>
              <a:buAutoNum type="alphaLcParenR"/>
            </a:pPr>
            <a:r>
              <a:rPr lang="en-US" dirty="0"/>
              <a:t>Let x represent the number of online cell phone purchases are Androids. Explain why X is a binomial random variable.</a:t>
            </a:r>
          </a:p>
          <a:p>
            <a:pPr marL="463550" indent="-238125">
              <a:buFont typeface="+mj-lt"/>
              <a:buAutoNum type="alphaLcParenR"/>
            </a:pPr>
            <a:r>
              <a:rPr lang="en-US" dirty="0"/>
              <a:t>Find the probability that all of the next four online cell phone purchases are iPhone.</a:t>
            </a:r>
          </a:p>
          <a:p>
            <a:pPr marL="463550" indent="-238125">
              <a:buFont typeface="+mj-lt"/>
              <a:buAutoNum type="alphaLcParenR"/>
            </a:pPr>
            <a:r>
              <a:rPr lang="en-US" dirty="0"/>
              <a:t>find the probability that three of the next four online cell phone purchases are Androids.</a:t>
            </a:r>
          </a:p>
          <a:p>
            <a:pPr marL="463550" indent="-238125">
              <a:buNone/>
            </a:pPr>
            <a:endParaRPr lang="en-US" dirty="0"/>
          </a:p>
          <a:p>
            <a:pPr marL="225425" indent="-225425">
              <a:buNone/>
            </a:pPr>
            <a:r>
              <a:rPr lang="en-US" dirty="0"/>
              <a:t>4. Suppose a poll of 20 employees is taken in a large company. The purpose is to determine X, the number who favor unionization. Suppose that 60% of all the company’s employees favor unionization.</a:t>
            </a:r>
          </a:p>
          <a:p>
            <a:pPr marL="569913" indent="-344488">
              <a:buFont typeface="+mj-lt"/>
              <a:buAutoNum type="alphaLcParenR"/>
            </a:pPr>
            <a:r>
              <a:rPr lang="en-US" dirty="0"/>
              <a:t>Find the mean and standard deviation of X</a:t>
            </a:r>
          </a:p>
          <a:p>
            <a:pPr marL="569913" indent="-344488">
              <a:buAutoNum type="alphaLcParenR"/>
            </a:pPr>
            <a:r>
              <a:rPr lang="en-US" dirty="0"/>
              <a:t>Find the probability that between 8 to 16 employees are in favor of unionization</a:t>
            </a:r>
          </a:p>
          <a:p>
            <a:pPr marL="569913" indent="-344488">
              <a:buAutoNum type="alphaLcParenR"/>
            </a:pPr>
            <a:r>
              <a:rPr lang="en-US" dirty="0"/>
              <a:t>Find the probability that less or equal to 10 employees are in favor of unionization</a:t>
            </a:r>
          </a:p>
          <a:p>
            <a:pPr marL="569913" indent="-344488">
              <a:buAutoNum type="alphaLcParenR"/>
            </a:pPr>
            <a:r>
              <a:rPr lang="en-US" dirty="0"/>
              <a:t>Find the probability that more than 12 employees are in favor of unionization</a:t>
            </a:r>
          </a:p>
          <a:p>
            <a:pPr marL="569913" indent="-344488">
              <a:buAutoNum type="alphaLcParenR"/>
            </a:pPr>
            <a:r>
              <a:rPr lang="en-US" dirty="0"/>
              <a:t>Construct the Binomial distribution with n = 20 and p = 0.6 and tell whether the distribution is symmetrical or not.</a:t>
            </a:r>
          </a:p>
          <a:p>
            <a:pPr marL="342900" indent="-342900">
              <a:buAutoNum type="alphaLcParenR"/>
            </a:pPr>
            <a:endParaRPr lang="en-US" dirty="0"/>
          </a:p>
        </p:txBody>
      </p:sp>
      <p:sp>
        <p:nvSpPr>
          <p:cNvPr id="2" name="Footer Placeholder 1">
            <a:extLst>
              <a:ext uri="{FF2B5EF4-FFF2-40B4-BE49-F238E27FC236}">
                <a16:creationId xmlns:a16="http://schemas.microsoft.com/office/drawing/2014/main" id="{9A6590C5-E4D5-B52D-5A39-89739B6B9552}"/>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718034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4D8BC-90BA-4467-A062-188AAD21670F}"/>
              </a:ext>
            </a:extLst>
          </p:cNvPr>
          <p:cNvSpPr>
            <a:spLocks noGrp="1"/>
          </p:cNvSpPr>
          <p:nvPr>
            <p:ph type="title"/>
          </p:nvPr>
        </p:nvSpPr>
        <p:spPr>
          <a:xfrm>
            <a:off x="641684" y="506237"/>
            <a:ext cx="10058400" cy="520459"/>
          </a:xfrm>
        </p:spPr>
        <p:txBody>
          <a:bodyPr>
            <a:normAutofit/>
          </a:bodyPr>
          <a:lstStyle/>
          <a:p>
            <a:r>
              <a:rPr lang="en-US" sz="2800" b="1" dirty="0"/>
              <a:t>Fitting of Binomial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BE42A0-B7BC-4DFF-8B78-6588310F1C1C}"/>
                  </a:ext>
                </a:extLst>
              </p:cNvPr>
              <p:cNvSpPr>
                <a:spLocks noGrp="1"/>
              </p:cNvSpPr>
              <p:nvPr>
                <p:ph idx="1"/>
              </p:nvPr>
            </p:nvSpPr>
            <p:spPr>
              <a:xfrm>
                <a:off x="786063" y="1195137"/>
                <a:ext cx="10804358" cy="4839903"/>
              </a:xfrm>
            </p:spPr>
            <p:txBody>
              <a:bodyPr>
                <a:normAutofit lnSpcReduction="10000"/>
              </a:bodyPr>
              <a:lstStyle/>
              <a:p>
                <a:pPr marL="0" indent="0">
                  <a:buNone/>
                </a:pPr>
                <a:r>
                  <a:rPr lang="en-US" sz="2000" b="0" i="0" dirty="0">
                    <a:solidFill>
                      <a:srgbClr val="231F20"/>
                    </a:solidFill>
                    <a:effectLst/>
                  </a:rPr>
                  <a:t>Fitting of probability distribution to a series of observed data helps to predict the probability or to forecast the frequency of occurrence of the required variable in a certain desired interval.</a:t>
                </a:r>
              </a:p>
              <a:p>
                <a:pPr marL="0" indent="0">
                  <a:buNone/>
                </a:pPr>
                <a:r>
                  <a:rPr lang="en-US" sz="2000" dirty="0"/>
                  <a:t>The following procedure is used in order to fit a Binomial Distribution</a:t>
                </a:r>
              </a:p>
              <a:p>
                <a:pPr marL="342900" indent="-342900">
                  <a:buAutoNum type="arabicPeriod"/>
                </a:pPr>
                <a:r>
                  <a:rPr lang="en-US" sz="2000" dirty="0"/>
                  <a:t>Find mean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𝑋</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𝑓𝑥</m:t>
                            </m:r>
                          </m:e>
                        </m:nary>
                      </m:num>
                      <m:den>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𝑓</m:t>
                            </m:r>
                          </m:e>
                        </m:nary>
                      </m:den>
                    </m:f>
                  </m:oMath>
                </a14:m>
                <a:r>
                  <a:rPr lang="en-US" sz="2000" dirty="0"/>
                  <a:t> = np</a:t>
                </a:r>
              </a:p>
              <a:p>
                <a:pPr marL="342900" indent="-342900">
                  <a:buAutoNum type="arabicPeriod"/>
                </a:pPr>
                <a:r>
                  <a:rPr lang="en-US" sz="2000" dirty="0"/>
                  <a:t>Find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𝑋</m:t>
                            </m:r>
                          </m:e>
                        </m:acc>
                      </m:num>
                      <m:den>
                        <m:r>
                          <a:rPr lang="en-US" sz="2000" b="0" i="1" smtClean="0">
                            <a:latin typeface="Cambria Math" panose="02040503050406030204" pitchFamily="18" charset="0"/>
                          </a:rPr>
                          <m:t>𝑛</m:t>
                        </m:r>
                      </m:den>
                    </m:f>
                  </m:oMath>
                </a14:m>
                <a:endParaRPr lang="en-US" sz="2000" b="0" dirty="0"/>
              </a:p>
              <a:p>
                <a:pPr marL="342900" indent="-342900">
                  <a:buAutoNum type="arabicPeriod"/>
                </a:pPr>
                <a:r>
                  <a:rPr lang="en-US" sz="2000" dirty="0"/>
                  <a:t>Find q = 1 – p</a:t>
                </a:r>
              </a:p>
              <a:p>
                <a:pPr marL="342900" indent="-342900">
                  <a:buAutoNum type="arabicPeriod"/>
                </a:pPr>
                <a:r>
                  <a:rPr lang="en-US" sz="2000" dirty="0"/>
                  <a:t>Write the probability mass function p(x) = </a:t>
                </a:r>
                <a14:m>
                  <m:oMath xmlns:m="http://schemas.openxmlformats.org/officeDocument/2006/math">
                    <m:r>
                      <a:rPr lang="en-US" sz="2000" b="0" i="1" smtClean="0">
                        <a:latin typeface="Cambria Math" panose="02040503050406030204" pitchFamily="18" charset="0"/>
                      </a:rPr>
                      <m:t>𝑛𝐶𝑥</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𝑥</m:t>
                        </m:r>
                      </m:sup>
                    </m:sSup>
                    <m:r>
                      <a:rPr lang="en-US" sz="2000" b="0" i="1" smtClean="0">
                        <a:latin typeface="Cambria Math" panose="02040503050406030204" pitchFamily="18" charset="0"/>
                      </a:rPr>
                      <m:t> </m:t>
                    </m:r>
                    <m:sSup>
                      <m:sSupPr>
                        <m:ctrlPr>
                          <a:rPr lang="en-US" sz="2000" i="1" dirty="0" smtClean="0">
                            <a:solidFill>
                              <a:srgbClr val="836967"/>
                            </a:solidFill>
                            <a:latin typeface="Cambria Math" panose="02040503050406030204" pitchFamily="18" charset="0"/>
                          </a:rPr>
                        </m:ctrlPr>
                      </m:sSupPr>
                      <m:e>
                        <m:r>
                          <a:rPr lang="en-US" sz="2000" i="1" dirty="0">
                            <a:latin typeface="Cambria Math" panose="02040503050406030204" pitchFamily="18" charset="0"/>
                          </a:rPr>
                          <m:t>𝑞</m:t>
                        </m:r>
                      </m:e>
                      <m:sup>
                        <m:r>
                          <a:rPr lang="en-US" sz="2000" i="1" dirty="0">
                            <a:latin typeface="Cambria Math" panose="02040503050406030204" pitchFamily="18" charset="0"/>
                          </a:rPr>
                          <m:t>𝑛</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sup>
                    </m:sSup>
                  </m:oMath>
                </a14:m>
                <a:r>
                  <a:rPr lang="en-US" sz="2000" dirty="0"/>
                  <a:t>	   x = 0, 1, …, n </a:t>
                </a:r>
              </a:p>
              <a:p>
                <a:pPr marL="342900" indent="-342900">
                  <a:buAutoNum type="arabicPeriod"/>
                </a:pPr>
                <a:r>
                  <a:rPr lang="en-US" sz="2000" dirty="0"/>
                  <a:t>Find respective probabilities of zero success, one success etc. by putting x = 0, 1 and so on in the formula</a:t>
                </a:r>
              </a:p>
              <a:p>
                <a:pPr marL="342900" indent="-342900">
                  <a:buAutoNum type="arabicPeriod"/>
                </a:pPr>
                <a:r>
                  <a:rPr lang="en-US" sz="2000" dirty="0"/>
                  <a:t>Find the expected frequencies by multiplying each probability by N where N = </a:t>
                </a:r>
                <a14:m>
                  <m:oMath xmlns:m="http://schemas.openxmlformats.org/officeDocument/2006/math">
                    <m:nary>
                      <m:naryPr>
                        <m:chr m:val="∑"/>
                        <m:subHide m:val="on"/>
                        <m:supHide m:val="on"/>
                        <m:ctrlPr>
                          <a:rPr lang="en-US" sz="2000" i="1" smtClean="0">
                            <a:latin typeface="Cambria Math" panose="02040503050406030204" pitchFamily="18" charset="0"/>
                          </a:rPr>
                        </m:ctrlPr>
                      </m:naryPr>
                      <m:sub/>
                      <m:sup/>
                      <m:e>
                        <m:r>
                          <a:rPr lang="en-US" sz="2000" b="0" i="1" smtClean="0">
                            <a:latin typeface="Cambria Math" panose="02040503050406030204" pitchFamily="18" charset="0"/>
                          </a:rPr>
                          <m:t>𝑓</m:t>
                        </m:r>
                      </m:e>
                    </m:nary>
                  </m:oMath>
                </a14:m>
                <a:endParaRPr lang="en-US" sz="2000" dirty="0"/>
              </a:p>
              <a:p>
                <a:pPr marL="342900" indent="-342900">
                  <a:buAutoNum type="arabicPeriod"/>
                </a:pPr>
                <a:r>
                  <a:rPr lang="en-US" sz="2000" dirty="0"/>
                  <a:t>Expected frequency = N . p(x) = N . P(X = x)</a:t>
                </a:r>
              </a:p>
            </p:txBody>
          </p:sp>
        </mc:Choice>
        <mc:Fallback xmlns="">
          <p:sp>
            <p:nvSpPr>
              <p:cNvPr id="3" name="Content Placeholder 2">
                <a:extLst>
                  <a:ext uri="{FF2B5EF4-FFF2-40B4-BE49-F238E27FC236}">
                    <a16:creationId xmlns:a16="http://schemas.microsoft.com/office/drawing/2014/main" id="{47BE42A0-B7BC-4DFF-8B78-6588310F1C1C}"/>
                  </a:ext>
                </a:extLst>
              </p:cNvPr>
              <p:cNvSpPr>
                <a:spLocks noGrp="1" noRot="1" noChangeAspect="1" noMove="1" noResize="1" noEditPoints="1" noAdjustHandles="1" noChangeArrowheads="1" noChangeShapeType="1" noTextEdit="1"/>
              </p:cNvSpPr>
              <p:nvPr>
                <p:ph idx="1"/>
              </p:nvPr>
            </p:nvSpPr>
            <p:spPr>
              <a:xfrm>
                <a:off x="786063" y="1195137"/>
                <a:ext cx="10804358" cy="4839903"/>
              </a:xfrm>
              <a:blipFill>
                <a:blip r:embed="rId2"/>
                <a:stretch>
                  <a:fillRect l="-621" t="-1259" r="-4120" b="-2519"/>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F0BC018-C2DE-D8B7-A5C1-11D1E59449F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787416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CBFA7E-65EE-4B31-871D-241BCA9DD9D3}"/>
                  </a:ext>
                </a:extLst>
              </p:cNvPr>
              <p:cNvSpPr>
                <a:spLocks noGrp="1"/>
              </p:cNvSpPr>
              <p:nvPr>
                <p:ph idx="1"/>
              </p:nvPr>
            </p:nvSpPr>
            <p:spPr>
              <a:xfrm>
                <a:off x="770021" y="474453"/>
                <a:ext cx="10780295" cy="5822830"/>
              </a:xfrm>
            </p:spPr>
            <p:txBody>
              <a:bodyPr>
                <a:noAutofit/>
              </a:bodyPr>
              <a:lstStyle/>
              <a:p>
                <a:pPr marL="0" indent="0">
                  <a:buNone/>
                </a:pPr>
                <a:r>
                  <a:rPr lang="en-US" sz="1400" b="1" dirty="0"/>
                  <a:t>Example</a:t>
                </a:r>
                <a:r>
                  <a:rPr lang="en-US" sz="1400" dirty="0"/>
                  <a:t>: </a:t>
                </a:r>
              </a:p>
              <a:p>
                <a:pPr marL="0" marR="0" indent="0">
                  <a:spcBef>
                    <a:spcPts val="0"/>
                  </a:spcBef>
                  <a:spcAft>
                    <a:spcPts val="0"/>
                  </a:spcAft>
                  <a:buNone/>
                  <a:tabLst>
                    <a:tab pos="228600" algn="l"/>
                  </a:tabLst>
                </a:pPr>
                <a:r>
                  <a:rPr lang="en-US" sz="1400" dirty="0">
                    <a:effectLst/>
                    <a:latin typeface="Calibri" panose="020F0502020204030204" pitchFamily="34" charset="0"/>
                    <a:ea typeface="Times New Roman" panose="02020603050405020304" pitchFamily="18" charset="0"/>
                  </a:rPr>
                  <a:t>Suppose a sample of 15 families of size four (n = 4) is collected and the numbers of males per family (X) are recorded specifically. The sequence of male and female in the 15 families (M=Male and F=Female) are:</a:t>
                </a:r>
                <a:endParaRPr lang="en-US" sz="14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tabLst>
                    <a:tab pos="228600" algn="l"/>
                  </a:tabLst>
                </a:pPr>
                <a:endParaRPr lang="en-US" sz="1400" dirty="0">
                  <a:effectLst/>
                  <a:latin typeface="Times New Roman" panose="02020603050405020304" pitchFamily="18" charset="0"/>
                  <a:ea typeface="Times New Roman" panose="02020603050405020304" pitchFamily="18" charset="0"/>
                </a:endParaRP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	</a:t>
                </a:r>
                <a:r>
                  <a:rPr lang="en-US" sz="1400" dirty="0">
                    <a:effectLst/>
                    <a:latin typeface="Calibri" panose="020F0502020204030204" pitchFamily="34" charset="0"/>
                    <a:ea typeface="Times New Roman" panose="02020603050405020304" pitchFamily="18" charset="0"/>
                  </a:rPr>
                  <a:t>FFFF    FMMM    FFMF    FFMM    MMMM    FMMM    MMMM    FMFM    FFFF</a:t>
                </a:r>
                <a:r>
                  <a:rPr lang="en-US" sz="1400" dirty="0">
                    <a:latin typeface="Calibri" panose="020F0502020204030204" pitchFamily="34" charset="0"/>
                    <a:ea typeface="Times New Roman" panose="02020603050405020304" pitchFamily="18" charset="0"/>
                  </a:rPr>
                  <a:t>      </a:t>
                </a:r>
                <a:r>
                  <a:rPr lang="en-US" sz="1400" dirty="0">
                    <a:effectLst/>
                    <a:latin typeface="Calibri" panose="020F0502020204030204" pitchFamily="34" charset="0"/>
                    <a:ea typeface="Times New Roman" panose="02020603050405020304" pitchFamily="18" charset="0"/>
                  </a:rPr>
                  <a:t>FFFM     MMMM    MFMM    MMMF    MMMM    MMFF	</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Fit a Binomial distribution.</a:t>
                </a:r>
              </a:p>
              <a:p>
                <a:pPr marL="0" marR="0" indent="0">
                  <a:spcBef>
                    <a:spcPts val="0"/>
                  </a:spcBef>
                  <a:spcAft>
                    <a:spcPts val="0"/>
                  </a:spcAft>
                  <a:buNone/>
                  <a:tabLst>
                    <a:tab pos="228600" algn="l"/>
                  </a:tabLst>
                </a:pPr>
                <a:endParaRPr lang="en-US" sz="14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400" b="1" dirty="0">
                    <a:latin typeface="Calibri" panose="020F0502020204030204" pitchFamily="34" charset="0"/>
                    <a:ea typeface="Times New Roman" panose="02020603050405020304" pitchFamily="18" charset="0"/>
                  </a:rPr>
                  <a:t>Solution:</a:t>
                </a:r>
                <a:r>
                  <a:rPr lang="en-US" sz="1400" dirty="0">
                    <a:latin typeface="Calibri" panose="020F0502020204030204" pitchFamily="34" charset="0"/>
                    <a:ea typeface="Times New Roman" panose="02020603050405020304" pitchFamily="18" charset="0"/>
                  </a:rPr>
                  <a:t> </a:t>
                </a:r>
              </a:p>
              <a:p>
                <a:pPr marL="0" marR="0" indent="0">
                  <a:spcBef>
                    <a:spcPts val="0"/>
                  </a:spcBef>
                  <a:spcAft>
                    <a:spcPts val="0"/>
                  </a:spcAft>
                  <a:buNone/>
                  <a:tabLst>
                    <a:tab pos="228600" algn="l"/>
                  </a:tabLst>
                </a:pPr>
                <a:r>
                  <a:rPr lang="en-US" sz="1400" dirty="0">
                    <a:effectLst/>
                    <a:latin typeface="Calibri" panose="020F0502020204030204" pitchFamily="34" charset="0"/>
                    <a:ea typeface="Times New Roman" panose="02020603050405020304" pitchFamily="18" charset="0"/>
                  </a:rPr>
                  <a:t>	X = No. of males in each family  (0, 1, 2, 3, 4)</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The frequency distribution of no. of males per family of four is given below.</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	</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	</a:t>
                </a:r>
              </a:p>
              <a:p>
                <a:pPr marL="0" marR="0" indent="0">
                  <a:spcBef>
                    <a:spcPts val="0"/>
                  </a:spcBef>
                  <a:spcAft>
                    <a:spcPts val="0"/>
                  </a:spcAft>
                  <a:buNone/>
                  <a:tabLst>
                    <a:tab pos="228600" algn="l"/>
                  </a:tabLst>
                </a:pPr>
                <a:endParaRPr lang="en-US" sz="14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400" dirty="0">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4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400" dirty="0">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400" dirty="0">
                    <a:effectLst/>
                    <a:latin typeface="Calibri" panose="020F0502020204030204" pitchFamily="34" charset="0"/>
                    <a:ea typeface="Times New Roman" panose="02020603050405020304" pitchFamily="18" charset="0"/>
                  </a:rPr>
                  <a:t>The probability distribution to be fitted here is Binomial Distribution which has following probability mass function (</a:t>
                </a:r>
                <a:r>
                  <a:rPr lang="en-US" sz="1400" dirty="0" err="1">
                    <a:effectLst/>
                    <a:latin typeface="Calibri" panose="020F0502020204030204" pitchFamily="34" charset="0"/>
                    <a:ea typeface="Times New Roman" panose="02020603050405020304" pitchFamily="18" charset="0"/>
                  </a:rPr>
                  <a:t>pmf</a:t>
                </a:r>
                <a:r>
                  <a:rPr lang="en-US" sz="1400" dirty="0">
                    <a:effectLst/>
                    <a:latin typeface="Calibri" panose="020F0502020204030204" pitchFamily="34" charset="0"/>
                    <a:ea typeface="Times New Roman" panose="02020603050405020304" pitchFamily="18" charset="0"/>
                  </a:rPr>
                  <a:t>)</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		</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		</a:t>
                </a:r>
                <a14:m>
                  <m:oMath xmlns:m="http://schemas.openxmlformats.org/officeDocument/2006/math">
                    <m:r>
                      <a:rPr lang="en-US" sz="1400" b="0" i="1" smtClean="0">
                        <a:latin typeface="Cambria Math" panose="02040503050406030204" pitchFamily="18" charset="0"/>
                        <a:ea typeface="Times New Roman" panose="02020603050405020304" pitchFamily="18" charset="0"/>
                      </a:rPr>
                      <m:t>𝑃</m:t>
                    </m:r>
                    <m:d>
                      <m:dPr>
                        <m:ctrlPr>
                          <a:rPr lang="en-US" sz="1400" b="0" i="1" smtClean="0">
                            <a:latin typeface="Cambria Math" panose="02040503050406030204" pitchFamily="18" charset="0"/>
                            <a:ea typeface="Times New Roman" panose="02020603050405020304" pitchFamily="18" charset="0"/>
                          </a:rPr>
                        </m:ctrlPr>
                      </m:dPr>
                      <m:e>
                        <m:r>
                          <a:rPr lang="en-US" sz="1400" b="0" i="1" smtClean="0">
                            <a:latin typeface="Cambria Math" panose="02040503050406030204" pitchFamily="18" charset="0"/>
                            <a:ea typeface="Times New Roman" panose="02020603050405020304" pitchFamily="18" charset="0"/>
                          </a:rPr>
                          <m:t>𝑋</m:t>
                        </m:r>
                        <m:r>
                          <a:rPr lang="en-US" sz="1400" b="0" i="1" smtClean="0">
                            <a:latin typeface="Cambria Math" panose="02040503050406030204" pitchFamily="18" charset="0"/>
                            <a:ea typeface="Times New Roman" panose="02020603050405020304" pitchFamily="18" charset="0"/>
                          </a:rPr>
                          <m:t>=</m:t>
                        </m:r>
                        <m:r>
                          <a:rPr lang="en-US" sz="1400" b="0" i="1" smtClean="0">
                            <a:latin typeface="Cambria Math" panose="02040503050406030204" pitchFamily="18" charset="0"/>
                            <a:ea typeface="Times New Roman" panose="02020603050405020304" pitchFamily="18" charset="0"/>
                          </a:rPr>
                          <m:t>𝑥</m:t>
                        </m:r>
                      </m:e>
                    </m:d>
                    <m:r>
                      <a:rPr lang="en-US" sz="1400" b="0" i="1" smtClean="0">
                        <a:latin typeface="Cambria Math" panose="02040503050406030204" pitchFamily="18" charset="0"/>
                        <a:ea typeface="Times New Roman" panose="02020603050405020304" pitchFamily="18" charset="0"/>
                      </a:rPr>
                      <m:t>=</m:t>
                    </m:r>
                    <m:r>
                      <a:rPr lang="en-US" sz="1400" b="0" i="1" smtClean="0">
                        <a:latin typeface="Cambria Math" panose="02040503050406030204" pitchFamily="18" charset="0"/>
                        <a:ea typeface="Times New Roman" panose="02020603050405020304" pitchFamily="18" charset="0"/>
                      </a:rPr>
                      <m:t>𝑛𝐶𝑥</m:t>
                    </m:r>
                    <m:r>
                      <a:rPr lang="en-US" sz="1400" b="0" i="1" smtClean="0">
                        <a:latin typeface="Cambria Math" panose="02040503050406030204" pitchFamily="18" charset="0"/>
                        <a:ea typeface="Times New Roman" panose="02020603050405020304" pitchFamily="18" charset="0"/>
                      </a:rPr>
                      <m:t> . </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 </m:t>
                        </m:r>
                        <m:r>
                          <a:rPr lang="en-US" sz="1400" b="0" i="1" smtClean="0">
                            <a:latin typeface="Cambria Math" panose="02040503050406030204" pitchFamily="18" charset="0"/>
                          </a:rPr>
                          <m:t>𝑝</m:t>
                        </m:r>
                      </m:e>
                      <m:sup>
                        <m:r>
                          <a:rPr lang="en-US" sz="1400" b="0" i="1" smtClean="0">
                            <a:latin typeface="Cambria Math" panose="02040503050406030204" pitchFamily="18" charset="0"/>
                          </a:rPr>
                          <m:t>𝑥</m:t>
                        </m:r>
                      </m:sup>
                    </m:sSup>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 . </m:t>
                        </m:r>
                        <m:r>
                          <a:rPr lang="en-US" sz="1400" b="0" i="1" smtClean="0">
                            <a:latin typeface="Cambria Math" panose="02040503050406030204" pitchFamily="18" charset="0"/>
                          </a:rPr>
                          <m:t>𝑞</m:t>
                        </m:r>
                      </m:e>
                      <m:sup>
                        <m:r>
                          <a:rPr lang="en-US" sz="1400" b="0" i="1" smtClean="0">
                            <a:latin typeface="Cambria Math" panose="02040503050406030204" pitchFamily="18" charset="0"/>
                          </a:rPr>
                          <m:t>𝑛</m:t>
                        </m:r>
                        <m:r>
                          <a:rPr lang="en-US" sz="1400" b="0" i="1" smtClean="0">
                            <a:latin typeface="Cambria Math" panose="02040503050406030204" pitchFamily="18" charset="0"/>
                          </a:rPr>
                          <m:t>−</m:t>
                        </m:r>
                        <m:r>
                          <a:rPr lang="en-US" sz="1400" b="0" i="1" smtClean="0">
                            <a:latin typeface="Cambria Math" panose="02040503050406030204" pitchFamily="18" charset="0"/>
                          </a:rPr>
                          <m:t>𝑥</m:t>
                        </m:r>
                      </m:sup>
                    </m:sSup>
                  </m:oMath>
                </a14:m>
                <a:r>
                  <a:rPr lang="en-US" sz="1400" dirty="0">
                    <a:latin typeface="Calibri" panose="020F0502020204030204" pitchFamily="34" charset="0"/>
                    <a:ea typeface="Times New Roman" panose="02020603050405020304" pitchFamily="18" charset="0"/>
                  </a:rPr>
                  <a:t>	X = 0, 1, 2, …, n</a:t>
                </a: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Here, the parameters are n and p</a:t>
                </a:r>
              </a:p>
              <a:p>
                <a:pPr marL="0" marR="0" indent="0">
                  <a:spcBef>
                    <a:spcPts val="0"/>
                  </a:spcBef>
                  <a:spcAft>
                    <a:spcPts val="0"/>
                  </a:spcAft>
                  <a:buNone/>
                  <a:tabLst>
                    <a:tab pos="228600" algn="l"/>
                  </a:tabLst>
                </a:pPr>
                <a:endParaRPr lang="en-US" sz="14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400" dirty="0">
                    <a:effectLst/>
                    <a:latin typeface="Calibri" panose="020F0502020204030204" pitchFamily="34" charset="0"/>
                    <a:ea typeface="Times New Roman" panose="02020603050405020304" pitchFamily="18" charset="0"/>
                  </a:rPr>
                  <a:t>	Mean  </a:t>
                </a:r>
                <a14:m>
                  <m:oMath xmlns:m="http://schemas.openxmlformats.org/officeDocument/2006/math">
                    <m:acc>
                      <m:accPr>
                        <m:chr m:val="̅"/>
                        <m:ctrlPr>
                          <a:rPr lang="en-US" sz="1400" i="1" smtClean="0">
                            <a:effectLst/>
                            <a:latin typeface="Cambria Math" panose="02040503050406030204" pitchFamily="18" charset="0"/>
                          </a:rPr>
                        </m:ctrlPr>
                      </m:accPr>
                      <m:e>
                        <m:r>
                          <a:rPr lang="en-US" sz="1400" b="0" i="1" smtClean="0">
                            <a:effectLst/>
                            <a:latin typeface="Cambria Math" panose="02040503050406030204" pitchFamily="18" charset="0"/>
                          </a:rPr>
                          <m:t>𝑋</m:t>
                        </m:r>
                      </m:e>
                    </m:acc>
                    <m:r>
                      <a:rPr lang="en-US" sz="1400" b="0" i="1" smtClean="0">
                        <a:effectLst/>
                        <a:latin typeface="Cambria Math" panose="02040503050406030204" pitchFamily="18" charset="0"/>
                      </a:rPr>
                      <m:t>=</m:t>
                    </m:r>
                    <m:f>
                      <m:fPr>
                        <m:ctrlPr>
                          <a:rPr lang="en-US" sz="1400" b="0" i="1" smtClean="0">
                            <a:effectLst/>
                            <a:latin typeface="Cambria Math" panose="02040503050406030204" pitchFamily="18" charset="0"/>
                          </a:rPr>
                        </m:ctrlPr>
                      </m:fPr>
                      <m:num>
                        <m:nary>
                          <m:naryPr>
                            <m:chr m:val="∑"/>
                            <m:subHide m:val="on"/>
                            <m:supHide m:val="on"/>
                            <m:ctrlPr>
                              <a:rPr lang="en-US" sz="1400" b="0" i="1" smtClean="0">
                                <a:effectLst/>
                                <a:latin typeface="Cambria Math" panose="02040503050406030204" pitchFamily="18" charset="0"/>
                              </a:rPr>
                            </m:ctrlPr>
                          </m:naryPr>
                          <m:sub/>
                          <m:sup/>
                          <m:e>
                            <m:r>
                              <a:rPr lang="en-US" sz="1400" b="0" i="1" smtClean="0">
                                <a:effectLst/>
                                <a:latin typeface="Cambria Math" panose="02040503050406030204" pitchFamily="18" charset="0"/>
                              </a:rPr>
                              <m:t>𝑓𝑥</m:t>
                            </m:r>
                          </m:e>
                        </m:nary>
                      </m:num>
                      <m:den>
                        <m:nary>
                          <m:naryPr>
                            <m:chr m:val="∑"/>
                            <m:subHide m:val="on"/>
                            <m:supHide m:val="on"/>
                            <m:ctrlPr>
                              <a:rPr lang="en-US" sz="1400" b="0" i="1" smtClean="0">
                                <a:effectLst/>
                                <a:latin typeface="Cambria Math" panose="02040503050406030204" pitchFamily="18" charset="0"/>
                              </a:rPr>
                            </m:ctrlPr>
                          </m:naryPr>
                          <m:sub/>
                          <m:sup/>
                          <m:e>
                            <m:r>
                              <a:rPr lang="en-US" sz="1400" b="0" i="1" smtClean="0">
                                <a:effectLst/>
                                <a:latin typeface="Cambria Math" panose="02040503050406030204" pitchFamily="18" charset="0"/>
                              </a:rPr>
                              <m:t>𝑓</m:t>
                            </m:r>
                          </m:e>
                        </m:nary>
                      </m:den>
                    </m:f>
                  </m:oMath>
                </a14:m>
                <a:r>
                  <a:rPr lang="en-US" sz="1400" dirty="0">
                    <a:effectLst/>
                    <a:latin typeface="Calibri" panose="020F0502020204030204" pitchFamily="34" charset="0"/>
                    <a:ea typeface="Times New Roman" panose="02020603050405020304" pitchFamily="18" charset="0"/>
                  </a:rPr>
                  <a:t> = </a:t>
                </a:r>
                <a14:m>
                  <m:oMath xmlns:m="http://schemas.openxmlformats.org/officeDocument/2006/math">
                    <m:f>
                      <m:fPr>
                        <m:ctrlPr>
                          <a:rPr lang="en-US" sz="1400" i="1" smtClean="0">
                            <a:effectLst/>
                            <a:latin typeface="Cambria Math" panose="02040503050406030204" pitchFamily="18" charset="0"/>
                          </a:rPr>
                        </m:ctrlPr>
                      </m:fPr>
                      <m:num>
                        <m:r>
                          <a:rPr lang="en-US" sz="1400" b="0" i="1" smtClean="0">
                            <a:effectLst/>
                            <a:latin typeface="Cambria Math" panose="02040503050406030204" pitchFamily="18" charset="0"/>
                          </a:rPr>
                          <m:t>36</m:t>
                        </m:r>
                      </m:num>
                      <m:den>
                        <m:r>
                          <a:rPr lang="en-US" sz="1400" b="0" i="1" smtClean="0">
                            <a:effectLst/>
                            <a:latin typeface="Cambria Math" panose="02040503050406030204" pitchFamily="18" charset="0"/>
                          </a:rPr>
                          <m:t>15</m:t>
                        </m:r>
                      </m:den>
                    </m:f>
                  </m:oMath>
                </a14:m>
                <a:r>
                  <a:rPr lang="en-US" sz="1400" dirty="0">
                    <a:effectLst/>
                    <a:latin typeface="Calibri" panose="020F0502020204030204" pitchFamily="34" charset="0"/>
                    <a:ea typeface="Times New Roman" panose="02020603050405020304" pitchFamily="18" charset="0"/>
                  </a:rPr>
                  <a:t> = 2.4</a:t>
                </a:r>
              </a:p>
              <a:p>
                <a:pPr marL="0" marR="0" indent="0">
                  <a:spcBef>
                    <a:spcPts val="0"/>
                  </a:spcBef>
                  <a:spcAft>
                    <a:spcPts val="0"/>
                  </a:spcAft>
                  <a:buNone/>
                  <a:tabLst>
                    <a:tab pos="228600" algn="l"/>
                  </a:tabLst>
                </a:pPr>
                <a:endParaRPr lang="en-US" sz="1400" dirty="0">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400" dirty="0">
                    <a:latin typeface="Calibri" panose="020F0502020204030204" pitchFamily="34" charset="0"/>
                    <a:ea typeface="Times New Roman" panose="02020603050405020304" pitchFamily="18" charset="0"/>
                  </a:rPr>
                  <a:t>The mean of Binomial Distribution = np </a:t>
                </a:r>
                <a:endParaRPr lang="en-US" sz="14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endParaRPr lang="en-US" sz="16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600" dirty="0">
                    <a:effectLst/>
                    <a:latin typeface="Calibri" panose="020F0502020204030204" pitchFamily="34"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92CBFA7E-65EE-4B31-871D-241BCA9DD9D3}"/>
                  </a:ext>
                </a:extLst>
              </p:cNvPr>
              <p:cNvSpPr>
                <a:spLocks noGrp="1" noRot="1" noChangeAspect="1" noMove="1" noResize="1" noEditPoints="1" noAdjustHandles="1" noChangeArrowheads="1" noChangeShapeType="1" noTextEdit="1"/>
              </p:cNvSpPr>
              <p:nvPr>
                <p:ph idx="1"/>
              </p:nvPr>
            </p:nvSpPr>
            <p:spPr>
              <a:xfrm>
                <a:off x="770021" y="474453"/>
                <a:ext cx="10780295" cy="5822830"/>
              </a:xfrm>
              <a:blipFill>
                <a:blip r:embed="rId2"/>
                <a:stretch>
                  <a:fillRect l="-170" t="-209"/>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7B0D9AD8-707B-0A9B-DB5B-0342140874E5}"/>
              </a:ext>
            </a:extLst>
          </p:cNvPr>
          <p:cNvSpPr>
            <a:spLocks noGrp="1"/>
          </p:cNvSpPr>
          <p:nvPr>
            <p:ph type="ftr" sz="quarter" idx="11"/>
          </p:nvPr>
        </p:nvSpPr>
        <p:spPr/>
        <p:txBody>
          <a:bodyPr/>
          <a:lstStyle/>
          <a:p>
            <a:r>
              <a:rPr lang="en-US"/>
              <a:t>Copy Right: Santosh Chhatkuli</a:t>
            </a:r>
            <a:endParaRPr lang="en-US" dirty="0"/>
          </a:p>
        </p:txBody>
      </p:sp>
      <p:graphicFrame>
        <p:nvGraphicFramePr>
          <p:cNvPr id="2" name="Object 1">
            <a:extLst>
              <a:ext uri="{FF2B5EF4-FFF2-40B4-BE49-F238E27FC236}">
                <a16:creationId xmlns:a16="http://schemas.microsoft.com/office/drawing/2014/main" id="{C546EB35-46F8-414E-A5BB-506771C7B62E}"/>
              </a:ext>
            </a:extLst>
          </p:cNvPr>
          <p:cNvGraphicFramePr>
            <a:graphicFrameLocks noChangeAspect="1"/>
          </p:cNvGraphicFramePr>
          <p:nvPr>
            <p:extLst>
              <p:ext uri="{D42A27DB-BD31-4B8C-83A1-F6EECF244321}">
                <p14:modId xmlns:p14="http://schemas.microsoft.com/office/powerpoint/2010/main" val="3624639117"/>
              </p:ext>
            </p:extLst>
          </p:nvPr>
        </p:nvGraphicFramePr>
        <p:xfrm>
          <a:off x="6146800" y="3352800"/>
          <a:ext cx="914400" cy="207963"/>
        </p:xfrm>
        <a:graphic>
          <a:graphicData uri="http://schemas.openxmlformats.org/presentationml/2006/ole">
            <mc:AlternateContent xmlns:mc="http://schemas.openxmlformats.org/markup-compatibility/2006">
              <mc:Choice xmlns:v="urn:schemas-microsoft-com:vml" Requires="v">
                <p:oleObj name="Equation" r:id="rId3" imgW="914400" imgH="207360" progId="Equation.DSMT4">
                  <p:embed/>
                </p:oleObj>
              </mc:Choice>
              <mc:Fallback>
                <p:oleObj name="Equation" r:id="rId3" imgW="914400" imgH="207360" progId="Equation.DSMT4">
                  <p:embed/>
                  <p:pic>
                    <p:nvPicPr>
                      <p:cNvPr id="0" name=""/>
                      <p:cNvPicPr/>
                      <p:nvPr/>
                    </p:nvPicPr>
                    <p:blipFill>
                      <a:blip r:embed="rId4"/>
                      <a:stretch>
                        <a:fillRect/>
                      </a:stretch>
                    </p:blipFill>
                    <p:spPr>
                      <a:xfrm>
                        <a:off x="6146800" y="3352800"/>
                        <a:ext cx="914400" cy="207963"/>
                      </a:xfrm>
                      <a:prstGeom prst="rect">
                        <a:avLst/>
                      </a:prstGeom>
                    </p:spPr>
                  </p:pic>
                </p:oleObj>
              </mc:Fallback>
            </mc:AlternateContent>
          </a:graphicData>
        </a:graphic>
      </p:graphicFrame>
      <p:graphicFrame>
        <p:nvGraphicFramePr>
          <p:cNvPr id="5" name="Table 6">
            <a:extLst>
              <a:ext uri="{FF2B5EF4-FFF2-40B4-BE49-F238E27FC236}">
                <a16:creationId xmlns:a16="http://schemas.microsoft.com/office/drawing/2014/main" id="{B61C7F13-E2D6-44F9-9120-67AC037E3070}"/>
              </a:ext>
            </a:extLst>
          </p:cNvPr>
          <p:cNvGraphicFramePr>
            <a:graphicFrameLocks noGrp="1"/>
          </p:cNvGraphicFramePr>
          <p:nvPr>
            <p:extLst>
              <p:ext uri="{D42A27DB-BD31-4B8C-83A1-F6EECF244321}">
                <p14:modId xmlns:p14="http://schemas.microsoft.com/office/powerpoint/2010/main" val="2223871074"/>
              </p:ext>
            </p:extLst>
          </p:nvPr>
        </p:nvGraphicFramePr>
        <p:xfrm>
          <a:off x="858812" y="2999581"/>
          <a:ext cx="7250018" cy="914400"/>
        </p:xfrm>
        <a:graphic>
          <a:graphicData uri="http://schemas.openxmlformats.org/drawingml/2006/table">
            <a:tbl>
              <a:tblPr firstRow="1" bandRow="1">
                <a:tableStyleId>{3B4B98B0-60AC-42C2-AFA5-B58CD77FA1E5}</a:tableStyleId>
              </a:tblPr>
              <a:tblGrid>
                <a:gridCol w="3066212">
                  <a:extLst>
                    <a:ext uri="{9D8B030D-6E8A-4147-A177-3AD203B41FA5}">
                      <a16:colId xmlns:a16="http://schemas.microsoft.com/office/drawing/2014/main" val="1963830763"/>
                    </a:ext>
                  </a:extLst>
                </a:gridCol>
                <a:gridCol w="697301">
                  <a:extLst>
                    <a:ext uri="{9D8B030D-6E8A-4147-A177-3AD203B41FA5}">
                      <a16:colId xmlns:a16="http://schemas.microsoft.com/office/drawing/2014/main" val="2746247496"/>
                    </a:ext>
                  </a:extLst>
                </a:gridCol>
                <a:gridCol w="697301">
                  <a:extLst>
                    <a:ext uri="{9D8B030D-6E8A-4147-A177-3AD203B41FA5}">
                      <a16:colId xmlns:a16="http://schemas.microsoft.com/office/drawing/2014/main" val="4208650066"/>
                    </a:ext>
                  </a:extLst>
                </a:gridCol>
                <a:gridCol w="697301">
                  <a:extLst>
                    <a:ext uri="{9D8B030D-6E8A-4147-A177-3AD203B41FA5}">
                      <a16:colId xmlns:a16="http://schemas.microsoft.com/office/drawing/2014/main" val="889493761"/>
                    </a:ext>
                  </a:extLst>
                </a:gridCol>
                <a:gridCol w="697301">
                  <a:extLst>
                    <a:ext uri="{9D8B030D-6E8A-4147-A177-3AD203B41FA5}">
                      <a16:colId xmlns:a16="http://schemas.microsoft.com/office/drawing/2014/main" val="1008822693"/>
                    </a:ext>
                  </a:extLst>
                </a:gridCol>
                <a:gridCol w="697301">
                  <a:extLst>
                    <a:ext uri="{9D8B030D-6E8A-4147-A177-3AD203B41FA5}">
                      <a16:colId xmlns:a16="http://schemas.microsoft.com/office/drawing/2014/main" val="3852889624"/>
                    </a:ext>
                  </a:extLst>
                </a:gridCol>
                <a:gridCol w="697301">
                  <a:extLst>
                    <a:ext uri="{9D8B030D-6E8A-4147-A177-3AD203B41FA5}">
                      <a16:colId xmlns:a16="http://schemas.microsoft.com/office/drawing/2014/main" val="2867877296"/>
                    </a:ext>
                  </a:extLst>
                </a:gridCol>
              </a:tblGrid>
              <a:tr h="261810">
                <a:tc>
                  <a:txBody>
                    <a:bodyPr/>
                    <a:lstStyle/>
                    <a:p>
                      <a:r>
                        <a:rPr lang="en-US" sz="1400" dirty="0"/>
                        <a:t>No. of males per family of four (X)</a:t>
                      </a:r>
                    </a:p>
                  </a:txBody>
                  <a:tcPr/>
                </a:tc>
                <a:tc>
                  <a:txBody>
                    <a:bodyPr/>
                    <a:lstStyle/>
                    <a:p>
                      <a:r>
                        <a:rPr lang="en-US" sz="1400" dirty="0"/>
                        <a:t>0</a:t>
                      </a:r>
                    </a:p>
                  </a:txBody>
                  <a:tcPr/>
                </a:tc>
                <a:tc>
                  <a:txBody>
                    <a:bodyPr/>
                    <a:lstStyle/>
                    <a:p>
                      <a:r>
                        <a:rPr lang="en-US" sz="1400" dirty="0"/>
                        <a:t>1</a:t>
                      </a:r>
                    </a:p>
                  </a:txBody>
                  <a:tcPr/>
                </a:tc>
                <a:tc>
                  <a:txBody>
                    <a:bodyPr/>
                    <a:lstStyle/>
                    <a:p>
                      <a:r>
                        <a:rPr lang="en-US" sz="1400" dirty="0"/>
                        <a:t>2</a:t>
                      </a:r>
                    </a:p>
                  </a:txBody>
                  <a:tcPr/>
                </a:tc>
                <a:tc>
                  <a:txBody>
                    <a:bodyPr/>
                    <a:lstStyle/>
                    <a:p>
                      <a:r>
                        <a:rPr lang="en-US" sz="1400" dirty="0"/>
                        <a:t>3</a:t>
                      </a:r>
                    </a:p>
                  </a:txBody>
                  <a:tcPr/>
                </a:tc>
                <a:tc>
                  <a:txBody>
                    <a:bodyPr/>
                    <a:lstStyle/>
                    <a:p>
                      <a:r>
                        <a:rPr lang="en-US" sz="1400" dirty="0"/>
                        <a:t>4</a:t>
                      </a:r>
                    </a:p>
                  </a:txBody>
                  <a:tcPr/>
                </a:tc>
                <a:tc>
                  <a:txBody>
                    <a:bodyPr/>
                    <a:lstStyle/>
                    <a:p>
                      <a:r>
                        <a:rPr lang="en-US" sz="1400" dirty="0"/>
                        <a:t>Total</a:t>
                      </a:r>
                    </a:p>
                  </a:txBody>
                  <a:tcPr/>
                </a:tc>
                <a:extLst>
                  <a:ext uri="{0D108BD9-81ED-4DB2-BD59-A6C34878D82A}">
                    <a16:rowId xmlns:a16="http://schemas.microsoft.com/office/drawing/2014/main" val="4008479085"/>
                  </a:ext>
                </a:extLst>
              </a:tr>
              <a:tr h="261810">
                <a:tc>
                  <a:txBody>
                    <a:bodyPr/>
                    <a:lstStyle/>
                    <a:p>
                      <a:r>
                        <a:rPr lang="en-US" sz="1400" dirty="0"/>
                        <a:t>No. of families (f)</a:t>
                      </a:r>
                    </a:p>
                  </a:txBody>
                  <a:tcPr/>
                </a:tc>
                <a:tc>
                  <a:txBody>
                    <a:bodyPr/>
                    <a:lstStyle/>
                    <a:p>
                      <a:r>
                        <a:rPr lang="en-US" sz="1400" dirty="0"/>
                        <a:t>2</a:t>
                      </a:r>
                    </a:p>
                  </a:txBody>
                  <a:tcPr/>
                </a:tc>
                <a:tc>
                  <a:txBody>
                    <a:bodyPr/>
                    <a:lstStyle/>
                    <a:p>
                      <a:r>
                        <a:rPr lang="en-US" sz="1400" dirty="0"/>
                        <a:t>2</a:t>
                      </a:r>
                    </a:p>
                  </a:txBody>
                  <a:tcPr/>
                </a:tc>
                <a:tc>
                  <a:txBody>
                    <a:bodyPr/>
                    <a:lstStyle/>
                    <a:p>
                      <a:r>
                        <a:rPr lang="en-US" sz="1400" dirty="0"/>
                        <a:t>3</a:t>
                      </a:r>
                    </a:p>
                  </a:txBody>
                  <a:tcPr/>
                </a:tc>
                <a:tc>
                  <a:txBody>
                    <a:bodyPr/>
                    <a:lstStyle/>
                    <a:p>
                      <a:r>
                        <a:rPr lang="en-US" sz="1400" dirty="0"/>
                        <a:t>4</a:t>
                      </a:r>
                    </a:p>
                  </a:txBody>
                  <a:tcPr/>
                </a:tc>
                <a:tc>
                  <a:txBody>
                    <a:bodyPr/>
                    <a:lstStyle/>
                    <a:p>
                      <a:r>
                        <a:rPr lang="en-US" sz="1400" dirty="0"/>
                        <a:t>4</a:t>
                      </a:r>
                    </a:p>
                  </a:txBody>
                  <a:tcPr/>
                </a:tc>
                <a:tc>
                  <a:txBody>
                    <a:bodyPr/>
                    <a:lstStyle/>
                    <a:p>
                      <a:r>
                        <a:rPr lang="en-US" sz="1400" dirty="0"/>
                        <a:t>N=15</a:t>
                      </a:r>
                    </a:p>
                  </a:txBody>
                  <a:tcPr/>
                </a:tc>
                <a:extLst>
                  <a:ext uri="{0D108BD9-81ED-4DB2-BD59-A6C34878D82A}">
                    <a16:rowId xmlns:a16="http://schemas.microsoft.com/office/drawing/2014/main" val="3534302995"/>
                  </a:ext>
                </a:extLst>
              </a:tr>
              <a:tr h="215186">
                <a:tc>
                  <a:txBody>
                    <a:bodyPr/>
                    <a:lstStyle/>
                    <a:p>
                      <a:r>
                        <a:rPr lang="en-US" sz="1400" dirty="0"/>
                        <a:t>f . X</a:t>
                      </a:r>
                    </a:p>
                  </a:txBody>
                  <a:tcPr/>
                </a:tc>
                <a:tc>
                  <a:txBody>
                    <a:bodyPr/>
                    <a:lstStyle/>
                    <a:p>
                      <a:r>
                        <a:rPr lang="en-US" sz="1400" dirty="0"/>
                        <a:t>0</a:t>
                      </a:r>
                    </a:p>
                  </a:txBody>
                  <a:tcPr/>
                </a:tc>
                <a:tc>
                  <a:txBody>
                    <a:bodyPr/>
                    <a:lstStyle/>
                    <a:p>
                      <a:r>
                        <a:rPr lang="en-US" sz="1400" dirty="0"/>
                        <a:t>2</a:t>
                      </a:r>
                    </a:p>
                  </a:txBody>
                  <a:tcPr/>
                </a:tc>
                <a:tc>
                  <a:txBody>
                    <a:bodyPr/>
                    <a:lstStyle/>
                    <a:p>
                      <a:r>
                        <a:rPr lang="en-US" sz="1400" dirty="0"/>
                        <a:t>6</a:t>
                      </a:r>
                    </a:p>
                  </a:txBody>
                  <a:tcPr/>
                </a:tc>
                <a:tc>
                  <a:txBody>
                    <a:bodyPr/>
                    <a:lstStyle/>
                    <a:p>
                      <a:r>
                        <a:rPr lang="en-US" sz="1400" dirty="0"/>
                        <a:t>12</a:t>
                      </a:r>
                    </a:p>
                  </a:txBody>
                  <a:tcPr/>
                </a:tc>
                <a:tc>
                  <a:txBody>
                    <a:bodyPr/>
                    <a:lstStyle/>
                    <a:p>
                      <a:r>
                        <a:rPr lang="en-US" sz="1400" dirty="0"/>
                        <a:t>16</a:t>
                      </a:r>
                    </a:p>
                  </a:txBody>
                  <a:tcPr/>
                </a:tc>
                <a:tc>
                  <a:txBody>
                    <a:bodyPr/>
                    <a:lstStyle/>
                    <a:p>
                      <a:r>
                        <a:rPr lang="en-US" sz="1400" dirty="0"/>
                        <a:t>36</a:t>
                      </a:r>
                    </a:p>
                  </a:txBody>
                  <a:tcPr/>
                </a:tc>
                <a:extLst>
                  <a:ext uri="{0D108BD9-81ED-4DB2-BD59-A6C34878D82A}">
                    <a16:rowId xmlns:a16="http://schemas.microsoft.com/office/drawing/2014/main" val="650285071"/>
                  </a:ext>
                </a:extLst>
              </a:tr>
            </a:tbl>
          </a:graphicData>
        </a:graphic>
      </p:graphicFrame>
    </p:spTree>
    <p:extLst>
      <p:ext uri="{BB962C8B-B14F-4D97-AF65-F5344CB8AC3E}">
        <p14:creationId xmlns:p14="http://schemas.microsoft.com/office/powerpoint/2010/main" val="1768993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F514C3-FF6D-435E-8C24-97E1C14949F0}"/>
                  </a:ext>
                </a:extLst>
              </p:cNvPr>
              <p:cNvSpPr>
                <a:spLocks noGrp="1"/>
              </p:cNvSpPr>
              <p:nvPr>
                <p:ph idx="1"/>
              </p:nvPr>
            </p:nvSpPr>
            <p:spPr>
              <a:xfrm>
                <a:off x="844061" y="650631"/>
                <a:ext cx="10726615" cy="5486399"/>
              </a:xfrm>
            </p:spPr>
            <p:txBody>
              <a:bodyPr/>
              <a:lstStyle/>
              <a:p>
                <a:pPr marL="0" marR="0" indent="0">
                  <a:spcBef>
                    <a:spcPts val="0"/>
                  </a:spcBef>
                  <a:spcAft>
                    <a:spcPts val="0"/>
                  </a:spcAft>
                  <a:buNone/>
                  <a:tabLst>
                    <a:tab pos="228600" algn="l"/>
                  </a:tabLst>
                </a:pPr>
                <a:r>
                  <a:rPr lang="en-US" sz="1800" dirty="0">
                    <a:latin typeface="Calibri" panose="020F0502020204030204" pitchFamily="34" charset="0"/>
                    <a:ea typeface="Times New Roman" panose="02020603050405020304" pitchFamily="18" charset="0"/>
                  </a:rPr>
                  <a:t>Estimated probability of success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𝑝</m:t>
                        </m:r>
                      </m:e>
                    </m:acc>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𝑋</m:t>
                            </m:r>
                          </m:e>
                        </m:acc>
                      </m:num>
                      <m:den>
                        <m:r>
                          <a:rPr lang="en-US" sz="1800" b="0" i="1" smtClean="0">
                            <a:latin typeface="Cambria Math" panose="02040503050406030204" pitchFamily="18" charset="0"/>
                          </a:rPr>
                          <m:t>𝑛</m:t>
                        </m:r>
                      </m:den>
                    </m:f>
                  </m:oMath>
                </a14:m>
                <a:r>
                  <a:rPr lang="en-US" sz="1800" dirty="0">
                    <a:effectLst/>
                    <a:latin typeface="Calibri" panose="020F0502020204030204" pitchFamily="34" charset="0"/>
                    <a:ea typeface="Times New Roman" panose="02020603050405020304" pitchFamily="18" charset="0"/>
                  </a:rPr>
                  <a:t> = </a:t>
                </a:r>
                <a14:m>
                  <m:oMath xmlns:m="http://schemas.openxmlformats.org/officeDocument/2006/math">
                    <m:f>
                      <m:fPr>
                        <m:ctrlPr>
                          <a:rPr lang="en-US" sz="1800" i="1" smtClean="0">
                            <a:effectLst/>
                            <a:latin typeface="Cambria Math" panose="02040503050406030204" pitchFamily="18" charset="0"/>
                          </a:rPr>
                        </m:ctrlPr>
                      </m:fPr>
                      <m:num>
                        <m:r>
                          <a:rPr lang="en-US" sz="1800" b="0" i="1" smtClean="0">
                            <a:effectLst/>
                            <a:latin typeface="Cambria Math" panose="02040503050406030204" pitchFamily="18" charset="0"/>
                          </a:rPr>
                          <m:t>2.4</m:t>
                        </m:r>
                      </m:num>
                      <m:den>
                        <m:r>
                          <a:rPr lang="en-US" sz="1800" b="0" i="1" smtClean="0">
                            <a:effectLst/>
                            <a:latin typeface="Cambria Math" panose="02040503050406030204" pitchFamily="18" charset="0"/>
                          </a:rPr>
                          <m:t>4</m:t>
                        </m:r>
                      </m:den>
                    </m:f>
                  </m:oMath>
                </a14:m>
                <a:r>
                  <a:rPr lang="en-US" sz="1800" dirty="0">
                    <a:effectLst/>
                    <a:latin typeface="Calibri" panose="020F0502020204030204" pitchFamily="34" charset="0"/>
                    <a:ea typeface="Times New Roman" panose="02020603050405020304" pitchFamily="18" charset="0"/>
                  </a:rPr>
                  <a:t> = 0.6</a:t>
                </a:r>
              </a:p>
              <a:p>
                <a:pPr marL="0" marR="0" indent="0">
                  <a:spcBef>
                    <a:spcPts val="0"/>
                  </a:spcBef>
                  <a:spcAft>
                    <a:spcPts val="0"/>
                  </a:spcAft>
                  <a:buNone/>
                  <a:tabLst>
                    <a:tab pos="228600" algn="l"/>
                  </a:tabLst>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800" dirty="0">
                    <a:effectLst/>
                    <a:latin typeface="Calibri" panose="020F0502020204030204" pitchFamily="34" charset="0"/>
                    <a:ea typeface="Times New Roman" panose="02020603050405020304" pitchFamily="18" charset="0"/>
                  </a:rPr>
                  <a:t>Hence, the proportion of males among all sample individuals is 0.6</a:t>
                </a:r>
              </a:p>
              <a:p>
                <a:pPr marL="0" marR="0" indent="0">
                  <a:spcBef>
                    <a:spcPts val="0"/>
                  </a:spcBef>
                  <a:spcAft>
                    <a:spcPts val="0"/>
                  </a:spcAft>
                  <a:buNone/>
                  <a:tabLst>
                    <a:tab pos="228600" algn="l"/>
                  </a:tabLst>
                </a:pPr>
                <a:endParaRPr lang="en-US" sz="1800" dirty="0">
                  <a:effectLst/>
                  <a:latin typeface="Calibri" panose="020F0502020204030204" pitchFamily="34" charset="0"/>
                  <a:ea typeface="Times New Roman" panose="02020603050405020304" pitchFamily="18" charset="0"/>
                </a:endParaRPr>
              </a:p>
              <a:p>
                <a:pPr marL="0" marR="0" indent="0">
                  <a:spcBef>
                    <a:spcPts val="0"/>
                  </a:spcBef>
                  <a:spcAft>
                    <a:spcPts val="0"/>
                  </a:spcAft>
                  <a:buNone/>
                  <a:tabLst>
                    <a:tab pos="228600" algn="l"/>
                  </a:tabLst>
                </a:pPr>
                <a:r>
                  <a:rPr lang="en-US" sz="1800" dirty="0">
                    <a:latin typeface="Calibri" panose="020F0502020204030204" pitchFamily="34" charset="0"/>
                    <a:ea typeface="Times New Roman" panose="02020603050405020304" pitchFamily="18" charset="0"/>
                  </a:rPr>
                  <a:t>Thus estimated probability of failure (</a:t>
                </a:r>
                <a14:m>
                  <m:oMath xmlns:m="http://schemas.openxmlformats.org/officeDocument/2006/math">
                    <m:acc>
                      <m:accPr>
                        <m:chr m:val="̂"/>
                        <m:ctrlPr>
                          <a:rPr lang="en-US" sz="1800" i="1" smtClean="0">
                            <a:latin typeface="Cambria Math" panose="02040503050406030204" pitchFamily="18" charset="0"/>
                          </a:rPr>
                        </m:ctrlPr>
                      </m:accPr>
                      <m:e>
                        <m:r>
                          <a:rPr lang="en-US" sz="1800" b="0" i="1" smtClean="0">
                            <a:latin typeface="Cambria Math" panose="02040503050406030204" pitchFamily="18" charset="0"/>
                          </a:rPr>
                          <m:t>𝑞</m:t>
                        </m:r>
                      </m:e>
                    </m:acc>
                    <m:r>
                      <a:rPr lang="en-US" sz="1800" b="0" i="0" smtClean="0">
                        <a:latin typeface="Cambria Math" panose="02040503050406030204" pitchFamily="18" charset="0"/>
                      </a:rPr>
                      <m:t>)=1 − </m:t>
                    </m:r>
                    <m:acc>
                      <m:accPr>
                        <m:chr m:val="̂"/>
                        <m:ctrlPr>
                          <a:rPr lang="en-US" sz="1800" i="1" dirty="0" smtClean="0">
                            <a:solidFill>
                              <a:srgbClr val="836967"/>
                            </a:solidFill>
                            <a:effectLst/>
                            <a:latin typeface="Cambria Math" panose="02040503050406030204" pitchFamily="18" charset="0"/>
                          </a:rPr>
                        </m:ctrlPr>
                      </m:accPr>
                      <m:e>
                        <m:r>
                          <a:rPr lang="en-US" sz="1800" i="1" dirty="0">
                            <a:effectLst/>
                            <a:latin typeface="Cambria Math" panose="02040503050406030204" pitchFamily="18" charset="0"/>
                          </a:rPr>
                          <m:t>𝑝</m:t>
                        </m:r>
                      </m:e>
                    </m:acc>
                  </m:oMath>
                </a14:m>
                <a:r>
                  <a:rPr lang="en-US" sz="1800" dirty="0">
                    <a:effectLst/>
                    <a:latin typeface="Calibri" panose="020F0502020204030204" pitchFamily="34" charset="0"/>
                  </a:rPr>
                  <a:t> = 1 – 0.6 = 0.4</a:t>
                </a:r>
              </a:p>
              <a:p>
                <a:pPr marL="0" marR="0" indent="0">
                  <a:spcBef>
                    <a:spcPts val="0"/>
                  </a:spcBef>
                  <a:spcAft>
                    <a:spcPts val="0"/>
                  </a:spcAft>
                  <a:buNone/>
                  <a:tabLst>
                    <a:tab pos="228600" algn="l"/>
                  </a:tabLst>
                </a:pPr>
                <a:endParaRPr lang="en-US" dirty="0">
                  <a:latin typeface="Calibri" panose="020F0502020204030204" pitchFamily="34" charset="0"/>
                </a:endParaRPr>
              </a:p>
              <a:p>
                <a:pPr marL="0" marR="0" indent="0">
                  <a:spcBef>
                    <a:spcPts val="0"/>
                  </a:spcBef>
                  <a:spcAft>
                    <a:spcPts val="0"/>
                  </a:spcAft>
                  <a:buNone/>
                  <a:tabLst>
                    <a:tab pos="228600" algn="l"/>
                  </a:tabLst>
                </a:pPr>
                <a:r>
                  <a:rPr lang="en-US" sz="1800" dirty="0">
                    <a:effectLst/>
                    <a:latin typeface="Calibri" panose="020F0502020204030204" pitchFamily="34" charset="0"/>
                  </a:rPr>
                  <a:t>	P (X = x) = </a:t>
                </a:r>
                <a14:m>
                  <m:oMath xmlns:m="http://schemas.openxmlformats.org/officeDocument/2006/math">
                    <m:r>
                      <a:rPr lang="en-US" sz="1800" b="0" i="1" smtClean="0">
                        <a:effectLst/>
                        <a:latin typeface="Cambria Math" panose="02040503050406030204" pitchFamily="18" charset="0"/>
                      </a:rPr>
                      <m:t>4</m:t>
                    </m:r>
                    <m:r>
                      <a:rPr lang="en-US" sz="1800" b="0" i="1" smtClean="0">
                        <a:effectLst/>
                        <a:latin typeface="Cambria Math" panose="02040503050406030204" pitchFamily="18" charset="0"/>
                      </a:rPr>
                      <m:t>𝐶𝑥</m:t>
                    </m:r>
                    <m:r>
                      <a:rPr lang="en-US" sz="1800" b="0" i="1" smtClean="0">
                        <a:effectLst/>
                        <a:latin typeface="Cambria Math" panose="02040503050406030204" pitchFamily="18" charset="0"/>
                      </a:rPr>
                      <m:t>  </m:t>
                    </m:r>
                    <m:sSup>
                      <m:sSupPr>
                        <m:ctrlPr>
                          <a:rPr lang="en-US" sz="1800" b="0" i="1" smtClean="0">
                            <a:effectLst/>
                            <a:latin typeface="Cambria Math" panose="02040503050406030204" pitchFamily="18" charset="0"/>
                          </a:rPr>
                        </m:ctrlPr>
                      </m:sSupPr>
                      <m:e>
                        <m:r>
                          <a:rPr lang="en-US" sz="1800" b="0" i="1" smtClean="0">
                            <a:effectLst/>
                            <a:latin typeface="Cambria Math" panose="02040503050406030204" pitchFamily="18" charset="0"/>
                          </a:rPr>
                          <m:t>0.6</m:t>
                        </m:r>
                      </m:e>
                      <m:sup>
                        <m:r>
                          <a:rPr lang="en-US" sz="1800" b="0" i="1" smtClean="0">
                            <a:effectLst/>
                            <a:latin typeface="Cambria Math" panose="02040503050406030204" pitchFamily="18" charset="0"/>
                          </a:rPr>
                          <m:t>𝑥</m:t>
                        </m:r>
                      </m:sup>
                    </m:sSup>
                    <m:sSup>
                      <m:sSupPr>
                        <m:ctrlPr>
                          <a:rPr lang="en-US" sz="1800" b="0" i="1" smtClean="0">
                            <a:effectLst/>
                            <a:latin typeface="Cambria Math" panose="02040503050406030204" pitchFamily="18" charset="0"/>
                          </a:rPr>
                        </m:ctrlPr>
                      </m:sSupPr>
                      <m:e>
                        <m:r>
                          <a:rPr lang="en-US" sz="1800" b="0" i="1" smtClean="0">
                            <a:effectLst/>
                            <a:latin typeface="Cambria Math" panose="02040503050406030204" pitchFamily="18" charset="0"/>
                          </a:rPr>
                          <m:t>  0.4</m:t>
                        </m:r>
                      </m:e>
                      <m:sup>
                        <m:r>
                          <a:rPr lang="en-US" sz="1800" b="0" i="1" smtClean="0">
                            <a:effectLst/>
                            <a:latin typeface="Cambria Math" panose="02040503050406030204" pitchFamily="18" charset="0"/>
                          </a:rPr>
                          <m:t>4−</m:t>
                        </m:r>
                        <m:r>
                          <a:rPr lang="en-US" sz="1800" b="0" i="1" smtClean="0">
                            <a:effectLst/>
                            <a:latin typeface="Cambria Math" panose="02040503050406030204" pitchFamily="18" charset="0"/>
                          </a:rPr>
                          <m:t>𝑥</m:t>
                        </m:r>
                      </m:sup>
                    </m:sSup>
                  </m:oMath>
                </a14:m>
                <a:endParaRPr lang="en-US" sz="1800" dirty="0">
                  <a:effectLst/>
                  <a:latin typeface="Calibri" panose="020F0502020204030204" pitchFamily="34" charset="0"/>
                </a:endParaRPr>
              </a:p>
              <a:p>
                <a:pPr marL="0" indent="0">
                  <a:buNone/>
                </a:pPr>
                <a:r>
                  <a:rPr lang="en-US" dirty="0">
                    <a:latin typeface="Calibri" panose="020F0502020204030204" pitchFamily="34" charset="0"/>
                    <a:cs typeface="Calibri" panose="020F0502020204030204" pitchFamily="34" charset="0"/>
                  </a:rPr>
                  <a:t>Estimated frequency (</a:t>
                </a:r>
                <a:r>
                  <a:rPr lang="en-US" dirty="0" err="1">
                    <a:latin typeface="Calibri" panose="020F0502020204030204" pitchFamily="34" charset="0"/>
                    <a:cs typeface="Calibri" panose="020F0502020204030204" pitchFamily="34" charset="0"/>
                  </a:rPr>
                  <a:t>f</a:t>
                </a:r>
                <a:r>
                  <a:rPr lang="en-US" baseline="-25000" dirty="0" err="1">
                    <a:latin typeface="Calibri" panose="020F0502020204030204" pitchFamily="34" charset="0"/>
                    <a:cs typeface="Calibri" panose="020F0502020204030204" pitchFamily="34" charset="0"/>
                  </a:rPr>
                  <a:t>e</a:t>
                </a:r>
                <a:r>
                  <a:rPr lang="en-US" dirty="0">
                    <a:latin typeface="Calibri" panose="020F0502020204030204" pitchFamily="34" charset="0"/>
                    <a:cs typeface="Calibri" panose="020F0502020204030204" pitchFamily="34" charset="0"/>
                  </a:rPr>
                  <a:t>) = N x P(X = x)</a:t>
                </a:r>
              </a:p>
              <a:p>
                <a:pPr marL="0" indent="0">
                  <a:buNone/>
                </a:pPr>
                <a:endParaRPr lang="en-US" dirty="0"/>
              </a:p>
              <a:p>
                <a:pPr marL="0" indent="0">
                  <a:buNone/>
                </a:pPr>
                <a:endParaRPr lang="en-US" dirty="0"/>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E0F514C3-FF6D-435E-8C24-97E1C14949F0}"/>
                  </a:ext>
                </a:extLst>
              </p:cNvPr>
              <p:cNvSpPr>
                <a:spLocks noGrp="1" noRot="1" noChangeAspect="1" noMove="1" noResize="1" noEditPoints="1" noAdjustHandles="1" noChangeArrowheads="1" noChangeShapeType="1" noTextEdit="1"/>
              </p:cNvSpPr>
              <p:nvPr>
                <p:ph idx="1"/>
              </p:nvPr>
            </p:nvSpPr>
            <p:spPr>
              <a:xfrm>
                <a:off x="844061" y="650631"/>
                <a:ext cx="10726615" cy="5486399"/>
              </a:xfrm>
              <a:blipFill>
                <a:blip r:embed="rId2"/>
                <a:stretch>
                  <a:fillRect l="-455"/>
                </a:stretch>
              </a:blipFill>
            </p:spPr>
            <p:txBody>
              <a:bodyPr/>
              <a:lstStyle/>
              <a:p>
                <a:r>
                  <a:rPr lang="en-US">
                    <a:noFill/>
                  </a:rPr>
                  <a:t> </a:t>
                </a:r>
              </a:p>
            </p:txBody>
          </p:sp>
        </mc:Fallback>
      </mc:AlternateContent>
      <p:sp>
        <p:nvSpPr>
          <p:cNvPr id="2" name="Footer Placeholder 1">
            <a:extLst>
              <a:ext uri="{FF2B5EF4-FFF2-40B4-BE49-F238E27FC236}">
                <a16:creationId xmlns:a16="http://schemas.microsoft.com/office/drawing/2014/main" id="{FD165C0A-5F9C-67B7-F5FB-D7B4F87DC270}"/>
              </a:ext>
            </a:extLst>
          </p:cNvPr>
          <p:cNvSpPr>
            <a:spLocks noGrp="1"/>
          </p:cNvSpPr>
          <p:nvPr>
            <p:ph type="ftr" sz="quarter" idx="11"/>
          </p:nvPr>
        </p:nvSpPr>
        <p:spPr/>
        <p:txBody>
          <a:bodyPr/>
          <a:lstStyle/>
          <a:p>
            <a:r>
              <a:rPr lang="en-US"/>
              <a:t>Copy Right: Santosh Chhatkuli</a:t>
            </a:r>
            <a:endParaRPr lang="en-US" dirty="0"/>
          </a:p>
        </p:txBody>
      </p:sp>
      <p:graphicFrame>
        <p:nvGraphicFramePr>
          <p:cNvPr id="5" name="Object 4">
            <a:extLst>
              <a:ext uri="{FF2B5EF4-FFF2-40B4-BE49-F238E27FC236}">
                <a16:creationId xmlns:a16="http://schemas.microsoft.com/office/drawing/2014/main" id="{D56076F1-C0C7-414F-A199-4BE9E14DAECD}"/>
              </a:ext>
            </a:extLst>
          </p:cNvPr>
          <p:cNvGraphicFramePr>
            <a:graphicFrameLocks noChangeAspect="1"/>
          </p:cNvGraphicFramePr>
          <p:nvPr>
            <p:extLst>
              <p:ext uri="{D42A27DB-BD31-4B8C-83A1-F6EECF244321}">
                <p14:modId xmlns:p14="http://schemas.microsoft.com/office/powerpoint/2010/main" val="1306354988"/>
              </p:ext>
            </p:extLst>
          </p:nvPr>
        </p:nvGraphicFramePr>
        <p:xfrm>
          <a:off x="1112807" y="3393830"/>
          <a:ext cx="6003985" cy="2523226"/>
        </p:xfrm>
        <a:graphic>
          <a:graphicData uri="http://schemas.openxmlformats.org/presentationml/2006/ole">
            <mc:AlternateContent xmlns:mc="http://schemas.openxmlformats.org/markup-compatibility/2006">
              <mc:Choice xmlns:v="urn:schemas-microsoft-com:vml" Requires="v">
                <p:oleObj name="Worksheet" r:id="rId3" imgW="4038696" imgH="1533454" progId="Excel.Sheet.12">
                  <p:embed/>
                </p:oleObj>
              </mc:Choice>
              <mc:Fallback>
                <p:oleObj name="Worksheet" r:id="rId3" imgW="4038696" imgH="1533454" progId="Excel.Sheet.12">
                  <p:embed/>
                  <p:pic>
                    <p:nvPicPr>
                      <p:cNvPr id="0" name=""/>
                      <p:cNvPicPr/>
                      <p:nvPr/>
                    </p:nvPicPr>
                    <p:blipFill>
                      <a:blip r:embed="rId4"/>
                      <a:stretch>
                        <a:fillRect/>
                      </a:stretch>
                    </p:blipFill>
                    <p:spPr>
                      <a:xfrm>
                        <a:off x="1112807" y="3393830"/>
                        <a:ext cx="6003985" cy="2523226"/>
                      </a:xfrm>
                      <a:prstGeom prst="rect">
                        <a:avLst/>
                      </a:prstGeom>
                    </p:spPr>
                  </p:pic>
                </p:oleObj>
              </mc:Fallback>
            </mc:AlternateContent>
          </a:graphicData>
        </a:graphic>
      </p:graphicFrame>
    </p:spTree>
    <p:extLst>
      <p:ext uri="{BB962C8B-B14F-4D97-AF65-F5344CB8AC3E}">
        <p14:creationId xmlns:p14="http://schemas.microsoft.com/office/powerpoint/2010/main" val="1047707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C513B-DD52-4184-9D87-983BCC08374D}"/>
              </a:ext>
            </a:extLst>
          </p:cNvPr>
          <p:cNvSpPr>
            <a:spLocks noGrp="1"/>
          </p:cNvSpPr>
          <p:nvPr>
            <p:ph idx="1"/>
          </p:nvPr>
        </p:nvSpPr>
        <p:spPr>
          <a:xfrm>
            <a:off x="1066800" y="791309"/>
            <a:ext cx="10058400" cy="5592238"/>
          </a:xfrm>
        </p:spPr>
        <p:txBody>
          <a:bodyPr>
            <a:normAutofit/>
          </a:bodyPr>
          <a:lstStyle/>
          <a:p>
            <a:pPr marL="0" indent="0">
              <a:buNone/>
            </a:pPr>
            <a:r>
              <a:rPr lang="en-US" sz="2400" b="1" dirty="0"/>
              <a:t>Using recurrence formula</a:t>
            </a:r>
          </a:p>
          <a:p>
            <a:pPr marL="0" indent="0">
              <a:buNone/>
            </a:pPr>
            <a:r>
              <a:rPr lang="en-US" sz="1600" dirty="0"/>
              <a:t>The recurrence formula for finding probabilities in BD is given by,</a:t>
            </a:r>
          </a:p>
          <a:p>
            <a:pPr marL="0" indent="0">
              <a:buNone/>
            </a:pPr>
            <a:r>
              <a:rPr lang="en-US" sz="1600" dirty="0"/>
              <a:t>	</a:t>
            </a:r>
          </a:p>
          <a:p>
            <a:pPr marL="0" indent="0">
              <a:buNone/>
            </a:pPr>
            <a:endParaRPr lang="en-US" sz="1600" dirty="0"/>
          </a:p>
          <a:p>
            <a:pPr marL="0" indent="0">
              <a:buNone/>
            </a:pPr>
            <a:r>
              <a:rPr lang="en-US" sz="1600" dirty="0"/>
              <a:t>So, in this the recurrence formula is,</a:t>
            </a:r>
          </a:p>
          <a:p>
            <a:pPr marL="0" indent="0">
              <a:buNone/>
            </a:pPr>
            <a:endParaRPr lang="en-US" sz="1600" dirty="0"/>
          </a:p>
          <a:p>
            <a:pPr marL="0" indent="0">
              <a:buNone/>
            </a:pPr>
            <a:endParaRPr lang="en-US" sz="2400" dirty="0"/>
          </a:p>
          <a:p>
            <a:pPr marL="0" indent="0">
              <a:buNone/>
            </a:pPr>
            <a:endParaRPr lang="en-US" sz="2400" dirty="0"/>
          </a:p>
          <a:p>
            <a:pPr marL="0" indent="0">
              <a:buNone/>
            </a:pPr>
            <a:r>
              <a:rPr lang="en-US" sz="2400" dirty="0"/>
              <a:t>	</a:t>
            </a:r>
          </a:p>
        </p:txBody>
      </p:sp>
      <p:sp>
        <p:nvSpPr>
          <p:cNvPr id="6" name="Footer Placeholder 5">
            <a:extLst>
              <a:ext uri="{FF2B5EF4-FFF2-40B4-BE49-F238E27FC236}">
                <a16:creationId xmlns:a16="http://schemas.microsoft.com/office/drawing/2014/main" id="{42735F8E-D07F-3F4C-93FC-F2A596C889E3}"/>
              </a:ext>
            </a:extLst>
          </p:cNvPr>
          <p:cNvSpPr>
            <a:spLocks noGrp="1"/>
          </p:cNvSpPr>
          <p:nvPr>
            <p:ph type="ftr" sz="quarter" idx="11"/>
          </p:nvPr>
        </p:nvSpPr>
        <p:spPr/>
        <p:txBody>
          <a:bodyPr/>
          <a:lstStyle/>
          <a:p>
            <a:r>
              <a:rPr lang="en-US"/>
              <a:t>Copy Right: Santosh Chhatkuli</a:t>
            </a:r>
            <a:endParaRPr lang="en-US" dirty="0"/>
          </a:p>
        </p:txBody>
      </p:sp>
      <mc:AlternateContent xmlns:mc="http://schemas.openxmlformats.org/markup-compatibility/2006" xmlns:a14="http://schemas.microsoft.com/office/drawing/2010/main">
        <mc:Choice Requires="a14">
          <p:sp>
            <p:nvSpPr>
              <p:cNvPr id="2" name="Object 1">
                <a:extLst>
                  <a:ext uri="{FF2B5EF4-FFF2-40B4-BE49-F238E27FC236}">
                    <a16:creationId xmlns:a16="http://schemas.microsoft.com/office/drawing/2014/main" id="{23CC5428-89ED-41C5-B870-C4688AFC5A3C}"/>
                  </a:ext>
                </a:extLst>
              </p:cNvPr>
              <p:cNvSpPr txBox="1"/>
              <p:nvPr/>
            </p:nvSpPr>
            <p:spPr>
              <a:xfrm>
                <a:off x="1319213" y="2606675"/>
                <a:ext cx="5414962" cy="741363"/>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𝑝</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+1)=</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0.6</m:t>
                          </m:r>
                        </m:num>
                        <m:den>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+1)</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0.4</m:t>
                          </m:r>
                        </m:den>
                      </m:f>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𝑝</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(4−</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num>
                        <m:den>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+1)</m:t>
                          </m:r>
                        </m:den>
                      </m:f>
                      <m:r>
                        <m:rPr>
                          <m:nor/>
                        </m:rPr>
                        <a:rPr lang="en-US" i="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1.5</m:t>
                      </m:r>
                      <m:r>
                        <m:rPr>
                          <m:nor/>
                        </m:rPr>
                        <a:rPr lang="en-US" i="0">
                          <a:solidFill>
                            <a:srgbClr val="000000"/>
                          </a:solidFill>
                          <a:latin typeface="Cambria Math" panose="02040503050406030204" pitchFamily="18" charset="0"/>
                        </a:rPr>
                        <m:t> </m:t>
                      </m:r>
                      <m:r>
                        <m:rPr>
                          <m:nor/>
                        </m:rPr>
                        <a:rPr lang="en-US" b="0" i="0" smtClean="0">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𝑝</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oMath>
                  </m:oMathPara>
                </a14:m>
                <a:endParaRPr lang="en-US" dirty="0"/>
              </a:p>
            </p:txBody>
          </p:sp>
        </mc:Choice>
        <mc:Fallback xmlns="">
          <p:sp>
            <p:nvSpPr>
              <p:cNvPr id="2" name="Object 1">
                <a:extLst>
                  <a:ext uri="{FF2B5EF4-FFF2-40B4-BE49-F238E27FC236}">
                    <a16:creationId xmlns:a16="http://schemas.microsoft.com/office/drawing/2014/main" id="{23CC5428-89ED-41C5-B870-C4688AFC5A3C}"/>
                  </a:ext>
                </a:extLst>
              </p:cNvPr>
              <p:cNvSpPr txBox="1">
                <a:spLocks noRot="1" noChangeAspect="1" noMove="1" noResize="1" noEditPoints="1" noAdjustHandles="1" noChangeArrowheads="1" noChangeShapeType="1" noTextEdit="1"/>
              </p:cNvSpPr>
              <p:nvPr/>
            </p:nvSpPr>
            <p:spPr>
              <a:xfrm>
                <a:off x="1319213" y="2606675"/>
                <a:ext cx="5414962" cy="741363"/>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24A72F69-F293-41D5-A879-BCAF2AD51AE1}"/>
                  </a:ext>
                </a:extLst>
              </p:cNvPr>
              <p:cNvGraphicFramePr>
                <a:graphicFrameLocks noGrp="1"/>
              </p:cNvGraphicFramePr>
              <p:nvPr>
                <p:extLst>
                  <p:ext uri="{D42A27DB-BD31-4B8C-83A1-F6EECF244321}">
                    <p14:modId xmlns:p14="http://schemas.microsoft.com/office/powerpoint/2010/main" val="4110509118"/>
                  </p:ext>
                </p:extLst>
              </p:nvPr>
            </p:nvGraphicFramePr>
            <p:xfrm>
              <a:off x="1156405" y="3470811"/>
              <a:ext cx="8539137" cy="3073781"/>
            </p:xfrm>
            <a:graphic>
              <a:graphicData uri="http://schemas.openxmlformats.org/drawingml/2006/table">
                <a:tbl>
                  <a:tblPr firstRow="1" bandRow="1">
                    <a:tableStyleId>{9D7B26C5-4107-4FEC-AEDC-1716B250A1EF}</a:tableStyleId>
                  </a:tblPr>
                  <a:tblGrid>
                    <a:gridCol w="1012530">
                      <a:extLst>
                        <a:ext uri="{9D8B030D-6E8A-4147-A177-3AD203B41FA5}">
                          <a16:colId xmlns:a16="http://schemas.microsoft.com/office/drawing/2014/main" val="1881618315"/>
                        </a:ext>
                      </a:extLst>
                    </a:gridCol>
                    <a:gridCol w="1154866">
                      <a:extLst>
                        <a:ext uri="{9D8B030D-6E8A-4147-A177-3AD203B41FA5}">
                          <a16:colId xmlns:a16="http://schemas.microsoft.com/office/drawing/2014/main" val="1974583491"/>
                        </a:ext>
                      </a:extLst>
                    </a:gridCol>
                    <a:gridCol w="3294713">
                      <a:extLst>
                        <a:ext uri="{9D8B030D-6E8A-4147-A177-3AD203B41FA5}">
                          <a16:colId xmlns:a16="http://schemas.microsoft.com/office/drawing/2014/main" val="3723794225"/>
                        </a:ext>
                      </a:extLst>
                    </a:gridCol>
                    <a:gridCol w="3077028">
                      <a:extLst>
                        <a:ext uri="{9D8B030D-6E8A-4147-A177-3AD203B41FA5}">
                          <a16:colId xmlns:a16="http://schemas.microsoft.com/office/drawing/2014/main" val="4207788651"/>
                        </a:ext>
                      </a:extLst>
                    </a:gridCol>
                  </a:tblGrid>
                  <a:tr h="370840">
                    <a:tc>
                      <a:txBody>
                        <a:bodyPr/>
                        <a:lstStyle/>
                        <a:p>
                          <a:r>
                            <a:rPr lang="en-US" sz="1600" dirty="0"/>
                            <a:t>X</a:t>
                          </a:r>
                        </a:p>
                      </a:txBody>
                      <a:tcPr/>
                    </a:tc>
                    <a:tc>
                      <a:txBody>
                        <a:bodyPr/>
                        <a:lstStyle/>
                        <a:p>
                          <a:r>
                            <a:rPr lang="en-US" sz="1600" dirty="0"/>
                            <a:t>f</a:t>
                          </a:r>
                        </a:p>
                      </a:txBody>
                      <a:tcPr/>
                    </a:tc>
                    <a:tc>
                      <a:txBody>
                        <a:bodyPr/>
                        <a:lstStyle/>
                        <a:p>
                          <a:r>
                            <a:rPr lang="en-US" sz="1600" dirty="0"/>
                            <a:t>P(X = x) = p(x) </a:t>
                          </a:r>
                        </a:p>
                      </a:txBody>
                      <a:tcPr/>
                    </a:tc>
                    <a:tc>
                      <a:txBody>
                        <a:bodyPr/>
                        <a:lstStyle/>
                        <a:p>
                          <a:r>
                            <a:rPr lang="en-US" sz="1600" dirty="0"/>
                            <a:t>Expected Frequency =  N x p(x)</a:t>
                          </a:r>
                        </a:p>
                      </a:txBody>
                      <a:tcPr/>
                    </a:tc>
                    <a:extLst>
                      <a:ext uri="{0D108BD9-81ED-4DB2-BD59-A6C34878D82A}">
                        <a16:rowId xmlns:a16="http://schemas.microsoft.com/office/drawing/2014/main" val="256787161"/>
                      </a:ext>
                    </a:extLst>
                  </a:tr>
                  <a:tr h="370840">
                    <a:tc>
                      <a:txBody>
                        <a:bodyPr/>
                        <a:lstStyle/>
                        <a:p>
                          <a:r>
                            <a:rPr lang="en-US" sz="1600" dirty="0"/>
                            <a:t>0</a:t>
                          </a:r>
                        </a:p>
                      </a:txBody>
                      <a:tcPr/>
                    </a:tc>
                    <a:tc>
                      <a:txBody>
                        <a:bodyPr/>
                        <a:lstStyle/>
                        <a:p>
                          <a:r>
                            <a:rPr lang="en-US" sz="1600" dirty="0"/>
                            <a:t>2</a:t>
                          </a:r>
                        </a:p>
                      </a:txBody>
                      <a:tcPr/>
                    </a:tc>
                    <a:tc>
                      <a:txBody>
                        <a:bodyPr/>
                        <a:lstStyle/>
                        <a:p>
                          <a:r>
                            <a:rPr lang="en-US" sz="1800" b="1" dirty="0"/>
                            <a:t>p(0) = </a:t>
                          </a:r>
                          <a14:m>
                            <m:oMath xmlns:m="http://schemas.openxmlformats.org/officeDocument/2006/math">
                              <m:sSup>
                                <m:sSupPr>
                                  <m:ctrlPr>
                                    <a:rPr lang="en-US" sz="1800" b="1" i="1" smtClean="0">
                                      <a:latin typeface="Cambria Math" panose="02040503050406030204" pitchFamily="18" charset="0"/>
                                    </a:rPr>
                                  </m:ctrlPr>
                                </m:sSupPr>
                                <m:e>
                                  <m:r>
                                    <a:rPr lang="en-US" sz="1800" b="1" i="1" smtClean="0">
                                      <a:latin typeface="Cambria Math" panose="02040503050406030204" pitchFamily="18" charset="0"/>
                                    </a:rPr>
                                    <m:t>𝒒</m:t>
                                  </m:r>
                                </m:e>
                                <m:sup>
                                  <m:r>
                                    <a:rPr lang="en-US" sz="1800" b="1" i="1" smtClean="0">
                                      <a:latin typeface="Cambria Math" panose="02040503050406030204" pitchFamily="18" charset="0"/>
                                    </a:rPr>
                                    <m:t>𝒏</m:t>
                                  </m:r>
                                </m:sup>
                              </m:sSup>
                            </m:oMath>
                          </a14:m>
                          <a:r>
                            <a:rPr lang="en-US" sz="1800" b="1" dirty="0"/>
                            <a:t>=</a:t>
                          </a:r>
                          <a:r>
                            <a:rPr lang="en-US" sz="1800" b="1" baseline="0" dirty="0"/>
                            <a:t> </a:t>
                          </a:r>
                          <a14:m>
                            <m:oMath xmlns:m="http://schemas.openxmlformats.org/officeDocument/2006/math">
                              <m:sSup>
                                <m:sSupPr>
                                  <m:ctrlPr>
                                    <a:rPr lang="en-US" sz="1800" b="1" i="1" baseline="0" smtClean="0">
                                      <a:latin typeface="Cambria Math" panose="02040503050406030204" pitchFamily="18" charset="0"/>
                                    </a:rPr>
                                  </m:ctrlPr>
                                </m:sSupPr>
                                <m:e>
                                  <m:r>
                                    <a:rPr lang="en-US" sz="1800" b="1" i="1" baseline="0" smtClean="0">
                                      <a:latin typeface="Cambria Math" panose="02040503050406030204" pitchFamily="18" charset="0"/>
                                    </a:rPr>
                                    <m:t>𝟎</m:t>
                                  </m:r>
                                  <m:r>
                                    <a:rPr lang="en-US" sz="1800" b="1" i="1" baseline="0" smtClean="0">
                                      <a:latin typeface="Cambria Math" panose="02040503050406030204" pitchFamily="18" charset="0"/>
                                    </a:rPr>
                                    <m:t>.</m:t>
                                  </m:r>
                                  <m:r>
                                    <a:rPr lang="en-US" sz="1800" b="1" i="1" baseline="0" smtClean="0">
                                      <a:latin typeface="Cambria Math" panose="02040503050406030204" pitchFamily="18" charset="0"/>
                                    </a:rPr>
                                    <m:t>𝟒</m:t>
                                  </m:r>
                                </m:e>
                                <m:sup>
                                  <m:r>
                                    <a:rPr lang="en-US" sz="1800" b="1" i="1" baseline="0" smtClean="0">
                                      <a:latin typeface="Cambria Math" panose="02040503050406030204" pitchFamily="18" charset="0"/>
                                    </a:rPr>
                                    <m:t>𝟒</m:t>
                                  </m:r>
                                </m:sup>
                              </m:sSup>
                            </m:oMath>
                          </a14:m>
                          <a:r>
                            <a:rPr lang="en-US" sz="1800" b="1" dirty="0"/>
                            <a:t>= 0.0256</a:t>
                          </a:r>
                        </a:p>
                      </a:txBody>
                      <a:tcPr/>
                    </a:tc>
                    <a:tc>
                      <a:txBody>
                        <a:bodyPr/>
                        <a:lstStyle/>
                        <a:p>
                          <a:r>
                            <a:rPr lang="en-US" sz="1800" b="1" dirty="0"/>
                            <a:t>0.384 ≈ 1</a:t>
                          </a:r>
                        </a:p>
                      </a:txBody>
                      <a:tcPr/>
                    </a:tc>
                    <a:extLst>
                      <a:ext uri="{0D108BD9-81ED-4DB2-BD59-A6C34878D82A}">
                        <a16:rowId xmlns:a16="http://schemas.microsoft.com/office/drawing/2014/main" val="1899521077"/>
                      </a:ext>
                    </a:extLst>
                  </a:tr>
                  <a:tr h="370840">
                    <a:tc>
                      <a:txBody>
                        <a:bodyPr/>
                        <a:lstStyle/>
                        <a:p>
                          <a:r>
                            <a:rPr lang="en-US" sz="1600" dirty="0"/>
                            <a:t>1</a:t>
                          </a:r>
                        </a:p>
                      </a:txBody>
                      <a:tcPr/>
                    </a:tc>
                    <a:tc>
                      <a:txBody>
                        <a:bodyPr/>
                        <a:lstStyle/>
                        <a:p>
                          <a:r>
                            <a:rPr lang="en-US" sz="1600" dirty="0"/>
                            <a:t>2</a:t>
                          </a:r>
                        </a:p>
                      </a:txBody>
                      <a:tcPr/>
                    </a:tc>
                    <a:tc>
                      <a:txBody>
                        <a:bodyPr/>
                        <a:lstStyle/>
                        <a:p>
                          <a:r>
                            <a:rPr lang="en-US" sz="1800" b="1" dirty="0"/>
                            <a:t>p(1) = 6 * 0.0256 = 0.1536</a:t>
                          </a:r>
                        </a:p>
                      </a:txBody>
                      <a:tcPr/>
                    </a:tc>
                    <a:tc>
                      <a:txBody>
                        <a:bodyPr/>
                        <a:lstStyle/>
                        <a:p>
                          <a:r>
                            <a:rPr lang="en-US" sz="1800" b="1" dirty="0"/>
                            <a:t>2.304 ≈ 2</a:t>
                          </a:r>
                        </a:p>
                      </a:txBody>
                      <a:tcPr/>
                    </a:tc>
                    <a:extLst>
                      <a:ext uri="{0D108BD9-81ED-4DB2-BD59-A6C34878D82A}">
                        <a16:rowId xmlns:a16="http://schemas.microsoft.com/office/drawing/2014/main" val="3457766107"/>
                      </a:ext>
                    </a:extLst>
                  </a:tr>
                  <a:tr h="370840">
                    <a:tc>
                      <a:txBody>
                        <a:bodyPr/>
                        <a:lstStyle/>
                        <a:p>
                          <a:r>
                            <a:rPr lang="en-US" sz="1600" dirty="0"/>
                            <a:t>2</a:t>
                          </a:r>
                        </a:p>
                      </a:txBody>
                      <a:tcPr/>
                    </a:tc>
                    <a:tc>
                      <a:txBody>
                        <a:bodyPr/>
                        <a:lstStyle/>
                        <a:p>
                          <a:r>
                            <a:rPr lang="en-US" sz="1600" dirty="0"/>
                            <a:t>3</a:t>
                          </a:r>
                        </a:p>
                      </a:txBody>
                      <a:tcPr/>
                    </a:tc>
                    <a:tc>
                      <a:txBody>
                        <a:bodyPr/>
                        <a:lstStyle/>
                        <a:p>
                          <a:r>
                            <a:rPr lang="en-US" sz="1800" b="1" dirty="0"/>
                            <a:t>p(2) = 2.25 * 0.1536 = 0.3456</a:t>
                          </a:r>
                        </a:p>
                      </a:txBody>
                      <a:tcPr/>
                    </a:tc>
                    <a:tc>
                      <a:txBody>
                        <a:bodyPr/>
                        <a:lstStyle/>
                        <a:p>
                          <a:r>
                            <a:rPr lang="en-US" sz="1800" b="1" dirty="0"/>
                            <a:t>5.184 ≈ 5</a:t>
                          </a:r>
                        </a:p>
                      </a:txBody>
                      <a:tcPr/>
                    </a:tc>
                    <a:extLst>
                      <a:ext uri="{0D108BD9-81ED-4DB2-BD59-A6C34878D82A}">
                        <a16:rowId xmlns:a16="http://schemas.microsoft.com/office/drawing/2014/main" val="220116075"/>
                      </a:ext>
                    </a:extLst>
                  </a:tr>
                  <a:tr h="370840">
                    <a:tc>
                      <a:txBody>
                        <a:bodyPr/>
                        <a:lstStyle/>
                        <a:p>
                          <a:r>
                            <a:rPr lang="en-US" sz="1600" dirty="0"/>
                            <a:t>3</a:t>
                          </a:r>
                        </a:p>
                      </a:txBody>
                      <a:tcPr/>
                    </a:tc>
                    <a:tc>
                      <a:txBody>
                        <a:bodyPr/>
                        <a:lstStyle/>
                        <a:p>
                          <a:r>
                            <a:rPr lang="en-US" sz="1600" dirty="0"/>
                            <a:t>4</a:t>
                          </a:r>
                        </a:p>
                      </a:txBody>
                      <a:tcPr/>
                    </a:tc>
                    <a:tc>
                      <a:txBody>
                        <a:bodyPr/>
                        <a:lstStyle/>
                        <a:p>
                          <a:r>
                            <a:rPr lang="en-US" sz="1800" b="1" dirty="0"/>
                            <a:t>p(3) = 1 * 0.3456</a:t>
                          </a:r>
                        </a:p>
                      </a:txBody>
                      <a:tcPr/>
                    </a:tc>
                    <a:tc>
                      <a:txBody>
                        <a:bodyPr/>
                        <a:lstStyle/>
                        <a:p>
                          <a:r>
                            <a:rPr lang="en-US" sz="1800" b="1" dirty="0"/>
                            <a:t>5.184 ≈ 5</a:t>
                          </a:r>
                        </a:p>
                      </a:txBody>
                      <a:tcPr/>
                    </a:tc>
                    <a:extLst>
                      <a:ext uri="{0D108BD9-81ED-4DB2-BD59-A6C34878D82A}">
                        <a16:rowId xmlns:a16="http://schemas.microsoft.com/office/drawing/2014/main" val="979657862"/>
                      </a:ext>
                    </a:extLst>
                  </a:tr>
                  <a:tr h="370840">
                    <a:tc>
                      <a:txBody>
                        <a:bodyPr/>
                        <a:lstStyle/>
                        <a:p>
                          <a:r>
                            <a:rPr lang="en-US" sz="1600" dirty="0"/>
                            <a:t>4</a:t>
                          </a:r>
                        </a:p>
                      </a:txBody>
                      <a:tcPr/>
                    </a:tc>
                    <a:tc>
                      <a:txBody>
                        <a:bodyPr/>
                        <a:lstStyle/>
                        <a:p>
                          <a:r>
                            <a:rPr lang="en-US" sz="1600" dirty="0"/>
                            <a:t>4</a:t>
                          </a:r>
                        </a:p>
                      </a:txBody>
                      <a:tcPr/>
                    </a:tc>
                    <a:tc>
                      <a:txBody>
                        <a:bodyPr/>
                        <a:lstStyle/>
                        <a:p>
                          <a:r>
                            <a:rPr lang="en-US" sz="1800" b="1" dirty="0"/>
                            <a:t>p(4) = 0.375 * 0.3456 = 0.1296</a:t>
                          </a:r>
                        </a:p>
                      </a:txBody>
                      <a:tcPr/>
                    </a:tc>
                    <a:tc>
                      <a:txBody>
                        <a:bodyPr/>
                        <a:lstStyle/>
                        <a:p>
                          <a:r>
                            <a:rPr lang="en-US" sz="1800" b="1"/>
                            <a:t>1.944 ≈ 2</a:t>
                          </a:r>
                          <a:endParaRPr lang="en-US" sz="1800" b="1" dirty="0"/>
                        </a:p>
                      </a:txBody>
                      <a:tcPr/>
                    </a:tc>
                    <a:extLst>
                      <a:ext uri="{0D108BD9-81ED-4DB2-BD59-A6C34878D82A}">
                        <a16:rowId xmlns:a16="http://schemas.microsoft.com/office/drawing/2014/main" val="1273682724"/>
                      </a:ext>
                    </a:extLst>
                  </a:tr>
                  <a:tr h="370840">
                    <a:tc>
                      <a:txBody>
                        <a:bodyPr/>
                        <a:lstStyle/>
                        <a:p>
                          <a:r>
                            <a:rPr lang="en-US" sz="1600" dirty="0"/>
                            <a:t>Total</a:t>
                          </a:r>
                        </a:p>
                      </a:txBody>
                      <a:tcPr/>
                    </a:tc>
                    <a:tc>
                      <a:txBody>
                        <a:bodyPr/>
                        <a:lstStyle/>
                        <a:p>
                          <a:r>
                            <a:rPr lang="en-US" sz="1600" dirty="0"/>
                            <a:t>N = 15 </a:t>
                          </a:r>
                        </a:p>
                      </a:txBody>
                      <a:tcPr/>
                    </a:tc>
                    <a:tc>
                      <a:txBody>
                        <a:bodyPr/>
                        <a:lstStyle/>
                        <a:p>
                          <a:r>
                            <a:rPr lang="en-US" sz="1600" dirty="0"/>
                            <a:t>1</a:t>
                          </a:r>
                        </a:p>
                      </a:txBody>
                      <a:tcPr/>
                    </a:tc>
                    <a:tc>
                      <a:txBody>
                        <a:bodyPr/>
                        <a:lstStyle/>
                        <a:p>
                          <a:endParaRPr lang="en-US" sz="1600" dirty="0"/>
                        </a:p>
                      </a:txBody>
                      <a:tcPr/>
                    </a:tc>
                    <a:extLst>
                      <a:ext uri="{0D108BD9-81ED-4DB2-BD59-A6C34878D82A}">
                        <a16:rowId xmlns:a16="http://schemas.microsoft.com/office/drawing/2014/main" val="2917324374"/>
                      </a:ext>
                    </a:extLst>
                  </a:tr>
                </a:tbl>
              </a:graphicData>
            </a:graphic>
          </p:graphicFrame>
        </mc:Choice>
        <mc:Fallback xmlns="">
          <p:graphicFrame>
            <p:nvGraphicFramePr>
              <p:cNvPr id="4" name="Table 4">
                <a:extLst>
                  <a:ext uri="{FF2B5EF4-FFF2-40B4-BE49-F238E27FC236}">
                    <a16:creationId xmlns:a16="http://schemas.microsoft.com/office/drawing/2014/main" id="{24A72F69-F293-41D5-A879-BCAF2AD51AE1}"/>
                  </a:ext>
                </a:extLst>
              </p:cNvPr>
              <p:cNvGraphicFramePr>
                <a:graphicFrameLocks noGrp="1"/>
              </p:cNvGraphicFramePr>
              <p:nvPr>
                <p:extLst>
                  <p:ext uri="{D42A27DB-BD31-4B8C-83A1-F6EECF244321}">
                    <p14:modId xmlns:p14="http://schemas.microsoft.com/office/powerpoint/2010/main" val="4110509118"/>
                  </p:ext>
                </p:extLst>
              </p:nvPr>
            </p:nvGraphicFramePr>
            <p:xfrm>
              <a:off x="1156405" y="3470811"/>
              <a:ext cx="8539137" cy="2596261"/>
            </p:xfrm>
            <a:graphic>
              <a:graphicData uri="http://schemas.openxmlformats.org/drawingml/2006/table">
                <a:tbl>
                  <a:tblPr firstRow="1" bandRow="1">
                    <a:tableStyleId>{9D7B26C5-4107-4FEC-AEDC-1716B250A1EF}</a:tableStyleId>
                  </a:tblPr>
                  <a:tblGrid>
                    <a:gridCol w="1012530">
                      <a:extLst>
                        <a:ext uri="{9D8B030D-6E8A-4147-A177-3AD203B41FA5}">
                          <a16:colId xmlns:a16="http://schemas.microsoft.com/office/drawing/2014/main" val="1881618315"/>
                        </a:ext>
                      </a:extLst>
                    </a:gridCol>
                    <a:gridCol w="1154866">
                      <a:extLst>
                        <a:ext uri="{9D8B030D-6E8A-4147-A177-3AD203B41FA5}">
                          <a16:colId xmlns:a16="http://schemas.microsoft.com/office/drawing/2014/main" val="1974583491"/>
                        </a:ext>
                      </a:extLst>
                    </a:gridCol>
                    <a:gridCol w="3294713">
                      <a:extLst>
                        <a:ext uri="{9D8B030D-6E8A-4147-A177-3AD203B41FA5}">
                          <a16:colId xmlns:a16="http://schemas.microsoft.com/office/drawing/2014/main" val="3723794225"/>
                        </a:ext>
                      </a:extLst>
                    </a:gridCol>
                    <a:gridCol w="3077028">
                      <a:extLst>
                        <a:ext uri="{9D8B030D-6E8A-4147-A177-3AD203B41FA5}">
                          <a16:colId xmlns:a16="http://schemas.microsoft.com/office/drawing/2014/main" val="4207788651"/>
                        </a:ext>
                      </a:extLst>
                    </a:gridCol>
                  </a:tblGrid>
                  <a:tr h="370840">
                    <a:tc>
                      <a:txBody>
                        <a:bodyPr/>
                        <a:lstStyle/>
                        <a:p>
                          <a:r>
                            <a:rPr lang="en-US" sz="1600" dirty="0"/>
                            <a:t>X</a:t>
                          </a:r>
                        </a:p>
                      </a:txBody>
                      <a:tcPr/>
                    </a:tc>
                    <a:tc>
                      <a:txBody>
                        <a:bodyPr/>
                        <a:lstStyle/>
                        <a:p>
                          <a:r>
                            <a:rPr lang="en-US" sz="1600" dirty="0"/>
                            <a:t>f</a:t>
                          </a:r>
                        </a:p>
                      </a:txBody>
                      <a:tcPr/>
                    </a:tc>
                    <a:tc>
                      <a:txBody>
                        <a:bodyPr/>
                        <a:lstStyle/>
                        <a:p>
                          <a:r>
                            <a:rPr lang="en-US" sz="1600" dirty="0"/>
                            <a:t>P(X = x) = p(x) </a:t>
                          </a:r>
                        </a:p>
                      </a:txBody>
                      <a:tcPr/>
                    </a:tc>
                    <a:tc>
                      <a:txBody>
                        <a:bodyPr/>
                        <a:lstStyle/>
                        <a:p>
                          <a:r>
                            <a:rPr lang="en-US" sz="1600" dirty="0"/>
                            <a:t>Expected Frequency =  N x p(x)</a:t>
                          </a:r>
                        </a:p>
                      </a:txBody>
                      <a:tcPr/>
                    </a:tc>
                    <a:extLst>
                      <a:ext uri="{0D108BD9-81ED-4DB2-BD59-A6C34878D82A}">
                        <a16:rowId xmlns:a16="http://schemas.microsoft.com/office/drawing/2014/main" val="256787161"/>
                      </a:ext>
                    </a:extLst>
                  </a:tr>
                  <a:tr h="371221">
                    <a:tc>
                      <a:txBody>
                        <a:bodyPr/>
                        <a:lstStyle/>
                        <a:p>
                          <a:r>
                            <a:rPr lang="en-US" sz="1600" dirty="0"/>
                            <a:t>0</a:t>
                          </a:r>
                        </a:p>
                      </a:txBody>
                      <a:tcPr/>
                    </a:tc>
                    <a:tc>
                      <a:txBody>
                        <a:bodyPr/>
                        <a:lstStyle/>
                        <a:p>
                          <a:r>
                            <a:rPr lang="en-US" sz="1600" dirty="0"/>
                            <a:t>2</a:t>
                          </a:r>
                        </a:p>
                      </a:txBody>
                      <a:tcPr/>
                    </a:tc>
                    <a:tc>
                      <a:txBody>
                        <a:bodyPr/>
                        <a:lstStyle/>
                        <a:p>
                          <a:endParaRPr lang="en-US"/>
                        </a:p>
                      </a:txBody>
                      <a:tcPr>
                        <a:blipFill>
                          <a:blip r:embed="rId3"/>
                          <a:stretch>
                            <a:fillRect l="-65804" t="-103279" r="-93530" b="-511475"/>
                          </a:stretch>
                        </a:blipFill>
                      </a:tcPr>
                    </a:tc>
                    <a:tc>
                      <a:txBody>
                        <a:bodyPr/>
                        <a:lstStyle/>
                        <a:p>
                          <a:r>
                            <a:rPr lang="en-US" sz="1800" b="1" dirty="0"/>
                            <a:t>0.384 ≈ 1</a:t>
                          </a:r>
                        </a:p>
                      </a:txBody>
                      <a:tcPr/>
                    </a:tc>
                    <a:extLst>
                      <a:ext uri="{0D108BD9-81ED-4DB2-BD59-A6C34878D82A}">
                        <a16:rowId xmlns:a16="http://schemas.microsoft.com/office/drawing/2014/main" val="1899521077"/>
                      </a:ext>
                    </a:extLst>
                  </a:tr>
                  <a:tr h="370840">
                    <a:tc>
                      <a:txBody>
                        <a:bodyPr/>
                        <a:lstStyle/>
                        <a:p>
                          <a:r>
                            <a:rPr lang="en-US" sz="1600" dirty="0"/>
                            <a:t>1</a:t>
                          </a:r>
                        </a:p>
                      </a:txBody>
                      <a:tcPr/>
                    </a:tc>
                    <a:tc>
                      <a:txBody>
                        <a:bodyPr/>
                        <a:lstStyle/>
                        <a:p>
                          <a:r>
                            <a:rPr lang="en-US" sz="1600" dirty="0"/>
                            <a:t>2</a:t>
                          </a:r>
                        </a:p>
                      </a:txBody>
                      <a:tcPr/>
                    </a:tc>
                    <a:tc>
                      <a:txBody>
                        <a:bodyPr/>
                        <a:lstStyle/>
                        <a:p>
                          <a:r>
                            <a:rPr lang="en-US" sz="1800" b="1" dirty="0"/>
                            <a:t>p(1) = 6 * 0.0256 = 0.1536</a:t>
                          </a:r>
                        </a:p>
                      </a:txBody>
                      <a:tcPr/>
                    </a:tc>
                    <a:tc>
                      <a:txBody>
                        <a:bodyPr/>
                        <a:lstStyle/>
                        <a:p>
                          <a:r>
                            <a:rPr lang="en-US" sz="1800" b="1" dirty="0"/>
                            <a:t>2.304 ≈ 2</a:t>
                          </a:r>
                        </a:p>
                      </a:txBody>
                      <a:tcPr/>
                    </a:tc>
                    <a:extLst>
                      <a:ext uri="{0D108BD9-81ED-4DB2-BD59-A6C34878D82A}">
                        <a16:rowId xmlns:a16="http://schemas.microsoft.com/office/drawing/2014/main" val="3457766107"/>
                      </a:ext>
                    </a:extLst>
                  </a:tr>
                  <a:tr h="370840">
                    <a:tc>
                      <a:txBody>
                        <a:bodyPr/>
                        <a:lstStyle/>
                        <a:p>
                          <a:r>
                            <a:rPr lang="en-US" sz="1600" dirty="0"/>
                            <a:t>2</a:t>
                          </a:r>
                        </a:p>
                      </a:txBody>
                      <a:tcPr/>
                    </a:tc>
                    <a:tc>
                      <a:txBody>
                        <a:bodyPr/>
                        <a:lstStyle/>
                        <a:p>
                          <a:r>
                            <a:rPr lang="en-US" sz="1600" dirty="0"/>
                            <a:t>3</a:t>
                          </a:r>
                        </a:p>
                      </a:txBody>
                      <a:tcPr/>
                    </a:tc>
                    <a:tc>
                      <a:txBody>
                        <a:bodyPr/>
                        <a:lstStyle/>
                        <a:p>
                          <a:r>
                            <a:rPr lang="en-US" sz="1800" b="1" dirty="0"/>
                            <a:t>p(2) = 2.25 * 0.1536 = 0.3456</a:t>
                          </a:r>
                        </a:p>
                      </a:txBody>
                      <a:tcPr/>
                    </a:tc>
                    <a:tc>
                      <a:txBody>
                        <a:bodyPr/>
                        <a:lstStyle/>
                        <a:p>
                          <a:r>
                            <a:rPr lang="en-US" sz="1800" b="1" dirty="0"/>
                            <a:t>5.184 ≈ 5</a:t>
                          </a:r>
                        </a:p>
                      </a:txBody>
                      <a:tcPr/>
                    </a:tc>
                    <a:extLst>
                      <a:ext uri="{0D108BD9-81ED-4DB2-BD59-A6C34878D82A}">
                        <a16:rowId xmlns:a16="http://schemas.microsoft.com/office/drawing/2014/main" val="220116075"/>
                      </a:ext>
                    </a:extLst>
                  </a:tr>
                  <a:tr h="370840">
                    <a:tc>
                      <a:txBody>
                        <a:bodyPr/>
                        <a:lstStyle/>
                        <a:p>
                          <a:r>
                            <a:rPr lang="en-US" sz="1600" dirty="0"/>
                            <a:t>3</a:t>
                          </a:r>
                        </a:p>
                      </a:txBody>
                      <a:tcPr/>
                    </a:tc>
                    <a:tc>
                      <a:txBody>
                        <a:bodyPr/>
                        <a:lstStyle/>
                        <a:p>
                          <a:r>
                            <a:rPr lang="en-US" sz="1600" dirty="0"/>
                            <a:t>4</a:t>
                          </a:r>
                        </a:p>
                      </a:txBody>
                      <a:tcPr/>
                    </a:tc>
                    <a:tc>
                      <a:txBody>
                        <a:bodyPr/>
                        <a:lstStyle/>
                        <a:p>
                          <a:r>
                            <a:rPr lang="en-US" sz="1800" b="1" dirty="0"/>
                            <a:t>p(3) = 1 * 0.3456</a:t>
                          </a:r>
                        </a:p>
                      </a:txBody>
                      <a:tcPr/>
                    </a:tc>
                    <a:tc>
                      <a:txBody>
                        <a:bodyPr/>
                        <a:lstStyle/>
                        <a:p>
                          <a:r>
                            <a:rPr lang="en-US" sz="1800" b="1" dirty="0"/>
                            <a:t>5.184 ≈ 5</a:t>
                          </a:r>
                        </a:p>
                      </a:txBody>
                      <a:tcPr/>
                    </a:tc>
                    <a:extLst>
                      <a:ext uri="{0D108BD9-81ED-4DB2-BD59-A6C34878D82A}">
                        <a16:rowId xmlns:a16="http://schemas.microsoft.com/office/drawing/2014/main" val="979657862"/>
                      </a:ext>
                    </a:extLst>
                  </a:tr>
                  <a:tr h="370840">
                    <a:tc>
                      <a:txBody>
                        <a:bodyPr/>
                        <a:lstStyle/>
                        <a:p>
                          <a:r>
                            <a:rPr lang="en-US" sz="1600" dirty="0"/>
                            <a:t>4</a:t>
                          </a:r>
                        </a:p>
                      </a:txBody>
                      <a:tcPr/>
                    </a:tc>
                    <a:tc>
                      <a:txBody>
                        <a:bodyPr/>
                        <a:lstStyle/>
                        <a:p>
                          <a:r>
                            <a:rPr lang="en-US" sz="1600" dirty="0"/>
                            <a:t>4</a:t>
                          </a:r>
                        </a:p>
                      </a:txBody>
                      <a:tcPr/>
                    </a:tc>
                    <a:tc>
                      <a:txBody>
                        <a:bodyPr/>
                        <a:lstStyle/>
                        <a:p>
                          <a:r>
                            <a:rPr lang="en-US" sz="1800" b="1" dirty="0"/>
                            <a:t>p(4) = 0.375 * 0.3456 = 0.1296</a:t>
                          </a:r>
                        </a:p>
                      </a:txBody>
                      <a:tcPr/>
                    </a:tc>
                    <a:tc>
                      <a:txBody>
                        <a:bodyPr/>
                        <a:lstStyle/>
                        <a:p>
                          <a:r>
                            <a:rPr lang="en-US" sz="1800" b="1"/>
                            <a:t>1.944 ≈ 2</a:t>
                          </a:r>
                          <a:endParaRPr lang="en-US" sz="1800" b="1" dirty="0"/>
                        </a:p>
                      </a:txBody>
                      <a:tcPr/>
                    </a:tc>
                    <a:extLst>
                      <a:ext uri="{0D108BD9-81ED-4DB2-BD59-A6C34878D82A}">
                        <a16:rowId xmlns:a16="http://schemas.microsoft.com/office/drawing/2014/main" val="1273682724"/>
                      </a:ext>
                    </a:extLst>
                  </a:tr>
                  <a:tr h="370840">
                    <a:tc>
                      <a:txBody>
                        <a:bodyPr/>
                        <a:lstStyle/>
                        <a:p>
                          <a:r>
                            <a:rPr lang="en-US" sz="1600" dirty="0"/>
                            <a:t>Total</a:t>
                          </a:r>
                        </a:p>
                      </a:txBody>
                      <a:tcPr/>
                    </a:tc>
                    <a:tc>
                      <a:txBody>
                        <a:bodyPr/>
                        <a:lstStyle/>
                        <a:p>
                          <a:r>
                            <a:rPr lang="en-US" sz="1600" dirty="0"/>
                            <a:t>N = 15 </a:t>
                          </a:r>
                        </a:p>
                      </a:txBody>
                      <a:tcPr/>
                    </a:tc>
                    <a:tc>
                      <a:txBody>
                        <a:bodyPr/>
                        <a:lstStyle/>
                        <a:p>
                          <a:r>
                            <a:rPr lang="en-US" sz="1600" dirty="0"/>
                            <a:t>1</a:t>
                          </a:r>
                        </a:p>
                      </a:txBody>
                      <a:tcPr/>
                    </a:tc>
                    <a:tc>
                      <a:txBody>
                        <a:bodyPr/>
                        <a:lstStyle/>
                        <a:p>
                          <a:endParaRPr lang="en-US" sz="1600" dirty="0"/>
                        </a:p>
                      </a:txBody>
                      <a:tcPr/>
                    </a:tc>
                    <a:extLst>
                      <a:ext uri="{0D108BD9-81ED-4DB2-BD59-A6C34878D82A}">
                        <a16:rowId xmlns:a16="http://schemas.microsoft.com/office/drawing/2014/main" val="2917324374"/>
                      </a:ext>
                    </a:extLst>
                  </a:tr>
                </a:tbl>
              </a:graphicData>
            </a:graphic>
          </p:graphicFrame>
        </mc:Fallback>
      </mc:AlternateContent>
      <p:graphicFrame>
        <p:nvGraphicFramePr>
          <p:cNvPr id="5" name="Object 4">
            <a:extLst>
              <a:ext uri="{FF2B5EF4-FFF2-40B4-BE49-F238E27FC236}">
                <a16:creationId xmlns:a16="http://schemas.microsoft.com/office/drawing/2014/main" id="{37CB37CB-E8E6-4AAB-BDB4-5AE4B9D0B423}"/>
              </a:ext>
            </a:extLst>
          </p:cNvPr>
          <p:cNvGraphicFramePr>
            <a:graphicFrameLocks noChangeAspect="1"/>
          </p:cNvGraphicFramePr>
          <p:nvPr>
            <p:extLst>
              <p:ext uri="{D42A27DB-BD31-4B8C-83A1-F6EECF244321}">
                <p14:modId xmlns:p14="http://schemas.microsoft.com/office/powerpoint/2010/main" val="3464858682"/>
              </p:ext>
            </p:extLst>
          </p:nvPr>
        </p:nvGraphicFramePr>
        <p:xfrm>
          <a:off x="2337593" y="1596562"/>
          <a:ext cx="2613969" cy="680811"/>
        </p:xfrm>
        <a:graphic>
          <a:graphicData uri="http://schemas.openxmlformats.org/presentationml/2006/ole">
            <mc:AlternateContent xmlns:mc="http://schemas.openxmlformats.org/markup-compatibility/2006">
              <mc:Choice xmlns:v="urn:schemas-microsoft-com:vml" Requires="v">
                <p:oleObj name="Equation" r:id="rId4" imgW="1688760" imgH="457200" progId="Equation.DSMT4">
                  <p:embed/>
                </p:oleObj>
              </mc:Choice>
              <mc:Fallback>
                <p:oleObj name="Equation" r:id="rId4" imgW="1688760" imgH="457200" progId="Equation.DSMT4">
                  <p:embed/>
                  <p:pic>
                    <p:nvPicPr>
                      <p:cNvPr id="0" name=""/>
                      <p:cNvPicPr/>
                      <p:nvPr/>
                    </p:nvPicPr>
                    <p:blipFill>
                      <a:blip r:embed="rId5"/>
                      <a:stretch>
                        <a:fillRect/>
                      </a:stretch>
                    </p:blipFill>
                    <p:spPr>
                      <a:xfrm>
                        <a:off x="2337593" y="1596562"/>
                        <a:ext cx="2613969" cy="680811"/>
                      </a:xfrm>
                      <a:prstGeom prst="rect">
                        <a:avLst/>
                      </a:prstGeom>
                    </p:spPr>
                  </p:pic>
                </p:oleObj>
              </mc:Fallback>
            </mc:AlternateContent>
          </a:graphicData>
        </a:graphic>
      </p:graphicFrame>
    </p:spTree>
    <p:extLst>
      <p:ext uri="{BB962C8B-B14F-4D97-AF65-F5344CB8AC3E}">
        <p14:creationId xmlns:p14="http://schemas.microsoft.com/office/powerpoint/2010/main" val="27147422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Savon</Template>
  <TotalTime>685</TotalTime>
  <Words>2375</Words>
  <Application>Microsoft Office PowerPoint</Application>
  <PresentationFormat>Widescreen</PresentationFormat>
  <Paragraphs>274</Paragraphs>
  <Slides>22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22</vt:i4>
      </vt:variant>
    </vt:vector>
  </HeadingPairs>
  <TitlesOfParts>
    <vt:vector size="31" baseType="lpstr">
      <vt:lpstr>Arial</vt:lpstr>
      <vt:lpstr>Calibri</vt:lpstr>
      <vt:lpstr>Cambria Math</vt:lpstr>
      <vt:lpstr>Century Gothic</vt:lpstr>
      <vt:lpstr>Garamond</vt:lpstr>
      <vt:lpstr>Times New Roman</vt:lpstr>
      <vt:lpstr>Savon</vt:lpstr>
      <vt:lpstr>Equation</vt:lpstr>
      <vt:lpstr>Worksheet</vt:lpstr>
      <vt:lpstr>Binomial Distribution</vt:lpstr>
      <vt:lpstr>Some Discrete Probability Distributions</vt:lpstr>
      <vt:lpstr>Binomial Distribution</vt:lpstr>
      <vt:lpstr>Introduction</vt:lpstr>
      <vt:lpstr>Bernoulli Trial</vt:lpstr>
      <vt:lpstr>Characteristics of Binomial Distribution</vt:lpstr>
      <vt:lpstr>Binomial Formula </vt:lpstr>
      <vt:lpstr>Parameters of Binomial Distribution</vt:lpstr>
      <vt:lpstr>Shape of Binomial Distribution</vt:lpstr>
      <vt:lpstr>Mean and Variance of Binomial Distribution</vt:lpstr>
      <vt:lpstr>PowerPoint Presentation</vt:lpstr>
      <vt:lpstr>PowerPoint Presentation</vt:lpstr>
      <vt:lpstr>PowerPoint Presentation</vt:lpstr>
      <vt:lpstr>PowerPoint Presentation</vt:lpstr>
      <vt:lpstr>PowerPoint Presentation</vt:lpstr>
      <vt:lpstr>PowerPoint Presentation</vt:lpstr>
      <vt:lpstr>Examples</vt:lpstr>
      <vt:lpstr>PowerPoint Presentation</vt:lpstr>
      <vt:lpstr>Fitting of Binomial Distribution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Binomial Distribution</dc:title>
  <dc:creator>Santosh Chhatkuli</dc:creator>
  <cp:lastModifiedBy>Santosh Chhatkuli</cp:lastModifiedBy>
  <cp:revision>79</cp:revision>
  <dcterms:created xsi:type="dcterms:W3CDTF">2020-11-03T10:58:23Z</dcterms:created>
  <dcterms:modified xsi:type="dcterms:W3CDTF">2024-07-15T08:37:03Z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