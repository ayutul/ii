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8" r:id="rId4"/>
  </p:sldMasterIdLst>
  <p:notesMasterIdLst>
    <p:notesMasterId r:id="rId19"/>
  </p:notesMasterIdLst>
  <p:sldIdLst>
    <p:sldId id="298" r:id="rId5"/>
    <p:sldId id="299" r:id="rId6"/>
    <p:sldId id="300" r:id="rId7"/>
    <p:sldId id="301" r:id="rId8"/>
    <p:sldId id="302" r:id="rId9"/>
    <p:sldId id="303" r:id="rId10"/>
    <p:sldId id="304" r:id="rId11"/>
    <p:sldId id="305" r:id="rId12"/>
    <p:sldId id="306" r:id="rId13"/>
    <p:sldId id="308" r:id="rId14"/>
    <p:sldId id="310" r:id="rId15"/>
    <p:sldId id="311" r:id="rId16"/>
    <p:sldId id="314" r:id="rId17"/>
    <p:sldId id="31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varScale="1">
        <p:scale>
          <a:sx n="63" d="100"/>
          <a:sy n="63" d="100"/>
        </p:scale>
        <p:origin x="696"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B915-D69A-4EF4-BB66-B90A0AEEB445}" type="datetimeFigureOut">
              <a:rPr lang="en-US" smtClean="0"/>
              <a:t>7/22/2024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22A85D-50BB-489E-8DF3-69D21B53DC4A}" type="slidenum">
              <a:rPr lang="en-US" smtClean="0"/>
              <a:t>‹#›</a:t>
            </a:fld>
            <a:endParaRPr lang="en-US"/>
          </a:p>
        </p:txBody>
      </p:sp>
    </p:spTree>
    <p:extLst>
      <p:ext uri="{BB962C8B-B14F-4D97-AF65-F5344CB8AC3E}">
        <p14:creationId xmlns:p14="http://schemas.microsoft.com/office/powerpoint/2010/main" val="124191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9734443F-5861-4409-981C-EE32BB421125}" type="datetime1">
              <a:rPr lang="en-US" smtClean="0"/>
              <a:t>7/22/2024</a:t>
            </a:fld>
            <a:endParaRPr lang="en-US" dirty="0"/>
          </a:p>
        </p:txBody>
      </p:sp>
      <p:sp>
        <p:nvSpPr>
          <p:cNvPr id="5" name="Footer Placeholder 4"/>
          <p:cNvSpPr>
            <a:spLocks noGrp="1"/>
          </p:cNvSpPr>
          <p:nvPr>
            <p:ph type="ftr" sz="quarter" idx="11"/>
          </p:nvPr>
        </p:nvSpPr>
        <p:spPr/>
        <p:txBody>
          <a:bodyPr/>
          <a:lstStyle>
            <a:lvl1pPr>
              <a:defRPr>
                <a:solidFill>
                  <a:schemeClr val="accent1"/>
                </a:solidFill>
              </a:defRPr>
            </a:lvl1pPr>
          </a:lstStyle>
          <a:p>
            <a:r>
              <a:rPr lang="en-US"/>
              <a:t>CopyRight: Santosh Chhatkuli</a:t>
            </a:r>
            <a:endParaRPr lang="en-US" dirty="0"/>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3A98EE3D-8CD1-4C3F-BD1C-C98C9596463C}" type="slidenum">
              <a:rPr lang="en-US" smtClean="0"/>
              <a:t>‹#›</a:t>
            </a:fld>
            <a:endParaRPr lang="en-US" dirty="0"/>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937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2254DF-B6A1-4D59-9C82-38B5A8AEA566}" type="datetime1">
              <a:rPr lang="en-US" smtClean="0"/>
              <a:t>7/22/2024</a:t>
            </a:fld>
            <a:endParaRPr lang="en-US" dirty="0"/>
          </a:p>
        </p:txBody>
      </p:sp>
      <p:sp>
        <p:nvSpPr>
          <p:cNvPr id="5" name="Footer Placeholder 4"/>
          <p:cNvSpPr>
            <a:spLocks noGrp="1"/>
          </p:cNvSpPr>
          <p:nvPr>
            <p:ph type="ftr" sz="quarter" idx="11"/>
          </p:nvPr>
        </p:nvSpPr>
        <p:spPr/>
        <p:txBody>
          <a:bodyPr/>
          <a:lstStyle/>
          <a:p>
            <a:r>
              <a:rPr lang="en-US"/>
              <a:t>CopyRight: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8996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BBDD59-E0AD-488A-9777-E81369142D9F}" type="datetime1">
              <a:rPr lang="en-US" smtClean="0"/>
              <a:t>7/22/2024</a:t>
            </a:fld>
            <a:endParaRPr lang="en-US" dirty="0"/>
          </a:p>
        </p:txBody>
      </p:sp>
      <p:sp>
        <p:nvSpPr>
          <p:cNvPr id="5" name="Footer Placeholder 4"/>
          <p:cNvSpPr>
            <a:spLocks noGrp="1"/>
          </p:cNvSpPr>
          <p:nvPr>
            <p:ph type="ftr" sz="quarter" idx="11"/>
          </p:nvPr>
        </p:nvSpPr>
        <p:spPr/>
        <p:txBody>
          <a:bodyPr/>
          <a:lstStyle/>
          <a:p>
            <a:r>
              <a:rPr lang="en-US"/>
              <a:t>CopyRight: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827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6323EB-8C5C-4E4A-BD3C-EA788BE200BB}" type="datetime1">
              <a:rPr lang="en-US" smtClean="0"/>
              <a:t>7/22/2024</a:t>
            </a:fld>
            <a:endParaRPr lang="en-US" dirty="0"/>
          </a:p>
        </p:txBody>
      </p:sp>
      <p:sp>
        <p:nvSpPr>
          <p:cNvPr id="6" name="Footer Placeholder 5"/>
          <p:cNvSpPr>
            <a:spLocks noGrp="1"/>
          </p:cNvSpPr>
          <p:nvPr>
            <p:ph type="ftr" sz="quarter" idx="11"/>
          </p:nvPr>
        </p:nvSpPr>
        <p:spPr/>
        <p:txBody>
          <a:bodyPr/>
          <a:lstStyle/>
          <a:p>
            <a:r>
              <a:rPr lang="en-US"/>
              <a:t>CopyRight: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2133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F6A21B-6BBC-4D06-8BAA-A859A778D36A}" type="datetime1">
              <a:rPr lang="en-US" smtClean="0"/>
              <a:t>7/22/2024</a:t>
            </a:fld>
            <a:endParaRPr lang="en-US" dirty="0"/>
          </a:p>
        </p:txBody>
      </p:sp>
      <p:sp>
        <p:nvSpPr>
          <p:cNvPr id="8" name="Footer Placeholder 7"/>
          <p:cNvSpPr>
            <a:spLocks noGrp="1"/>
          </p:cNvSpPr>
          <p:nvPr>
            <p:ph type="ftr" sz="quarter" idx="11"/>
          </p:nvPr>
        </p:nvSpPr>
        <p:spPr/>
        <p:txBody>
          <a:bodyPr/>
          <a:lstStyle/>
          <a:p>
            <a:r>
              <a:rPr lang="en-US"/>
              <a:t>CopyRight: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4785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50EAC1-6C9F-4DA5-A733-5C59B0C03CE5}" type="datetime1">
              <a:rPr lang="en-US" smtClean="0"/>
              <a:t>7/22/2024</a:t>
            </a:fld>
            <a:endParaRPr lang="en-US" dirty="0"/>
          </a:p>
        </p:txBody>
      </p:sp>
      <p:sp>
        <p:nvSpPr>
          <p:cNvPr id="4" name="Footer Placeholder 3"/>
          <p:cNvSpPr>
            <a:spLocks noGrp="1"/>
          </p:cNvSpPr>
          <p:nvPr>
            <p:ph type="ftr" sz="quarter" idx="11"/>
          </p:nvPr>
        </p:nvSpPr>
        <p:spPr/>
        <p:txBody>
          <a:bodyPr/>
          <a:lstStyle/>
          <a:p>
            <a:r>
              <a:rPr lang="en-US"/>
              <a:t>CopyRight: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7129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FAFCB-353E-4E47-B221-E2EB1A6BCBBA}" type="datetime1">
              <a:rPr lang="en-US" smtClean="0"/>
              <a:t>7/22/2024</a:t>
            </a:fld>
            <a:endParaRPr lang="en-US" dirty="0"/>
          </a:p>
        </p:txBody>
      </p:sp>
      <p:sp>
        <p:nvSpPr>
          <p:cNvPr id="3" name="Footer Placeholder 2"/>
          <p:cNvSpPr>
            <a:spLocks noGrp="1"/>
          </p:cNvSpPr>
          <p:nvPr>
            <p:ph type="ftr" sz="quarter" idx="11"/>
          </p:nvPr>
        </p:nvSpPr>
        <p:spPr/>
        <p:txBody>
          <a:bodyPr/>
          <a:lstStyle/>
          <a:p>
            <a:r>
              <a:rPr lang="en-US"/>
              <a:t>CopyRight: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142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F37661-5901-4197-90ED-8E5FFD82C20F}" type="datetime1">
              <a:rPr lang="en-US" smtClean="0"/>
              <a:t>7/22/2024</a:t>
            </a:fld>
            <a:endParaRPr lang="en-US" dirty="0"/>
          </a:p>
        </p:txBody>
      </p:sp>
      <p:sp>
        <p:nvSpPr>
          <p:cNvPr id="6" name="Footer Placeholder 5"/>
          <p:cNvSpPr>
            <a:spLocks noGrp="1"/>
          </p:cNvSpPr>
          <p:nvPr>
            <p:ph type="ftr" sz="quarter" idx="11"/>
          </p:nvPr>
        </p:nvSpPr>
        <p:spPr/>
        <p:txBody>
          <a:bodyPr/>
          <a:lstStyle/>
          <a:p>
            <a:r>
              <a:rPr lang="en-US"/>
              <a:t>CopyRight: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7555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722363-F03C-4F38-BFEE-BE53A26A1449}" type="datetime1">
              <a:rPr lang="en-US" smtClean="0"/>
              <a:t>7/22/2024</a:t>
            </a:fld>
            <a:endParaRPr lang="en-US" dirty="0"/>
          </a:p>
        </p:txBody>
      </p:sp>
      <p:sp>
        <p:nvSpPr>
          <p:cNvPr id="6" name="Footer Placeholder 5"/>
          <p:cNvSpPr>
            <a:spLocks noGrp="1"/>
          </p:cNvSpPr>
          <p:nvPr>
            <p:ph type="ftr" sz="quarter" idx="11"/>
          </p:nvPr>
        </p:nvSpPr>
        <p:spPr/>
        <p:txBody>
          <a:bodyPr/>
          <a:lstStyle/>
          <a:p>
            <a:r>
              <a:rPr lang="en-US"/>
              <a:t>CopyRight: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04480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CE245-C82B-42C3-AFE7-D664328EED0B}" type="datetime1">
              <a:rPr lang="en-US" smtClean="0"/>
              <a:t>7/22/2024</a:t>
            </a:fld>
            <a:endParaRPr lang="en-US" dirty="0"/>
          </a:p>
        </p:txBody>
      </p:sp>
      <p:sp>
        <p:nvSpPr>
          <p:cNvPr id="5" name="Footer Placeholder 4"/>
          <p:cNvSpPr>
            <a:spLocks noGrp="1"/>
          </p:cNvSpPr>
          <p:nvPr>
            <p:ph type="ftr" sz="quarter" idx="11"/>
          </p:nvPr>
        </p:nvSpPr>
        <p:spPr/>
        <p:txBody>
          <a:bodyPr/>
          <a:lstStyle/>
          <a:p>
            <a:r>
              <a:rPr lang="en-US"/>
              <a:t>CopyRight: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37186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438600-CA25-4DE4-BB08-8DCBDD996793}" type="datetime1">
              <a:rPr lang="en-US" smtClean="0"/>
              <a:t>7/22/2024</a:t>
            </a:fld>
            <a:endParaRPr lang="en-US" dirty="0"/>
          </a:p>
        </p:txBody>
      </p:sp>
      <p:sp>
        <p:nvSpPr>
          <p:cNvPr id="5" name="Footer Placeholder 4"/>
          <p:cNvSpPr>
            <a:spLocks noGrp="1"/>
          </p:cNvSpPr>
          <p:nvPr>
            <p:ph type="ftr" sz="quarter" idx="11"/>
          </p:nvPr>
        </p:nvSpPr>
        <p:spPr/>
        <p:txBody>
          <a:bodyPr/>
          <a:lstStyle/>
          <a:p>
            <a:r>
              <a:rPr lang="en-US"/>
              <a:t>CopyRight: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76551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6C524C59-CB26-48C2-9EB3-0043507CC243}" type="datetime1">
              <a:rPr lang="en-US" smtClean="0"/>
              <a:t>7/22/2024</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US"/>
              <a:t>CopyRight: Santosh Chhatkuli</a:t>
            </a:r>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598724546"/>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Lst>
  <p:hf sldNum="0" hd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3200" dirty="0">
                <a:solidFill>
                  <a:schemeClr val="tx1"/>
                </a:solidFill>
              </a:rPr>
              <a:t>NORMAL DISTRIBUTION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SANTOSH CHHATKULI</a:t>
            </a:r>
          </a:p>
        </p:txBody>
      </p:sp>
      <p:sp>
        <p:nvSpPr>
          <p:cNvPr id="5" name="Footer Placeholder 4">
            <a:extLst>
              <a:ext uri="{FF2B5EF4-FFF2-40B4-BE49-F238E27FC236}">
                <a16:creationId xmlns:a16="http://schemas.microsoft.com/office/drawing/2014/main" id="{E50F2FC0-DABB-4268-9E5F-C54BE3D69AB8}"/>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5A3E2-46E5-47F8-A524-B4CEA2D17AA7}"/>
              </a:ext>
            </a:extLst>
          </p:cNvPr>
          <p:cNvSpPr>
            <a:spLocks noGrp="1"/>
          </p:cNvSpPr>
          <p:nvPr>
            <p:ph type="title"/>
          </p:nvPr>
        </p:nvSpPr>
        <p:spPr>
          <a:xfrm>
            <a:off x="776378" y="506083"/>
            <a:ext cx="9875520" cy="391064"/>
          </a:xfrm>
        </p:spPr>
        <p:txBody>
          <a:bodyPr>
            <a:noAutofit/>
          </a:bodyPr>
          <a:lstStyle/>
          <a:p>
            <a:r>
              <a:rPr lang="en-US" sz="2800" b="1" dirty="0"/>
              <a:t>Introduction</a:t>
            </a:r>
          </a:p>
        </p:txBody>
      </p:sp>
      <p:sp>
        <p:nvSpPr>
          <p:cNvPr id="3" name="Content Placeholder 2">
            <a:extLst>
              <a:ext uri="{FF2B5EF4-FFF2-40B4-BE49-F238E27FC236}">
                <a16:creationId xmlns:a16="http://schemas.microsoft.com/office/drawing/2014/main" id="{14809E03-1570-4EA3-8CEE-A7E6935D7E08}"/>
              </a:ext>
            </a:extLst>
          </p:cNvPr>
          <p:cNvSpPr>
            <a:spLocks noGrp="1"/>
          </p:cNvSpPr>
          <p:nvPr>
            <p:ph idx="1"/>
          </p:nvPr>
        </p:nvSpPr>
        <p:spPr>
          <a:xfrm>
            <a:off x="776378" y="1121434"/>
            <a:ext cx="10808898" cy="4974566"/>
          </a:xfrm>
        </p:spPr>
        <p:txBody>
          <a:bodyPr/>
          <a:lstStyle/>
          <a:p>
            <a:r>
              <a:rPr lang="en-US" sz="2000" dirty="0">
                <a:effectLst/>
                <a:latin typeface="Calibri" panose="020F0502020204030204" pitchFamily="34" charset="0"/>
                <a:ea typeface="Times New Roman" panose="02020603050405020304" pitchFamily="18" charset="0"/>
              </a:rPr>
              <a:t>A normal distribution is most important continuous probability distribution as most traditional statistical inferences are designed to work with data which follows a normal distribution.</a:t>
            </a:r>
          </a:p>
          <a:p>
            <a:r>
              <a:rPr lang="en-US" sz="2000" dirty="0">
                <a:latin typeface="Calibri" panose="020F0502020204030204" pitchFamily="34" charset="0"/>
              </a:rPr>
              <a:t>It is the famous bell-shaped distribution</a:t>
            </a:r>
          </a:p>
          <a:p>
            <a:r>
              <a:rPr lang="en-US" sz="2000" dirty="0">
                <a:effectLst/>
                <a:latin typeface="Calibri" panose="020F0502020204030204" pitchFamily="34" charset="0"/>
                <a:ea typeface="Times New Roman" panose="02020603050405020304" pitchFamily="18" charset="0"/>
              </a:rPr>
              <a:t>The distribution is frequently called the Gaussian distribution in recognition of contribution made by </a:t>
            </a:r>
            <a:r>
              <a:rPr lang="en-US" sz="2000" i="1" dirty="0">
                <a:effectLst/>
                <a:latin typeface="Calibri" panose="020F0502020204030204" pitchFamily="34" charset="0"/>
                <a:ea typeface="Times New Roman" panose="02020603050405020304" pitchFamily="18" charset="0"/>
              </a:rPr>
              <a:t>Carl Friedrich Gauss</a:t>
            </a:r>
            <a:r>
              <a:rPr lang="en-US" sz="2000" dirty="0">
                <a:effectLst/>
                <a:latin typeface="Calibri" panose="020F0502020204030204" pitchFamily="34"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r>
              <a:rPr lang="en-US" sz="2000" dirty="0"/>
              <a:t>Many natural phenomena fits into a normal distribution such as height, IQ score etc.</a:t>
            </a:r>
          </a:p>
          <a:p>
            <a:pPr marL="45720" indent="0">
              <a:buNone/>
            </a:pPr>
            <a:endParaRPr lang="en-US" sz="2800" dirty="0"/>
          </a:p>
          <a:p>
            <a:endParaRPr lang="en-US" dirty="0"/>
          </a:p>
        </p:txBody>
      </p:sp>
      <p:pic>
        <p:nvPicPr>
          <p:cNvPr id="7" name="Picture 6">
            <a:extLst>
              <a:ext uri="{FF2B5EF4-FFF2-40B4-BE49-F238E27FC236}">
                <a16:creationId xmlns:a16="http://schemas.microsoft.com/office/drawing/2014/main" id="{E971E2A7-DF67-43A6-A355-161C4667DC4F}"/>
              </a:ext>
            </a:extLst>
          </p:cNvPr>
          <p:cNvPicPr>
            <a:picLocks noChangeAspect="1"/>
          </p:cNvPicPr>
          <p:nvPr/>
        </p:nvPicPr>
        <p:blipFill>
          <a:blip r:embed="rId2"/>
          <a:stretch>
            <a:fillRect/>
          </a:stretch>
        </p:blipFill>
        <p:spPr>
          <a:xfrm>
            <a:off x="1913014" y="3786996"/>
            <a:ext cx="4099597" cy="2147978"/>
          </a:xfrm>
          <a:prstGeom prst="rect">
            <a:avLst/>
          </a:prstGeom>
        </p:spPr>
      </p:pic>
      <p:sp>
        <p:nvSpPr>
          <p:cNvPr id="4" name="Footer Placeholder 3">
            <a:extLst>
              <a:ext uri="{FF2B5EF4-FFF2-40B4-BE49-F238E27FC236}">
                <a16:creationId xmlns:a16="http://schemas.microsoft.com/office/drawing/2014/main" id="{95294AF8-11D8-4EF5-A22C-BADD52FBD4E7}"/>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1194276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4BE0-B8AD-4324-ADE0-3950A3C91FB5}"/>
              </a:ext>
            </a:extLst>
          </p:cNvPr>
          <p:cNvSpPr>
            <a:spLocks noGrp="1"/>
          </p:cNvSpPr>
          <p:nvPr>
            <p:ph type="title"/>
          </p:nvPr>
        </p:nvSpPr>
        <p:spPr>
          <a:xfrm>
            <a:off x="810884" y="454324"/>
            <a:ext cx="9875520" cy="615351"/>
          </a:xfrm>
        </p:spPr>
        <p:txBody>
          <a:bodyPr>
            <a:normAutofit/>
          </a:bodyPr>
          <a:lstStyle/>
          <a:p>
            <a:r>
              <a:rPr lang="en-US" sz="2800" b="1" dirty="0"/>
              <a:t>Characteristics of Normal Distribution</a:t>
            </a:r>
          </a:p>
        </p:txBody>
      </p:sp>
      <p:sp>
        <p:nvSpPr>
          <p:cNvPr id="3" name="Content Placeholder 2">
            <a:extLst>
              <a:ext uri="{FF2B5EF4-FFF2-40B4-BE49-F238E27FC236}">
                <a16:creationId xmlns:a16="http://schemas.microsoft.com/office/drawing/2014/main" id="{31DC18F1-CE82-4FFD-B302-5F42C8047504}"/>
              </a:ext>
            </a:extLst>
          </p:cNvPr>
          <p:cNvSpPr>
            <a:spLocks noGrp="1"/>
          </p:cNvSpPr>
          <p:nvPr>
            <p:ph idx="1"/>
          </p:nvPr>
        </p:nvSpPr>
        <p:spPr>
          <a:xfrm>
            <a:off x="810884" y="1371600"/>
            <a:ext cx="10204988" cy="4724399"/>
          </a:xfrm>
        </p:spPr>
        <p:txBody>
          <a:bodyPr>
            <a:normAutofit lnSpcReduction="10000"/>
          </a:bodyPr>
          <a:lstStyle/>
          <a:p>
            <a:pPr marL="0" marR="0" indent="0">
              <a:spcBef>
                <a:spcPts val="0"/>
              </a:spcBef>
              <a:spcAft>
                <a:spcPts val="0"/>
              </a:spcAft>
              <a:buNone/>
              <a:tabLst>
                <a:tab pos="228600" algn="l"/>
              </a:tabLst>
            </a:pPr>
            <a:r>
              <a:rPr lang="en-US" sz="2600" dirty="0">
                <a:effectLst/>
                <a:latin typeface="Calibri" panose="020F0502020204030204" pitchFamily="34" charset="0"/>
                <a:ea typeface="Times New Roman" panose="02020603050405020304" pitchFamily="18" charset="0"/>
              </a:rPr>
              <a:t>The normal distribution possesses following important characteristics:</a:t>
            </a:r>
            <a:endParaRPr lang="en-US" sz="2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228600" algn="l"/>
                <a:tab pos="457200" algn="l"/>
              </a:tabLst>
            </a:pPr>
            <a:r>
              <a:rPr lang="en-US" sz="2600" dirty="0">
                <a:effectLst/>
                <a:latin typeface="Calibri" panose="020F0502020204030204" pitchFamily="34" charset="0"/>
                <a:ea typeface="Times New Roman" panose="02020603050405020304" pitchFamily="18" charset="0"/>
              </a:rPr>
              <a:t>The curve is bell shaped.</a:t>
            </a:r>
            <a:endParaRPr lang="en-US" sz="2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228600" algn="l"/>
                <a:tab pos="457200" algn="l"/>
              </a:tabLst>
            </a:pPr>
            <a:r>
              <a:rPr lang="en-US" sz="2600" dirty="0">
                <a:effectLst/>
                <a:latin typeface="Calibri" panose="020F0502020204030204" pitchFamily="34" charset="0"/>
                <a:ea typeface="Times New Roman" panose="02020603050405020304" pitchFamily="18" charset="0"/>
              </a:rPr>
              <a:t>The normal curve is symmetric around the mean. It implies that mean of a normally distributed population lies at the center of its curve i.e. at x = µ. The further a value is from the mean, the less likely it is to occur.</a:t>
            </a:r>
            <a:r>
              <a:rPr lang="en-US" sz="2000" b="0" i="0" dirty="0">
                <a:solidFill>
                  <a:srgbClr val="121212"/>
                </a:solidFill>
                <a:effectLst/>
                <a:latin typeface="Noto Sans"/>
              </a:rPr>
              <a:t> </a:t>
            </a:r>
            <a:r>
              <a:rPr lang="en-US" sz="2600" dirty="0">
                <a:effectLst/>
                <a:latin typeface="Calibri" panose="020F0502020204030204" pitchFamily="34" charset="0"/>
                <a:ea typeface="Times New Roman" panose="02020603050405020304" pitchFamily="18" charset="0"/>
              </a:rPr>
              <a:t>Normal distribution is unimodal distribution i.e. it has only one mode.</a:t>
            </a:r>
            <a:endParaRPr lang="en-US" sz="2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228600" algn="l"/>
                <a:tab pos="457200" algn="l"/>
              </a:tabLst>
            </a:pPr>
            <a:r>
              <a:rPr lang="en-US" sz="2600" dirty="0">
                <a:effectLst/>
                <a:latin typeface="Calibri" panose="020F0502020204030204" pitchFamily="34" charset="0"/>
                <a:ea typeface="Times New Roman" panose="02020603050405020304" pitchFamily="18" charset="0"/>
              </a:rPr>
              <a:t>Its measures of central tendency (mean, median and mode) are all equal.</a:t>
            </a:r>
            <a:endParaRPr lang="en-US" sz="2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228600" algn="l"/>
                <a:tab pos="457200" algn="l"/>
              </a:tabLst>
            </a:pPr>
            <a:r>
              <a:rPr lang="en-US" sz="2600" dirty="0">
                <a:effectLst/>
                <a:latin typeface="Calibri" panose="020F0502020204030204" pitchFamily="34" charset="0"/>
                <a:ea typeface="Times New Roman" panose="02020603050405020304" pitchFamily="18" charset="0"/>
              </a:rPr>
              <a:t>Since </a:t>
            </a:r>
            <a:r>
              <a:rPr lang="en-US" sz="2600" i="1" dirty="0">
                <a:effectLst/>
                <a:latin typeface="Calibri" panose="020F0502020204030204" pitchFamily="34" charset="0"/>
                <a:ea typeface="Times New Roman" panose="02020603050405020304" pitchFamily="18" charset="0"/>
              </a:rPr>
              <a:t>y = f (x)</a:t>
            </a:r>
            <a:r>
              <a:rPr lang="en-US" sz="2600" dirty="0">
                <a:effectLst/>
                <a:latin typeface="Calibri" panose="020F0502020204030204" pitchFamily="34" charset="0"/>
                <a:ea typeface="Times New Roman" panose="02020603050405020304" pitchFamily="18" charset="0"/>
              </a:rPr>
              <a:t> being the probability can never be negative i.e. no portion of the curve lies below the X-axis.</a:t>
            </a:r>
          </a:p>
          <a:p>
            <a:pPr marL="342900" marR="0" lvl="0" indent="-342900">
              <a:spcBef>
                <a:spcPts val="0"/>
              </a:spcBef>
              <a:spcAft>
                <a:spcPts val="0"/>
              </a:spcAft>
              <a:buFont typeface="+mj-lt"/>
              <a:buAutoNum type="arabicPeriod"/>
              <a:tabLst>
                <a:tab pos="228600" algn="l"/>
                <a:tab pos="457200" algn="l"/>
              </a:tabLst>
            </a:pPr>
            <a:r>
              <a:rPr lang="en-US" sz="2600" dirty="0">
                <a:latin typeface="Times New Roman" panose="02020603050405020304" pitchFamily="18" charset="0"/>
                <a:ea typeface="Times New Roman" panose="02020603050405020304" pitchFamily="18" charset="0"/>
              </a:rPr>
              <a:t>The tails of normal curve are asymptotic, which means that they approach but never quite meet the horizon (i.e. X-axis)</a:t>
            </a:r>
            <a:endParaRPr lang="en-US" sz="26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228600" algn="l"/>
                <a:tab pos="457200" algn="l"/>
              </a:tabLst>
            </a:pPr>
            <a:r>
              <a:rPr lang="en-US" sz="2600" dirty="0">
                <a:effectLst/>
                <a:latin typeface="Calibri" panose="020F0502020204030204" pitchFamily="34" charset="0"/>
                <a:ea typeface="Times New Roman" panose="02020603050405020304" pitchFamily="18" charset="0"/>
              </a:rPr>
              <a:t>The </a:t>
            </a:r>
            <a:r>
              <a:rPr lang="en-US" sz="2600" dirty="0">
                <a:latin typeface="Calibri" panose="020F0502020204030204" pitchFamily="34" charset="0"/>
                <a:ea typeface="Times New Roman" panose="02020603050405020304" pitchFamily="18" charset="0"/>
              </a:rPr>
              <a:t>area under the normal curve represents probability and t</a:t>
            </a:r>
            <a:r>
              <a:rPr lang="en-US" sz="2600" dirty="0">
                <a:effectLst/>
                <a:latin typeface="Calibri" panose="020F0502020204030204" pitchFamily="34" charset="0"/>
                <a:ea typeface="Times New Roman" panose="02020603050405020304" pitchFamily="18" charset="0"/>
              </a:rPr>
              <a:t>he total area under the normal curve above the X-axis is one square unit. </a:t>
            </a:r>
            <a:endParaRPr lang="en-US" sz="2600" dirty="0">
              <a:effectLst/>
              <a:latin typeface="Times New Roman" panose="02020603050405020304" pitchFamily="18" charset="0"/>
              <a:ea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067DE96B-2655-4DAF-A8AE-2CDC06BF70F7}"/>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409067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8A7D-C022-4103-9541-A842F45E9765}"/>
              </a:ext>
            </a:extLst>
          </p:cNvPr>
          <p:cNvSpPr>
            <a:spLocks noGrp="1"/>
          </p:cNvSpPr>
          <p:nvPr>
            <p:ph type="title"/>
          </p:nvPr>
        </p:nvSpPr>
        <p:spPr>
          <a:xfrm>
            <a:off x="780690" y="549215"/>
            <a:ext cx="9875520" cy="425570"/>
          </a:xfrm>
        </p:spPr>
        <p:txBody>
          <a:bodyPr>
            <a:normAutofit fontScale="90000"/>
          </a:bodyPr>
          <a:lstStyle/>
          <a:p>
            <a:r>
              <a:rPr lang="en-US" sz="2800" b="1" dirty="0"/>
              <a:t>Importance of Normal Distribution</a:t>
            </a:r>
          </a:p>
        </p:txBody>
      </p:sp>
      <p:sp>
        <p:nvSpPr>
          <p:cNvPr id="3" name="Content Placeholder 2">
            <a:extLst>
              <a:ext uri="{FF2B5EF4-FFF2-40B4-BE49-F238E27FC236}">
                <a16:creationId xmlns:a16="http://schemas.microsoft.com/office/drawing/2014/main" id="{7CEDBE73-E851-4F3A-82B7-9C7B13E963DD}"/>
              </a:ext>
            </a:extLst>
          </p:cNvPr>
          <p:cNvSpPr>
            <a:spLocks noGrp="1"/>
          </p:cNvSpPr>
          <p:nvPr>
            <p:ph idx="1"/>
          </p:nvPr>
        </p:nvSpPr>
        <p:spPr>
          <a:xfrm>
            <a:off x="664234" y="1216325"/>
            <a:ext cx="10903789" cy="5011947"/>
          </a:xfrm>
        </p:spPr>
        <p:txBody>
          <a:bodyPr>
            <a:noAutofit/>
          </a:bodyPr>
          <a:lstStyle/>
          <a:p>
            <a:r>
              <a:rPr lang="en-US" sz="2000" dirty="0">
                <a:effectLst/>
                <a:latin typeface="Calibri" panose="020F0502020204030204" pitchFamily="34" charset="0"/>
                <a:ea typeface="Times New Roman" panose="02020603050405020304" pitchFamily="18" charset="0"/>
              </a:rPr>
              <a:t>The distribution of many continuous variables such as height, weight, blood pressure etc. is approximately normal.</a:t>
            </a:r>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Calibri" panose="020F0502020204030204" pitchFamily="34" charset="0"/>
                <a:ea typeface="Times New Roman" panose="02020603050405020304" pitchFamily="18" charset="0"/>
              </a:rPr>
              <a:t>The measurement whose distribution is not normal, a simple transformation of the scale of measurements may induce normality. Hence the normal distribution can be used to solve the probability problem even in the skewed distribution.</a:t>
            </a:r>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Calibri" panose="020F0502020204030204" pitchFamily="34" charset="0"/>
                <a:ea typeface="Times New Roman" panose="02020603050405020304" pitchFamily="18" charset="0"/>
              </a:rPr>
              <a:t>An essential requirement for employing many statistical test such as t-test, ANOVA and tools such as regression, correlation and any other parametric analysis is that observations must have distribution not significantly different from normality. Thus, Normal Distribution serves as the foundation for classical statistical inference.</a:t>
            </a:r>
          </a:p>
          <a:p>
            <a:r>
              <a:rPr lang="en-US" sz="2000" dirty="0">
                <a:effectLst/>
                <a:latin typeface="Calibri" panose="020F0502020204030204" pitchFamily="34" charset="0"/>
                <a:ea typeface="Times New Roman" panose="02020603050405020304" pitchFamily="18" charset="0"/>
              </a:rPr>
              <a:t>The normal distribution is relatively easier to work with mathematically.</a:t>
            </a:r>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Calibri" panose="020F0502020204030204" pitchFamily="34" charset="0"/>
                <a:ea typeface="Times New Roman" panose="02020603050405020304" pitchFamily="18" charset="0"/>
              </a:rPr>
              <a:t>We can use normal distribution to approximate various discrete probability distributions such as Poisson distribution, Binomial distribution and thereby avoid much computational drudgery.</a:t>
            </a:r>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Calibri" panose="020F0502020204030204" pitchFamily="34" charset="0"/>
                <a:ea typeface="Times New Roman" panose="02020603050405020304" pitchFamily="18" charset="0"/>
              </a:rPr>
              <a:t>Normal distribution is also used to find the normal values of biomedical measurements.</a:t>
            </a:r>
          </a:p>
          <a:p>
            <a:r>
              <a:rPr lang="en-US" sz="2000" dirty="0">
                <a:effectLst/>
                <a:latin typeface="Times New Roman" panose="02020603050405020304" pitchFamily="18" charset="0"/>
                <a:ea typeface="Times New Roman" panose="02020603050405020304" pitchFamily="18" charset="0"/>
              </a:rPr>
              <a:t>We can standardized the values (raw scores) of a normal distribution by converting them into z-scores.</a:t>
            </a:r>
          </a:p>
        </p:txBody>
      </p:sp>
      <p:sp>
        <p:nvSpPr>
          <p:cNvPr id="4" name="Footer Placeholder 3">
            <a:extLst>
              <a:ext uri="{FF2B5EF4-FFF2-40B4-BE49-F238E27FC236}">
                <a16:creationId xmlns:a16="http://schemas.microsoft.com/office/drawing/2014/main" id="{E1D101FF-4A46-4E24-A8F6-18331D95FACC}"/>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1435861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A0B1-6779-481D-9999-1346658737F4}"/>
              </a:ext>
            </a:extLst>
          </p:cNvPr>
          <p:cNvSpPr>
            <a:spLocks noGrp="1"/>
          </p:cNvSpPr>
          <p:nvPr>
            <p:ph type="title"/>
          </p:nvPr>
        </p:nvSpPr>
        <p:spPr>
          <a:xfrm>
            <a:off x="780691" y="553528"/>
            <a:ext cx="9875520" cy="416943"/>
          </a:xfrm>
        </p:spPr>
        <p:txBody>
          <a:bodyPr>
            <a:noAutofit/>
          </a:bodyPr>
          <a:lstStyle/>
          <a:p>
            <a:r>
              <a:rPr lang="en-US" sz="2800" b="1" dirty="0"/>
              <a:t>Probability Density Function of ND</a:t>
            </a:r>
          </a:p>
        </p:txBody>
      </p:sp>
      <p:sp>
        <p:nvSpPr>
          <p:cNvPr id="3" name="Content Placeholder 2">
            <a:extLst>
              <a:ext uri="{FF2B5EF4-FFF2-40B4-BE49-F238E27FC236}">
                <a16:creationId xmlns:a16="http://schemas.microsoft.com/office/drawing/2014/main" id="{3E9D36EF-E097-44D4-A21E-2E438B542ED0}"/>
              </a:ext>
            </a:extLst>
          </p:cNvPr>
          <p:cNvSpPr>
            <a:spLocks noGrp="1"/>
          </p:cNvSpPr>
          <p:nvPr>
            <p:ph idx="1"/>
          </p:nvPr>
        </p:nvSpPr>
        <p:spPr>
          <a:xfrm>
            <a:off x="854016" y="1190445"/>
            <a:ext cx="10161856" cy="4994695"/>
          </a:xfrm>
        </p:spPr>
        <p:txBody>
          <a:bodyPr/>
          <a:lstStyle/>
          <a:p>
            <a:pPr marL="45720" indent="0">
              <a:buNone/>
            </a:pPr>
            <a:r>
              <a:rPr lang="en-US" sz="1800" dirty="0">
                <a:effectLst/>
                <a:latin typeface="Calibri" panose="020F0502020204030204" pitchFamily="34" charset="0"/>
                <a:ea typeface="Times New Roman" panose="02020603050405020304" pitchFamily="18" charset="0"/>
              </a:rPr>
              <a:t>A continuous random variable X is said to follow normal probability distribution with mean µ and standard deviation σ if its density function is given by</a:t>
            </a:r>
          </a:p>
          <a:p>
            <a:pPr marL="45720" indent="0">
              <a:buNone/>
            </a:pPr>
            <a:endParaRPr lang="en-US" sz="1800" dirty="0">
              <a:latin typeface="Calibri" panose="020F0502020204030204" pitchFamily="34" charset="0"/>
              <a:ea typeface="Times New Roman" panose="02020603050405020304" pitchFamily="18" charset="0"/>
            </a:endParaRPr>
          </a:p>
          <a:p>
            <a:pPr marL="45720" indent="0">
              <a:buNone/>
            </a:pPr>
            <a:endParaRPr lang="en-US" sz="1800" dirty="0">
              <a:effectLst/>
              <a:latin typeface="Calibri" panose="020F0502020204030204" pitchFamily="34" charset="0"/>
              <a:ea typeface="Times New Roman" panose="02020603050405020304" pitchFamily="18" charset="0"/>
            </a:endParaRPr>
          </a:p>
          <a:p>
            <a:pPr marL="45720" indent="0">
              <a:buNone/>
            </a:pPr>
            <a:endParaRPr lang="en-US" sz="1800" dirty="0">
              <a:latin typeface="Calibri" panose="020F0502020204030204" pitchFamily="34" charset="0"/>
              <a:ea typeface="Times New Roman" panose="02020603050405020304" pitchFamily="18" charset="0"/>
            </a:endParaRPr>
          </a:p>
          <a:p>
            <a:pPr marL="45720" indent="0">
              <a:buNone/>
            </a:pPr>
            <a:r>
              <a:rPr lang="en-US" sz="1800" dirty="0">
                <a:effectLst/>
                <a:latin typeface="Calibri" panose="020F0502020204030204" pitchFamily="34" charset="0"/>
                <a:ea typeface="Times New Roman" panose="02020603050405020304" pitchFamily="18" charset="0"/>
              </a:rPr>
              <a:t>Notations:</a:t>
            </a:r>
          </a:p>
          <a:p>
            <a:pPr marL="45720" indent="0">
              <a:buNone/>
            </a:pPr>
            <a:r>
              <a:rPr lang="en-US" sz="1800" dirty="0">
                <a:latin typeface="Calibri" panose="020F0502020204030204" pitchFamily="34" charset="0"/>
                <a:ea typeface="Times New Roman" panose="02020603050405020304" pitchFamily="18" charset="0"/>
              </a:rPr>
              <a:t>	µ = mean of the population or location parameter</a:t>
            </a:r>
          </a:p>
          <a:p>
            <a:pPr marL="45720" indent="0">
              <a:buNone/>
            </a:pPr>
            <a:r>
              <a:rPr lang="en-US" sz="1800" dirty="0">
                <a:latin typeface="Calibri" panose="020F0502020204030204" pitchFamily="34" charset="0"/>
                <a:ea typeface="Times New Roman" panose="02020603050405020304" pitchFamily="18" charset="0"/>
              </a:rPr>
              <a:t>	σ = standard deviation of the population or shape parameter</a:t>
            </a:r>
          </a:p>
          <a:p>
            <a:pPr marL="45720" indent="0">
              <a:buNone/>
            </a:pPr>
            <a:r>
              <a:rPr lang="en-US" sz="1800" dirty="0">
                <a:latin typeface="Calibri" panose="020F0502020204030204" pitchFamily="34" charset="0"/>
                <a:ea typeface="Times New Roman" panose="02020603050405020304" pitchFamily="18" charset="0"/>
              </a:rPr>
              <a:t>	e = 2.7183, a base of the natural logarithm (constant)</a:t>
            </a:r>
          </a:p>
          <a:p>
            <a:pPr marL="45720" indent="0">
              <a:buNone/>
            </a:pPr>
            <a:r>
              <a:rPr lang="en-US" sz="1800" dirty="0">
                <a:latin typeface="Calibri" panose="020F0502020204030204" pitchFamily="34" charset="0"/>
                <a:ea typeface="Times New Roman" panose="02020603050405020304" pitchFamily="18" charset="0"/>
              </a:rPr>
              <a:t>	π = 3.1416, a ratio of circumference to its diameter (constant)</a:t>
            </a:r>
          </a:p>
          <a:p>
            <a:pPr marL="45720" indent="0">
              <a:buNone/>
            </a:pPr>
            <a:r>
              <a:rPr lang="en-US" sz="1800" dirty="0">
                <a:latin typeface="Calibri" panose="020F0502020204030204" pitchFamily="34" charset="0"/>
                <a:ea typeface="Times New Roman" panose="02020603050405020304" pitchFamily="18" charset="0"/>
              </a:rPr>
              <a:t>	f(x) = height or ordinate of the curve at the abscissa value x</a:t>
            </a:r>
            <a:r>
              <a:rPr lang="en-US" sz="1800" baseline="-25000" dirty="0">
                <a:latin typeface="Calibri" panose="020F0502020204030204" pitchFamily="34" charset="0"/>
                <a:ea typeface="Times New Roman" panose="02020603050405020304" pitchFamily="18" charset="0"/>
              </a:rPr>
              <a:t>i</a:t>
            </a:r>
          </a:p>
          <a:p>
            <a:pPr marL="45720" indent="0">
              <a:buNone/>
            </a:pPr>
            <a:r>
              <a:rPr lang="en-US" sz="1800" dirty="0">
                <a:effectLst/>
                <a:latin typeface="Calibri" panose="020F0502020204030204" pitchFamily="34" charset="0"/>
                <a:ea typeface="Times New Roman" panose="02020603050405020304" pitchFamily="18" charset="0"/>
              </a:rPr>
              <a:t>The maximum ordinate occurs at the point x = µ and it is </a:t>
            </a:r>
            <a:endParaRPr lang="en-US" sz="1800" dirty="0">
              <a:effectLst/>
              <a:latin typeface="Times New Roman" panose="02020603050405020304" pitchFamily="18" charset="0"/>
              <a:ea typeface="Times New Roman" panose="02020603050405020304" pitchFamily="18" charset="0"/>
            </a:endParaRPr>
          </a:p>
          <a:p>
            <a:pPr marL="45720" indent="0">
              <a:buNone/>
            </a:pPr>
            <a:endParaRPr lang="en-US" dirty="0"/>
          </a:p>
        </p:txBody>
      </p:sp>
      <p:graphicFrame>
        <p:nvGraphicFramePr>
          <p:cNvPr id="7" name="Object 6">
            <a:extLst>
              <a:ext uri="{FF2B5EF4-FFF2-40B4-BE49-F238E27FC236}">
                <a16:creationId xmlns:a16="http://schemas.microsoft.com/office/drawing/2014/main" id="{4F851B5C-7029-4E3C-A332-5198678C0BFD}"/>
              </a:ext>
            </a:extLst>
          </p:cNvPr>
          <p:cNvGraphicFramePr>
            <a:graphicFrameLocks noChangeAspect="1"/>
          </p:cNvGraphicFramePr>
          <p:nvPr>
            <p:extLst>
              <p:ext uri="{D42A27DB-BD31-4B8C-83A1-F6EECF244321}">
                <p14:modId xmlns:p14="http://schemas.microsoft.com/office/powerpoint/2010/main" val="3670900234"/>
              </p:ext>
            </p:extLst>
          </p:nvPr>
        </p:nvGraphicFramePr>
        <p:xfrm>
          <a:off x="1331913" y="1851025"/>
          <a:ext cx="7815262" cy="1058863"/>
        </p:xfrm>
        <a:graphic>
          <a:graphicData uri="http://schemas.openxmlformats.org/presentationml/2006/ole">
            <mc:AlternateContent xmlns:mc="http://schemas.openxmlformats.org/markup-compatibility/2006">
              <mc:Choice xmlns:v="urn:schemas-microsoft-com:vml" Requires="v">
                <p:oleObj name="Equation" r:id="rId2" imgW="3466800" imgH="583920" progId="Equation.DSMT4">
                  <p:embed/>
                </p:oleObj>
              </mc:Choice>
              <mc:Fallback>
                <p:oleObj name="Equation" r:id="rId2" imgW="3466800" imgH="583920" progId="Equation.DSMT4">
                  <p:embed/>
                  <p:pic>
                    <p:nvPicPr>
                      <p:cNvPr id="0" name=""/>
                      <p:cNvPicPr/>
                      <p:nvPr/>
                    </p:nvPicPr>
                    <p:blipFill>
                      <a:blip r:embed="rId3"/>
                      <a:stretch>
                        <a:fillRect/>
                      </a:stretch>
                    </p:blipFill>
                    <p:spPr>
                      <a:xfrm>
                        <a:off x="1331913" y="1851025"/>
                        <a:ext cx="7815262" cy="1058863"/>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90D7980B-29A7-49E6-A675-F1286BA2EDB6}"/>
              </a:ext>
            </a:extLst>
          </p:cNvPr>
          <p:cNvGraphicFramePr>
            <a:graphicFrameLocks noChangeAspect="1"/>
          </p:cNvGraphicFramePr>
          <p:nvPr>
            <p:extLst>
              <p:ext uri="{D42A27DB-BD31-4B8C-83A1-F6EECF244321}">
                <p14:modId xmlns:p14="http://schemas.microsoft.com/office/powerpoint/2010/main" val="900322829"/>
              </p:ext>
            </p:extLst>
          </p:nvPr>
        </p:nvGraphicFramePr>
        <p:xfrm>
          <a:off x="6324361" y="5638800"/>
          <a:ext cx="990600" cy="457200"/>
        </p:xfrm>
        <a:graphic>
          <a:graphicData uri="http://schemas.openxmlformats.org/presentationml/2006/ole">
            <mc:AlternateContent xmlns:mc="http://schemas.openxmlformats.org/markup-compatibility/2006">
              <mc:Choice xmlns:v="urn:schemas-microsoft-com:vml" Requires="v">
                <p:oleObj name="Equation" r:id="rId4" imgW="990360" imgH="457200" progId="Equation.DSMT4">
                  <p:embed/>
                </p:oleObj>
              </mc:Choice>
              <mc:Fallback>
                <p:oleObj name="Equation" r:id="rId4" imgW="990360" imgH="457200" progId="Equation.DSMT4">
                  <p:embed/>
                  <p:pic>
                    <p:nvPicPr>
                      <p:cNvPr id="0" name=""/>
                      <p:cNvPicPr/>
                      <p:nvPr/>
                    </p:nvPicPr>
                    <p:blipFill>
                      <a:blip r:embed="rId5"/>
                      <a:stretch>
                        <a:fillRect/>
                      </a:stretch>
                    </p:blipFill>
                    <p:spPr>
                      <a:xfrm>
                        <a:off x="6324361" y="5638800"/>
                        <a:ext cx="990600" cy="457200"/>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BD366F32-E244-45F8-BD94-76988298CC84}"/>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4139905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62789-E83B-478C-8A8E-910389D3DB48}"/>
              </a:ext>
            </a:extLst>
          </p:cNvPr>
          <p:cNvSpPr>
            <a:spLocks noGrp="1"/>
          </p:cNvSpPr>
          <p:nvPr>
            <p:ph type="title"/>
          </p:nvPr>
        </p:nvSpPr>
        <p:spPr/>
        <p:txBody>
          <a:bodyPr/>
          <a:lstStyle/>
          <a:p>
            <a:r>
              <a:rPr lang="en-US" dirty="0"/>
              <a:t>Parameters of Normal Distribution</a:t>
            </a:r>
          </a:p>
        </p:txBody>
      </p:sp>
      <p:sp>
        <p:nvSpPr>
          <p:cNvPr id="3" name="Content Placeholder 2">
            <a:extLst>
              <a:ext uri="{FF2B5EF4-FFF2-40B4-BE49-F238E27FC236}">
                <a16:creationId xmlns:a16="http://schemas.microsoft.com/office/drawing/2014/main" id="{5040CA89-A562-4DC3-869D-FA9D4AEA74E7}"/>
              </a:ext>
            </a:extLst>
          </p:cNvPr>
          <p:cNvSpPr>
            <a:spLocks noGrp="1"/>
          </p:cNvSpPr>
          <p:nvPr>
            <p:ph idx="1"/>
          </p:nvPr>
        </p:nvSpPr>
        <p:spPr/>
        <p:txBody>
          <a:bodyPr>
            <a:normAutofit/>
          </a:bodyPr>
          <a:lstStyle/>
          <a:p>
            <a:pPr marL="45720" indent="0">
              <a:buNone/>
            </a:pPr>
            <a:r>
              <a:rPr lang="en-US" sz="2400" dirty="0">
                <a:effectLst/>
                <a:latin typeface="Calibri" panose="020F0502020204030204" pitchFamily="34" charset="0"/>
                <a:ea typeface="Times New Roman" panose="02020603050405020304" pitchFamily="18" charset="0"/>
                <a:cs typeface="Calibri" panose="020F0502020204030204" pitchFamily="34" charset="0"/>
              </a:rPr>
              <a:t>To define particular normal distribution, we need only two parameters-the population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mean (µ)</a:t>
            </a:r>
            <a:r>
              <a:rPr lang="en-US" sz="2400" dirty="0">
                <a:effectLst/>
                <a:latin typeface="Calibri" panose="020F0502020204030204" pitchFamily="34" charset="0"/>
                <a:ea typeface="Times New Roman" panose="02020603050405020304" pitchFamily="18" charset="0"/>
                <a:cs typeface="Calibri" panose="020F0502020204030204" pitchFamily="34" charset="0"/>
              </a:rPr>
              <a:t> and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population standard deviation (σ). </a:t>
            </a:r>
            <a:r>
              <a:rPr lang="en-US" sz="2400" dirty="0">
                <a:effectLst/>
                <a:latin typeface="Calibri" panose="020F0502020204030204" pitchFamily="34" charset="0"/>
                <a:ea typeface="Times New Roman" panose="02020603050405020304" pitchFamily="18" charset="0"/>
                <a:cs typeface="Calibri" panose="020F0502020204030204" pitchFamily="34" charset="0"/>
              </a:rPr>
              <a:t>In other words, a different normal distribution is specified for each different value of µ and σ. </a:t>
            </a:r>
          </a:p>
          <a:p>
            <a:pPr marL="45720" indent="0">
              <a:buNone/>
            </a:pPr>
            <a:r>
              <a:rPr lang="en-US" sz="2400" dirty="0">
                <a:effectLst/>
                <a:latin typeface="Calibri" panose="020F0502020204030204" pitchFamily="34" charset="0"/>
                <a:ea typeface="Times New Roman" panose="02020603050405020304" pitchFamily="18" charset="0"/>
                <a:cs typeface="Calibri" panose="020F0502020204030204" pitchFamily="34" charset="0"/>
              </a:rPr>
              <a:t>The two normal distributions having same mean but different standard deviations have different shape of normal curve. The curve with large σ is lower at the mean and spreads wider and value of X that are far from the mean are more frequent. </a:t>
            </a:r>
          </a:p>
          <a:p>
            <a:pPr marL="45720" indent="0">
              <a:buNone/>
            </a:pPr>
            <a:r>
              <a:rPr lang="en-US" sz="2400" dirty="0">
                <a:latin typeface="Calibri" panose="020F0502020204030204" pitchFamily="34" charset="0"/>
                <a:cs typeface="Calibri" panose="020F0502020204030204" pitchFamily="34" charset="0"/>
              </a:rPr>
              <a:t>Parameter µ is called location parameter and </a:t>
            </a:r>
            <a:r>
              <a:rPr lang="el-GR" sz="2400" dirty="0">
                <a:latin typeface="Calibri" panose="020F0502020204030204" pitchFamily="34" charset="0"/>
                <a:cs typeface="Calibri" panose="020F0502020204030204" pitchFamily="34" charset="0"/>
              </a:rPr>
              <a:t>σ</a:t>
            </a:r>
            <a:r>
              <a:rPr lang="en-US" sz="2400" dirty="0">
                <a:latin typeface="Calibri" panose="020F0502020204030204" pitchFamily="34" charset="0"/>
                <a:cs typeface="Calibri" panose="020F0502020204030204" pitchFamily="34" charset="0"/>
              </a:rPr>
              <a:t> is called size parameter. The parameter </a:t>
            </a:r>
            <a:r>
              <a:rPr lang="el-GR" sz="2400" dirty="0">
                <a:latin typeface="Calibri" panose="020F0502020204030204" pitchFamily="34" charset="0"/>
                <a:cs typeface="Calibri" panose="020F0502020204030204" pitchFamily="34" charset="0"/>
              </a:rPr>
              <a:t>σ</a:t>
            </a:r>
            <a:r>
              <a:rPr lang="en-US" sz="2400" dirty="0">
                <a:latin typeface="Calibri" panose="020F0502020204030204" pitchFamily="34" charset="0"/>
                <a:cs typeface="Calibri" panose="020F0502020204030204" pitchFamily="34" charset="0"/>
              </a:rPr>
              <a:t> determines the peakedness and flatness of the normal curve.</a:t>
            </a:r>
          </a:p>
        </p:txBody>
      </p:sp>
      <p:sp>
        <p:nvSpPr>
          <p:cNvPr id="4" name="Footer Placeholder 3">
            <a:extLst>
              <a:ext uri="{FF2B5EF4-FFF2-40B4-BE49-F238E27FC236}">
                <a16:creationId xmlns:a16="http://schemas.microsoft.com/office/drawing/2014/main" id="{0135BC5F-6DE1-429F-AA92-66E7118E647F}"/>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243966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C7FD-A97A-4B30-8D6F-68A355D4742D}"/>
              </a:ext>
            </a:extLst>
          </p:cNvPr>
          <p:cNvSpPr>
            <a:spLocks noGrp="1"/>
          </p:cNvSpPr>
          <p:nvPr>
            <p:ph type="title"/>
          </p:nvPr>
        </p:nvSpPr>
        <p:spPr>
          <a:xfrm>
            <a:off x="728932" y="588034"/>
            <a:ext cx="9875520" cy="347932"/>
          </a:xfrm>
        </p:spPr>
        <p:txBody>
          <a:bodyPr>
            <a:normAutofit fontScale="90000"/>
          </a:bodyPr>
          <a:lstStyle/>
          <a:p>
            <a:r>
              <a:rPr lang="en-US" sz="2400" b="1" dirty="0">
                <a:latin typeface="Calibri" panose="020F0502020204030204" pitchFamily="34" charset="0"/>
                <a:cs typeface="Calibri" panose="020F0502020204030204" pitchFamily="34" charset="0"/>
              </a:rPr>
              <a:t>Area property of Normal Distribution</a:t>
            </a:r>
          </a:p>
        </p:txBody>
      </p:sp>
      <p:sp>
        <p:nvSpPr>
          <p:cNvPr id="3" name="Content Placeholder 2">
            <a:extLst>
              <a:ext uri="{FF2B5EF4-FFF2-40B4-BE49-F238E27FC236}">
                <a16:creationId xmlns:a16="http://schemas.microsoft.com/office/drawing/2014/main" id="{8E26FE6F-85D8-4996-9E2D-82586D72C8EE}"/>
              </a:ext>
            </a:extLst>
          </p:cNvPr>
          <p:cNvSpPr>
            <a:spLocks noGrp="1"/>
          </p:cNvSpPr>
          <p:nvPr>
            <p:ph idx="1"/>
          </p:nvPr>
        </p:nvSpPr>
        <p:spPr>
          <a:xfrm>
            <a:off x="728932" y="1207698"/>
            <a:ext cx="10821838" cy="4888302"/>
          </a:xfrm>
        </p:spPr>
        <p:txBody>
          <a:bodyPr>
            <a:normAutofit fontScale="92500" lnSpcReduction="10000"/>
          </a:bodyPr>
          <a:lstStyle/>
          <a:p>
            <a:pPr marL="45720" indent="0">
              <a:buNone/>
            </a:pPr>
            <a:r>
              <a:rPr lang="en-US" b="0" i="0" dirty="0">
                <a:solidFill>
                  <a:srgbClr val="3399FF"/>
                </a:solidFill>
                <a:effectLst/>
                <a:latin typeface="Noto Sans"/>
              </a:rPr>
              <a:t>The empirical rule in statistics allows researchers to determine the proportion of values that fall within certain distances from the mean.</a:t>
            </a:r>
          </a:p>
          <a:p>
            <a:pPr marL="45720" indent="0">
              <a:buNone/>
            </a:pPr>
            <a:r>
              <a:rPr lang="en-US" b="0" i="0" dirty="0">
                <a:solidFill>
                  <a:srgbClr val="3399FF"/>
                </a:solidFill>
                <a:effectLst/>
                <a:latin typeface="Noto Sans"/>
              </a:rPr>
              <a:t>If the data values in a normal distribution are converted to </a:t>
            </a:r>
            <a:r>
              <a:rPr lang="en-US" b="0" i="0" u="none" strike="noStrike" dirty="0">
                <a:solidFill>
                  <a:srgbClr val="3399FF"/>
                </a:solidFill>
                <a:effectLst/>
                <a:latin typeface="Noto Sans"/>
              </a:rPr>
              <a:t>Z-scores</a:t>
            </a:r>
            <a:r>
              <a:rPr lang="en-US" b="0" i="0" dirty="0">
                <a:solidFill>
                  <a:srgbClr val="3399FF"/>
                </a:solidFill>
                <a:effectLst/>
                <a:latin typeface="Noto Sans"/>
              </a:rPr>
              <a:t> in a standard normal distribution the empirical rule describes the percentage of the data that fall within specific numbers of standard deviations (σ) from the mean (μ) for bell-shaped curves.</a:t>
            </a:r>
          </a:p>
          <a:p>
            <a:pPr marL="45720" indent="0">
              <a:buNone/>
            </a:pPr>
            <a:r>
              <a:rPr lang="en-US" dirty="0">
                <a:solidFill>
                  <a:srgbClr val="3399FF"/>
                </a:solidFill>
              </a:rPr>
              <a:t>For any normally distributed population</a:t>
            </a:r>
          </a:p>
          <a:p>
            <a:pPr marL="502920" indent="-457200">
              <a:buAutoNum type="alphaLcParenBoth"/>
            </a:pPr>
            <a:r>
              <a:rPr lang="en-US" dirty="0">
                <a:solidFill>
                  <a:srgbClr val="3399FF"/>
                </a:solidFill>
              </a:rPr>
              <a:t>68.26 % or roughly two-third of all the observations lie in the interval µ ± σ. Out of remaining 31.74 % or roughly one-third of observations, half i.e. 15.58 % or roughly one-sixth will lie below the lower limit µ - σ and other half i.e. 15.58 % will be above the upper limit µ + σ.</a:t>
            </a:r>
          </a:p>
          <a:p>
            <a:pPr marL="502920" indent="-457200">
              <a:buAutoNum type="alphaLcParenBoth"/>
            </a:pPr>
            <a:r>
              <a:rPr lang="en-US" dirty="0">
                <a:solidFill>
                  <a:srgbClr val="3399FF"/>
                </a:solidFill>
              </a:rPr>
              <a:t>95.44 % of all the observations lie in the interval µ ± 2σ, while 4.56 % of observations will be outside the limits i.e. values differ from the mean by more than twice the standard deviation is being only 4.56 %.</a:t>
            </a:r>
          </a:p>
          <a:p>
            <a:pPr marL="502920" indent="-457200">
              <a:buAutoNum type="alphaLcParenBoth"/>
            </a:pPr>
            <a:r>
              <a:rPr lang="en-US" dirty="0">
                <a:solidFill>
                  <a:srgbClr val="3399FF"/>
                </a:solidFill>
              </a:rPr>
              <a:t>The limits µ ± 3σ include 99.74 % of all observations. Chance of values being higher than µ + 3σ and the lower than µ - 3σ is very rare and it is only 0.26 %. </a:t>
            </a:r>
          </a:p>
        </p:txBody>
      </p:sp>
      <p:sp>
        <p:nvSpPr>
          <p:cNvPr id="4" name="Footer Placeholder 3">
            <a:extLst>
              <a:ext uri="{FF2B5EF4-FFF2-40B4-BE49-F238E27FC236}">
                <a16:creationId xmlns:a16="http://schemas.microsoft.com/office/drawing/2014/main" id="{A2E7EF42-FB1F-48ED-B2BF-3299FA042C61}"/>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3010878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14E6662-FE08-42E8-AA7A-459D6D51BE56}"/>
              </a:ext>
            </a:extLst>
          </p:cNvPr>
          <p:cNvPicPr>
            <a:picLocks noGrp="1" noChangeAspect="1"/>
          </p:cNvPicPr>
          <p:nvPr>
            <p:ph idx="1"/>
          </p:nvPr>
        </p:nvPicPr>
        <p:blipFill>
          <a:blip r:embed="rId2"/>
          <a:stretch>
            <a:fillRect/>
          </a:stretch>
        </p:blipFill>
        <p:spPr>
          <a:xfrm>
            <a:off x="1992702" y="948905"/>
            <a:ext cx="6849374" cy="4753155"/>
          </a:xfrm>
        </p:spPr>
      </p:pic>
      <p:sp>
        <p:nvSpPr>
          <p:cNvPr id="2" name="Footer Placeholder 1">
            <a:extLst>
              <a:ext uri="{FF2B5EF4-FFF2-40B4-BE49-F238E27FC236}">
                <a16:creationId xmlns:a16="http://schemas.microsoft.com/office/drawing/2014/main" id="{03806D0F-41DC-4A9E-B302-559FD420C830}"/>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1395359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B90D-A1B7-42F2-BCBC-55CF7580E9A4}"/>
              </a:ext>
            </a:extLst>
          </p:cNvPr>
          <p:cNvSpPr>
            <a:spLocks noGrp="1"/>
          </p:cNvSpPr>
          <p:nvPr>
            <p:ph type="title"/>
          </p:nvPr>
        </p:nvSpPr>
        <p:spPr>
          <a:xfrm>
            <a:off x="789317" y="562154"/>
            <a:ext cx="9875520" cy="399691"/>
          </a:xfrm>
        </p:spPr>
        <p:txBody>
          <a:bodyPr>
            <a:normAutofit fontScale="90000"/>
          </a:bodyPr>
          <a:lstStyle/>
          <a:p>
            <a:r>
              <a:rPr lang="en-US" sz="2800" b="1" dirty="0"/>
              <a:t>Standard Normal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3927B4-BFAA-43B9-B029-CDD5531A4B4A}"/>
                  </a:ext>
                </a:extLst>
              </p:cNvPr>
              <p:cNvSpPr>
                <a:spLocks noGrp="1"/>
              </p:cNvSpPr>
              <p:nvPr>
                <p:ph idx="1"/>
              </p:nvPr>
            </p:nvSpPr>
            <p:spPr>
              <a:xfrm>
                <a:off x="789317" y="1302589"/>
                <a:ext cx="10735573" cy="4793411"/>
              </a:xfrm>
            </p:spPr>
            <p:txBody>
              <a:bodyPr/>
              <a:lstStyle/>
              <a:p>
                <a:pPr marL="45720" indent="0">
                  <a:buNone/>
                </a:pPr>
                <a:r>
                  <a:rPr lang="en-US" sz="1800" dirty="0">
                    <a:effectLst/>
                    <a:latin typeface="Calibri" panose="020F0502020204030204" pitchFamily="34" charset="0"/>
                    <a:ea typeface="Times New Roman" panose="02020603050405020304" pitchFamily="18" charset="0"/>
                  </a:rPr>
                  <a:t>Any non-standard normal distribution with either µ ≠ 0, σ ≠ 1 or both, can be converted to standard normal distribution by using the transformation formula.</a:t>
                </a:r>
              </a:p>
              <a:p>
                <a:pPr marL="45720" indent="0">
                  <a:buNone/>
                </a:pPr>
                <a:endParaRPr lang="en-US" sz="1800" dirty="0">
                  <a:latin typeface="Calibri" panose="020F0502020204030204" pitchFamily="34" charset="0"/>
                  <a:ea typeface="Times New Roman" panose="02020603050405020304" pitchFamily="18" charset="0"/>
                </a:endParaRPr>
              </a:p>
              <a:p>
                <a:pPr marL="45720" indent="0">
                  <a:buNone/>
                </a:pPr>
                <a:endParaRPr lang="en-US" sz="1800" dirty="0">
                  <a:effectLst/>
                  <a:latin typeface="Calibri" panose="020F0502020204030204" pitchFamily="34" charset="0"/>
                  <a:ea typeface="Times New Roman" panose="02020603050405020304" pitchFamily="18" charset="0"/>
                </a:endParaRPr>
              </a:p>
              <a:p>
                <a:pPr marL="45720" indent="0">
                  <a:buNone/>
                </a:pPr>
                <a:endParaRPr lang="en-US" sz="1800" dirty="0">
                  <a:latin typeface="Calibri" panose="020F0502020204030204" pitchFamily="34" charset="0"/>
                  <a:ea typeface="Times New Roman" panose="02020603050405020304" pitchFamily="18" charset="0"/>
                </a:endParaRPr>
              </a:p>
              <a:p>
                <a:pPr marL="45720" indent="0">
                  <a:buNone/>
                </a:pPr>
                <a:r>
                  <a:rPr lang="en-US" sz="1800" dirty="0">
                    <a:effectLst/>
                    <a:latin typeface="Calibri" panose="020F0502020204030204" pitchFamily="34" charset="0"/>
                    <a:ea typeface="Times New Roman" panose="02020603050405020304" pitchFamily="18" charset="0"/>
                  </a:rPr>
                  <a:t>Note:</a:t>
                </a:r>
              </a:p>
              <a:p>
                <a:pPr marL="388620" indent="-342900">
                  <a:buAutoNum type="arabicPeriod"/>
                </a:pPr>
                <a:r>
                  <a:rPr lang="en-US" sz="1800" dirty="0">
                    <a:latin typeface="Calibri" panose="020F0502020204030204" pitchFamily="34" charset="0"/>
                    <a:ea typeface="Times New Roman" panose="02020603050405020304" pitchFamily="18" charset="0"/>
                  </a:rPr>
                  <a:t>The mean of standard normal variable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µ</m:t>
                        </m:r>
                      </m:e>
                      <m:sub>
                        <m:r>
                          <a:rPr lang="en-US" sz="1800" b="0" i="1" smtClean="0">
                            <a:latin typeface="Cambria Math" panose="02040503050406030204" pitchFamily="18" charset="0"/>
                          </a:rPr>
                          <m:t>𝑍</m:t>
                        </m:r>
                      </m:sub>
                    </m:sSub>
                    <m:r>
                      <a:rPr lang="en-US" sz="1800" b="0" i="1" smtClean="0">
                        <a:latin typeface="Cambria Math" panose="02040503050406030204" pitchFamily="18" charset="0"/>
                      </a:rPr>
                      <m:t>)</m:t>
                    </m:r>
                  </m:oMath>
                </a14:m>
                <a:r>
                  <a:rPr lang="en-US" sz="1800" dirty="0">
                    <a:effectLst/>
                    <a:latin typeface="Times New Roman" panose="02020603050405020304" pitchFamily="18" charset="0"/>
                    <a:ea typeface="Times New Roman" panose="02020603050405020304" pitchFamily="18" charset="0"/>
                  </a:rPr>
                  <a:t> = 0</a:t>
                </a:r>
              </a:p>
              <a:p>
                <a:pPr marL="388620" indent="-342900">
                  <a:buAutoNum type="arabicPeriod"/>
                </a:pPr>
                <a:r>
                  <a:rPr lang="en-US" sz="1800" dirty="0">
                    <a:latin typeface="Times New Roman" panose="02020603050405020304" pitchFamily="18" charset="0"/>
                    <a:ea typeface="Times New Roman" panose="02020603050405020304" pitchFamily="18" charset="0"/>
                  </a:rPr>
                  <a:t>The standard deviation of standard normal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𝜎</m:t>
                        </m:r>
                      </m:e>
                      <m:sub>
                        <m:r>
                          <a:rPr lang="en-US" sz="1800" b="0" i="1" smtClean="0">
                            <a:latin typeface="Cambria Math" panose="02040503050406030204" pitchFamily="18" charset="0"/>
                          </a:rPr>
                          <m:t>𝑍</m:t>
                        </m:r>
                      </m:sub>
                    </m:sSub>
                    <m:r>
                      <a:rPr lang="en-US" sz="1800" b="0" i="1" smtClean="0">
                        <a:latin typeface="Cambria Math" panose="02040503050406030204" pitchFamily="18" charset="0"/>
                      </a:rPr>
                      <m:t>)</m:t>
                    </m:r>
                  </m:oMath>
                </a14:m>
                <a:r>
                  <a:rPr lang="en-US" sz="1800" dirty="0">
                    <a:effectLst/>
                    <a:latin typeface="Times New Roman" panose="02020603050405020304" pitchFamily="18" charset="0"/>
                    <a:ea typeface="Times New Roman" panose="02020603050405020304" pitchFamily="18" charset="0"/>
                  </a:rPr>
                  <a:t> = 1</a:t>
                </a:r>
              </a:p>
              <a:p>
                <a:pPr marL="388620" indent="-342900">
                  <a:buAutoNum type="arabicPeriod"/>
                </a:pPr>
                <a:r>
                  <a:rPr lang="en-US" sz="1800" dirty="0">
                    <a:latin typeface="Times New Roman" panose="02020603050405020304" pitchFamily="18" charset="0"/>
                    <a:ea typeface="Times New Roman" panose="02020603050405020304" pitchFamily="18" charset="0"/>
                  </a:rPr>
                  <a:t>The z-scores ranges from -3 to +3 (most of the time). The extended range is </a:t>
                </a:r>
                <a:r>
                  <a:rPr lang="en-US" sz="1800" dirty="0">
                    <a:latin typeface="Century Gothic" panose="020B0502020202020204" pitchFamily="34" charset="0"/>
                    <a:ea typeface="Times New Roman" panose="02020603050405020304" pitchFamily="18" charset="0"/>
                  </a:rPr>
                  <a:t>± 5.</a:t>
                </a:r>
                <a:endParaRPr lang="en-US" sz="1800" dirty="0">
                  <a:effectLst/>
                  <a:latin typeface="Times New Roman" panose="02020603050405020304" pitchFamily="18" charset="0"/>
                  <a:ea typeface="Times New Roman" panose="02020603050405020304" pitchFamily="18" charset="0"/>
                </a:endParaRPr>
              </a:p>
              <a:p>
                <a:pPr marL="45720" indent="0">
                  <a:buNone/>
                </a:pPr>
                <a:r>
                  <a:rPr lang="en-US" dirty="0"/>
                  <a:t>	</a:t>
                </a:r>
              </a:p>
            </p:txBody>
          </p:sp>
        </mc:Choice>
        <mc:Fallback xmlns="">
          <p:sp>
            <p:nvSpPr>
              <p:cNvPr id="3" name="Content Placeholder 2">
                <a:extLst>
                  <a:ext uri="{FF2B5EF4-FFF2-40B4-BE49-F238E27FC236}">
                    <a16:creationId xmlns:a16="http://schemas.microsoft.com/office/drawing/2014/main" id="{BE3927B4-BFAA-43B9-B029-CDD5531A4B4A}"/>
                  </a:ext>
                </a:extLst>
              </p:cNvPr>
              <p:cNvSpPr>
                <a:spLocks noGrp="1" noRot="1" noChangeAspect="1" noMove="1" noResize="1" noEditPoints="1" noAdjustHandles="1" noChangeArrowheads="1" noChangeShapeType="1" noTextEdit="1"/>
              </p:cNvSpPr>
              <p:nvPr>
                <p:ph idx="1"/>
              </p:nvPr>
            </p:nvSpPr>
            <p:spPr>
              <a:xfrm>
                <a:off x="789317" y="1302589"/>
                <a:ext cx="10735573" cy="4793411"/>
              </a:xfrm>
              <a:blipFill>
                <a:blip r:embed="rId3"/>
                <a:stretch>
                  <a:fillRect t="-1272"/>
                </a:stretch>
              </a:blipFill>
            </p:spPr>
            <p:txBody>
              <a:bodyPr/>
              <a:lstStyle/>
              <a:p>
                <a:r>
                  <a:rPr lang="en-US">
                    <a:noFill/>
                  </a:rPr>
                  <a:t> </a:t>
                </a:r>
              </a:p>
            </p:txBody>
          </p:sp>
        </mc:Fallback>
      </mc:AlternateContent>
      <p:graphicFrame>
        <p:nvGraphicFramePr>
          <p:cNvPr id="6" name="Object 5">
            <a:extLst>
              <a:ext uri="{FF2B5EF4-FFF2-40B4-BE49-F238E27FC236}">
                <a16:creationId xmlns:a16="http://schemas.microsoft.com/office/drawing/2014/main" id="{E53230BC-A41F-4129-879E-1C204EFD9D39}"/>
              </a:ext>
            </a:extLst>
          </p:cNvPr>
          <p:cNvGraphicFramePr>
            <a:graphicFrameLocks noChangeAspect="1"/>
          </p:cNvGraphicFramePr>
          <p:nvPr>
            <p:extLst>
              <p:ext uri="{D42A27DB-BD31-4B8C-83A1-F6EECF244321}">
                <p14:modId xmlns:p14="http://schemas.microsoft.com/office/powerpoint/2010/main" val="567706468"/>
              </p:ext>
            </p:extLst>
          </p:nvPr>
        </p:nvGraphicFramePr>
        <p:xfrm>
          <a:off x="2038350" y="2120240"/>
          <a:ext cx="3818986" cy="812741"/>
        </p:xfrm>
        <a:graphic>
          <a:graphicData uri="http://schemas.openxmlformats.org/presentationml/2006/ole">
            <mc:AlternateContent xmlns:mc="http://schemas.openxmlformats.org/markup-compatibility/2006">
              <mc:Choice xmlns:v="urn:schemas-microsoft-com:vml" Requires="v">
                <p:oleObj name="Equation" r:id="rId4" imgW="1815840" imgH="431640" progId="Equation.DSMT4">
                  <p:embed/>
                </p:oleObj>
              </mc:Choice>
              <mc:Fallback>
                <p:oleObj name="Equation" r:id="rId4" imgW="1815840" imgH="431640" progId="Equation.DSMT4">
                  <p:embed/>
                  <p:pic>
                    <p:nvPicPr>
                      <p:cNvPr id="0" name=""/>
                      <p:cNvPicPr/>
                      <p:nvPr/>
                    </p:nvPicPr>
                    <p:blipFill>
                      <a:blip r:embed="rId5"/>
                      <a:stretch>
                        <a:fillRect/>
                      </a:stretch>
                    </p:blipFill>
                    <p:spPr>
                      <a:xfrm>
                        <a:off x="2038350" y="2120240"/>
                        <a:ext cx="3818986" cy="812741"/>
                      </a:xfrm>
                      <a:prstGeom prst="rect">
                        <a:avLst/>
                      </a:prstGeom>
                    </p:spPr>
                  </p:pic>
                </p:oleObj>
              </mc:Fallback>
            </mc:AlternateContent>
          </a:graphicData>
        </a:graphic>
      </p:graphicFrame>
      <p:sp>
        <p:nvSpPr>
          <p:cNvPr id="4" name="Footer Placeholder 3">
            <a:extLst>
              <a:ext uri="{FF2B5EF4-FFF2-40B4-BE49-F238E27FC236}">
                <a16:creationId xmlns:a16="http://schemas.microsoft.com/office/drawing/2014/main" id="{9CA9F41C-7C59-43C2-9745-5804B601A5E0}"/>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2680534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5D457-7CD5-47E3-8481-9FEDC481EED1}"/>
              </a:ext>
            </a:extLst>
          </p:cNvPr>
          <p:cNvSpPr>
            <a:spLocks noGrp="1"/>
          </p:cNvSpPr>
          <p:nvPr>
            <p:ph type="title"/>
          </p:nvPr>
        </p:nvSpPr>
        <p:spPr>
          <a:xfrm>
            <a:off x="1143000" y="609600"/>
            <a:ext cx="10252494" cy="977660"/>
          </a:xfrm>
        </p:spPr>
        <p:txBody>
          <a:bodyPr>
            <a:normAutofit/>
          </a:bodyPr>
          <a:lstStyle/>
          <a:p>
            <a:r>
              <a:rPr lang="en-US" sz="3200" b="1" dirty="0"/>
              <a:t>How can I check if my data follows a </a:t>
            </a:r>
            <a:r>
              <a:rPr lang="en-US" sz="3200" b="1"/>
              <a:t>normal distribution?</a:t>
            </a:r>
            <a:endParaRPr lang="en-US" sz="3200" b="1" dirty="0"/>
          </a:p>
        </p:txBody>
      </p:sp>
      <p:sp>
        <p:nvSpPr>
          <p:cNvPr id="3" name="Content Placeholder 2">
            <a:extLst>
              <a:ext uri="{FF2B5EF4-FFF2-40B4-BE49-F238E27FC236}">
                <a16:creationId xmlns:a16="http://schemas.microsoft.com/office/drawing/2014/main" id="{36305D78-86BB-4D4A-AD1A-F5202A95A73F}"/>
              </a:ext>
            </a:extLst>
          </p:cNvPr>
          <p:cNvSpPr>
            <a:spLocks noGrp="1"/>
          </p:cNvSpPr>
          <p:nvPr>
            <p:ph sz="half" idx="1"/>
          </p:nvPr>
        </p:nvSpPr>
        <p:spPr/>
        <p:txBody>
          <a:bodyPr>
            <a:normAutofit/>
          </a:bodyPr>
          <a:lstStyle/>
          <a:p>
            <a:pPr marL="45720" indent="0">
              <a:buNone/>
            </a:pPr>
            <a:r>
              <a:rPr lang="en-US" sz="2800" dirty="0"/>
              <a:t>Graphical tools:</a:t>
            </a:r>
          </a:p>
          <a:p>
            <a:pPr marL="502920" indent="-457200">
              <a:buAutoNum type="arabicPeriod"/>
            </a:pPr>
            <a:r>
              <a:rPr lang="en-US" sz="2800" dirty="0"/>
              <a:t>Histogram</a:t>
            </a:r>
          </a:p>
          <a:p>
            <a:pPr marL="502920" indent="-457200">
              <a:buAutoNum type="arabicPeriod"/>
            </a:pPr>
            <a:r>
              <a:rPr lang="en-US" sz="2800" dirty="0"/>
              <a:t>Box-and-Whisker plot</a:t>
            </a:r>
          </a:p>
          <a:p>
            <a:pPr marL="502920" indent="-457200">
              <a:buAutoNum type="arabicPeriod"/>
            </a:pPr>
            <a:r>
              <a:rPr lang="en-US" sz="2800" dirty="0"/>
              <a:t>P-P plot</a:t>
            </a:r>
          </a:p>
          <a:p>
            <a:pPr marL="502920" indent="-457200">
              <a:buAutoNum type="arabicPeriod"/>
            </a:pPr>
            <a:r>
              <a:rPr lang="en-US" sz="2800" dirty="0"/>
              <a:t>Q-Q plot</a:t>
            </a:r>
          </a:p>
        </p:txBody>
      </p:sp>
      <p:sp>
        <p:nvSpPr>
          <p:cNvPr id="4" name="Content Placeholder 3">
            <a:extLst>
              <a:ext uri="{FF2B5EF4-FFF2-40B4-BE49-F238E27FC236}">
                <a16:creationId xmlns:a16="http://schemas.microsoft.com/office/drawing/2014/main" id="{6DE0E181-7826-4865-B6FE-DCCB44C0D6D8}"/>
              </a:ext>
            </a:extLst>
          </p:cNvPr>
          <p:cNvSpPr>
            <a:spLocks noGrp="1"/>
          </p:cNvSpPr>
          <p:nvPr>
            <p:ph sz="half" idx="2"/>
          </p:nvPr>
        </p:nvSpPr>
        <p:spPr>
          <a:xfrm>
            <a:off x="6267612" y="2057400"/>
            <a:ext cx="5127882" cy="4023360"/>
          </a:xfrm>
        </p:spPr>
        <p:txBody>
          <a:bodyPr/>
          <a:lstStyle/>
          <a:p>
            <a:pPr marL="45720" indent="0">
              <a:buNone/>
            </a:pPr>
            <a:r>
              <a:rPr lang="en-US" sz="2800" dirty="0"/>
              <a:t>Statistical test</a:t>
            </a:r>
          </a:p>
          <a:p>
            <a:pPr marL="502920" indent="-457200">
              <a:buAutoNum type="arabicPeriod"/>
            </a:pPr>
            <a:r>
              <a:rPr lang="en-US" sz="2800" dirty="0"/>
              <a:t>Chi-square test of goodness of fit</a:t>
            </a:r>
          </a:p>
          <a:p>
            <a:pPr marL="502920" indent="-457200">
              <a:buAutoNum type="arabicPeriod"/>
            </a:pPr>
            <a:r>
              <a:rPr lang="en-US" sz="2800" dirty="0"/>
              <a:t>Kolmogorov-Smirnov (KS) test</a:t>
            </a:r>
          </a:p>
          <a:p>
            <a:pPr marL="502920" indent="-457200">
              <a:buAutoNum type="arabicPeriod"/>
            </a:pPr>
            <a:r>
              <a:rPr lang="en-US" sz="2800" dirty="0"/>
              <a:t>Lilliefors test</a:t>
            </a:r>
          </a:p>
          <a:p>
            <a:pPr marL="502920" indent="-457200">
              <a:buAutoNum type="arabicPeriod"/>
            </a:pPr>
            <a:r>
              <a:rPr lang="en-US" sz="2800" dirty="0"/>
              <a:t>Shapiro Wilk test</a:t>
            </a:r>
          </a:p>
          <a:p>
            <a:pPr marL="45720" indent="0">
              <a:buNone/>
            </a:pPr>
            <a:endParaRPr lang="en-US" dirty="0"/>
          </a:p>
        </p:txBody>
      </p:sp>
      <p:sp>
        <p:nvSpPr>
          <p:cNvPr id="5" name="Footer Placeholder 4">
            <a:extLst>
              <a:ext uri="{FF2B5EF4-FFF2-40B4-BE49-F238E27FC236}">
                <a16:creationId xmlns:a16="http://schemas.microsoft.com/office/drawing/2014/main" id="{2B94B34F-19FA-4BB9-ADB8-BB2BBDB91521}"/>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2007532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00812-A6D0-45CE-ABA7-84BFAC3537CB}"/>
              </a:ext>
            </a:extLst>
          </p:cNvPr>
          <p:cNvSpPr>
            <a:spLocks noGrp="1"/>
          </p:cNvSpPr>
          <p:nvPr>
            <p:ph type="title"/>
          </p:nvPr>
        </p:nvSpPr>
        <p:spPr>
          <a:xfrm>
            <a:off x="1143000" y="609600"/>
            <a:ext cx="9875520" cy="701615"/>
          </a:xfrm>
        </p:spPr>
        <p:txBody>
          <a:bodyPr>
            <a:normAutofit/>
          </a:bodyPr>
          <a:lstStyle/>
          <a:p>
            <a:r>
              <a:rPr lang="en-US" sz="2800" b="1" dirty="0">
                <a:effectLst/>
                <a:latin typeface="Calibri" panose="020F0502020204030204" pitchFamily="34" charset="0"/>
                <a:ea typeface="Times New Roman" panose="02020603050405020304" pitchFamily="18" charset="0"/>
              </a:rPr>
              <a:t>Table of Standard Normal Distribution</a:t>
            </a:r>
            <a:endParaRPr lang="en-US" dirty="0"/>
          </a:p>
        </p:txBody>
      </p:sp>
      <p:sp>
        <p:nvSpPr>
          <p:cNvPr id="3" name="Content Placeholder 2">
            <a:extLst>
              <a:ext uri="{FF2B5EF4-FFF2-40B4-BE49-F238E27FC236}">
                <a16:creationId xmlns:a16="http://schemas.microsoft.com/office/drawing/2014/main" id="{C19A373F-081B-4CBF-9799-9F95A2DACA95}"/>
              </a:ext>
            </a:extLst>
          </p:cNvPr>
          <p:cNvSpPr>
            <a:spLocks noGrp="1"/>
          </p:cNvSpPr>
          <p:nvPr>
            <p:ph idx="1"/>
          </p:nvPr>
        </p:nvSpPr>
        <p:spPr>
          <a:xfrm>
            <a:off x="1000664" y="1578634"/>
            <a:ext cx="10446589" cy="4551872"/>
          </a:xfrm>
        </p:spPr>
        <p:txBody>
          <a:bodyPr/>
          <a:lstStyle/>
          <a:p>
            <a:pPr marL="0" marR="0" indent="0">
              <a:spcBef>
                <a:spcPts val="0"/>
              </a:spcBef>
              <a:spcAft>
                <a:spcPts val="0"/>
              </a:spcAft>
              <a:buNone/>
              <a:tabLst>
                <a:tab pos="228600" algn="l"/>
              </a:tabLst>
            </a:pPr>
            <a:r>
              <a:rPr lang="en-US" sz="1800" dirty="0">
                <a:effectLst/>
                <a:latin typeface="Calibri" panose="020F0502020204030204" pitchFamily="34" charset="0"/>
                <a:ea typeface="Times New Roman" panose="02020603050405020304" pitchFamily="18" charset="0"/>
              </a:rPr>
              <a:t>In Normal Distribution we find three types of probability.</a:t>
            </a:r>
          </a:p>
          <a:p>
            <a:pPr marL="0" marR="0" indent="0">
              <a:spcBef>
                <a:spcPts val="0"/>
              </a:spcBef>
              <a:spcAft>
                <a:spcPts val="0"/>
              </a:spcAft>
              <a:buNone/>
              <a:tabLst>
                <a:tab pos="228600" algn="l"/>
              </a:tabLst>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8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8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8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800" dirty="0">
                <a:effectLst/>
                <a:latin typeface="Calibri" panose="020F0502020204030204" pitchFamily="34" charset="0"/>
                <a:ea typeface="Times New Roman" panose="02020603050405020304" pitchFamily="18" charset="0"/>
              </a:rPr>
              <a:t>There are two principle tables.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tabLst>
                <a:tab pos="228600" algn="l"/>
                <a:tab pos="457200" algn="l"/>
              </a:tabLst>
            </a:pPr>
            <a:r>
              <a:rPr lang="en-US" sz="1800" dirty="0">
                <a:effectLst/>
                <a:latin typeface="Calibri" panose="020F0502020204030204" pitchFamily="34" charset="0"/>
                <a:ea typeface="Times New Roman" panose="02020603050405020304" pitchFamily="18" charset="0"/>
              </a:rPr>
              <a:t>Table of ordinate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tabLst>
                <a:tab pos="228600" algn="l"/>
                <a:tab pos="457200" algn="l"/>
              </a:tabLst>
            </a:pPr>
            <a:r>
              <a:rPr lang="en-US" sz="1800" dirty="0">
                <a:effectLst/>
                <a:latin typeface="Calibri" panose="020F0502020204030204" pitchFamily="34" charset="0"/>
                <a:ea typeface="Times New Roman" panose="02020603050405020304" pitchFamily="18" charset="0"/>
              </a:rPr>
              <a:t>Table of the cumulative distribution</a:t>
            </a:r>
          </a:p>
          <a:p>
            <a:pPr marL="342900" marR="0" lvl="0" indent="-342900">
              <a:spcBef>
                <a:spcPts val="0"/>
              </a:spcBef>
              <a:spcAft>
                <a:spcPts val="0"/>
              </a:spcAft>
              <a:tabLst>
                <a:tab pos="228600" algn="l"/>
                <a:tab pos="457200" algn="l"/>
              </a:tabLst>
            </a:pPr>
            <a:endParaRPr lang="en-US" sz="1800" dirty="0">
              <a:latin typeface="Calibri" panose="020F0502020204030204" pitchFamily="34" charset="0"/>
              <a:ea typeface="Times New Roman" panose="02020603050405020304" pitchFamily="18" charset="0"/>
            </a:endParaRPr>
          </a:p>
          <a:p>
            <a:pPr marL="0" marR="0" lvl="0" indent="0">
              <a:spcBef>
                <a:spcPts val="0"/>
              </a:spcBef>
              <a:spcAft>
                <a:spcPts val="0"/>
              </a:spcAft>
              <a:buNone/>
              <a:tabLst>
                <a:tab pos="228600" algn="l"/>
                <a:tab pos="457200" algn="l"/>
              </a:tabLst>
            </a:pPr>
            <a:r>
              <a:rPr lang="en-US" sz="1800" dirty="0">
                <a:effectLst/>
                <a:latin typeface="Times New Roman" panose="02020603050405020304" pitchFamily="18" charset="0"/>
                <a:ea typeface="Times New Roman" panose="02020603050405020304" pitchFamily="18" charset="0"/>
              </a:rPr>
              <a:t>Procedure for finding probabilities or percentage for given value of X</a:t>
            </a:r>
          </a:p>
          <a:p>
            <a:pPr marL="0" marR="0" lvl="0" indent="0">
              <a:spcBef>
                <a:spcPts val="0"/>
              </a:spcBef>
              <a:spcAft>
                <a:spcPts val="0"/>
              </a:spcAft>
              <a:buNone/>
              <a:tabLst>
                <a:tab pos="228600" algn="l"/>
                <a:tab pos="457200" algn="l"/>
              </a:tabLst>
            </a:pPr>
            <a:r>
              <a:rPr lang="en-US" sz="1800" dirty="0">
                <a:effectLst/>
                <a:latin typeface="Times New Roman" panose="02020603050405020304" pitchFamily="18" charset="0"/>
                <a:ea typeface="Times New Roman" panose="02020603050405020304" pitchFamily="18" charset="0"/>
              </a:rPr>
              <a:t>1.	Sketch the normal curve, level the mean and specific x-values. Shade the region of desired probability.</a:t>
            </a:r>
          </a:p>
          <a:p>
            <a:pPr marL="342900" marR="0" lvl="0" indent="-342900">
              <a:spcBef>
                <a:spcPts val="0"/>
              </a:spcBef>
              <a:spcAft>
                <a:spcPts val="0"/>
              </a:spcAft>
              <a:buAutoNum type="arabicPeriod" startAt="2"/>
              <a:tabLst>
                <a:tab pos="228600" algn="l"/>
                <a:tab pos="457200" algn="l"/>
              </a:tabLst>
            </a:pPr>
            <a:r>
              <a:rPr lang="en-US" sz="1800" dirty="0">
                <a:effectLst/>
                <a:latin typeface="Times New Roman" panose="02020603050405020304" pitchFamily="18" charset="0"/>
                <a:ea typeface="Times New Roman" panose="02020603050405020304" pitchFamily="18" charset="0"/>
              </a:rPr>
              <a:t>Find the Z-score for each x-value at the boundary of this region.</a:t>
            </a:r>
          </a:p>
          <a:p>
            <a:pPr marL="342900" marR="0" lvl="0" indent="-342900">
              <a:spcBef>
                <a:spcPts val="0"/>
              </a:spcBef>
              <a:spcAft>
                <a:spcPts val="0"/>
              </a:spcAft>
              <a:buAutoNum type="arabicPeriod" startAt="2"/>
              <a:tabLst>
                <a:tab pos="228600" algn="l"/>
                <a:tab pos="457200" algn="l"/>
              </a:tabLst>
            </a:pPr>
            <a:r>
              <a:rPr lang="en-US" sz="1800" dirty="0">
                <a:effectLst/>
                <a:latin typeface="Times New Roman" panose="02020603050405020304" pitchFamily="18" charset="0"/>
                <a:ea typeface="Times New Roman" panose="02020603050405020304" pitchFamily="18" charset="0"/>
              </a:rPr>
              <a:t>Find the relevant area from table.</a:t>
            </a:r>
          </a:p>
          <a:p>
            <a:pPr marL="0" marR="0" lvl="0" indent="0">
              <a:spcBef>
                <a:spcPts val="0"/>
              </a:spcBef>
              <a:spcAft>
                <a:spcPts val="0"/>
              </a:spcAft>
              <a:buNone/>
              <a:tabLst>
                <a:tab pos="228600" algn="l"/>
                <a:tab pos="457200" algn="l"/>
              </a:tabLst>
            </a:pPr>
            <a:endParaRPr lang="en-US" sz="1800" dirty="0">
              <a:effectLst/>
              <a:latin typeface="Times New Roman" panose="02020603050405020304" pitchFamily="18" charset="0"/>
              <a:ea typeface="Times New Roman" panose="02020603050405020304" pitchFamily="18" charset="0"/>
            </a:endParaRPr>
          </a:p>
        </p:txBody>
      </p:sp>
      <p:graphicFrame>
        <p:nvGraphicFramePr>
          <p:cNvPr id="7" name="Object 6">
            <a:extLst>
              <a:ext uri="{FF2B5EF4-FFF2-40B4-BE49-F238E27FC236}">
                <a16:creationId xmlns:a16="http://schemas.microsoft.com/office/drawing/2014/main" id="{2954A960-DFB1-4714-98C8-BE8BA0CC8576}"/>
              </a:ext>
            </a:extLst>
          </p:cNvPr>
          <p:cNvGraphicFramePr>
            <a:graphicFrameLocks noChangeAspect="1"/>
          </p:cNvGraphicFramePr>
          <p:nvPr>
            <p:extLst>
              <p:ext uri="{D42A27DB-BD31-4B8C-83A1-F6EECF244321}">
                <p14:modId xmlns:p14="http://schemas.microsoft.com/office/powerpoint/2010/main" val="2156294299"/>
              </p:ext>
            </p:extLst>
          </p:nvPr>
        </p:nvGraphicFramePr>
        <p:xfrm>
          <a:off x="1315767" y="1916083"/>
          <a:ext cx="2315953" cy="930634"/>
        </p:xfrm>
        <a:graphic>
          <a:graphicData uri="http://schemas.openxmlformats.org/presentationml/2006/ole">
            <mc:AlternateContent xmlns:mc="http://schemas.openxmlformats.org/markup-compatibility/2006">
              <mc:Choice xmlns:v="urn:schemas-microsoft-com:vml" Requires="v">
                <p:oleObj name="Equation" r:id="rId2" imgW="1346040" imgH="736560" progId="Equation.DSMT4">
                  <p:embed/>
                </p:oleObj>
              </mc:Choice>
              <mc:Fallback>
                <p:oleObj name="Equation" r:id="rId2" imgW="1346040" imgH="736560" progId="Equation.DSMT4">
                  <p:embed/>
                  <p:pic>
                    <p:nvPicPr>
                      <p:cNvPr id="0" name=""/>
                      <p:cNvPicPr/>
                      <p:nvPr/>
                    </p:nvPicPr>
                    <p:blipFill>
                      <a:blip r:embed="rId3"/>
                      <a:stretch>
                        <a:fillRect/>
                      </a:stretch>
                    </p:blipFill>
                    <p:spPr>
                      <a:xfrm>
                        <a:off x="1315767" y="1916083"/>
                        <a:ext cx="2315953" cy="930634"/>
                      </a:xfrm>
                      <a:prstGeom prst="rect">
                        <a:avLst/>
                      </a:prstGeom>
                    </p:spPr>
                  </p:pic>
                </p:oleObj>
              </mc:Fallback>
            </mc:AlternateContent>
          </a:graphicData>
        </a:graphic>
      </p:graphicFrame>
      <p:sp>
        <p:nvSpPr>
          <p:cNvPr id="4" name="Footer Placeholder 3">
            <a:extLst>
              <a:ext uri="{FF2B5EF4-FFF2-40B4-BE49-F238E27FC236}">
                <a16:creationId xmlns:a16="http://schemas.microsoft.com/office/drawing/2014/main" id="{C9445B84-CF68-41AA-A9C7-078C50FF5F98}"/>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4014577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99BE-27F4-48E0-9819-A995D9CE1DCC}"/>
              </a:ext>
            </a:extLst>
          </p:cNvPr>
          <p:cNvSpPr>
            <a:spLocks noGrp="1"/>
          </p:cNvSpPr>
          <p:nvPr>
            <p:ph type="title"/>
          </p:nvPr>
        </p:nvSpPr>
        <p:spPr>
          <a:xfrm>
            <a:off x="733246" y="622539"/>
            <a:ext cx="9875520" cy="278921"/>
          </a:xfrm>
        </p:spPr>
        <p:txBody>
          <a:bodyPr>
            <a:normAutofit fontScale="90000"/>
          </a:bodyPr>
          <a:lstStyle/>
          <a:p>
            <a:r>
              <a:rPr lang="en-US" sz="2400" b="1" dirty="0"/>
              <a:t>Normal Distribution as an approximation of Binomial Distribution</a:t>
            </a:r>
          </a:p>
        </p:txBody>
      </p:sp>
      <p:sp>
        <p:nvSpPr>
          <p:cNvPr id="3" name="Content Placeholder 2">
            <a:extLst>
              <a:ext uri="{FF2B5EF4-FFF2-40B4-BE49-F238E27FC236}">
                <a16:creationId xmlns:a16="http://schemas.microsoft.com/office/drawing/2014/main" id="{5A0CCCE4-CFE2-474B-8A6A-6CF5B76DF2FE}"/>
              </a:ext>
            </a:extLst>
          </p:cNvPr>
          <p:cNvSpPr>
            <a:spLocks noGrp="1"/>
          </p:cNvSpPr>
          <p:nvPr>
            <p:ph idx="1"/>
          </p:nvPr>
        </p:nvSpPr>
        <p:spPr>
          <a:xfrm>
            <a:off x="733246" y="1199072"/>
            <a:ext cx="10282626" cy="4896928"/>
          </a:xfrm>
        </p:spPr>
        <p:txBody>
          <a:bodyPr/>
          <a:lstStyle/>
          <a:p>
            <a:pPr marL="45720" indent="0">
              <a:buNone/>
            </a:pPr>
            <a:r>
              <a:rPr lang="en-US" sz="1800" dirty="0">
                <a:effectLst/>
                <a:latin typeface="Calibri" panose="020F0502020204030204" pitchFamily="34" charset="0"/>
                <a:ea typeface="Times New Roman" panose="02020603050405020304" pitchFamily="18" charset="0"/>
              </a:rPr>
              <a:t>If n is large and if neither p nor q is too close to zero, the binomial distribution can be closely approximated by a normal distribution.</a:t>
            </a:r>
          </a:p>
          <a:p>
            <a:pPr marL="45720" indent="0">
              <a:buNone/>
            </a:pPr>
            <a:r>
              <a:rPr lang="en-US" sz="1800" dirty="0">
                <a:effectLst/>
                <a:latin typeface="Calibri" panose="020F0502020204030204" pitchFamily="34" charset="0"/>
                <a:ea typeface="Times New Roman" panose="02020603050405020304" pitchFamily="18" charset="0"/>
              </a:rPr>
              <a:t>The normal approximation to a Binomial Distribution is very good </a:t>
            </a:r>
            <a:r>
              <a:rPr lang="en-US" sz="1800" b="1" dirty="0">
                <a:effectLst/>
                <a:latin typeface="Calibri" panose="020F0502020204030204" pitchFamily="34" charset="0"/>
                <a:ea typeface="Times New Roman" panose="02020603050405020304" pitchFamily="18" charset="0"/>
              </a:rPr>
              <a:t>if both </a:t>
            </a:r>
            <a:r>
              <a:rPr lang="en-US" sz="1800" b="1" i="1" dirty="0">
                <a:effectLst/>
                <a:latin typeface="Calibri" panose="020F0502020204030204" pitchFamily="34" charset="0"/>
                <a:ea typeface="Times New Roman" panose="02020603050405020304" pitchFamily="18" charset="0"/>
              </a:rPr>
              <a:t>np</a:t>
            </a:r>
            <a:r>
              <a:rPr lang="en-US" sz="1800" b="1" dirty="0">
                <a:effectLst/>
                <a:latin typeface="Calibri" panose="020F0502020204030204" pitchFamily="34" charset="0"/>
                <a:ea typeface="Times New Roman" panose="02020603050405020304" pitchFamily="18" charset="0"/>
              </a:rPr>
              <a:t> and </a:t>
            </a:r>
            <a:r>
              <a:rPr lang="en-US" sz="1800" b="1" i="1" dirty="0">
                <a:effectLst/>
                <a:latin typeface="Calibri" panose="020F0502020204030204" pitchFamily="34" charset="0"/>
                <a:ea typeface="Times New Roman" panose="02020603050405020304" pitchFamily="18" charset="0"/>
              </a:rPr>
              <a:t>nq</a:t>
            </a:r>
            <a:r>
              <a:rPr lang="en-US" sz="1800" b="1" dirty="0">
                <a:effectLst/>
                <a:latin typeface="Calibri" panose="020F0502020204030204" pitchFamily="34" charset="0"/>
                <a:ea typeface="Times New Roman" panose="02020603050405020304" pitchFamily="18" charset="0"/>
              </a:rPr>
              <a:t> are greater than 5.</a:t>
            </a:r>
            <a:endParaRPr lang="en-US" sz="1800" dirty="0">
              <a:effectLst/>
              <a:latin typeface="Times New Roman" panose="02020603050405020304" pitchFamily="18" charset="0"/>
              <a:ea typeface="Times New Roman" panose="02020603050405020304" pitchFamily="18" charset="0"/>
            </a:endParaRPr>
          </a:p>
          <a:p>
            <a:pPr marL="45720" indent="0">
              <a:buNone/>
            </a:pPr>
            <a:r>
              <a:rPr lang="en-US" sz="1800" dirty="0">
                <a:effectLst/>
                <a:latin typeface="Calibri" panose="020F0502020204030204" pitchFamily="34" charset="0"/>
                <a:ea typeface="Times New Roman" panose="02020603050405020304" pitchFamily="18" charset="0"/>
              </a:rPr>
              <a:t>To find the approximate probabilities corresponding to the values of the discrete random variable X, we have following standardized variable given by</a:t>
            </a:r>
            <a:endParaRPr lang="en-US" sz="1800" dirty="0">
              <a:effectLst/>
              <a:latin typeface="Times New Roman" panose="02020603050405020304" pitchFamily="18" charset="0"/>
              <a:ea typeface="Times New Roman" panose="02020603050405020304" pitchFamily="18" charset="0"/>
            </a:endParaRPr>
          </a:p>
          <a:p>
            <a:pPr marL="45720" indent="0">
              <a:buNone/>
            </a:pPr>
            <a:r>
              <a:rPr lang="en-US" sz="1800" dirty="0">
                <a:latin typeface="Calibri" panose="020F0502020204030204" pitchFamily="34"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45720" indent="0">
              <a:buNone/>
            </a:pPr>
            <a:endParaRPr lang="en-US" dirty="0"/>
          </a:p>
        </p:txBody>
      </p:sp>
      <p:pic>
        <p:nvPicPr>
          <p:cNvPr id="4" name="Picture 3">
            <a:extLst>
              <a:ext uri="{FF2B5EF4-FFF2-40B4-BE49-F238E27FC236}">
                <a16:creationId xmlns:a16="http://schemas.microsoft.com/office/drawing/2014/main" id="{49860DB5-2B30-4555-BB1B-CDD1A5D20260}"/>
              </a:ext>
            </a:extLst>
          </p:cNvPr>
          <p:cNvPicPr>
            <a:picLocks noChangeAspect="1"/>
          </p:cNvPicPr>
          <p:nvPr/>
        </p:nvPicPr>
        <p:blipFill>
          <a:blip r:embed="rId2"/>
          <a:stretch>
            <a:fillRect/>
          </a:stretch>
        </p:blipFill>
        <p:spPr>
          <a:xfrm>
            <a:off x="1305493" y="3035747"/>
            <a:ext cx="7611537" cy="2333951"/>
          </a:xfrm>
          <a:prstGeom prst="rect">
            <a:avLst/>
          </a:prstGeom>
        </p:spPr>
      </p:pic>
      <p:sp>
        <p:nvSpPr>
          <p:cNvPr id="5" name="Footer Placeholder 4">
            <a:extLst>
              <a:ext uri="{FF2B5EF4-FFF2-40B4-BE49-F238E27FC236}">
                <a16:creationId xmlns:a16="http://schemas.microsoft.com/office/drawing/2014/main" id="{713D0892-71A3-417C-AB7E-E38775A019A1}"/>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264238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B14D8-4617-2D12-2114-021472BFD7DE}"/>
              </a:ext>
            </a:extLst>
          </p:cNvPr>
          <p:cNvSpPr>
            <a:spLocks noGrp="1"/>
          </p:cNvSpPr>
          <p:nvPr>
            <p:ph idx="1"/>
          </p:nvPr>
        </p:nvSpPr>
        <p:spPr>
          <a:xfrm>
            <a:off x="757084" y="727587"/>
            <a:ext cx="10258787" cy="5368413"/>
          </a:xfrm>
        </p:spPr>
        <p:txBody>
          <a:bodyPr/>
          <a:lstStyle/>
          <a:p>
            <a:pPr marL="45720" indent="0">
              <a:buNone/>
            </a:pPr>
            <a:r>
              <a:rPr lang="en-US" dirty="0"/>
              <a:t>Numerical: </a:t>
            </a:r>
          </a:p>
          <a:p>
            <a:pPr marL="45720" indent="0">
              <a:buNone/>
            </a:pPr>
            <a:r>
              <a:rPr lang="en-US" dirty="0"/>
              <a:t>Suppose a company launches an email marketing campaign to promote a new product. The marketing team sends out 5000 emails to potential customers, hoping to achieve a certain response rate. Based on past data and industry benchmarks, they estimate that the response rate for this campaign is 8%. </a:t>
            </a:r>
          </a:p>
          <a:p>
            <a:pPr marL="45720" indent="0">
              <a:buNone/>
            </a:pPr>
            <a:r>
              <a:rPr lang="en-US" dirty="0"/>
              <a:t>(a)	Find mean and standard deviation</a:t>
            </a:r>
          </a:p>
          <a:p>
            <a:pPr marL="45720" indent="0">
              <a:buNone/>
            </a:pPr>
            <a:r>
              <a:rPr lang="en-US" dirty="0"/>
              <a:t>(b)	Find the probability that there are in between 350 to 450 responses.</a:t>
            </a:r>
          </a:p>
          <a:p>
            <a:pPr marL="45720" indent="0">
              <a:buNone/>
            </a:pPr>
            <a:r>
              <a:rPr lang="en-US" dirty="0"/>
              <a:t>(Use normal approximation to binomial distribution)</a:t>
            </a:r>
          </a:p>
          <a:p>
            <a:pPr marL="45720" indent="0">
              <a:buNone/>
            </a:pPr>
            <a:endParaRPr lang="en-US" dirty="0"/>
          </a:p>
        </p:txBody>
      </p:sp>
      <p:sp>
        <p:nvSpPr>
          <p:cNvPr id="4" name="Footer Placeholder 3">
            <a:extLst>
              <a:ext uri="{FF2B5EF4-FFF2-40B4-BE49-F238E27FC236}">
                <a16:creationId xmlns:a16="http://schemas.microsoft.com/office/drawing/2014/main" id="{2D5CBDAA-B212-11EF-C632-9CEF6F86BB1A}"/>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4101137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99BE-27F4-48E0-9819-A995D9CE1DCC}"/>
              </a:ext>
            </a:extLst>
          </p:cNvPr>
          <p:cNvSpPr>
            <a:spLocks noGrp="1"/>
          </p:cNvSpPr>
          <p:nvPr>
            <p:ph type="title"/>
          </p:nvPr>
        </p:nvSpPr>
        <p:spPr>
          <a:xfrm>
            <a:off x="733246" y="622539"/>
            <a:ext cx="9875520" cy="278921"/>
          </a:xfrm>
        </p:spPr>
        <p:txBody>
          <a:bodyPr>
            <a:normAutofit fontScale="90000"/>
          </a:bodyPr>
          <a:lstStyle/>
          <a:p>
            <a:r>
              <a:rPr lang="en-US" sz="2400" b="1" dirty="0"/>
              <a:t>Normal Distribution as an approximation of Poisson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0CCCE4-CFE2-474B-8A6A-6CF5B76DF2FE}"/>
                  </a:ext>
                </a:extLst>
              </p:cNvPr>
              <p:cNvSpPr>
                <a:spLocks noGrp="1"/>
              </p:cNvSpPr>
              <p:nvPr>
                <p:ph idx="1"/>
              </p:nvPr>
            </p:nvSpPr>
            <p:spPr>
              <a:xfrm>
                <a:off x="812800" y="1087120"/>
                <a:ext cx="10464800" cy="5008880"/>
              </a:xfrm>
            </p:spPr>
            <p:txBody>
              <a:bodyPr>
                <a:noAutofit/>
              </a:bodyPr>
              <a:lstStyle/>
              <a:p>
                <a:pPr marL="45720" indent="0">
                  <a:buNone/>
                </a:pPr>
                <a:r>
                  <a:rPr lang="en-US" sz="2400" dirty="0">
                    <a:effectLst/>
                    <a:latin typeface="Calibri" panose="020F0502020204030204" pitchFamily="34" charset="0"/>
                    <a:ea typeface="Times New Roman" panose="02020603050405020304" pitchFamily="18" charset="0"/>
                  </a:rPr>
                  <a:t>The normal distribution may also be used to approximate the Poisson distribution whenever the parameter λ, the expected number of successes equals or exceeds 5. </a:t>
                </a:r>
              </a:p>
              <a:p>
                <a:pPr marL="45720" indent="0">
                  <a:buNone/>
                </a:pPr>
                <a:r>
                  <a:rPr lang="en-US" sz="2400" dirty="0">
                    <a:effectLst/>
                    <a:latin typeface="Calibri" panose="020F0502020204030204" pitchFamily="34" charset="0"/>
                    <a:ea typeface="Times New Roman" panose="02020603050405020304" pitchFamily="18" charset="0"/>
                  </a:rPr>
                  <a:t>To find the approximate probabilities corresponding to the value of the discrete random variable X, we have following Z transformation,</a:t>
                </a:r>
              </a:p>
              <a:p>
                <a:pPr marL="45720" indent="0">
                  <a:buNone/>
                </a:pPr>
                <a:r>
                  <a:rPr lang="en-US" sz="2400" b="0" dirty="0">
                    <a:effectLst/>
                    <a:ea typeface="Times New Roman" panose="02020603050405020304" pitchFamily="18" charset="0"/>
                  </a:rPr>
                  <a:t>		</a:t>
                </a:r>
                <a14:m>
                  <m:oMath xmlns:m="http://schemas.openxmlformats.org/officeDocument/2006/math">
                    <m:r>
                      <a:rPr lang="en-US" sz="2400" b="0" i="1" smtClean="0">
                        <a:effectLst/>
                        <a:latin typeface="Cambria Math" panose="02040503050406030204" pitchFamily="18" charset="0"/>
                        <a:ea typeface="Times New Roman" panose="02020603050405020304" pitchFamily="18" charset="0"/>
                      </a:rPr>
                      <m:t>𝑍</m:t>
                    </m:r>
                    <m:r>
                      <a:rPr lang="en-US" sz="2400" b="0" i="1" smtClean="0">
                        <a:effectLst/>
                        <a:latin typeface="Cambria Math" panose="02040503050406030204" pitchFamily="18" charset="0"/>
                        <a:ea typeface="Times New Roman" panose="02020603050405020304" pitchFamily="18" charset="0"/>
                      </a:rPr>
                      <m:t>= </m:t>
                    </m:r>
                    <m:f>
                      <m:fPr>
                        <m:ctrlPr>
                          <a:rPr lang="en-US" sz="2400" b="0" i="1" smtClean="0">
                            <a:effectLst/>
                            <a:latin typeface="Cambria Math" panose="02040503050406030204" pitchFamily="18" charset="0"/>
                          </a:rPr>
                        </m:ctrlPr>
                      </m:fPr>
                      <m:num>
                        <m:sSub>
                          <m:sSubPr>
                            <m:ctrlPr>
                              <a:rPr lang="en-US" sz="2400" b="0" i="1" smtClean="0">
                                <a:effectLst/>
                                <a:latin typeface="Cambria Math" panose="02040503050406030204" pitchFamily="18" charset="0"/>
                              </a:rPr>
                            </m:ctrlPr>
                          </m:sSubPr>
                          <m:e>
                            <m:r>
                              <a:rPr lang="en-US" sz="2400" b="0" i="1" smtClean="0">
                                <a:effectLst/>
                                <a:latin typeface="Cambria Math" panose="02040503050406030204" pitchFamily="18" charset="0"/>
                              </a:rPr>
                              <m:t>𝑋</m:t>
                            </m:r>
                          </m:e>
                          <m:sub>
                            <m:r>
                              <a:rPr lang="en-US" sz="2400" b="0" i="1" smtClean="0">
                                <a:effectLst/>
                                <a:latin typeface="Cambria Math" panose="02040503050406030204" pitchFamily="18" charset="0"/>
                              </a:rPr>
                              <m:t>𝑎</m:t>
                            </m:r>
                          </m:sub>
                        </m:sSub>
                        <m:r>
                          <a:rPr lang="en-US" sz="2400" b="0" i="1" smtClean="0">
                            <a:effectLst/>
                            <a:latin typeface="Cambria Math" panose="02040503050406030204" pitchFamily="18" charset="0"/>
                          </a:rPr>
                          <m:t>− </m:t>
                        </m:r>
                        <m:r>
                          <a:rPr lang="en-US" sz="2400" b="0" i="1" smtClean="0">
                            <a:effectLst/>
                            <a:latin typeface="Cambria Math" panose="02040503050406030204" pitchFamily="18" charset="0"/>
                            <a:ea typeface="Cambria Math" panose="02040503050406030204" pitchFamily="18" charset="0"/>
                          </a:rPr>
                          <m:t>𝜆</m:t>
                        </m:r>
                      </m:num>
                      <m:den>
                        <m:rad>
                          <m:radPr>
                            <m:degHide m:val="on"/>
                            <m:ctrlPr>
                              <a:rPr lang="en-US" sz="2400" b="0" i="1" smtClean="0">
                                <a:effectLst/>
                                <a:latin typeface="Cambria Math" panose="02040503050406030204" pitchFamily="18" charset="0"/>
                              </a:rPr>
                            </m:ctrlPr>
                          </m:radPr>
                          <m:deg/>
                          <m:e>
                            <m:r>
                              <a:rPr lang="en-US" sz="2400" b="0" i="1" smtClean="0">
                                <a:effectLst/>
                                <a:latin typeface="Cambria Math" panose="02040503050406030204" pitchFamily="18" charset="0"/>
                                <a:ea typeface="Cambria Math" panose="02040503050406030204" pitchFamily="18" charset="0"/>
                              </a:rPr>
                              <m:t>𝜆</m:t>
                            </m:r>
                          </m:e>
                        </m:rad>
                      </m:den>
                    </m:f>
                  </m:oMath>
                </a14:m>
                <a:endParaRPr lang="en-US" sz="2400" dirty="0">
                  <a:effectLst/>
                  <a:latin typeface="Times New Roman" panose="02020603050405020304" pitchFamily="18" charset="0"/>
                  <a:ea typeface="Times New Roman" panose="02020603050405020304" pitchFamily="18" charset="0"/>
                </a:endParaRPr>
              </a:p>
              <a:p>
                <a:pPr marL="45720" indent="0">
                  <a:buNone/>
                </a:pPr>
                <a:r>
                  <a:rPr lang="en-US" sz="2400" dirty="0"/>
                  <a:t>Where,</a:t>
                </a:r>
              </a:p>
              <a:p>
                <a:pPr marL="45720" indent="0">
                  <a:buNone/>
                </a:pP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𝜇</m:t>
                        </m:r>
                      </m:e>
                      <m:sub>
                        <m:r>
                          <a:rPr lang="en-US" sz="2400" b="0" i="1" smtClean="0">
                            <a:latin typeface="Cambria Math" panose="02040503050406030204" pitchFamily="18" charset="0"/>
                          </a:rPr>
                          <m:t>𝑋</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𝜆</m:t>
                    </m:r>
                  </m:oMath>
                </a14:m>
                <a:r>
                  <a:rPr lang="en-US" sz="2400" dirty="0"/>
                  <a:t>, mean of the Poisson distribution</a:t>
                </a:r>
              </a:p>
              <a:p>
                <a:pPr marL="45720" indent="0">
                  <a:buNone/>
                </a:pP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𝑋</m:t>
                        </m:r>
                        <m:r>
                          <a:rPr lang="en-US" sz="2400" b="0" i="1" smtClean="0">
                            <a:latin typeface="Cambria Math" panose="02040503050406030204" pitchFamily="18" charset="0"/>
                          </a:rPr>
                          <m:t> </m:t>
                        </m:r>
                      </m:sub>
                    </m:sSub>
                    <m:r>
                      <a:rPr lang="en-US" sz="2400" b="0" i="1" smtClean="0">
                        <a:latin typeface="Cambria Math" panose="02040503050406030204" pitchFamily="18" charset="0"/>
                      </a:rPr>
                      <m:t>= </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𝜆</m:t>
                        </m:r>
                      </m:e>
                    </m:rad>
                  </m:oMath>
                </a14:m>
                <a:r>
                  <a:rPr lang="en-US" sz="2400" dirty="0"/>
                  <a:t>, standard deviation of the Poisson distribution</a:t>
                </a:r>
              </a:p>
              <a:p>
                <a:pPr marL="1662113" indent="-747713">
                  <a:buNone/>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𝑎</m:t>
                        </m:r>
                      </m:sub>
                    </m:sSub>
                    <m:r>
                      <a:rPr lang="en-US" sz="2400" b="0" i="1" smtClean="0">
                        <a:latin typeface="Cambria Math" panose="02040503050406030204" pitchFamily="18" charset="0"/>
                      </a:rPr>
                      <m:t>= </m:t>
                    </m:r>
                  </m:oMath>
                </a14:m>
                <a:r>
                  <a:rPr lang="en-US" sz="2400" dirty="0"/>
                  <a:t>Adjusted number of successes for the discrete random variable X such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𝑎</m:t>
                        </m:r>
                      </m:sub>
                    </m:sSub>
                  </m:oMath>
                </a14:m>
                <a:r>
                  <a:rPr lang="en-US" sz="2400" dirty="0"/>
                  <a:t> = X – 0.5 or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𝑎</m:t>
                        </m:r>
                      </m:sub>
                    </m:sSub>
                  </m:oMath>
                </a14:m>
                <a:r>
                  <a:rPr lang="en-US" sz="2400" dirty="0"/>
                  <a:t> = X + 0.5 , whichever appropriated</a:t>
                </a:r>
              </a:p>
            </p:txBody>
          </p:sp>
        </mc:Choice>
        <mc:Fallback>
          <p:sp>
            <p:nvSpPr>
              <p:cNvPr id="3" name="Content Placeholder 2">
                <a:extLst>
                  <a:ext uri="{FF2B5EF4-FFF2-40B4-BE49-F238E27FC236}">
                    <a16:creationId xmlns:a16="http://schemas.microsoft.com/office/drawing/2014/main" id="{5A0CCCE4-CFE2-474B-8A6A-6CF5B76DF2FE}"/>
                  </a:ext>
                </a:extLst>
              </p:cNvPr>
              <p:cNvSpPr>
                <a:spLocks noGrp="1" noRot="1" noChangeAspect="1" noMove="1" noResize="1" noEditPoints="1" noAdjustHandles="1" noChangeArrowheads="1" noChangeShapeType="1" noTextEdit="1"/>
              </p:cNvSpPr>
              <p:nvPr>
                <p:ph idx="1"/>
              </p:nvPr>
            </p:nvSpPr>
            <p:spPr>
              <a:xfrm>
                <a:off x="812800" y="1087120"/>
                <a:ext cx="10464800" cy="5008880"/>
              </a:xfrm>
              <a:blipFill>
                <a:blip r:embed="rId2"/>
                <a:stretch>
                  <a:fillRect l="-408" t="-1703" b="-219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713D0892-71A3-417C-AB7E-E38775A019A1}"/>
              </a:ext>
            </a:extLst>
          </p:cNvPr>
          <p:cNvSpPr>
            <a:spLocks noGrp="1"/>
          </p:cNvSpPr>
          <p:nvPr>
            <p:ph type="ftr" sz="quarter" idx="11"/>
          </p:nvPr>
        </p:nvSpPr>
        <p:spPr/>
        <p:txBody>
          <a:bodyPr/>
          <a:lstStyle/>
          <a:p>
            <a:r>
              <a:rPr lang="en-US"/>
              <a:t>CopyRight: Santosh Chhatkuli</a:t>
            </a:r>
            <a:endParaRPr lang="en-US" dirty="0"/>
          </a:p>
        </p:txBody>
      </p:sp>
    </p:spTree>
    <p:extLst>
      <p:ext uri="{BB962C8B-B14F-4D97-AF65-F5344CB8AC3E}">
        <p14:creationId xmlns:p14="http://schemas.microsoft.com/office/powerpoint/2010/main" val="1343184207"/>
      </p:ext>
    </p:extLst>
  </p:cSld>
  <p:clrMapOvr>
    <a:masterClrMapping/>
  </p:clrMapOvr>
</p:sld>
</file>

<file path=ppt/theme/theme1.xml><?xml version="1.0" encoding="utf-8"?>
<a:theme xmlns:a="http://schemas.openxmlformats.org/drawingml/2006/main" name="Basis">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Basis</Template>
  <TotalTime>856</TotalTime>
  <Words>1426</Words>
  <Application>Microsoft Office PowerPoint</Application>
  <PresentationFormat>Widescreen</PresentationFormat>
  <Paragraphs>115</Paragraphs>
  <Slides>14</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Calibri</vt:lpstr>
      <vt:lpstr>Cambria Math</vt:lpstr>
      <vt:lpstr>Century Gothic</vt:lpstr>
      <vt:lpstr>Corbel</vt:lpstr>
      <vt:lpstr>Noto Sans</vt:lpstr>
      <vt:lpstr>Times New Roman</vt:lpstr>
      <vt:lpstr>Basis</vt:lpstr>
      <vt:lpstr>Equation</vt:lpstr>
      <vt:lpstr>NORMAL DISTRIBUTION</vt:lpstr>
      <vt:lpstr>Introduction</vt:lpstr>
      <vt:lpstr>Characteristics of Normal Distribution</vt:lpstr>
      <vt:lpstr>Importance of Normal Distribution</vt:lpstr>
      <vt:lpstr>Probability Density Function of ND</vt:lpstr>
      <vt:lpstr>Parameters of Normal Distribution</vt:lpstr>
      <vt:lpstr>Area property of Normal Distribution</vt:lpstr>
      <vt:lpstr>PowerPoint Presentation</vt:lpstr>
      <vt:lpstr>Standard Normal Distribution</vt:lpstr>
      <vt:lpstr>How can I check if my data follows a normal distribution?</vt:lpstr>
      <vt:lpstr>Table of Standard Normal Distribution</vt:lpstr>
      <vt:lpstr>Normal Distribution as an approximation of Binomial Distribution</vt:lpstr>
      <vt:lpstr>PowerPoint Presentation</vt:lpstr>
      <vt:lpstr>Normal Distribution as an approximation of Poisson Distribution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 DISTRIBUTION</dc:title>
  <dc:creator>Santosh Chhatkuli</dc:creator>
  <cp:lastModifiedBy>Santosh Chhatkuli</cp:lastModifiedBy>
  <cp:revision>42</cp:revision>
  <dcterms:created xsi:type="dcterms:W3CDTF">2020-11-11T12:48:43Z</dcterms:created>
  <dcterms:modified xsi:type="dcterms:W3CDTF">2024-07-22T03:40:18Z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