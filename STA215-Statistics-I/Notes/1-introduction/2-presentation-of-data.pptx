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4"/>
  </p:sldMasterIdLst>
  <p:sldIdLst>
    <p:sldId id="257" r:id="rId5"/>
    <p:sldId id="262" r:id="rId6"/>
    <p:sldId id="263" r:id="rId7"/>
    <p:sldId id="279" r:id="rId8"/>
    <p:sldId id="265" r:id="rId9"/>
    <p:sldId id="281" r:id="rId10"/>
    <p:sldId id="266" r:id="rId11"/>
    <p:sldId id="277" r:id="rId12"/>
    <p:sldId id="278" r:id="rId13"/>
    <p:sldId id="267" r:id="rId14"/>
    <p:sldId id="268" r:id="rId15"/>
    <p:sldId id="276" r:id="rId16"/>
    <p:sldId id="270" r:id="rId17"/>
    <p:sldId id="271" r:id="rId18"/>
    <p:sldId id="272" r:id="rId19"/>
    <p:sldId id="273"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529"/>
    <a:srgbClr val="2B3922"/>
    <a:srgbClr val="2E3722"/>
    <a:srgbClr val="FCF7F1"/>
    <a:srgbClr val="B8D233"/>
    <a:srgbClr val="5CC6D6"/>
    <a:srgbClr val="F8D22F"/>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19" autoAdjust="0"/>
  </p:normalViewPr>
  <p:slideViewPr>
    <p:cSldViewPr snapToGrid="0">
      <p:cViewPr varScale="1">
        <p:scale>
          <a:sx n="70" d="100"/>
          <a:sy n="70" d="100"/>
        </p:scale>
        <p:origin x="671"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5/23/2024</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414777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5/23/2024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15370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5/23/2024</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606071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5/23/2024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744672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5/23/2024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929960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5/23/2024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667413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5/23/2024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90724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5/23/2024</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88602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5/23/2024</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78223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5/23/2024</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81157763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65" r:id="rId5"/>
    <p:sldLayoutId id="2147483671" r:id="rId6"/>
    <p:sldLayoutId id="2147483672" r:id="rId7"/>
    <p:sldLayoutId id="2147483662" r:id="rId8"/>
    <p:sldLayoutId id="2147483663"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bstract image">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82" name="Rectangle 81">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84" name="Rectangle 83">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33793" y="2355458"/>
            <a:ext cx="4775075" cy="1630907"/>
          </a:xfrm>
        </p:spPr>
        <p:txBody>
          <a:bodyPr>
            <a:normAutofit/>
          </a:bodyPr>
          <a:lstStyle/>
          <a:p>
            <a:r>
              <a:rPr lang="en-US" sz="4400" dirty="0">
                <a:solidFill>
                  <a:schemeClr val="tx1"/>
                </a:solidFill>
              </a:rPr>
              <a:t>Presentation of data</a:t>
            </a: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6033793" y="3995988"/>
            <a:ext cx="4775075" cy="559656"/>
          </a:xfrm>
        </p:spPr>
        <p:txBody>
          <a:bodyPr>
            <a:normAutofit/>
          </a:bodyPr>
          <a:lstStyle/>
          <a:p>
            <a:pPr>
              <a:spcAft>
                <a:spcPts val="600"/>
              </a:spcAft>
            </a:pPr>
            <a:r>
              <a:rPr lang="en-US" dirty="0">
                <a:solidFill>
                  <a:schemeClr val="tx1"/>
                </a:solidFill>
              </a:rPr>
              <a:t>Santosh Chhatkuli</a:t>
            </a:r>
          </a:p>
        </p:txBody>
      </p:sp>
    </p:spTree>
    <p:extLst>
      <p:ext uri="{BB962C8B-B14F-4D97-AF65-F5344CB8AC3E}">
        <p14:creationId xmlns:p14="http://schemas.microsoft.com/office/powerpoint/2010/main" val="258428075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6DB9D-8721-49F9-B88A-B7B055F288EE}"/>
              </a:ext>
            </a:extLst>
          </p:cNvPr>
          <p:cNvSpPr>
            <a:spLocks noGrp="1"/>
          </p:cNvSpPr>
          <p:nvPr>
            <p:ph type="title"/>
          </p:nvPr>
        </p:nvSpPr>
        <p:spPr/>
        <p:txBody>
          <a:bodyPr/>
          <a:lstStyle/>
          <a:p>
            <a:r>
              <a:rPr lang="en-US" b="1" dirty="0"/>
              <a:t>Presentation of data</a:t>
            </a:r>
          </a:p>
        </p:txBody>
      </p:sp>
      <p:sp>
        <p:nvSpPr>
          <p:cNvPr id="3" name="Content Placeholder 2">
            <a:extLst>
              <a:ext uri="{FF2B5EF4-FFF2-40B4-BE49-F238E27FC236}">
                <a16:creationId xmlns:a16="http://schemas.microsoft.com/office/drawing/2014/main" id="{7B0AFCA6-4A27-472E-A04C-65A09CFB4C05}"/>
              </a:ext>
            </a:extLst>
          </p:cNvPr>
          <p:cNvSpPr>
            <a:spLocks noGrp="1"/>
          </p:cNvSpPr>
          <p:nvPr>
            <p:ph idx="1"/>
          </p:nvPr>
        </p:nvSpPr>
        <p:spPr/>
        <p:txBody>
          <a:bodyPr/>
          <a:lstStyle/>
          <a:p>
            <a:pPr marL="0" marR="0" indent="0">
              <a:lnSpc>
                <a:spcPct val="107000"/>
              </a:lnSpc>
              <a:spcBef>
                <a:spcPts val="0"/>
              </a:spcBef>
              <a:spcAft>
                <a:spcPts val="800"/>
              </a:spcAft>
              <a:buNone/>
            </a:pPr>
            <a:r>
              <a:rPr lang="en-GB" sz="4000" dirty="0">
                <a:effectLst/>
                <a:latin typeface="Calibri" panose="020F0502020204030204" pitchFamily="34" charset="0"/>
                <a:ea typeface="Calibri" panose="020F0502020204030204" pitchFamily="34" charset="0"/>
                <a:cs typeface="Calibri" panose="020F0502020204030204" pitchFamily="34" charset="0"/>
              </a:rPr>
              <a:t>Three broad ways of presenting data are:</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4000" dirty="0">
                <a:effectLst/>
                <a:latin typeface="Calibri" panose="020F0502020204030204" pitchFamily="34" charset="0"/>
                <a:ea typeface="Calibri" panose="020F0502020204030204" pitchFamily="34" charset="0"/>
                <a:cs typeface="Calibri" panose="020F0502020204030204" pitchFamily="34" charset="0"/>
              </a:rPr>
              <a:t>Tabular presentation</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4000" dirty="0">
                <a:effectLst/>
                <a:latin typeface="Calibri" panose="020F0502020204030204" pitchFamily="34" charset="0"/>
                <a:ea typeface="Calibri" panose="020F0502020204030204" pitchFamily="34" charset="0"/>
                <a:cs typeface="Calibri" panose="020F0502020204030204" pitchFamily="34" charset="0"/>
              </a:rPr>
              <a:t>Diagrammatical/Graphical presentation</a:t>
            </a:r>
          </a:p>
          <a:p>
            <a:pPr marL="342900" indent="-342900">
              <a:lnSpc>
                <a:spcPct val="107000"/>
              </a:lnSpc>
              <a:spcBef>
                <a:spcPts val="0"/>
              </a:spcBef>
              <a:spcAft>
                <a:spcPts val="800"/>
              </a:spcAft>
              <a:buFont typeface="+mj-lt"/>
              <a:buAutoNum type="arabicPeriod"/>
            </a:pPr>
            <a:r>
              <a:rPr lang="en-GB" sz="4000" dirty="0">
                <a:effectLst/>
                <a:latin typeface="Calibri" panose="020F0502020204030204" pitchFamily="34" charset="0"/>
                <a:ea typeface="Calibri" panose="020F0502020204030204" pitchFamily="34" charset="0"/>
                <a:cs typeface="Calibri" panose="020F0502020204030204" pitchFamily="34" charset="0"/>
              </a:rPr>
              <a:t>Textual presentation</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18550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839F8-9C15-48C3-8F38-2061496630B4}"/>
              </a:ext>
            </a:extLst>
          </p:cNvPr>
          <p:cNvSpPr>
            <a:spLocks noGrp="1"/>
          </p:cNvSpPr>
          <p:nvPr>
            <p:ph type="title"/>
          </p:nvPr>
        </p:nvSpPr>
        <p:spPr>
          <a:xfrm>
            <a:off x="1066800" y="642594"/>
            <a:ext cx="10058400" cy="789391"/>
          </a:xfrm>
        </p:spPr>
        <p:txBody>
          <a:bodyPr/>
          <a:lstStyle/>
          <a:p>
            <a:r>
              <a:rPr lang="en-US" dirty="0"/>
              <a:t>Frequency Distribution or Table</a:t>
            </a:r>
          </a:p>
        </p:txBody>
      </p:sp>
      <p:sp>
        <p:nvSpPr>
          <p:cNvPr id="3" name="Content Placeholder 2">
            <a:extLst>
              <a:ext uri="{FF2B5EF4-FFF2-40B4-BE49-F238E27FC236}">
                <a16:creationId xmlns:a16="http://schemas.microsoft.com/office/drawing/2014/main" id="{C3D29E2C-0452-4384-B0BC-4CAAC7C292B0}"/>
              </a:ext>
            </a:extLst>
          </p:cNvPr>
          <p:cNvSpPr>
            <a:spLocks noGrp="1"/>
          </p:cNvSpPr>
          <p:nvPr>
            <p:ph idx="1"/>
          </p:nvPr>
        </p:nvSpPr>
        <p:spPr>
          <a:xfrm>
            <a:off x="1066800" y="1604513"/>
            <a:ext cx="10058400" cy="4348231"/>
          </a:xfrm>
        </p:spPr>
        <p:txBody>
          <a:bodyPr/>
          <a:lstStyle/>
          <a:p>
            <a:pPr marL="0" indent="0">
              <a:buNone/>
            </a:pPr>
            <a:r>
              <a:rPr lang="en-GB" sz="2000" dirty="0">
                <a:effectLst/>
                <a:latin typeface="Calibri" panose="020F0502020204030204" pitchFamily="34" charset="0"/>
                <a:ea typeface="Calibri" panose="020F0502020204030204" pitchFamily="34" charset="0"/>
              </a:rPr>
              <a:t>A frequency distribution is a complete summary of the frequencies of the values or categories of a variable; often displayed in a two column table: the left column lists the individual values or categories; the right column indicates the number of observations in each category i.e. frequency. </a:t>
            </a:r>
          </a:p>
          <a:p>
            <a:pPr marL="0" marR="0" indent="0">
              <a:lnSpc>
                <a:spcPct val="107000"/>
              </a:lnSpc>
              <a:spcBef>
                <a:spcPts val="0"/>
              </a:spcBef>
              <a:spcAft>
                <a:spcPts val="800"/>
              </a:spcAft>
              <a:buNone/>
            </a:pPr>
            <a:endParaRPr lang="en-GB" sz="2000" dirty="0">
              <a:latin typeface="Calibri" panose="020F0502020204030204" pitchFamily="34" charset="0"/>
              <a:ea typeface="Calibri" panose="020F0502020204030204" pitchFamily="34" charset="0"/>
            </a:endParaRPr>
          </a:p>
          <a:p>
            <a:pPr marL="0" marR="0" indent="0">
              <a:lnSpc>
                <a:spcPct val="107000"/>
              </a:lnSpc>
              <a:spcBef>
                <a:spcPts val="0"/>
              </a:spcBef>
              <a:spcAft>
                <a:spcPts val="800"/>
              </a:spcAft>
              <a:buNone/>
            </a:pPr>
            <a:r>
              <a:rPr lang="en-GB" sz="2000" b="1" dirty="0">
                <a:effectLst/>
                <a:latin typeface="Calibri" panose="020F0502020204030204" pitchFamily="34" charset="0"/>
                <a:ea typeface="Calibri" panose="020F0502020204030204" pitchFamily="34" charset="0"/>
                <a:cs typeface="Calibri" panose="020F0502020204030204" pitchFamily="34" charset="0"/>
              </a:rPr>
              <a:t>Two types of frequency distribution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2000" dirty="0">
                <a:effectLst/>
                <a:latin typeface="Calibri" panose="020F0502020204030204" pitchFamily="34" charset="0"/>
                <a:ea typeface="Calibri" panose="020F0502020204030204" pitchFamily="34" charset="0"/>
                <a:cs typeface="Calibri" panose="020F0502020204030204" pitchFamily="34" charset="0"/>
              </a:rPr>
              <a:t>Categorical frequency distribution.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2000" dirty="0">
                <a:effectLst/>
                <a:latin typeface="Calibri" panose="020F0502020204030204" pitchFamily="34" charset="0"/>
                <a:ea typeface="Calibri" panose="020F0502020204030204" pitchFamily="34" charset="0"/>
                <a:cs typeface="Calibri" panose="020F0502020204030204" pitchFamily="34" charset="0"/>
              </a:rPr>
              <a:t>Numerical frequency distribution.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Font typeface="Symbol" panose="05050102010706020507" pitchFamily="18" charset="2"/>
              <a:buChar char="-"/>
              <a:tabLst>
                <a:tab pos="762000" algn="l"/>
              </a:tabLst>
            </a:pPr>
            <a:r>
              <a:rPr lang="en-GB" sz="2000" dirty="0">
                <a:effectLst/>
                <a:latin typeface="Calibri" panose="020F0502020204030204" pitchFamily="34" charset="0"/>
                <a:ea typeface="Times New Roman" panose="02020603050405020304" pitchFamily="18" charset="0"/>
                <a:cs typeface="Calibri" panose="020F0502020204030204" pitchFamily="34" charset="0"/>
              </a:rPr>
              <a:t>Ungrouped frequency distribution</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lnSpc>
                <a:spcPct val="107000"/>
              </a:lnSpc>
              <a:spcBef>
                <a:spcPts val="0"/>
              </a:spcBef>
              <a:spcAft>
                <a:spcPts val="800"/>
              </a:spcAft>
              <a:buFont typeface="Symbol" panose="05050102010706020507" pitchFamily="18" charset="2"/>
              <a:buChar char="-"/>
              <a:tabLst>
                <a:tab pos="762000" algn="l"/>
              </a:tabLst>
            </a:pPr>
            <a:r>
              <a:rPr lang="en-GB" sz="2000" dirty="0">
                <a:effectLst/>
                <a:latin typeface="Calibri" panose="020F0502020204030204" pitchFamily="34" charset="0"/>
                <a:ea typeface="Calibri" panose="020F0502020204030204" pitchFamily="34" charset="0"/>
              </a:rPr>
              <a:t>Grouped frequency distribution</a:t>
            </a:r>
          </a:p>
          <a:p>
            <a:pPr marL="0" indent="0">
              <a:buNone/>
            </a:pPr>
            <a:endParaRPr lang="en-US" dirty="0"/>
          </a:p>
        </p:txBody>
      </p:sp>
    </p:spTree>
    <p:extLst>
      <p:ext uri="{BB962C8B-B14F-4D97-AF65-F5344CB8AC3E}">
        <p14:creationId xmlns:p14="http://schemas.microsoft.com/office/powerpoint/2010/main" val="688441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B1F799-A91A-D367-4618-2D16964924E6}"/>
              </a:ext>
            </a:extLst>
          </p:cNvPr>
          <p:cNvSpPr>
            <a:spLocks noGrp="1"/>
          </p:cNvSpPr>
          <p:nvPr>
            <p:ph idx="1"/>
          </p:nvPr>
        </p:nvSpPr>
        <p:spPr>
          <a:xfrm>
            <a:off x="720437" y="678873"/>
            <a:ext cx="10848108" cy="5273871"/>
          </a:xfrm>
        </p:spPr>
        <p:txBody>
          <a:bodyPr>
            <a:normAutofit fontScale="85000" lnSpcReduction="20000"/>
          </a:bodyPr>
          <a:lstStyle/>
          <a:p>
            <a:pPr marL="0" indent="0">
              <a:buNone/>
            </a:pPr>
            <a:r>
              <a:rPr lang="en-US" dirty="0"/>
              <a:t>The following data represent the responses to two questions asked in a survey of 40 college students- Gender (M=Male, F=Female) and Blood group (A, B, O, AB)</a:t>
            </a:r>
          </a:p>
          <a:p>
            <a:pPr marL="0" indent="0">
              <a:buNone/>
            </a:pPr>
            <a:r>
              <a:rPr lang="en-US" dirty="0"/>
              <a:t>Student No.	Gender 	Blood Group	Student No.	Gender 	Blood Group	Student No.	Gender 	Blood Group	Student No.	Gender 	Blood Group</a:t>
            </a:r>
          </a:p>
          <a:p>
            <a:pPr marL="0" indent="0">
              <a:buNone/>
            </a:pPr>
            <a:r>
              <a:rPr lang="en-US" dirty="0"/>
              <a:t>1	M	B	11	F	B	21	M	B	31	F	B</a:t>
            </a:r>
          </a:p>
          <a:p>
            <a:pPr marL="0" indent="0">
              <a:buNone/>
            </a:pPr>
            <a:r>
              <a:rPr lang="en-US" dirty="0"/>
              <a:t>2	M	AB	12	M	A	22	M	O	32	M	O</a:t>
            </a:r>
          </a:p>
          <a:p>
            <a:pPr marL="0" indent="0">
              <a:buNone/>
            </a:pPr>
            <a:r>
              <a:rPr lang="en-US" dirty="0"/>
              <a:t>3	M	A	13	M	B	23	M	A	33	M	A</a:t>
            </a:r>
          </a:p>
          <a:p>
            <a:pPr marL="0" indent="0">
              <a:buNone/>
            </a:pPr>
            <a:r>
              <a:rPr lang="en-US" dirty="0"/>
              <a:t>4	F	B	14	M	O	24	M	B	34	M	B</a:t>
            </a:r>
          </a:p>
          <a:p>
            <a:pPr marL="0" indent="0">
              <a:buNone/>
            </a:pPr>
            <a:r>
              <a:rPr lang="en-US" dirty="0"/>
              <a:t>5	M	A	15	M	A	25	F	AB	35	M	B</a:t>
            </a:r>
          </a:p>
          <a:p>
            <a:pPr marL="0" indent="0">
              <a:buNone/>
            </a:pPr>
            <a:r>
              <a:rPr lang="en-US" dirty="0"/>
              <a:t>6	F	AB	16	F	A	26	M	A	36	F	AB</a:t>
            </a:r>
          </a:p>
          <a:p>
            <a:pPr marL="0" indent="0">
              <a:buNone/>
            </a:pPr>
            <a:r>
              <a:rPr lang="en-US" dirty="0"/>
              <a:t>7	F	AB	17	F	B	27	F	O	37	M	O</a:t>
            </a:r>
          </a:p>
          <a:p>
            <a:pPr marL="0" indent="0">
              <a:buNone/>
            </a:pPr>
            <a:r>
              <a:rPr lang="en-US" dirty="0"/>
              <a:t>8	M	A	18	M	AB	28	F	B	38	F	B</a:t>
            </a:r>
          </a:p>
          <a:p>
            <a:pPr marL="0" indent="0">
              <a:buNone/>
            </a:pPr>
            <a:r>
              <a:rPr lang="en-US" dirty="0"/>
              <a:t>9	F	O	19	F	A	29	M	B	39	M	AB</a:t>
            </a:r>
          </a:p>
          <a:p>
            <a:pPr marL="0" indent="0">
              <a:buNone/>
            </a:pPr>
            <a:r>
              <a:rPr lang="en-US" dirty="0"/>
              <a:t>10	M	B	20	F	AB	30	M	B	40	M	AB</a:t>
            </a:r>
          </a:p>
          <a:p>
            <a:endParaRPr lang="en-US" dirty="0"/>
          </a:p>
          <a:p>
            <a:pPr marL="0" indent="0">
              <a:buNone/>
            </a:pPr>
            <a:r>
              <a:rPr lang="en-US" dirty="0"/>
              <a:t>(a)  Construct a frequency distribution of gender</a:t>
            </a:r>
          </a:p>
          <a:p>
            <a:pPr marL="0" indent="0">
              <a:buNone/>
            </a:pPr>
            <a:r>
              <a:rPr lang="en-US" dirty="0"/>
              <a:t>(b)  Construct a frequency distribution of Blood group</a:t>
            </a:r>
          </a:p>
          <a:p>
            <a:pPr marL="0" indent="0">
              <a:buNone/>
            </a:pPr>
            <a:r>
              <a:rPr lang="en-US" dirty="0"/>
              <a:t>(c)  Tally the data in a 2 X 4 contingency table where two rows represent the gender categories and the four columns represent the blood-group categories.</a:t>
            </a:r>
          </a:p>
          <a:p>
            <a:endParaRPr lang="en-US" dirty="0"/>
          </a:p>
        </p:txBody>
      </p:sp>
    </p:spTree>
    <p:extLst>
      <p:ext uri="{BB962C8B-B14F-4D97-AF65-F5344CB8AC3E}">
        <p14:creationId xmlns:p14="http://schemas.microsoft.com/office/powerpoint/2010/main" val="631251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62DB2-58AC-4550-9E76-E8A553956496}"/>
              </a:ext>
            </a:extLst>
          </p:cNvPr>
          <p:cNvSpPr>
            <a:spLocks noGrp="1"/>
          </p:cNvSpPr>
          <p:nvPr>
            <p:ph type="title"/>
          </p:nvPr>
        </p:nvSpPr>
        <p:spPr>
          <a:xfrm>
            <a:off x="868392" y="500332"/>
            <a:ext cx="10256808" cy="1086928"/>
          </a:xfrm>
        </p:spPr>
        <p:txBody>
          <a:bodyPr>
            <a:noAutofit/>
          </a:bodyPr>
          <a:lstStyle/>
          <a:p>
            <a:pPr marL="0" indent="0"/>
            <a:r>
              <a:rPr lang="en-US" sz="2000" b="1" i="0" dirty="0">
                <a:solidFill>
                  <a:srgbClr val="222222"/>
                </a:solidFill>
                <a:effectLst/>
                <a:latin typeface="arial" panose="020B0604020202020204" pitchFamily="34" charset="0"/>
              </a:rPr>
              <a:t>Categorical Frequency Distribution</a:t>
            </a:r>
            <a:r>
              <a:rPr lang="en-US" sz="2000" i="0" dirty="0">
                <a:solidFill>
                  <a:srgbClr val="222222"/>
                </a:solidFill>
                <a:effectLst/>
                <a:latin typeface="arial" panose="020B0604020202020204" pitchFamily="34" charset="0"/>
              </a:rPr>
              <a:t>: A frequency distribution in which the data is only nominal or ordinal. </a:t>
            </a:r>
            <a:r>
              <a:rPr lang="en-GB" sz="2000" dirty="0">
                <a:effectLst/>
                <a:latin typeface="Calibri" panose="020F0502020204030204" pitchFamily="34" charset="0"/>
                <a:ea typeface="Calibri" panose="020F0502020204030204" pitchFamily="34" charset="0"/>
                <a:cs typeface="Calibri" panose="020F0502020204030204" pitchFamily="34" charset="0"/>
              </a:rPr>
              <a:t>A categorical frequency distribution represents data that can be placed in specific categories, such as gender, hair colour, blood group type etc.</a:t>
            </a:r>
            <a:endParaRPr lang="en-US" sz="2000" dirty="0"/>
          </a:p>
        </p:txBody>
      </p:sp>
      <p:graphicFrame>
        <p:nvGraphicFramePr>
          <p:cNvPr id="5" name="Table 5">
            <a:extLst>
              <a:ext uri="{FF2B5EF4-FFF2-40B4-BE49-F238E27FC236}">
                <a16:creationId xmlns:a16="http://schemas.microsoft.com/office/drawing/2014/main" id="{A60250BA-FAD8-4CC4-ACCA-E78B4293935F}"/>
              </a:ext>
            </a:extLst>
          </p:cNvPr>
          <p:cNvGraphicFramePr>
            <a:graphicFrameLocks noGrp="1"/>
          </p:cNvGraphicFramePr>
          <p:nvPr>
            <p:ph sz="half" idx="1"/>
            <p:extLst>
              <p:ext uri="{D42A27DB-BD31-4B8C-83A1-F6EECF244321}">
                <p14:modId xmlns:p14="http://schemas.microsoft.com/office/powerpoint/2010/main" val="3441788544"/>
              </p:ext>
            </p:extLst>
          </p:nvPr>
        </p:nvGraphicFramePr>
        <p:xfrm>
          <a:off x="868392" y="1886686"/>
          <a:ext cx="5227608" cy="2984162"/>
        </p:xfrm>
        <a:graphic>
          <a:graphicData uri="http://schemas.openxmlformats.org/drawingml/2006/table">
            <a:tbl>
              <a:tblPr firstRow="1" bandRow="1">
                <a:tableStyleId>{5A111915-BE36-4E01-A7E5-04B1672EAD32}</a:tableStyleId>
              </a:tblPr>
              <a:tblGrid>
                <a:gridCol w="1069676">
                  <a:extLst>
                    <a:ext uri="{9D8B030D-6E8A-4147-A177-3AD203B41FA5}">
                      <a16:colId xmlns:a16="http://schemas.microsoft.com/office/drawing/2014/main" val="2620673839"/>
                    </a:ext>
                  </a:extLst>
                </a:gridCol>
                <a:gridCol w="1293963">
                  <a:extLst>
                    <a:ext uri="{9D8B030D-6E8A-4147-A177-3AD203B41FA5}">
                      <a16:colId xmlns:a16="http://schemas.microsoft.com/office/drawing/2014/main" val="1507751161"/>
                    </a:ext>
                  </a:extLst>
                </a:gridCol>
                <a:gridCol w="1380226">
                  <a:extLst>
                    <a:ext uri="{9D8B030D-6E8A-4147-A177-3AD203B41FA5}">
                      <a16:colId xmlns:a16="http://schemas.microsoft.com/office/drawing/2014/main" val="1120751793"/>
                    </a:ext>
                  </a:extLst>
                </a:gridCol>
                <a:gridCol w="1483743">
                  <a:extLst>
                    <a:ext uri="{9D8B030D-6E8A-4147-A177-3AD203B41FA5}">
                      <a16:colId xmlns:a16="http://schemas.microsoft.com/office/drawing/2014/main" val="872535229"/>
                    </a:ext>
                  </a:extLst>
                </a:gridCol>
              </a:tblGrid>
              <a:tr h="707366">
                <a:tc>
                  <a:txBody>
                    <a:bodyPr/>
                    <a:lstStyle/>
                    <a:p>
                      <a:r>
                        <a:rPr lang="en-US" sz="1600" dirty="0"/>
                        <a:t>Gender</a:t>
                      </a:r>
                    </a:p>
                  </a:txBody>
                  <a:tcPr/>
                </a:tc>
                <a:tc>
                  <a:txBody>
                    <a:bodyPr/>
                    <a:lstStyle/>
                    <a:p>
                      <a:r>
                        <a:rPr lang="en-US" sz="1600" dirty="0"/>
                        <a:t>Frequency</a:t>
                      </a:r>
                    </a:p>
                  </a:txBody>
                  <a:tcPr/>
                </a:tc>
                <a:tc>
                  <a:txBody>
                    <a:bodyPr/>
                    <a:lstStyle/>
                    <a:p>
                      <a:r>
                        <a:rPr lang="en-US" sz="1600" dirty="0"/>
                        <a:t>Relative Frequency</a:t>
                      </a:r>
                    </a:p>
                  </a:txBody>
                  <a:tcPr/>
                </a:tc>
                <a:tc>
                  <a:txBody>
                    <a:bodyPr/>
                    <a:lstStyle/>
                    <a:p>
                      <a:r>
                        <a:rPr lang="en-US" sz="1600" dirty="0"/>
                        <a:t>Percentage of frequency</a:t>
                      </a:r>
                    </a:p>
                  </a:txBody>
                  <a:tcPr/>
                </a:tc>
                <a:extLst>
                  <a:ext uri="{0D108BD9-81ED-4DB2-BD59-A6C34878D82A}">
                    <a16:rowId xmlns:a16="http://schemas.microsoft.com/office/drawing/2014/main" val="2605539601"/>
                  </a:ext>
                </a:extLst>
              </a:tr>
              <a:tr h="758932">
                <a:tc>
                  <a:txBody>
                    <a:bodyPr/>
                    <a:lstStyle/>
                    <a:p>
                      <a:r>
                        <a:rPr lang="en-US" b="1" dirty="0"/>
                        <a:t>Male</a:t>
                      </a:r>
                    </a:p>
                  </a:txBody>
                  <a:tcPr/>
                </a:tc>
                <a:tc>
                  <a:txBody>
                    <a:bodyPr/>
                    <a:lstStyle/>
                    <a:p>
                      <a:r>
                        <a:rPr lang="en-US" dirty="0"/>
                        <a:t>25</a:t>
                      </a:r>
                    </a:p>
                  </a:txBody>
                  <a:tcPr/>
                </a:tc>
                <a:tc>
                  <a:txBody>
                    <a:bodyPr/>
                    <a:lstStyle/>
                    <a:p>
                      <a:r>
                        <a:rPr lang="en-US" dirty="0"/>
                        <a:t>0.625</a:t>
                      </a:r>
                    </a:p>
                  </a:txBody>
                  <a:tcPr/>
                </a:tc>
                <a:tc>
                  <a:txBody>
                    <a:bodyPr/>
                    <a:lstStyle/>
                    <a:p>
                      <a:r>
                        <a:rPr lang="en-US" dirty="0"/>
                        <a:t>62.5</a:t>
                      </a:r>
                    </a:p>
                  </a:txBody>
                  <a:tcPr/>
                </a:tc>
                <a:extLst>
                  <a:ext uri="{0D108BD9-81ED-4DB2-BD59-A6C34878D82A}">
                    <a16:rowId xmlns:a16="http://schemas.microsoft.com/office/drawing/2014/main" val="2403417692"/>
                  </a:ext>
                </a:extLst>
              </a:tr>
              <a:tr h="758932">
                <a:tc>
                  <a:txBody>
                    <a:bodyPr/>
                    <a:lstStyle/>
                    <a:p>
                      <a:r>
                        <a:rPr lang="en-US" b="1" dirty="0"/>
                        <a:t>Female</a:t>
                      </a:r>
                    </a:p>
                  </a:txBody>
                  <a:tcPr/>
                </a:tc>
                <a:tc>
                  <a:txBody>
                    <a:bodyPr/>
                    <a:lstStyle/>
                    <a:p>
                      <a:r>
                        <a:rPr lang="en-US" dirty="0"/>
                        <a:t>15</a:t>
                      </a:r>
                    </a:p>
                  </a:txBody>
                  <a:tcPr/>
                </a:tc>
                <a:tc>
                  <a:txBody>
                    <a:bodyPr/>
                    <a:lstStyle/>
                    <a:p>
                      <a:r>
                        <a:rPr lang="en-US" dirty="0"/>
                        <a:t>0.375</a:t>
                      </a:r>
                    </a:p>
                  </a:txBody>
                  <a:tcPr/>
                </a:tc>
                <a:tc>
                  <a:txBody>
                    <a:bodyPr/>
                    <a:lstStyle/>
                    <a:p>
                      <a:r>
                        <a:rPr lang="en-US" dirty="0"/>
                        <a:t>37.5</a:t>
                      </a:r>
                    </a:p>
                  </a:txBody>
                  <a:tcPr/>
                </a:tc>
                <a:extLst>
                  <a:ext uri="{0D108BD9-81ED-4DB2-BD59-A6C34878D82A}">
                    <a16:rowId xmlns:a16="http://schemas.microsoft.com/office/drawing/2014/main" val="4285585065"/>
                  </a:ext>
                </a:extLst>
              </a:tr>
              <a:tr h="758932">
                <a:tc>
                  <a:txBody>
                    <a:bodyPr/>
                    <a:lstStyle/>
                    <a:p>
                      <a:r>
                        <a:rPr lang="en-US" b="1" dirty="0"/>
                        <a:t>Total</a:t>
                      </a:r>
                    </a:p>
                  </a:txBody>
                  <a:tcPr/>
                </a:tc>
                <a:tc>
                  <a:txBody>
                    <a:bodyPr/>
                    <a:lstStyle/>
                    <a:p>
                      <a:r>
                        <a:rPr lang="en-US" dirty="0"/>
                        <a:t>n = 40</a:t>
                      </a:r>
                    </a:p>
                  </a:txBody>
                  <a:tcPr/>
                </a:tc>
                <a:tc>
                  <a:txBody>
                    <a:bodyPr/>
                    <a:lstStyle/>
                    <a:p>
                      <a:r>
                        <a:rPr lang="en-US" dirty="0"/>
                        <a:t>1</a:t>
                      </a:r>
                    </a:p>
                  </a:txBody>
                  <a:tcPr/>
                </a:tc>
                <a:tc>
                  <a:txBody>
                    <a:bodyPr/>
                    <a:lstStyle/>
                    <a:p>
                      <a:r>
                        <a:rPr lang="en-US" dirty="0"/>
                        <a:t>100</a:t>
                      </a:r>
                    </a:p>
                  </a:txBody>
                  <a:tcPr/>
                </a:tc>
                <a:extLst>
                  <a:ext uri="{0D108BD9-81ED-4DB2-BD59-A6C34878D82A}">
                    <a16:rowId xmlns:a16="http://schemas.microsoft.com/office/drawing/2014/main" val="3275342455"/>
                  </a:ext>
                </a:extLst>
              </a:tr>
            </a:tbl>
          </a:graphicData>
        </a:graphic>
      </p:graphicFrame>
      <p:graphicFrame>
        <p:nvGraphicFramePr>
          <p:cNvPr id="6" name="Table 6">
            <a:extLst>
              <a:ext uri="{FF2B5EF4-FFF2-40B4-BE49-F238E27FC236}">
                <a16:creationId xmlns:a16="http://schemas.microsoft.com/office/drawing/2014/main" id="{30F85480-338A-4E0A-82DA-E191824D6A02}"/>
              </a:ext>
            </a:extLst>
          </p:cNvPr>
          <p:cNvGraphicFramePr>
            <a:graphicFrameLocks noGrp="1"/>
          </p:cNvGraphicFramePr>
          <p:nvPr>
            <p:ph sz="half" idx="2"/>
            <p:extLst>
              <p:ext uri="{D42A27DB-BD31-4B8C-83A1-F6EECF244321}">
                <p14:modId xmlns:p14="http://schemas.microsoft.com/office/powerpoint/2010/main" val="2992749940"/>
              </p:ext>
            </p:extLst>
          </p:nvPr>
        </p:nvGraphicFramePr>
        <p:xfrm>
          <a:off x="6461127" y="1886686"/>
          <a:ext cx="5063764" cy="3965476"/>
        </p:xfrm>
        <a:graphic>
          <a:graphicData uri="http://schemas.openxmlformats.org/drawingml/2006/table">
            <a:tbl>
              <a:tblPr firstRow="1" bandRow="1">
                <a:tableStyleId>{5A111915-BE36-4E01-A7E5-04B1672EAD32}</a:tableStyleId>
              </a:tblPr>
              <a:tblGrid>
                <a:gridCol w="1265941">
                  <a:extLst>
                    <a:ext uri="{9D8B030D-6E8A-4147-A177-3AD203B41FA5}">
                      <a16:colId xmlns:a16="http://schemas.microsoft.com/office/drawing/2014/main" val="1525168589"/>
                    </a:ext>
                  </a:extLst>
                </a:gridCol>
                <a:gridCol w="1265941">
                  <a:extLst>
                    <a:ext uri="{9D8B030D-6E8A-4147-A177-3AD203B41FA5}">
                      <a16:colId xmlns:a16="http://schemas.microsoft.com/office/drawing/2014/main" val="1899720318"/>
                    </a:ext>
                  </a:extLst>
                </a:gridCol>
                <a:gridCol w="1265941">
                  <a:extLst>
                    <a:ext uri="{9D8B030D-6E8A-4147-A177-3AD203B41FA5}">
                      <a16:colId xmlns:a16="http://schemas.microsoft.com/office/drawing/2014/main" val="1060364166"/>
                    </a:ext>
                  </a:extLst>
                </a:gridCol>
                <a:gridCol w="1265941">
                  <a:extLst>
                    <a:ext uri="{9D8B030D-6E8A-4147-A177-3AD203B41FA5}">
                      <a16:colId xmlns:a16="http://schemas.microsoft.com/office/drawing/2014/main" val="918584554"/>
                    </a:ext>
                  </a:extLst>
                </a:gridCol>
              </a:tblGrid>
              <a:tr h="595323">
                <a:tc>
                  <a:txBody>
                    <a:bodyPr/>
                    <a:lstStyle/>
                    <a:p>
                      <a:r>
                        <a:rPr lang="en-US" sz="1600" dirty="0"/>
                        <a:t>Blood Group</a:t>
                      </a:r>
                    </a:p>
                  </a:txBody>
                  <a:tcPr/>
                </a:tc>
                <a:tc>
                  <a:txBody>
                    <a:bodyPr/>
                    <a:lstStyle/>
                    <a:p>
                      <a:r>
                        <a:rPr lang="en-US" sz="1600" dirty="0"/>
                        <a:t>No. of students</a:t>
                      </a:r>
                    </a:p>
                  </a:txBody>
                  <a:tcPr/>
                </a:tc>
                <a:tc>
                  <a:txBody>
                    <a:bodyPr/>
                    <a:lstStyle/>
                    <a:p>
                      <a:r>
                        <a:rPr lang="en-US" sz="1600" dirty="0"/>
                        <a:t>Proportion of students</a:t>
                      </a:r>
                    </a:p>
                  </a:txBody>
                  <a:tcPr/>
                </a:tc>
                <a:tc>
                  <a:txBody>
                    <a:bodyPr/>
                    <a:lstStyle/>
                    <a:p>
                      <a:r>
                        <a:rPr lang="en-US" sz="1600" dirty="0"/>
                        <a:t>% of students</a:t>
                      </a:r>
                    </a:p>
                  </a:txBody>
                  <a:tcPr/>
                </a:tc>
                <a:extLst>
                  <a:ext uri="{0D108BD9-81ED-4DB2-BD59-A6C34878D82A}">
                    <a16:rowId xmlns:a16="http://schemas.microsoft.com/office/drawing/2014/main" val="4020262601"/>
                  </a:ext>
                </a:extLst>
              </a:tr>
              <a:tr h="595323">
                <a:tc>
                  <a:txBody>
                    <a:bodyPr/>
                    <a:lstStyle/>
                    <a:p>
                      <a:r>
                        <a:rPr lang="en-US" b="1" dirty="0"/>
                        <a:t>A</a:t>
                      </a:r>
                    </a:p>
                  </a:txBody>
                  <a:tcPr/>
                </a:tc>
                <a:tc>
                  <a:txBody>
                    <a:bodyPr/>
                    <a:lstStyle/>
                    <a:p>
                      <a:r>
                        <a:rPr lang="en-US" dirty="0"/>
                        <a:t>10</a:t>
                      </a:r>
                    </a:p>
                  </a:txBody>
                  <a:tcPr/>
                </a:tc>
                <a:tc>
                  <a:txBody>
                    <a:bodyPr/>
                    <a:lstStyle/>
                    <a:p>
                      <a:r>
                        <a:rPr lang="en-US" dirty="0"/>
                        <a:t>0.25</a:t>
                      </a:r>
                    </a:p>
                  </a:txBody>
                  <a:tcPr/>
                </a:tc>
                <a:tc>
                  <a:txBody>
                    <a:bodyPr/>
                    <a:lstStyle/>
                    <a:p>
                      <a:r>
                        <a:rPr lang="en-US" dirty="0"/>
                        <a:t>25</a:t>
                      </a:r>
                    </a:p>
                  </a:txBody>
                  <a:tcPr/>
                </a:tc>
                <a:extLst>
                  <a:ext uri="{0D108BD9-81ED-4DB2-BD59-A6C34878D82A}">
                    <a16:rowId xmlns:a16="http://schemas.microsoft.com/office/drawing/2014/main" val="1492233255"/>
                  </a:ext>
                </a:extLst>
              </a:tr>
              <a:tr h="595323">
                <a:tc>
                  <a:txBody>
                    <a:bodyPr/>
                    <a:lstStyle/>
                    <a:p>
                      <a:r>
                        <a:rPr lang="en-US" b="1" dirty="0"/>
                        <a:t>B</a:t>
                      </a:r>
                    </a:p>
                  </a:txBody>
                  <a:tcPr/>
                </a:tc>
                <a:tc>
                  <a:txBody>
                    <a:bodyPr/>
                    <a:lstStyle/>
                    <a:p>
                      <a:r>
                        <a:rPr lang="en-US" dirty="0"/>
                        <a:t>15</a:t>
                      </a:r>
                    </a:p>
                  </a:txBody>
                  <a:tcPr/>
                </a:tc>
                <a:tc>
                  <a:txBody>
                    <a:bodyPr/>
                    <a:lstStyle/>
                    <a:p>
                      <a:r>
                        <a:rPr lang="en-US" dirty="0"/>
                        <a:t>0.375</a:t>
                      </a:r>
                    </a:p>
                  </a:txBody>
                  <a:tcPr/>
                </a:tc>
                <a:tc>
                  <a:txBody>
                    <a:bodyPr/>
                    <a:lstStyle/>
                    <a:p>
                      <a:r>
                        <a:rPr lang="en-US" dirty="0"/>
                        <a:t>37.5</a:t>
                      </a:r>
                    </a:p>
                  </a:txBody>
                  <a:tcPr/>
                </a:tc>
                <a:extLst>
                  <a:ext uri="{0D108BD9-81ED-4DB2-BD59-A6C34878D82A}">
                    <a16:rowId xmlns:a16="http://schemas.microsoft.com/office/drawing/2014/main" val="2888733792"/>
                  </a:ext>
                </a:extLst>
              </a:tr>
              <a:tr h="595323">
                <a:tc>
                  <a:txBody>
                    <a:bodyPr/>
                    <a:lstStyle/>
                    <a:p>
                      <a:r>
                        <a:rPr lang="en-US" b="1" dirty="0"/>
                        <a:t>AB</a:t>
                      </a:r>
                    </a:p>
                  </a:txBody>
                  <a:tcPr/>
                </a:tc>
                <a:tc>
                  <a:txBody>
                    <a:bodyPr/>
                    <a:lstStyle/>
                    <a:p>
                      <a:r>
                        <a:rPr lang="en-US" dirty="0"/>
                        <a:t>9</a:t>
                      </a:r>
                    </a:p>
                  </a:txBody>
                  <a:tcPr/>
                </a:tc>
                <a:tc>
                  <a:txBody>
                    <a:bodyPr/>
                    <a:lstStyle/>
                    <a:p>
                      <a:r>
                        <a:rPr lang="en-US" dirty="0"/>
                        <a:t>0..225</a:t>
                      </a:r>
                    </a:p>
                  </a:txBody>
                  <a:tcPr/>
                </a:tc>
                <a:tc>
                  <a:txBody>
                    <a:bodyPr/>
                    <a:lstStyle/>
                    <a:p>
                      <a:r>
                        <a:rPr lang="en-US" dirty="0"/>
                        <a:t>22.5</a:t>
                      </a:r>
                    </a:p>
                  </a:txBody>
                  <a:tcPr/>
                </a:tc>
                <a:extLst>
                  <a:ext uri="{0D108BD9-81ED-4DB2-BD59-A6C34878D82A}">
                    <a16:rowId xmlns:a16="http://schemas.microsoft.com/office/drawing/2014/main" val="1298188317"/>
                  </a:ext>
                </a:extLst>
              </a:tr>
              <a:tr h="792092">
                <a:tc>
                  <a:txBody>
                    <a:bodyPr/>
                    <a:lstStyle/>
                    <a:p>
                      <a:r>
                        <a:rPr lang="en-US" b="1" dirty="0"/>
                        <a:t>O</a:t>
                      </a:r>
                    </a:p>
                  </a:txBody>
                  <a:tcPr/>
                </a:tc>
                <a:tc>
                  <a:txBody>
                    <a:bodyPr/>
                    <a:lstStyle/>
                    <a:p>
                      <a:r>
                        <a:rPr lang="en-US" dirty="0"/>
                        <a:t>16</a:t>
                      </a:r>
                    </a:p>
                  </a:txBody>
                  <a:tcPr/>
                </a:tc>
                <a:tc>
                  <a:txBody>
                    <a:bodyPr/>
                    <a:lstStyle/>
                    <a:p>
                      <a:r>
                        <a:rPr lang="en-US" dirty="0"/>
                        <a:t>0.15</a:t>
                      </a:r>
                    </a:p>
                  </a:txBody>
                  <a:tcPr/>
                </a:tc>
                <a:tc>
                  <a:txBody>
                    <a:bodyPr/>
                    <a:lstStyle/>
                    <a:p>
                      <a:r>
                        <a:rPr lang="en-US" dirty="0"/>
                        <a:t>15</a:t>
                      </a:r>
                    </a:p>
                  </a:txBody>
                  <a:tcPr/>
                </a:tc>
                <a:extLst>
                  <a:ext uri="{0D108BD9-81ED-4DB2-BD59-A6C34878D82A}">
                    <a16:rowId xmlns:a16="http://schemas.microsoft.com/office/drawing/2014/main" val="588827712"/>
                  </a:ext>
                </a:extLst>
              </a:tr>
              <a:tr h="792092">
                <a:tc>
                  <a:txBody>
                    <a:bodyPr/>
                    <a:lstStyle/>
                    <a:p>
                      <a:r>
                        <a:rPr lang="en-US" b="1" dirty="0"/>
                        <a:t>Total</a:t>
                      </a:r>
                    </a:p>
                  </a:txBody>
                  <a:tcPr/>
                </a:tc>
                <a:tc>
                  <a:txBody>
                    <a:bodyPr/>
                    <a:lstStyle/>
                    <a:p>
                      <a:r>
                        <a:rPr lang="en-US" dirty="0"/>
                        <a:t>n = 36</a:t>
                      </a:r>
                    </a:p>
                  </a:txBody>
                  <a:tcPr/>
                </a:tc>
                <a:tc>
                  <a:txBody>
                    <a:bodyPr/>
                    <a:lstStyle/>
                    <a:p>
                      <a:r>
                        <a:rPr lang="en-US" dirty="0"/>
                        <a:t>1</a:t>
                      </a:r>
                    </a:p>
                  </a:txBody>
                  <a:tcPr/>
                </a:tc>
                <a:tc>
                  <a:txBody>
                    <a:bodyPr/>
                    <a:lstStyle/>
                    <a:p>
                      <a:r>
                        <a:rPr lang="en-US" dirty="0"/>
                        <a:t>100</a:t>
                      </a:r>
                    </a:p>
                  </a:txBody>
                  <a:tcPr/>
                </a:tc>
                <a:extLst>
                  <a:ext uri="{0D108BD9-81ED-4DB2-BD59-A6C34878D82A}">
                    <a16:rowId xmlns:a16="http://schemas.microsoft.com/office/drawing/2014/main" val="102885769"/>
                  </a:ext>
                </a:extLst>
              </a:tr>
            </a:tbl>
          </a:graphicData>
        </a:graphic>
      </p:graphicFrame>
    </p:spTree>
    <p:extLst>
      <p:ext uri="{BB962C8B-B14F-4D97-AF65-F5344CB8AC3E}">
        <p14:creationId xmlns:p14="http://schemas.microsoft.com/office/powerpoint/2010/main" val="3544897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B6D1-37C4-E153-5BAC-20378036EC69}"/>
              </a:ext>
            </a:extLst>
          </p:cNvPr>
          <p:cNvSpPr>
            <a:spLocks noGrp="1"/>
          </p:cNvSpPr>
          <p:nvPr>
            <p:ph type="title"/>
          </p:nvPr>
        </p:nvSpPr>
        <p:spPr>
          <a:xfrm>
            <a:off x="1066800" y="498764"/>
            <a:ext cx="10058400" cy="406492"/>
          </a:xfrm>
        </p:spPr>
        <p:txBody>
          <a:bodyPr>
            <a:normAutofit fontScale="90000"/>
          </a:bodyPr>
          <a:lstStyle/>
          <a:p>
            <a:r>
              <a:rPr lang="en-US" sz="2800" dirty="0"/>
              <a:t>Cross tabulation of gender vs age group</a:t>
            </a:r>
          </a:p>
        </p:txBody>
      </p:sp>
      <p:graphicFrame>
        <p:nvGraphicFramePr>
          <p:cNvPr id="4" name="Content Placeholder 3">
            <a:extLst>
              <a:ext uri="{FF2B5EF4-FFF2-40B4-BE49-F238E27FC236}">
                <a16:creationId xmlns:a16="http://schemas.microsoft.com/office/drawing/2014/main" id="{71F0339D-0136-7D90-BB3A-E4ADBE725CAC}"/>
              </a:ext>
            </a:extLst>
          </p:cNvPr>
          <p:cNvGraphicFramePr>
            <a:graphicFrameLocks noGrp="1"/>
          </p:cNvGraphicFramePr>
          <p:nvPr>
            <p:ph idx="1"/>
            <p:extLst>
              <p:ext uri="{D42A27DB-BD31-4B8C-83A1-F6EECF244321}">
                <p14:modId xmlns:p14="http://schemas.microsoft.com/office/powerpoint/2010/main" val="3159791983"/>
              </p:ext>
            </p:extLst>
          </p:nvPr>
        </p:nvGraphicFramePr>
        <p:xfrm>
          <a:off x="1066801" y="1399307"/>
          <a:ext cx="10349346" cy="4724401"/>
        </p:xfrm>
        <a:graphic>
          <a:graphicData uri="http://schemas.openxmlformats.org/drawingml/2006/table">
            <a:tbl>
              <a:tblPr firstRow="1" firstCol="1" bandRow="1">
                <a:tableStyleId>{5A111915-BE36-4E01-A7E5-04B1672EAD32}</a:tableStyleId>
              </a:tblPr>
              <a:tblGrid>
                <a:gridCol w="2215869">
                  <a:extLst>
                    <a:ext uri="{9D8B030D-6E8A-4147-A177-3AD203B41FA5}">
                      <a16:colId xmlns:a16="http://schemas.microsoft.com/office/drawing/2014/main" val="2847460449"/>
                    </a:ext>
                  </a:extLst>
                </a:gridCol>
                <a:gridCol w="1692760">
                  <a:extLst>
                    <a:ext uri="{9D8B030D-6E8A-4147-A177-3AD203B41FA5}">
                      <a16:colId xmlns:a16="http://schemas.microsoft.com/office/drawing/2014/main" val="4266481219"/>
                    </a:ext>
                  </a:extLst>
                </a:gridCol>
                <a:gridCol w="1692760">
                  <a:extLst>
                    <a:ext uri="{9D8B030D-6E8A-4147-A177-3AD203B41FA5}">
                      <a16:colId xmlns:a16="http://schemas.microsoft.com/office/drawing/2014/main" val="3557373450"/>
                    </a:ext>
                  </a:extLst>
                </a:gridCol>
                <a:gridCol w="1798558">
                  <a:extLst>
                    <a:ext uri="{9D8B030D-6E8A-4147-A177-3AD203B41FA5}">
                      <a16:colId xmlns:a16="http://schemas.microsoft.com/office/drawing/2014/main" val="540032587"/>
                    </a:ext>
                  </a:extLst>
                </a:gridCol>
                <a:gridCol w="1798558">
                  <a:extLst>
                    <a:ext uri="{9D8B030D-6E8A-4147-A177-3AD203B41FA5}">
                      <a16:colId xmlns:a16="http://schemas.microsoft.com/office/drawing/2014/main" val="3477771775"/>
                    </a:ext>
                  </a:extLst>
                </a:gridCol>
                <a:gridCol w="1150841">
                  <a:extLst>
                    <a:ext uri="{9D8B030D-6E8A-4147-A177-3AD203B41FA5}">
                      <a16:colId xmlns:a16="http://schemas.microsoft.com/office/drawing/2014/main" val="2485877819"/>
                    </a:ext>
                  </a:extLst>
                </a:gridCol>
              </a:tblGrid>
              <a:tr h="387129">
                <a:tc rowSpan="2">
                  <a:txBody>
                    <a:bodyPr/>
                    <a:lstStyle/>
                    <a:p>
                      <a:pPr marL="0" marR="0">
                        <a:lnSpc>
                          <a:spcPct val="107000"/>
                        </a:lnSpc>
                        <a:spcBef>
                          <a:spcPts val="0"/>
                        </a:spcBef>
                        <a:spcAft>
                          <a:spcPts val="0"/>
                        </a:spcAft>
                      </a:pPr>
                      <a:r>
                        <a:rPr lang="en-GB" sz="1800" dirty="0">
                          <a:effectLst/>
                        </a:rPr>
                        <a:t>Gender</a:t>
                      </a:r>
                      <a:endParaRPr lang="en-US" sz="1800" dirty="0">
                        <a:effectLst/>
                      </a:endParaRPr>
                    </a:p>
                    <a:p>
                      <a:pPr marL="0" marR="0">
                        <a:lnSpc>
                          <a:spcPct val="107000"/>
                        </a:lnSpc>
                        <a:spcBef>
                          <a:spcPts val="0"/>
                        </a:spcBef>
                        <a:spcAft>
                          <a:spcPts val="0"/>
                        </a:spcAft>
                      </a:pPr>
                      <a:r>
                        <a:rPr lang="en-GB" sz="1800" dirty="0">
                          <a:effectLst/>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4">
                  <a:txBody>
                    <a:bodyPr/>
                    <a:lstStyle/>
                    <a:p>
                      <a:pPr marL="0" marR="0" algn="ctr">
                        <a:lnSpc>
                          <a:spcPct val="107000"/>
                        </a:lnSpc>
                        <a:spcBef>
                          <a:spcPts val="0"/>
                        </a:spcBef>
                        <a:spcAft>
                          <a:spcPts val="0"/>
                        </a:spcAft>
                      </a:pPr>
                      <a:r>
                        <a:rPr lang="en-GB" sz="1800" dirty="0">
                          <a:effectLst/>
                        </a:rPr>
                        <a:t>Blood group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0" marR="0" algn="ctr">
                        <a:lnSpc>
                          <a:spcPct val="107000"/>
                        </a:lnSpc>
                        <a:spcBef>
                          <a:spcPts val="0"/>
                        </a:spcBef>
                        <a:spcAft>
                          <a:spcPts val="0"/>
                        </a:spcAft>
                      </a:pPr>
                      <a:r>
                        <a:rPr lang="en-GB" sz="1800">
                          <a:effectLst/>
                        </a:rPr>
                        <a:t>Total</a:t>
                      </a:r>
                      <a:endParaRPr lang="en-US" sz="1800">
                        <a:effectLst/>
                      </a:endParaRPr>
                    </a:p>
                    <a:p>
                      <a:pPr marL="0" marR="0">
                        <a:lnSpc>
                          <a:spcPct val="107000"/>
                        </a:lnSpc>
                        <a:spcBef>
                          <a:spcPts val="0"/>
                        </a:spcBef>
                        <a:spcAft>
                          <a:spcPts val="0"/>
                        </a:spcAft>
                      </a:pPr>
                      <a:r>
                        <a:rPr lang="en-GB"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12172870"/>
                  </a:ext>
                </a:extLst>
              </a:tr>
              <a:tr h="393227">
                <a:tc vMerge="1">
                  <a:txBody>
                    <a:bodyPr/>
                    <a:lstStyle/>
                    <a:p>
                      <a:endParaRPr lang="en-US"/>
                    </a:p>
                  </a:txBody>
                  <a:tcPr/>
                </a:tc>
                <a:tc>
                  <a:txBody>
                    <a:bodyPr/>
                    <a:lstStyle/>
                    <a:p>
                      <a:pPr marL="0" marR="0" algn="ctr">
                        <a:lnSpc>
                          <a:spcPct val="107000"/>
                        </a:lnSpc>
                        <a:spcBef>
                          <a:spcPts val="0"/>
                        </a:spcBef>
                        <a:spcAft>
                          <a:spcPts val="0"/>
                        </a:spcAft>
                      </a:pPr>
                      <a:r>
                        <a:rPr lang="en-GB" sz="1800" dirty="0">
                          <a:effectLst/>
                        </a:rPr>
                        <a:t>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a:effectLst/>
                        </a:rPr>
                        <a:t>AB</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a:effectLst/>
                        </a:rPr>
                        <a:t>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3055559043"/>
                  </a:ext>
                </a:extLst>
              </a:tr>
              <a:tr h="1581844">
                <a:tc>
                  <a:txBody>
                    <a:bodyPr/>
                    <a:lstStyle/>
                    <a:p>
                      <a:pPr marL="0" marR="0">
                        <a:lnSpc>
                          <a:spcPct val="107000"/>
                        </a:lnSpc>
                        <a:spcBef>
                          <a:spcPts val="0"/>
                        </a:spcBef>
                        <a:spcAft>
                          <a:spcPts val="0"/>
                        </a:spcAft>
                      </a:pPr>
                      <a:r>
                        <a:rPr lang="en-GB" sz="1800" dirty="0">
                          <a:effectLst/>
                        </a:rPr>
                        <a:t> Male</a:t>
                      </a:r>
                      <a:endParaRPr lang="en-US" sz="1800" dirty="0">
                        <a:effectLst/>
                      </a:endParaRPr>
                    </a:p>
                    <a:p>
                      <a:pPr marL="0" marR="0">
                        <a:lnSpc>
                          <a:spcPct val="107000"/>
                        </a:lnSpc>
                        <a:spcBef>
                          <a:spcPts val="0"/>
                        </a:spcBef>
                        <a:spcAft>
                          <a:spcPts val="0"/>
                        </a:spcAft>
                      </a:pPr>
                      <a:r>
                        <a:rPr lang="en-GB" sz="1800" dirty="0">
                          <a:effectLst/>
                        </a:rPr>
                        <a:t>% within gender</a:t>
                      </a:r>
                      <a:endParaRPr lang="en-US" sz="1800" dirty="0">
                        <a:effectLst/>
                      </a:endParaRPr>
                    </a:p>
                    <a:p>
                      <a:pPr marL="0" marR="0">
                        <a:lnSpc>
                          <a:spcPct val="107000"/>
                        </a:lnSpc>
                        <a:spcBef>
                          <a:spcPts val="0"/>
                        </a:spcBef>
                        <a:spcAft>
                          <a:spcPts val="0"/>
                        </a:spcAft>
                      </a:pPr>
                      <a:r>
                        <a:rPr lang="en-GB" sz="1800" dirty="0">
                          <a:effectLst/>
                        </a:rPr>
                        <a:t>% within B.G.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8</a:t>
                      </a:r>
                      <a:endParaRPr lang="en-US" sz="1800" dirty="0">
                        <a:effectLst/>
                      </a:endParaRPr>
                    </a:p>
                    <a:p>
                      <a:pPr marL="0" marR="0">
                        <a:lnSpc>
                          <a:spcPct val="107000"/>
                        </a:lnSpc>
                        <a:spcBef>
                          <a:spcPts val="0"/>
                        </a:spcBef>
                        <a:spcAft>
                          <a:spcPts val="0"/>
                        </a:spcAft>
                      </a:pPr>
                      <a:r>
                        <a:rPr lang="en-GB" sz="1800" dirty="0">
                          <a:effectLst/>
                        </a:rPr>
                        <a:t>          32</a:t>
                      </a:r>
                      <a:endParaRPr lang="en-US" sz="1800" dirty="0">
                        <a:effectLst/>
                      </a:endParaRPr>
                    </a:p>
                    <a:p>
                      <a:pPr marL="0" marR="0">
                        <a:lnSpc>
                          <a:spcPct val="107000"/>
                        </a:lnSpc>
                        <a:spcBef>
                          <a:spcPts val="0"/>
                        </a:spcBef>
                        <a:spcAft>
                          <a:spcPts val="0"/>
                        </a:spcAft>
                      </a:pPr>
                      <a:r>
                        <a:rPr lang="en-GB" sz="1800" dirty="0">
                          <a:effectLst/>
                        </a:rPr>
                        <a:t>           80</a:t>
                      </a:r>
                      <a:endParaRPr lang="en-US" sz="1800" dirty="0">
                        <a:effectLst/>
                      </a:endParaRPr>
                    </a:p>
                    <a:p>
                      <a:pPr marL="0" marR="0">
                        <a:lnSpc>
                          <a:spcPct val="107000"/>
                        </a:lnSpc>
                        <a:spcBef>
                          <a:spcPts val="0"/>
                        </a:spcBef>
                        <a:spcAft>
                          <a:spcPts val="0"/>
                        </a:spcAft>
                      </a:pPr>
                      <a:r>
                        <a:rPr lang="en-GB" sz="1800" dirty="0">
                          <a:effectLst/>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9</a:t>
                      </a:r>
                      <a:endParaRPr lang="en-US" sz="1800" dirty="0">
                        <a:effectLst/>
                      </a:endParaRPr>
                    </a:p>
                    <a:p>
                      <a:pPr marL="0" marR="0">
                        <a:lnSpc>
                          <a:spcPct val="107000"/>
                        </a:lnSpc>
                        <a:spcBef>
                          <a:spcPts val="0"/>
                        </a:spcBef>
                        <a:spcAft>
                          <a:spcPts val="0"/>
                        </a:spcAft>
                        <a:tabLst>
                          <a:tab pos="281305" algn="l"/>
                        </a:tabLst>
                      </a:pPr>
                      <a:r>
                        <a:rPr lang="en-GB" sz="1800" dirty="0">
                          <a:effectLst/>
                        </a:rPr>
                        <a:t>	      36</a:t>
                      </a:r>
                      <a:endParaRPr lang="en-US" sz="1800" dirty="0">
                        <a:effectLst/>
                      </a:endParaRPr>
                    </a:p>
                    <a:p>
                      <a:pPr marL="0" marR="0" algn="ctr">
                        <a:lnSpc>
                          <a:spcPct val="107000"/>
                        </a:lnSpc>
                        <a:spcBef>
                          <a:spcPts val="0"/>
                        </a:spcBef>
                        <a:spcAft>
                          <a:spcPts val="0"/>
                        </a:spcAft>
                      </a:pPr>
                      <a:r>
                        <a:rPr lang="en-GB" sz="1800" dirty="0">
                          <a:effectLst/>
                        </a:rPr>
                        <a:t>60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4</a:t>
                      </a:r>
                      <a:endParaRPr lang="en-US" sz="1800" dirty="0">
                        <a:effectLst/>
                      </a:endParaRPr>
                    </a:p>
                    <a:p>
                      <a:pPr marL="0" marR="0">
                        <a:lnSpc>
                          <a:spcPct val="107000"/>
                        </a:lnSpc>
                        <a:spcBef>
                          <a:spcPts val="0"/>
                        </a:spcBef>
                        <a:spcAft>
                          <a:spcPts val="0"/>
                        </a:spcAft>
                      </a:pPr>
                      <a:r>
                        <a:rPr lang="en-GB" sz="1800" dirty="0">
                          <a:effectLst/>
                        </a:rPr>
                        <a:t>            16</a:t>
                      </a:r>
                      <a:endParaRPr lang="en-US" sz="1800" dirty="0">
                        <a:effectLst/>
                      </a:endParaRPr>
                    </a:p>
                    <a:p>
                      <a:pPr marL="0" marR="0">
                        <a:lnSpc>
                          <a:spcPct val="107000"/>
                        </a:lnSpc>
                        <a:spcBef>
                          <a:spcPts val="0"/>
                        </a:spcBef>
                        <a:spcAft>
                          <a:spcPts val="0"/>
                        </a:spcAft>
                      </a:pPr>
                      <a:r>
                        <a:rPr lang="en-GB" sz="1800" dirty="0">
                          <a:effectLst/>
                        </a:rPr>
                        <a:t>          44.44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4</a:t>
                      </a:r>
                      <a:endParaRPr lang="en-US" sz="1800" dirty="0">
                        <a:effectLst/>
                      </a:endParaRPr>
                    </a:p>
                    <a:p>
                      <a:pPr marL="0" marR="0" algn="ctr">
                        <a:lnSpc>
                          <a:spcPct val="107000"/>
                        </a:lnSpc>
                        <a:spcBef>
                          <a:spcPts val="0"/>
                        </a:spcBef>
                        <a:spcAft>
                          <a:spcPts val="0"/>
                        </a:spcAft>
                      </a:pPr>
                      <a:r>
                        <a:rPr lang="en-GB" sz="1800" dirty="0">
                          <a:effectLst/>
                        </a:rPr>
                        <a:t>16</a:t>
                      </a:r>
                      <a:endParaRPr lang="en-US" sz="1800" dirty="0">
                        <a:effectLst/>
                      </a:endParaRPr>
                    </a:p>
                    <a:p>
                      <a:pPr marL="0" marR="0" algn="ctr">
                        <a:lnSpc>
                          <a:spcPct val="107000"/>
                        </a:lnSpc>
                        <a:spcBef>
                          <a:spcPts val="0"/>
                        </a:spcBef>
                        <a:spcAft>
                          <a:spcPts val="0"/>
                        </a:spcAft>
                      </a:pPr>
                      <a:r>
                        <a:rPr lang="en-GB" sz="1800" dirty="0">
                          <a:effectLst/>
                        </a:rPr>
                        <a:t>66.67</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a:effectLst/>
                        </a:rPr>
                        <a:t>25</a:t>
                      </a:r>
                      <a:endParaRPr lang="en-US" sz="1800">
                        <a:effectLst/>
                      </a:endParaRPr>
                    </a:p>
                    <a:p>
                      <a:pPr marL="0" marR="0" algn="ctr">
                        <a:lnSpc>
                          <a:spcPct val="107000"/>
                        </a:lnSpc>
                        <a:spcBef>
                          <a:spcPts val="0"/>
                        </a:spcBef>
                        <a:spcAft>
                          <a:spcPts val="0"/>
                        </a:spcAft>
                      </a:pPr>
                      <a:r>
                        <a:rPr lang="en-GB" sz="1800">
                          <a:effectLst/>
                        </a:rPr>
                        <a:t>100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8333762"/>
                  </a:ext>
                </a:extLst>
              </a:tr>
              <a:tr h="1581560">
                <a:tc>
                  <a:txBody>
                    <a:bodyPr/>
                    <a:lstStyle/>
                    <a:p>
                      <a:pPr marL="0" marR="0">
                        <a:lnSpc>
                          <a:spcPct val="107000"/>
                        </a:lnSpc>
                        <a:spcBef>
                          <a:spcPts val="0"/>
                        </a:spcBef>
                        <a:spcAft>
                          <a:spcPts val="0"/>
                        </a:spcAft>
                      </a:pPr>
                      <a:r>
                        <a:rPr lang="en-GB" sz="1800" dirty="0">
                          <a:effectLst/>
                        </a:rPr>
                        <a:t> Female</a:t>
                      </a:r>
                      <a:endParaRPr lang="en-US" sz="1800" dirty="0">
                        <a:effectLst/>
                      </a:endParaRPr>
                    </a:p>
                    <a:p>
                      <a:pPr marL="0" marR="0">
                        <a:lnSpc>
                          <a:spcPct val="107000"/>
                        </a:lnSpc>
                        <a:spcBef>
                          <a:spcPts val="0"/>
                        </a:spcBef>
                        <a:spcAft>
                          <a:spcPts val="0"/>
                        </a:spcAft>
                      </a:pPr>
                      <a:r>
                        <a:rPr lang="en-GB" sz="1800" dirty="0">
                          <a:effectLst/>
                        </a:rPr>
                        <a:t>% within gender</a:t>
                      </a:r>
                      <a:endParaRPr lang="en-US" sz="1800" dirty="0">
                        <a:effectLst/>
                      </a:endParaRPr>
                    </a:p>
                    <a:p>
                      <a:pPr marL="0" marR="0">
                        <a:lnSpc>
                          <a:spcPct val="107000"/>
                        </a:lnSpc>
                        <a:spcBef>
                          <a:spcPts val="0"/>
                        </a:spcBef>
                        <a:spcAft>
                          <a:spcPts val="0"/>
                        </a:spcAft>
                      </a:pPr>
                      <a:r>
                        <a:rPr lang="en-GB" sz="1800" dirty="0">
                          <a:effectLst/>
                        </a:rPr>
                        <a:t>% within B.G.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2</a:t>
                      </a:r>
                      <a:endParaRPr lang="en-US" sz="1800" dirty="0">
                        <a:effectLst/>
                      </a:endParaRPr>
                    </a:p>
                    <a:p>
                      <a:pPr marL="0" marR="0">
                        <a:lnSpc>
                          <a:spcPct val="107000"/>
                        </a:lnSpc>
                        <a:spcBef>
                          <a:spcPts val="0"/>
                        </a:spcBef>
                        <a:spcAft>
                          <a:spcPts val="0"/>
                        </a:spcAft>
                      </a:pPr>
                      <a:r>
                        <a:rPr lang="en-GB" sz="1800" dirty="0">
                          <a:effectLst/>
                        </a:rPr>
                        <a:t>       13.3333</a:t>
                      </a:r>
                      <a:endParaRPr lang="en-US" sz="1800" dirty="0">
                        <a:effectLst/>
                      </a:endParaRPr>
                    </a:p>
                    <a:p>
                      <a:pPr marL="0" marR="0">
                        <a:lnSpc>
                          <a:spcPct val="107000"/>
                        </a:lnSpc>
                        <a:spcBef>
                          <a:spcPts val="0"/>
                        </a:spcBef>
                        <a:spcAft>
                          <a:spcPts val="0"/>
                        </a:spcAft>
                      </a:pPr>
                      <a:r>
                        <a:rPr lang="en-GB" sz="1800" dirty="0">
                          <a:effectLst/>
                        </a:rPr>
                        <a:t>            20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6</a:t>
                      </a:r>
                      <a:endParaRPr lang="en-US" sz="1800" dirty="0">
                        <a:effectLst/>
                      </a:endParaRPr>
                    </a:p>
                    <a:p>
                      <a:pPr marL="0" marR="0">
                        <a:lnSpc>
                          <a:spcPct val="107000"/>
                        </a:lnSpc>
                        <a:spcBef>
                          <a:spcPts val="0"/>
                        </a:spcBef>
                        <a:spcAft>
                          <a:spcPts val="0"/>
                        </a:spcAft>
                      </a:pPr>
                      <a:r>
                        <a:rPr lang="en-GB" sz="1800" dirty="0">
                          <a:effectLst/>
                        </a:rPr>
                        <a:t>          40</a:t>
                      </a:r>
                      <a:endParaRPr lang="en-US" sz="1800" dirty="0">
                        <a:effectLst/>
                      </a:endParaRPr>
                    </a:p>
                    <a:p>
                      <a:pPr marL="0" marR="0">
                        <a:lnSpc>
                          <a:spcPct val="107000"/>
                        </a:lnSpc>
                        <a:spcBef>
                          <a:spcPts val="0"/>
                        </a:spcBef>
                        <a:spcAft>
                          <a:spcPts val="0"/>
                        </a:spcAft>
                      </a:pPr>
                      <a:r>
                        <a:rPr lang="en-GB" sz="1800" dirty="0">
                          <a:effectLst/>
                        </a:rPr>
                        <a:t>          40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5</a:t>
                      </a:r>
                      <a:endParaRPr lang="en-US" sz="1800" dirty="0">
                        <a:effectLst/>
                      </a:endParaRPr>
                    </a:p>
                    <a:p>
                      <a:pPr marL="0" marR="0">
                        <a:lnSpc>
                          <a:spcPct val="107000"/>
                        </a:lnSpc>
                        <a:spcBef>
                          <a:spcPts val="0"/>
                        </a:spcBef>
                        <a:spcAft>
                          <a:spcPts val="0"/>
                        </a:spcAft>
                        <a:tabLst>
                          <a:tab pos="252730" algn="l"/>
                        </a:tabLst>
                      </a:pPr>
                      <a:r>
                        <a:rPr lang="en-GB" sz="1800" dirty="0">
                          <a:effectLst/>
                        </a:rPr>
                        <a:t>	   33.3333</a:t>
                      </a:r>
                      <a:endParaRPr lang="en-US" sz="1800" dirty="0">
                        <a:effectLst/>
                      </a:endParaRPr>
                    </a:p>
                    <a:p>
                      <a:pPr marL="0" marR="0">
                        <a:lnSpc>
                          <a:spcPct val="107000"/>
                        </a:lnSpc>
                        <a:spcBef>
                          <a:spcPts val="0"/>
                        </a:spcBef>
                        <a:spcAft>
                          <a:spcPts val="0"/>
                        </a:spcAft>
                        <a:tabLst>
                          <a:tab pos="252730" algn="l"/>
                        </a:tabLst>
                      </a:pPr>
                      <a:r>
                        <a:rPr lang="en-GB" sz="1800" dirty="0">
                          <a:effectLst/>
                        </a:rPr>
                        <a:t>        55.56</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2</a:t>
                      </a:r>
                      <a:endParaRPr lang="en-US" sz="1800" dirty="0">
                        <a:effectLst/>
                      </a:endParaRPr>
                    </a:p>
                    <a:p>
                      <a:pPr marL="0" marR="0" algn="ctr">
                        <a:lnSpc>
                          <a:spcPct val="107000"/>
                        </a:lnSpc>
                        <a:spcBef>
                          <a:spcPts val="0"/>
                        </a:spcBef>
                        <a:spcAft>
                          <a:spcPts val="0"/>
                        </a:spcAft>
                      </a:pPr>
                      <a:r>
                        <a:rPr lang="en-GB" sz="1800" dirty="0">
                          <a:effectLst/>
                        </a:rPr>
                        <a:t>13.3333</a:t>
                      </a:r>
                      <a:endParaRPr lang="en-US" sz="1800" dirty="0">
                        <a:effectLst/>
                      </a:endParaRPr>
                    </a:p>
                    <a:p>
                      <a:pPr marL="0" marR="0" algn="ctr">
                        <a:lnSpc>
                          <a:spcPct val="107000"/>
                        </a:lnSpc>
                        <a:spcBef>
                          <a:spcPts val="0"/>
                        </a:spcBef>
                        <a:spcAft>
                          <a:spcPts val="0"/>
                        </a:spcAft>
                      </a:pPr>
                      <a:r>
                        <a:rPr lang="en-GB" sz="1800" dirty="0">
                          <a:effectLst/>
                        </a:rPr>
                        <a:t>33.33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15</a:t>
                      </a:r>
                      <a:endParaRPr lang="en-US" sz="1800" dirty="0">
                        <a:effectLst/>
                      </a:endParaRPr>
                    </a:p>
                    <a:p>
                      <a:pPr marL="0" marR="0" algn="ctr">
                        <a:lnSpc>
                          <a:spcPct val="107000"/>
                        </a:lnSpc>
                        <a:spcBef>
                          <a:spcPts val="0"/>
                        </a:spcBef>
                        <a:spcAft>
                          <a:spcPts val="0"/>
                        </a:spcAft>
                      </a:pPr>
                      <a:r>
                        <a:rPr lang="en-GB" sz="1800" dirty="0">
                          <a:effectLst/>
                        </a:rPr>
                        <a:t>100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62649466"/>
                  </a:ext>
                </a:extLst>
              </a:tr>
              <a:tr h="780641">
                <a:tc>
                  <a:txBody>
                    <a:bodyPr/>
                    <a:lstStyle/>
                    <a:p>
                      <a:pPr marL="0" marR="0">
                        <a:lnSpc>
                          <a:spcPct val="107000"/>
                        </a:lnSpc>
                        <a:spcBef>
                          <a:spcPts val="0"/>
                        </a:spcBef>
                        <a:spcAft>
                          <a:spcPts val="0"/>
                        </a:spcAft>
                      </a:pPr>
                      <a:r>
                        <a:rPr lang="en-GB" sz="1800">
                          <a:effectLst/>
                        </a:rPr>
                        <a:t>Total</a:t>
                      </a:r>
                      <a:endParaRPr lang="en-US" sz="1800">
                        <a:effectLst/>
                      </a:endParaRPr>
                    </a:p>
                    <a:p>
                      <a:pPr marL="0" marR="0">
                        <a:lnSpc>
                          <a:spcPct val="107000"/>
                        </a:lnSpc>
                        <a:spcBef>
                          <a:spcPts val="0"/>
                        </a:spcBef>
                        <a:spcAft>
                          <a:spcPts val="0"/>
                        </a:spcAft>
                      </a:pPr>
                      <a:r>
                        <a:rPr lang="en-GB"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a:effectLst/>
                        </a:rPr>
                        <a:t>10</a:t>
                      </a:r>
                      <a:endParaRPr lang="en-US" sz="1800">
                        <a:effectLst/>
                      </a:endParaRPr>
                    </a:p>
                    <a:p>
                      <a:pPr marL="0" marR="0" algn="ctr">
                        <a:lnSpc>
                          <a:spcPct val="107000"/>
                        </a:lnSpc>
                        <a:spcBef>
                          <a:spcPts val="0"/>
                        </a:spcBef>
                        <a:spcAft>
                          <a:spcPts val="0"/>
                        </a:spcAft>
                      </a:pPr>
                      <a:r>
                        <a:rPr lang="en-GB" sz="1800">
                          <a:effectLst/>
                        </a:rPr>
                        <a:t>100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a:effectLst/>
                        </a:rPr>
                        <a:t>15</a:t>
                      </a:r>
                      <a:endParaRPr lang="en-US" sz="1800">
                        <a:effectLst/>
                      </a:endParaRPr>
                    </a:p>
                    <a:p>
                      <a:pPr marL="0" marR="0" algn="ctr">
                        <a:lnSpc>
                          <a:spcPct val="107000"/>
                        </a:lnSpc>
                        <a:spcBef>
                          <a:spcPts val="0"/>
                        </a:spcBef>
                        <a:spcAft>
                          <a:spcPts val="0"/>
                        </a:spcAft>
                      </a:pPr>
                      <a:r>
                        <a:rPr lang="en-GB" sz="1800">
                          <a:effectLst/>
                        </a:rPr>
                        <a:t>100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a:effectLst/>
                        </a:rPr>
                        <a:t>9</a:t>
                      </a:r>
                      <a:endParaRPr lang="en-US" sz="1800">
                        <a:effectLst/>
                      </a:endParaRPr>
                    </a:p>
                    <a:p>
                      <a:pPr marL="0" marR="0" algn="ctr">
                        <a:lnSpc>
                          <a:spcPct val="107000"/>
                        </a:lnSpc>
                        <a:spcBef>
                          <a:spcPts val="0"/>
                        </a:spcBef>
                        <a:spcAft>
                          <a:spcPts val="0"/>
                        </a:spcAft>
                      </a:pPr>
                      <a:r>
                        <a:rPr lang="en-GB" sz="1800">
                          <a:effectLst/>
                        </a:rPr>
                        <a:t>100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a:effectLst/>
                        </a:rPr>
                        <a:t>6</a:t>
                      </a:r>
                      <a:endParaRPr lang="en-US" sz="1800">
                        <a:effectLst/>
                      </a:endParaRPr>
                    </a:p>
                    <a:p>
                      <a:pPr marL="0" marR="0" algn="ctr">
                        <a:lnSpc>
                          <a:spcPct val="107000"/>
                        </a:lnSpc>
                        <a:spcBef>
                          <a:spcPts val="0"/>
                        </a:spcBef>
                        <a:spcAft>
                          <a:spcPts val="0"/>
                        </a:spcAft>
                      </a:pPr>
                      <a:r>
                        <a:rPr lang="en-GB" sz="1800">
                          <a:effectLst/>
                        </a:rPr>
                        <a:t>100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800" dirty="0">
                          <a:effectLst/>
                        </a:rPr>
                        <a:t>n = 40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66242793"/>
                  </a:ext>
                </a:extLst>
              </a:tr>
            </a:tbl>
          </a:graphicData>
        </a:graphic>
      </p:graphicFrame>
    </p:spTree>
    <p:extLst>
      <p:ext uri="{BB962C8B-B14F-4D97-AF65-F5344CB8AC3E}">
        <p14:creationId xmlns:p14="http://schemas.microsoft.com/office/powerpoint/2010/main" val="1042821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FA90-F8EF-4FF3-831B-7197809BD73D}"/>
              </a:ext>
            </a:extLst>
          </p:cNvPr>
          <p:cNvSpPr>
            <a:spLocks noGrp="1"/>
          </p:cNvSpPr>
          <p:nvPr>
            <p:ph type="title"/>
          </p:nvPr>
        </p:nvSpPr>
        <p:spPr>
          <a:xfrm>
            <a:off x="1066800" y="608088"/>
            <a:ext cx="10058400" cy="504719"/>
          </a:xfrm>
        </p:spPr>
        <p:txBody>
          <a:bodyPr>
            <a:noAutofit/>
          </a:bodyPr>
          <a:lstStyle/>
          <a:p>
            <a:r>
              <a:rPr lang="en-GB" sz="3200" b="1" dirty="0">
                <a:effectLst/>
                <a:latin typeface="Calibri" panose="020F0502020204030204" pitchFamily="34" charset="0"/>
                <a:ea typeface="Calibri" panose="020F0502020204030204" pitchFamily="34" charset="0"/>
                <a:cs typeface="Calibri" panose="020F0502020204030204" pitchFamily="34" charset="0"/>
              </a:rPr>
              <a:t>Ungrouped frequency distribution</a:t>
            </a:r>
            <a:endParaRPr lang="en-US" sz="3200" dirty="0"/>
          </a:p>
        </p:txBody>
      </p:sp>
      <p:sp>
        <p:nvSpPr>
          <p:cNvPr id="3" name="Content Placeholder 2">
            <a:extLst>
              <a:ext uri="{FF2B5EF4-FFF2-40B4-BE49-F238E27FC236}">
                <a16:creationId xmlns:a16="http://schemas.microsoft.com/office/drawing/2014/main" id="{C84E5EDF-A0BA-4378-B04D-30BDD6136D5C}"/>
              </a:ext>
            </a:extLst>
          </p:cNvPr>
          <p:cNvSpPr>
            <a:spLocks noGrp="1"/>
          </p:cNvSpPr>
          <p:nvPr>
            <p:ph sz="half" idx="1"/>
          </p:nvPr>
        </p:nvSpPr>
        <p:spPr>
          <a:xfrm>
            <a:off x="1066799" y="1690777"/>
            <a:ext cx="10389079" cy="4252823"/>
          </a:xfrm>
        </p:spPr>
        <p:txBody>
          <a:bodyPr/>
          <a:lstStyle/>
          <a:p>
            <a:pPr marL="0" marR="0" indent="0">
              <a:lnSpc>
                <a:spcPct val="107000"/>
              </a:lnSpc>
              <a:spcBef>
                <a:spcPts val="0"/>
              </a:spcBef>
              <a:spcAft>
                <a:spcPts val="800"/>
              </a:spcAft>
              <a:buNone/>
            </a:pPr>
            <a:r>
              <a:rPr lang="en-GB" sz="3200" dirty="0">
                <a:effectLst/>
                <a:latin typeface="Calibri" panose="020F0502020204030204" pitchFamily="34" charset="0"/>
                <a:ea typeface="Calibri" panose="020F0502020204030204" pitchFamily="34" charset="0"/>
                <a:cs typeface="Calibri" panose="020F0502020204030204" pitchFamily="34" charset="0"/>
              </a:rPr>
              <a:t>An ungrouped frequency distribution simply lists the data values with the corresponding frequency counts with which each value occurs.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GB" sz="3200" dirty="0">
                <a:effectLst/>
                <a:latin typeface="Calibri" panose="020F0502020204030204" pitchFamily="34" charset="0"/>
                <a:ea typeface="Calibri" panose="020F0502020204030204" pitchFamily="34" charset="0"/>
                <a:cs typeface="Calibri" panose="020F0502020204030204" pitchFamily="34" charset="0"/>
              </a:rPr>
              <a:t>Ungrouped frequency distribution can be used when: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682625" indent="-457200">
              <a:lnSpc>
                <a:spcPct val="107000"/>
              </a:lnSpc>
              <a:spcBef>
                <a:spcPts val="0"/>
              </a:spcBef>
              <a:spcAft>
                <a:spcPts val="800"/>
              </a:spcAft>
              <a:buFont typeface="Wingdings" panose="05000000000000000000" pitchFamily="2" charset="2"/>
              <a:buChar char="§"/>
            </a:pPr>
            <a:r>
              <a:rPr lang="en-GB" sz="3200" dirty="0">
                <a:effectLst/>
                <a:latin typeface="Calibri" panose="020F0502020204030204" pitchFamily="34" charset="0"/>
                <a:ea typeface="Calibri" panose="020F0502020204030204" pitchFamily="34" charset="0"/>
                <a:cs typeface="Calibri" panose="020F0502020204030204" pitchFamily="34" charset="0"/>
              </a:rPr>
              <a:t>Data is discrete.</a:t>
            </a:r>
            <a:endParaRPr lang="en-US" sz="3200" dirty="0">
              <a:effectLst/>
              <a:latin typeface="Symbol" panose="05050102010706020507" pitchFamily="18" charset="2"/>
              <a:ea typeface="Calibri" panose="020F0502020204030204" pitchFamily="34" charset="0"/>
              <a:cs typeface="Times New Roman" panose="02020603050405020304" pitchFamily="18" charset="0"/>
            </a:endParaRPr>
          </a:p>
          <a:p>
            <a:pPr marL="682625" indent="-457200">
              <a:lnSpc>
                <a:spcPct val="107000"/>
              </a:lnSpc>
              <a:spcBef>
                <a:spcPts val="0"/>
              </a:spcBef>
              <a:spcAft>
                <a:spcPts val="800"/>
              </a:spcAft>
              <a:buFont typeface="Wingdings" panose="05000000000000000000" pitchFamily="2" charset="2"/>
              <a:buChar char="§"/>
            </a:pPr>
            <a:r>
              <a:rPr lang="en-GB" sz="3200" dirty="0">
                <a:effectLst/>
                <a:latin typeface="Calibri" panose="020F0502020204030204" pitchFamily="34" charset="0"/>
                <a:ea typeface="Calibri" panose="020F0502020204030204" pitchFamily="34" charset="0"/>
                <a:cs typeface="Calibri" panose="020F0502020204030204" pitchFamily="34" charset="0"/>
              </a:rPr>
              <a:t>Range of values in the data set is not large.</a:t>
            </a:r>
            <a:endParaRPr lang="en-US" sz="3200" dirty="0">
              <a:effectLst/>
              <a:latin typeface="Symbol" panose="05050102010706020507" pitchFamily="18" charset="2"/>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151296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4D5F9589-E8C8-4E63-BFBF-7154001D409C}"/>
              </a:ext>
            </a:extLst>
          </p:cNvPr>
          <p:cNvPicPr>
            <a:picLocks noGrp="1" noChangeAspect="1"/>
          </p:cNvPicPr>
          <p:nvPr>
            <p:ph idx="1"/>
          </p:nvPr>
        </p:nvPicPr>
        <p:blipFill>
          <a:blip r:embed="rId2"/>
          <a:stretch>
            <a:fillRect/>
          </a:stretch>
        </p:blipFill>
        <p:spPr>
          <a:xfrm>
            <a:off x="836761" y="655608"/>
            <a:ext cx="10360325" cy="5529531"/>
          </a:xfrm>
        </p:spPr>
      </p:pic>
    </p:spTree>
    <p:extLst>
      <p:ext uri="{BB962C8B-B14F-4D97-AF65-F5344CB8AC3E}">
        <p14:creationId xmlns:p14="http://schemas.microsoft.com/office/powerpoint/2010/main" val="3805176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0046826C-7403-4713-B9E8-3A3F14CC7A44}"/>
              </a:ext>
            </a:extLst>
          </p:cNvPr>
          <p:cNvGraphicFramePr>
            <a:graphicFrameLocks noGrp="1"/>
          </p:cNvGraphicFramePr>
          <p:nvPr>
            <p:ph idx="1"/>
            <p:extLst>
              <p:ext uri="{D42A27DB-BD31-4B8C-83A1-F6EECF244321}">
                <p14:modId xmlns:p14="http://schemas.microsoft.com/office/powerpoint/2010/main" val="984219175"/>
              </p:ext>
            </p:extLst>
          </p:nvPr>
        </p:nvGraphicFramePr>
        <p:xfrm>
          <a:off x="586597" y="612475"/>
          <a:ext cx="11007307" cy="5633047"/>
        </p:xfrm>
        <a:graphic>
          <a:graphicData uri="http://schemas.openxmlformats.org/drawingml/2006/table">
            <a:tbl>
              <a:tblPr firstRow="1" firstCol="1" bandRow="1">
                <a:tableStyleId>{1FECB4D8-DB02-4DC6-A0A2-4F2EBAE1DC90}</a:tableStyleId>
              </a:tblPr>
              <a:tblGrid>
                <a:gridCol w="3205517">
                  <a:extLst>
                    <a:ext uri="{9D8B030D-6E8A-4147-A177-3AD203B41FA5}">
                      <a16:colId xmlns:a16="http://schemas.microsoft.com/office/drawing/2014/main" val="4214458459"/>
                    </a:ext>
                  </a:extLst>
                </a:gridCol>
                <a:gridCol w="2374458">
                  <a:extLst>
                    <a:ext uri="{9D8B030D-6E8A-4147-A177-3AD203B41FA5}">
                      <a16:colId xmlns:a16="http://schemas.microsoft.com/office/drawing/2014/main" val="387616760"/>
                    </a:ext>
                  </a:extLst>
                </a:gridCol>
                <a:gridCol w="2713666">
                  <a:extLst>
                    <a:ext uri="{9D8B030D-6E8A-4147-A177-3AD203B41FA5}">
                      <a16:colId xmlns:a16="http://schemas.microsoft.com/office/drawing/2014/main" val="3185205917"/>
                    </a:ext>
                  </a:extLst>
                </a:gridCol>
                <a:gridCol w="2713666">
                  <a:extLst>
                    <a:ext uri="{9D8B030D-6E8A-4147-A177-3AD203B41FA5}">
                      <a16:colId xmlns:a16="http://schemas.microsoft.com/office/drawing/2014/main" val="2325818381"/>
                    </a:ext>
                  </a:extLst>
                </a:gridCol>
              </a:tblGrid>
              <a:tr h="640695">
                <a:tc>
                  <a:txBody>
                    <a:bodyPr/>
                    <a:lstStyle/>
                    <a:p>
                      <a:pPr marL="0" marR="0" algn="ctr">
                        <a:lnSpc>
                          <a:spcPct val="107000"/>
                        </a:lnSpc>
                        <a:spcBef>
                          <a:spcPts val="0"/>
                        </a:spcBef>
                        <a:spcAft>
                          <a:spcPts val="0"/>
                        </a:spcAft>
                      </a:pPr>
                      <a:r>
                        <a:rPr lang="en-GB" sz="1600" dirty="0">
                          <a:effectLst/>
                        </a:rPr>
                        <a:t>Annual sick leave </a:t>
                      </a:r>
                      <a:endParaRPr lang="en-US" sz="1600" dirty="0">
                        <a:effectLst/>
                      </a:endParaRPr>
                    </a:p>
                    <a:p>
                      <a:pPr marL="0" marR="0" algn="ctr">
                        <a:lnSpc>
                          <a:spcPct val="107000"/>
                        </a:lnSpc>
                        <a:spcBef>
                          <a:spcPts val="0"/>
                        </a:spcBef>
                        <a:spcAft>
                          <a:spcPts val="0"/>
                        </a:spcAft>
                      </a:pPr>
                      <a:r>
                        <a:rPr lang="en-GB" sz="1600" dirty="0">
                          <a:effectLst/>
                        </a:rPr>
                        <a:t>(in days)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Frequency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Relative Frequency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Percentage Frequency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74724440"/>
                  </a:ext>
                </a:extLst>
              </a:tr>
              <a:tr h="312022">
                <a:tc>
                  <a:txBody>
                    <a:bodyPr/>
                    <a:lstStyle/>
                    <a:p>
                      <a:pPr marL="0" marR="0" algn="ctr">
                        <a:lnSpc>
                          <a:spcPct val="107000"/>
                        </a:lnSpc>
                        <a:spcBef>
                          <a:spcPts val="0"/>
                        </a:spcBef>
                        <a:spcAft>
                          <a:spcPts val="0"/>
                        </a:spcAft>
                      </a:pPr>
                      <a:r>
                        <a:rPr lang="en-GB" sz="1600" dirty="0">
                          <a:effectLst/>
                        </a:rPr>
                        <a:t>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5</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0.0417</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4.17</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97900212"/>
                  </a:ext>
                </a:extLst>
              </a:tr>
              <a:tr h="312022">
                <a:tc>
                  <a:txBody>
                    <a:bodyPr/>
                    <a:lstStyle/>
                    <a:p>
                      <a:pPr marL="0" marR="0" algn="ctr">
                        <a:lnSpc>
                          <a:spcPct val="107000"/>
                        </a:lnSpc>
                        <a:spcBef>
                          <a:spcPts val="0"/>
                        </a:spcBef>
                        <a:spcAft>
                          <a:spcPts val="0"/>
                        </a:spcAft>
                      </a:pPr>
                      <a:r>
                        <a:rPr lang="en-GB" sz="1600">
                          <a:effectLst/>
                        </a:rPr>
                        <a:t>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10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0.0833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8.33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52819569"/>
                  </a:ext>
                </a:extLst>
              </a:tr>
              <a:tr h="312022">
                <a:tc>
                  <a:txBody>
                    <a:bodyPr/>
                    <a:lstStyle/>
                    <a:p>
                      <a:pPr marL="0" marR="0" algn="ctr">
                        <a:lnSpc>
                          <a:spcPct val="107000"/>
                        </a:lnSpc>
                        <a:spcBef>
                          <a:spcPts val="0"/>
                        </a:spcBef>
                        <a:spcAft>
                          <a:spcPts val="0"/>
                        </a:spcAft>
                      </a:pPr>
                      <a:r>
                        <a:rPr lang="en-GB" sz="1600">
                          <a:effectLst/>
                        </a:rPr>
                        <a:t>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0.0583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5.83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04553273"/>
                  </a:ext>
                </a:extLst>
              </a:tr>
              <a:tr h="312022">
                <a:tc>
                  <a:txBody>
                    <a:bodyPr/>
                    <a:lstStyle/>
                    <a:p>
                      <a:pPr marL="0" marR="0" algn="ctr">
                        <a:lnSpc>
                          <a:spcPct val="107000"/>
                        </a:lnSpc>
                        <a:spcBef>
                          <a:spcPts val="0"/>
                        </a:spcBef>
                        <a:spcAft>
                          <a:spcPts val="0"/>
                        </a:spcAft>
                      </a:pPr>
                      <a:r>
                        <a:rPr lang="en-GB" sz="1600">
                          <a:effectLst/>
                        </a:rPr>
                        <a:t>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12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0.1000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10.00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8173231"/>
                  </a:ext>
                </a:extLst>
              </a:tr>
              <a:tr h="312022">
                <a:tc>
                  <a:txBody>
                    <a:bodyPr/>
                    <a:lstStyle/>
                    <a:p>
                      <a:pPr marL="0" marR="0" algn="ctr">
                        <a:lnSpc>
                          <a:spcPct val="107000"/>
                        </a:lnSpc>
                        <a:spcBef>
                          <a:spcPts val="0"/>
                        </a:spcBef>
                        <a:spcAft>
                          <a:spcPts val="0"/>
                        </a:spcAft>
                      </a:pPr>
                      <a:r>
                        <a:rPr lang="en-GB" sz="1600">
                          <a:effectLst/>
                        </a:rPr>
                        <a:t>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13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0.1083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10.83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01343702"/>
                  </a:ext>
                </a:extLst>
              </a:tr>
              <a:tr h="312022">
                <a:tc>
                  <a:txBody>
                    <a:bodyPr/>
                    <a:lstStyle/>
                    <a:p>
                      <a:pPr marL="0" marR="0" algn="ctr">
                        <a:lnSpc>
                          <a:spcPct val="107000"/>
                        </a:lnSpc>
                        <a:spcBef>
                          <a:spcPts val="0"/>
                        </a:spcBef>
                        <a:spcAft>
                          <a:spcPts val="0"/>
                        </a:spcAft>
                      </a:pPr>
                      <a:r>
                        <a:rPr lang="en-GB" sz="1600">
                          <a:effectLst/>
                        </a:rPr>
                        <a:t>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12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0.1000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10.00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41559749"/>
                  </a:ext>
                </a:extLst>
              </a:tr>
              <a:tr h="312022">
                <a:tc>
                  <a:txBody>
                    <a:bodyPr/>
                    <a:lstStyle/>
                    <a:p>
                      <a:pPr marL="0" marR="0" algn="ctr">
                        <a:lnSpc>
                          <a:spcPct val="107000"/>
                        </a:lnSpc>
                        <a:spcBef>
                          <a:spcPts val="0"/>
                        </a:spcBef>
                        <a:spcAft>
                          <a:spcPts val="0"/>
                        </a:spcAft>
                      </a:pPr>
                      <a:r>
                        <a:rPr lang="en-GB" sz="1600">
                          <a:effectLst/>
                        </a:rPr>
                        <a:t>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9</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0.0750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7.50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7717678"/>
                  </a:ext>
                </a:extLst>
              </a:tr>
              <a:tr h="312022">
                <a:tc>
                  <a:txBody>
                    <a:bodyPr/>
                    <a:lstStyle/>
                    <a:p>
                      <a:pPr marL="0" marR="0" algn="ctr">
                        <a:lnSpc>
                          <a:spcPct val="107000"/>
                        </a:lnSpc>
                        <a:spcBef>
                          <a:spcPts val="0"/>
                        </a:spcBef>
                        <a:spcAft>
                          <a:spcPts val="0"/>
                        </a:spcAft>
                      </a:pPr>
                      <a:r>
                        <a:rPr lang="en-GB" sz="1600">
                          <a:effectLst/>
                        </a:rPr>
                        <a:t>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9</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0.0750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7.50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20109368"/>
                  </a:ext>
                </a:extLst>
              </a:tr>
              <a:tr h="312022">
                <a:tc>
                  <a:txBody>
                    <a:bodyPr/>
                    <a:lstStyle/>
                    <a:p>
                      <a:pPr marL="0" marR="0" algn="ctr">
                        <a:lnSpc>
                          <a:spcPct val="107000"/>
                        </a:lnSpc>
                        <a:spcBef>
                          <a:spcPts val="0"/>
                        </a:spcBef>
                        <a:spcAft>
                          <a:spcPts val="0"/>
                        </a:spcAft>
                      </a:pPr>
                      <a:r>
                        <a:rPr lang="en-GB" sz="1600">
                          <a:effectLst/>
                        </a:rPr>
                        <a:t>8</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0.0250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2.50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87205477"/>
                  </a:ext>
                </a:extLst>
              </a:tr>
              <a:tr h="312022">
                <a:tc>
                  <a:txBody>
                    <a:bodyPr/>
                    <a:lstStyle/>
                    <a:p>
                      <a:pPr marL="0" marR="0" algn="ctr">
                        <a:lnSpc>
                          <a:spcPct val="107000"/>
                        </a:lnSpc>
                        <a:spcBef>
                          <a:spcPts val="0"/>
                        </a:spcBef>
                        <a:spcAft>
                          <a:spcPts val="0"/>
                        </a:spcAft>
                      </a:pPr>
                      <a:r>
                        <a:rPr lang="en-GB" sz="1600">
                          <a:effectLst/>
                        </a:rPr>
                        <a:t>9</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0.0333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3.33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19679688"/>
                  </a:ext>
                </a:extLst>
              </a:tr>
              <a:tr h="312022">
                <a:tc>
                  <a:txBody>
                    <a:bodyPr/>
                    <a:lstStyle/>
                    <a:p>
                      <a:pPr marL="0" marR="0" algn="ctr">
                        <a:lnSpc>
                          <a:spcPct val="107000"/>
                        </a:lnSpc>
                        <a:spcBef>
                          <a:spcPts val="0"/>
                        </a:spcBef>
                        <a:spcAft>
                          <a:spcPts val="0"/>
                        </a:spcAft>
                      </a:pPr>
                      <a:r>
                        <a:rPr lang="en-GB" sz="1600">
                          <a:effectLst/>
                        </a:rPr>
                        <a:t>10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0.0583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5.83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18540430"/>
                  </a:ext>
                </a:extLst>
              </a:tr>
              <a:tr h="312022">
                <a:tc>
                  <a:txBody>
                    <a:bodyPr/>
                    <a:lstStyle/>
                    <a:p>
                      <a:pPr marL="0" marR="0" algn="ctr">
                        <a:lnSpc>
                          <a:spcPct val="107000"/>
                        </a:lnSpc>
                        <a:spcBef>
                          <a:spcPts val="0"/>
                        </a:spcBef>
                        <a:spcAft>
                          <a:spcPts val="0"/>
                        </a:spcAft>
                      </a:pPr>
                      <a:r>
                        <a:rPr lang="en-GB" sz="1600">
                          <a:effectLst/>
                        </a:rPr>
                        <a:t>11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18</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0.1500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15.00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99265824"/>
                  </a:ext>
                </a:extLst>
              </a:tr>
              <a:tr h="312022">
                <a:tc>
                  <a:txBody>
                    <a:bodyPr/>
                    <a:lstStyle/>
                    <a:p>
                      <a:pPr marL="0" marR="0" algn="ctr">
                        <a:lnSpc>
                          <a:spcPct val="107000"/>
                        </a:lnSpc>
                        <a:spcBef>
                          <a:spcPts val="0"/>
                        </a:spcBef>
                        <a:spcAft>
                          <a:spcPts val="0"/>
                        </a:spcAft>
                      </a:pPr>
                      <a:r>
                        <a:rPr lang="en-GB" sz="1600">
                          <a:effectLst/>
                        </a:rPr>
                        <a:t>12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0.0167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1.67</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6668850"/>
                  </a:ext>
                </a:extLst>
              </a:tr>
              <a:tr h="312022">
                <a:tc>
                  <a:txBody>
                    <a:bodyPr/>
                    <a:lstStyle/>
                    <a:p>
                      <a:pPr marL="0" marR="0" algn="ctr">
                        <a:lnSpc>
                          <a:spcPct val="107000"/>
                        </a:lnSpc>
                        <a:spcBef>
                          <a:spcPts val="0"/>
                        </a:spcBef>
                        <a:spcAft>
                          <a:spcPts val="0"/>
                        </a:spcAft>
                      </a:pPr>
                      <a:r>
                        <a:rPr lang="en-GB" sz="1600">
                          <a:effectLst/>
                        </a:rPr>
                        <a:t>13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0.0417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4.17</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1895723"/>
                  </a:ext>
                </a:extLst>
              </a:tr>
              <a:tr h="312022">
                <a:tc>
                  <a:txBody>
                    <a:bodyPr/>
                    <a:lstStyle/>
                    <a:p>
                      <a:pPr marL="0" marR="0" algn="ctr">
                        <a:lnSpc>
                          <a:spcPct val="107000"/>
                        </a:lnSpc>
                        <a:spcBef>
                          <a:spcPts val="0"/>
                        </a:spcBef>
                        <a:spcAft>
                          <a:spcPts val="0"/>
                        </a:spcAft>
                      </a:pPr>
                      <a:r>
                        <a:rPr lang="en-GB" sz="1600">
                          <a:effectLst/>
                        </a:rPr>
                        <a:t>14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0.0333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3.33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34753462"/>
                  </a:ext>
                </a:extLst>
              </a:tr>
              <a:tr h="312022">
                <a:tc>
                  <a:txBody>
                    <a:bodyPr/>
                    <a:lstStyle/>
                    <a:p>
                      <a:pPr marL="0" marR="0" algn="ctr">
                        <a:lnSpc>
                          <a:spcPct val="107000"/>
                        </a:lnSpc>
                        <a:spcBef>
                          <a:spcPts val="0"/>
                        </a:spcBef>
                        <a:spcAft>
                          <a:spcPts val="0"/>
                        </a:spcAft>
                      </a:pPr>
                      <a:r>
                        <a:rPr lang="en-GB" sz="1600">
                          <a:effectLst/>
                        </a:rPr>
                        <a:t>Total</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n = 120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a:effectLst/>
                        </a:rPr>
                        <a:t>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dirty="0">
                          <a:effectLst/>
                        </a:rPr>
                        <a:t>100.00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59251135"/>
                  </a:ext>
                </a:extLst>
              </a:tr>
            </a:tbl>
          </a:graphicData>
        </a:graphic>
      </p:graphicFrame>
    </p:spTree>
    <p:extLst>
      <p:ext uri="{BB962C8B-B14F-4D97-AF65-F5344CB8AC3E}">
        <p14:creationId xmlns:p14="http://schemas.microsoft.com/office/powerpoint/2010/main" val="3299790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20A99-5BAD-4A81-8261-23D2EEC3D381}"/>
              </a:ext>
            </a:extLst>
          </p:cNvPr>
          <p:cNvSpPr>
            <a:spLocks noGrp="1"/>
          </p:cNvSpPr>
          <p:nvPr>
            <p:ph type="title"/>
          </p:nvPr>
        </p:nvSpPr>
        <p:spPr>
          <a:xfrm>
            <a:off x="1066800" y="642594"/>
            <a:ext cx="10058400" cy="582357"/>
          </a:xfrm>
        </p:spPr>
        <p:txBody>
          <a:bodyPr>
            <a:normAutofit/>
          </a:bodyPr>
          <a:lstStyle/>
          <a:p>
            <a:r>
              <a:rPr lang="en-US" sz="3200" b="1" dirty="0"/>
              <a:t>Grouped Frequency Distribution</a:t>
            </a:r>
          </a:p>
        </p:txBody>
      </p:sp>
      <p:sp>
        <p:nvSpPr>
          <p:cNvPr id="3" name="Content Placeholder 2">
            <a:extLst>
              <a:ext uri="{FF2B5EF4-FFF2-40B4-BE49-F238E27FC236}">
                <a16:creationId xmlns:a16="http://schemas.microsoft.com/office/drawing/2014/main" id="{D913C399-4E30-4EDE-8A06-1F07AC58FAB4}"/>
              </a:ext>
            </a:extLst>
          </p:cNvPr>
          <p:cNvSpPr>
            <a:spLocks noGrp="1"/>
          </p:cNvSpPr>
          <p:nvPr>
            <p:ph idx="1"/>
          </p:nvPr>
        </p:nvSpPr>
        <p:spPr>
          <a:xfrm>
            <a:off x="1066800" y="1544128"/>
            <a:ext cx="10058400" cy="4408616"/>
          </a:xfrm>
        </p:spPr>
        <p:txBody>
          <a:bodyPr>
            <a:normAutofit/>
          </a:bodyPr>
          <a:lstStyle/>
          <a:p>
            <a:pPr marL="0" marR="0" indent="0">
              <a:lnSpc>
                <a:spcPct val="107000"/>
              </a:lnSpc>
              <a:spcBef>
                <a:spcPts val="0"/>
              </a:spcBef>
              <a:spcAft>
                <a:spcPts val="800"/>
              </a:spcAft>
              <a:buNone/>
            </a:pPr>
            <a:r>
              <a:rPr lang="en-GB" sz="2000" dirty="0">
                <a:effectLst/>
                <a:latin typeface="Calibri" panose="020F0502020204030204" pitchFamily="34" charset="0"/>
                <a:ea typeface="Calibri" panose="020F0502020204030204" pitchFamily="34" charset="0"/>
                <a:cs typeface="Calibri" panose="020F0502020204030204" pitchFamily="34" charset="0"/>
              </a:rPr>
              <a:t>In grouped frequency distribution we distribute data into suitable number of groups or classes or categories and determine the number of observations from the data set that fall into each of the classes.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GB" sz="2000" dirty="0">
                <a:effectLst/>
                <a:latin typeface="Calibri" panose="020F0502020204030204" pitchFamily="34" charset="0"/>
                <a:ea typeface="Calibri" panose="020F0502020204030204" pitchFamily="34" charset="0"/>
                <a:cs typeface="Calibri" panose="020F0502020204030204" pitchFamily="34" charset="0"/>
              </a:rPr>
              <a:t>It is suitable when: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461963" marR="0" lvl="0" indent="-344488">
              <a:lnSpc>
                <a:spcPct val="107000"/>
              </a:lnSpc>
              <a:spcBef>
                <a:spcPts val="0"/>
              </a:spcBef>
              <a:spcAft>
                <a:spcPts val="800"/>
              </a:spcAft>
              <a:buFont typeface="Wingdings" panose="05000000000000000000" pitchFamily="2" charset="2"/>
              <a:buChar char="§"/>
            </a:pPr>
            <a:r>
              <a:rPr lang="en-GB" sz="2000" dirty="0">
                <a:effectLst/>
                <a:latin typeface="Calibri" panose="020F0502020204030204" pitchFamily="34" charset="0"/>
                <a:ea typeface="Calibri" panose="020F0502020204030204" pitchFamily="34" charset="0"/>
                <a:cs typeface="Calibri" panose="020F0502020204030204" pitchFamily="34" charset="0"/>
              </a:rPr>
              <a:t>Sample size is large (large masses of data)</a:t>
            </a:r>
            <a:endParaRPr lang="en-US" sz="2000" dirty="0">
              <a:effectLst/>
              <a:latin typeface="Symbol" panose="05050102010706020507" pitchFamily="18" charset="2"/>
              <a:ea typeface="Calibri" panose="020F0502020204030204" pitchFamily="34" charset="0"/>
              <a:cs typeface="Times New Roman" panose="02020603050405020304" pitchFamily="18" charset="0"/>
            </a:endParaRPr>
          </a:p>
          <a:p>
            <a:pPr marL="461963" marR="0" lvl="0" indent="-344488">
              <a:lnSpc>
                <a:spcPct val="107000"/>
              </a:lnSpc>
              <a:spcBef>
                <a:spcPts val="0"/>
              </a:spcBef>
              <a:spcAft>
                <a:spcPts val="800"/>
              </a:spcAft>
              <a:buFont typeface="Wingdings" panose="05000000000000000000" pitchFamily="2" charset="2"/>
              <a:buChar char="§"/>
            </a:pPr>
            <a:r>
              <a:rPr lang="en-GB" sz="2000" dirty="0">
                <a:effectLst/>
                <a:latin typeface="Calibri" panose="020F0502020204030204" pitchFamily="34" charset="0"/>
                <a:ea typeface="Calibri" panose="020F0502020204030204" pitchFamily="34" charset="0"/>
                <a:cs typeface="Calibri" panose="020F0502020204030204" pitchFamily="34" charset="0"/>
              </a:rPr>
              <a:t>Range of values in the data set is high (more spread of data)</a:t>
            </a:r>
            <a:endParaRPr lang="en-US" sz="2000" dirty="0">
              <a:effectLst/>
              <a:latin typeface="Symbol" panose="05050102010706020507" pitchFamily="18" charset="2"/>
              <a:ea typeface="Calibri" panose="020F0502020204030204" pitchFamily="34" charset="0"/>
              <a:cs typeface="Times New Roman" panose="02020603050405020304" pitchFamily="18" charset="0"/>
            </a:endParaRPr>
          </a:p>
          <a:p>
            <a:pPr marL="461963" marR="0" lvl="0" indent="-344488">
              <a:lnSpc>
                <a:spcPct val="107000"/>
              </a:lnSpc>
              <a:spcBef>
                <a:spcPts val="0"/>
              </a:spcBef>
              <a:spcAft>
                <a:spcPts val="800"/>
              </a:spcAft>
              <a:buFont typeface="Wingdings" panose="05000000000000000000" pitchFamily="2" charset="2"/>
              <a:buChar char="§"/>
            </a:pPr>
            <a:r>
              <a:rPr lang="en-GB" sz="2000" dirty="0">
                <a:effectLst/>
                <a:latin typeface="Calibri" panose="020F0502020204030204" pitchFamily="34" charset="0"/>
                <a:ea typeface="Calibri" panose="020F0502020204030204" pitchFamily="34" charset="0"/>
                <a:cs typeface="Calibri" panose="020F0502020204030204" pitchFamily="34" charset="0"/>
              </a:rPr>
              <a:t>Variable may be discrete or continuous</a:t>
            </a:r>
            <a:endParaRPr lang="en-US" sz="2000" dirty="0">
              <a:effectLst/>
              <a:latin typeface="Symbol" panose="05050102010706020507" pitchFamily="18" charset="2"/>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GB" sz="2000" dirty="0">
                <a:effectLst/>
                <a:latin typeface="Calibri" panose="020F0502020204030204" pitchFamily="34" charset="0"/>
                <a:ea typeface="Calibri" panose="020F0502020204030204" pitchFamily="34" charset="0"/>
                <a:cs typeface="Calibri" panose="020F0502020204030204" pitchFamily="34" charset="0"/>
              </a:rPr>
              <a:t>The main advantage of using grouped frequency distribution is that it condenses data more effectively. The major disadvantage of this summary table is that we can’t know how the individual values are distributed within a particular class interval without access to the original data. Hence destroys much of the original detail of the data.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28635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B6E14-3F4D-4491-92C3-682B31BE94E2}"/>
              </a:ext>
            </a:extLst>
          </p:cNvPr>
          <p:cNvSpPr>
            <a:spLocks noGrp="1"/>
          </p:cNvSpPr>
          <p:nvPr>
            <p:ph type="title"/>
          </p:nvPr>
        </p:nvSpPr>
        <p:spPr>
          <a:xfrm>
            <a:off x="1066800" y="642594"/>
            <a:ext cx="10058400" cy="616863"/>
          </a:xfrm>
        </p:spPr>
        <p:txBody>
          <a:bodyPr>
            <a:normAutofit/>
          </a:bodyPr>
          <a:lstStyle/>
          <a:p>
            <a:r>
              <a:rPr lang="en-US" sz="2800" dirty="0"/>
              <a:t>Terminology used in grouped frequency distribution</a:t>
            </a:r>
          </a:p>
        </p:txBody>
      </p:sp>
      <p:sp>
        <p:nvSpPr>
          <p:cNvPr id="3" name="Content Placeholder 2">
            <a:extLst>
              <a:ext uri="{FF2B5EF4-FFF2-40B4-BE49-F238E27FC236}">
                <a16:creationId xmlns:a16="http://schemas.microsoft.com/office/drawing/2014/main" id="{ECF996CC-56C9-4E20-B34B-A819C93279DB}"/>
              </a:ext>
            </a:extLst>
          </p:cNvPr>
          <p:cNvSpPr>
            <a:spLocks noGrp="1"/>
          </p:cNvSpPr>
          <p:nvPr>
            <p:ph idx="1"/>
          </p:nvPr>
        </p:nvSpPr>
        <p:spPr>
          <a:xfrm>
            <a:off x="1066800" y="1414732"/>
            <a:ext cx="10058400" cy="4538012"/>
          </a:xfrm>
        </p:spPr>
        <p:txBody>
          <a:bodyPr>
            <a:normAutofit/>
          </a:bodyPr>
          <a:lstStyle/>
          <a:p>
            <a:pPr marL="342900" indent="-342900">
              <a:buFont typeface="+mj-lt"/>
              <a:buAutoNum type="arabicPeriod"/>
            </a:pPr>
            <a:r>
              <a:rPr lang="en-US" sz="3200" dirty="0"/>
              <a:t>Type of classes</a:t>
            </a:r>
          </a:p>
          <a:p>
            <a:pPr>
              <a:buFont typeface="Wingdings" panose="05000000000000000000" pitchFamily="2" charset="2"/>
              <a:buChar char="Ø"/>
            </a:pPr>
            <a:r>
              <a:rPr lang="en-US" sz="3200" dirty="0"/>
              <a:t>Inclusive </a:t>
            </a:r>
          </a:p>
          <a:p>
            <a:pPr>
              <a:buFont typeface="Wingdings" panose="05000000000000000000" pitchFamily="2" charset="2"/>
              <a:buChar char="Ø"/>
            </a:pPr>
            <a:r>
              <a:rPr lang="en-US" sz="3200" dirty="0"/>
              <a:t>Exclusive</a:t>
            </a:r>
          </a:p>
          <a:p>
            <a:pPr marL="0" indent="0">
              <a:buNone/>
            </a:pPr>
            <a:r>
              <a:rPr lang="en-US" sz="3200" dirty="0"/>
              <a:t>2. Class Limits</a:t>
            </a:r>
          </a:p>
          <a:p>
            <a:pPr marL="0" indent="0">
              <a:buNone/>
            </a:pPr>
            <a:r>
              <a:rPr lang="en-US" sz="3200" dirty="0"/>
              <a:t>3. Class Width</a:t>
            </a:r>
          </a:p>
          <a:p>
            <a:pPr marL="0" indent="0">
              <a:buNone/>
            </a:pPr>
            <a:r>
              <a:rPr lang="en-US" sz="3200" dirty="0"/>
              <a:t>4. Class mid-point or Class Average</a:t>
            </a:r>
          </a:p>
        </p:txBody>
      </p:sp>
    </p:spTree>
    <p:extLst>
      <p:ext uri="{BB962C8B-B14F-4D97-AF65-F5344CB8AC3E}">
        <p14:creationId xmlns:p14="http://schemas.microsoft.com/office/powerpoint/2010/main" val="665096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F4106-31F1-46D5-97AB-1249B8A2BC1A}"/>
              </a:ext>
            </a:extLst>
          </p:cNvPr>
          <p:cNvSpPr>
            <a:spLocks noGrp="1"/>
          </p:cNvSpPr>
          <p:nvPr>
            <p:ph type="title"/>
          </p:nvPr>
        </p:nvSpPr>
        <p:spPr/>
        <p:txBody>
          <a:bodyPr/>
          <a:lstStyle/>
          <a:p>
            <a:r>
              <a:rPr lang="en-US" dirty="0"/>
              <a:t>Inclusive vs Exclusive class</a:t>
            </a:r>
          </a:p>
        </p:txBody>
      </p:sp>
      <p:pic>
        <p:nvPicPr>
          <p:cNvPr id="4100" name="Picture 4" descr="Grouped Frequency Distribution Table - What are Class Intervals -  Statistics, Class 9, Mathematics | EduRev Notes">
            <a:extLst>
              <a:ext uri="{FF2B5EF4-FFF2-40B4-BE49-F238E27FC236}">
                <a16:creationId xmlns:a16="http://schemas.microsoft.com/office/drawing/2014/main" id="{93385863-595A-475E-8F6F-869C33FEB21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82908" y="2297772"/>
            <a:ext cx="5376199" cy="378902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Grouped Frequency Distribution Table - What are Class Intervals -  Statistics, Class 9, Mathematics | EduRev Notes">
            <a:extLst>
              <a:ext uri="{FF2B5EF4-FFF2-40B4-BE49-F238E27FC236}">
                <a16:creationId xmlns:a16="http://schemas.microsoft.com/office/drawing/2014/main" id="{F3FA0995-0A49-480A-9D3D-AAEB9A12E127}"/>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066800" y="2297772"/>
            <a:ext cx="4842294" cy="3723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0061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2EA4D-B3AF-4564-B8A0-42971A79A119}"/>
              </a:ext>
            </a:extLst>
          </p:cNvPr>
          <p:cNvSpPr>
            <a:spLocks noGrp="1"/>
          </p:cNvSpPr>
          <p:nvPr>
            <p:ph type="title"/>
          </p:nvPr>
        </p:nvSpPr>
        <p:spPr>
          <a:xfrm>
            <a:off x="1066800" y="642594"/>
            <a:ext cx="10058400" cy="599610"/>
          </a:xfrm>
        </p:spPr>
        <p:txBody>
          <a:bodyPr>
            <a:normAutofit fontScale="90000"/>
          </a:bodyPr>
          <a:lstStyle/>
          <a:p>
            <a:r>
              <a:rPr lang="en-US" dirty="0"/>
              <a:t>Steps in forming class</a:t>
            </a:r>
          </a:p>
        </p:txBody>
      </p:sp>
      <p:sp>
        <p:nvSpPr>
          <p:cNvPr id="3" name="Content Placeholder 2">
            <a:extLst>
              <a:ext uri="{FF2B5EF4-FFF2-40B4-BE49-F238E27FC236}">
                <a16:creationId xmlns:a16="http://schemas.microsoft.com/office/drawing/2014/main" id="{F3C68650-E962-4689-8A65-B669DF78961A}"/>
              </a:ext>
            </a:extLst>
          </p:cNvPr>
          <p:cNvSpPr>
            <a:spLocks noGrp="1"/>
          </p:cNvSpPr>
          <p:nvPr>
            <p:ph idx="1"/>
          </p:nvPr>
        </p:nvSpPr>
        <p:spPr>
          <a:xfrm>
            <a:off x="912962" y="1535502"/>
            <a:ext cx="10366075" cy="4485736"/>
          </a:xfrm>
        </p:spPr>
        <p:txBody>
          <a:bodyPr>
            <a:normAutofit/>
          </a:bodyPr>
          <a:lstStyle/>
          <a:p>
            <a:pPr marL="342900" indent="-342900">
              <a:buAutoNum type="arabicPeriod"/>
            </a:pPr>
            <a:r>
              <a:rPr lang="en-US" sz="1800" dirty="0"/>
              <a:t>Find the range of data </a:t>
            </a:r>
          </a:p>
          <a:p>
            <a:pPr marL="0" indent="0">
              <a:buNone/>
            </a:pPr>
            <a:r>
              <a:rPr lang="en-US" sz="1800" dirty="0"/>
              <a:t>	Range (R) = highest obs. – lowest obs.</a:t>
            </a:r>
          </a:p>
          <a:p>
            <a:pPr marL="0" indent="0">
              <a:buNone/>
            </a:pPr>
            <a:r>
              <a:rPr lang="en-US" sz="1800" dirty="0"/>
              <a:t>2. Select the number of classes desired</a:t>
            </a:r>
          </a:p>
          <a:p>
            <a:pPr marL="284163" indent="-284163">
              <a:buNone/>
            </a:pPr>
            <a:r>
              <a:rPr lang="en-US" sz="1800" dirty="0"/>
              <a:t>	Use </a:t>
            </a:r>
            <a:r>
              <a:rPr lang="en-US" sz="1800" dirty="0" err="1"/>
              <a:t>Struges</a:t>
            </a:r>
            <a:r>
              <a:rPr lang="en-US" sz="1800" dirty="0"/>
              <a:t>’ Formula</a:t>
            </a:r>
          </a:p>
          <a:p>
            <a:pPr marL="0" indent="0">
              <a:buNone/>
            </a:pPr>
            <a:r>
              <a:rPr lang="en-US" sz="1800" dirty="0"/>
              <a:t>	No. of classes (k) = 1 + 3.322 x log n</a:t>
            </a:r>
          </a:p>
          <a:p>
            <a:pPr marL="0" indent="0">
              <a:buNone/>
            </a:pPr>
            <a:r>
              <a:rPr lang="en-US" sz="1800" dirty="0"/>
              <a:t>3. Find the class width (h)</a:t>
            </a:r>
          </a:p>
          <a:p>
            <a:pPr marL="0" indent="0">
              <a:buNone/>
            </a:pPr>
            <a:r>
              <a:rPr lang="en-US" sz="1800" dirty="0"/>
              <a:t>	Class width (h) = </a:t>
            </a:r>
          </a:p>
          <a:p>
            <a:pPr marL="284163" indent="-284163">
              <a:buNone/>
            </a:pPr>
            <a:r>
              <a:rPr lang="en-US" sz="1800" dirty="0"/>
              <a:t>4. Select a starting point (usually lowest observation)  for the first class lower limit. Add class width to get the upper limit.</a:t>
            </a:r>
          </a:p>
          <a:p>
            <a:pPr marL="0" indent="0">
              <a:buNone/>
            </a:pPr>
            <a:r>
              <a:rPr lang="en-US" sz="1800" dirty="0"/>
              <a:t>5. Find other class limits until all observations are covered</a:t>
            </a:r>
          </a:p>
          <a:p>
            <a:pPr marL="0" indent="0">
              <a:buNone/>
            </a:pPr>
            <a:r>
              <a:rPr lang="en-US" sz="1800" dirty="0"/>
              <a:t>6. Tally the data</a:t>
            </a:r>
          </a:p>
        </p:txBody>
      </p:sp>
      <p:graphicFrame>
        <p:nvGraphicFramePr>
          <p:cNvPr id="4" name="Object 3">
            <a:extLst>
              <a:ext uri="{FF2B5EF4-FFF2-40B4-BE49-F238E27FC236}">
                <a16:creationId xmlns:a16="http://schemas.microsoft.com/office/drawing/2014/main" id="{73E450F2-C2E4-4039-8BED-A6BDAB51BF62}"/>
              </a:ext>
            </a:extLst>
          </p:cNvPr>
          <p:cNvGraphicFramePr>
            <a:graphicFrameLocks noChangeAspect="1"/>
          </p:cNvGraphicFramePr>
          <p:nvPr>
            <p:extLst>
              <p:ext uri="{D42A27DB-BD31-4B8C-83A1-F6EECF244321}">
                <p14:modId xmlns:p14="http://schemas.microsoft.com/office/powerpoint/2010/main" val="1976006814"/>
              </p:ext>
            </p:extLst>
          </p:nvPr>
        </p:nvGraphicFramePr>
        <p:xfrm>
          <a:off x="3849538" y="4026020"/>
          <a:ext cx="1193800" cy="419100"/>
        </p:xfrm>
        <a:graphic>
          <a:graphicData uri="http://schemas.openxmlformats.org/presentationml/2006/ole">
            <mc:AlternateContent xmlns:mc="http://schemas.openxmlformats.org/markup-compatibility/2006">
              <mc:Choice xmlns:v="urn:schemas-microsoft-com:vml" Requires="v">
                <p:oleObj name="Equation" r:id="rId2" imgW="1193760" imgH="419040" progId="Equation.DSMT4">
                  <p:embed/>
                </p:oleObj>
              </mc:Choice>
              <mc:Fallback>
                <p:oleObj name="Equation" r:id="rId2" imgW="1193760" imgH="419040" progId="Equation.DSMT4">
                  <p:embed/>
                  <p:pic>
                    <p:nvPicPr>
                      <p:cNvPr id="0" name=""/>
                      <p:cNvPicPr/>
                      <p:nvPr/>
                    </p:nvPicPr>
                    <p:blipFill>
                      <a:blip r:embed="rId3"/>
                      <a:stretch>
                        <a:fillRect/>
                      </a:stretch>
                    </p:blipFill>
                    <p:spPr>
                      <a:xfrm>
                        <a:off x="3849538" y="4026020"/>
                        <a:ext cx="1193800" cy="419100"/>
                      </a:xfrm>
                      <a:prstGeom prst="rect">
                        <a:avLst/>
                      </a:prstGeom>
                    </p:spPr>
                  </p:pic>
                </p:oleObj>
              </mc:Fallback>
            </mc:AlternateContent>
          </a:graphicData>
        </a:graphic>
      </p:graphicFrame>
    </p:spTree>
    <p:extLst>
      <p:ext uri="{BB962C8B-B14F-4D97-AF65-F5344CB8AC3E}">
        <p14:creationId xmlns:p14="http://schemas.microsoft.com/office/powerpoint/2010/main" val="1117231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234926-E746-4C5B-AA6D-754C0235E1F1}"/>
              </a:ext>
            </a:extLst>
          </p:cNvPr>
          <p:cNvSpPr>
            <a:spLocks noGrp="1"/>
          </p:cNvSpPr>
          <p:nvPr>
            <p:ph idx="1"/>
          </p:nvPr>
        </p:nvSpPr>
        <p:spPr>
          <a:xfrm>
            <a:off x="1066800" y="776377"/>
            <a:ext cx="10058400" cy="5176367"/>
          </a:xfrm>
        </p:spPr>
        <p:txBody>
          <a:bodyPr>
            <a:normAutofit/>
          </a:bodyPr>
          <a:lstStyle/>
          <a:p>
            <a:pPr marL="0" marR="0" indent="0">
              <a:lnSpc>
                <a:spcPct val="107000"/>
              </a:lnSpc>
              <a:spcBef>
                <a:spcPts val="0"/>
              </a:spcBef>
              <a:spcAft>
                <a:spcPts val="800"/>
              </a:spcAft>
              <a:buNone/>
            </a:pPr>
            <a:r>
              <a:rPr lang="en-GB" sz="2000" dirty="0">
                <a:effectLst/>
                <a:latin typeface="Calibri" panose="020F0502020204030204" pitchFamily="34" charset="0"/>
                <a:ea typeface="Calibri" panose="020F0502020204030204" pitchFamily="34" charset="0"/>
                <a:cs typeface="Calibri" panose="020F0502020204030204" pitchFamily="34" charset="0"/>
              </a:rPr>
              <a:t>The final grades in mathematics of 80 students are recorded in the accompanying table.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68</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84</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75</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82</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68</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90</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62</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88</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76</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93</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73</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79</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88</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73</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60</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93</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71</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59</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85</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75</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61</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65</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75</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87</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74</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62</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95</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78</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63</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72</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66</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78</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82</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75</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94</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77</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69</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74</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68</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60</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96</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78</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89</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61</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75</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95</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60</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79</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83</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71</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79</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62</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67</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97</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78</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85</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76</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65</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71</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75</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2000" dirty="0">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65</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80</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73</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57</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88</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78</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62</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76</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53</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74</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86</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67</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73</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81</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72</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63</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76</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75</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85</a:t>
            </a:r>
            <a:r>
              <a:rPr lang="en-GB" sz="2000" dirty="0">
                <a:effectLst/>
                <a:latin typeface="Calibri" panose="020F0502020204030204" pitchFamily="34" charset="0"/>
                <a:ea typeface="Calibri" panose="020F0502020204030204" pitchFamily="34" charset="0"/>
                <a:cs typeface="Times New Roman" panose="02020603050405020304" pitchFamily="18"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77</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dirty="0"/>
              <a:t>Construct a grouped frequency distribution</a:t>
            </a:r>
          </a:p>
          <a:p>
            <a:r>
              <a:rPr lang="en-US" sz="2000" dirty="0"/>
              <a:t>Construct a relative frequency distribution</a:t>
            </a:r>
          </a:p>
          <a:p>
            <a:r>
              <a:rPr lang="en-US" sz="2000" dirty="0"/>
              <a:t>Construct a percentage frequency distribution</a:t>
            </a:r>
          </a:p>
        </p:txBody>
      </p:sp>
    </p:spTree>
    <p:extLst>
      <p:ext uri="{BB962C8B-B14F-4D97-AF65-F5344CB8AC3E}">
        <p14:creationId xmlns:p14="http://schemas.microsoft.com/office/powerpoint/2010/main" val="3739648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58D2D1-4632-411B-B73F-6F82757A3519}"/>
              </a:ext>
            </a:extLst>
          </p:cNvPr>
          <p:cNvSpPr>
            <a:spLocks noGrp="1"/>
          </p:cNvSpPr>
          <p:nvPr>
            <p:ph idx="1"/>
          </p:nvPr>
        </p:nvSpPr>
        <p:spPr>
          <a:xfrm>
            <a:off x="1066800" y="879894"/>
            <a:ext cx="10058400" cy="5072850"/>
          </a:xfrm>
        </p:spPr>
        <p:txBody>
          <a:bodyPr/>
          <a:lstStyle/>
          <a:p>
            <a:pPr marL="0" marR="0" indent="0">
              <a:lnSpc>
                <a:spcPct val="107000"/>
              </a:lnSpc>
              <a:spcBef>
                <a:spcPts val="0"/>
              </a:spcBef>
              <a:spcAft>
                <a:spcPts val="800"/>
              </a:spcAft>
              <a:buNone/>
            </a:pPr>
            <a:r>
              <a:rPr lang="en-GB" sz="2800" b="1" dirty="0">
                <a:effectLst/>
                <a:latin typeface="Calibri" panose="020F0502020204030204" pitchFamily="34" charset="0"/>
                <a:ea typeface="Calibri" panose="020F0502020204030204" pitchFamily="34" charset="0"/>
                <a:cs typeface="Calibri" panose="020F0502020204030204" pitchFamily="34" charset="0"/>
              </a:rPr>
              <a:t>Data Array:</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2800" dirty="0">
                <a:effectLst/>
                <a:latin typeface="Calibri" panose="020F0502020204030204" pitchFamily="34" charset="0"/>
                <a:ea typeface="Calibri" panose="020F0502020204030204" pitchFamily="34" charset="0"/>
                <a:cs typeface="Calibri" panose="020F0502020204030204" pitchFamily="34" charset="0"/>
              </a:rPr>
              <a:t>	53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57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59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60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60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60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61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61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62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62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62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62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63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63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65</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65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65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66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67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67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68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68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68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69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71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71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71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72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72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73</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73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73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73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74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74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74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75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75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75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75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75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75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75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76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76</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76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76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77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77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78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78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78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78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78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79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79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79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80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81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82</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2800" dirty="0">
                <a:effectLst/>
                <a:latin typeface="Calibri" panose="020F0502020204030204" pitchFamily="34" charset="0"/>
                <a:ea typeface="Calibri" panose="020F0502020204030204" pitchFamily="34" charset="0"/>
                <a:cs typeface="Calibri" panose="020F0502020204030204" pitchFamily="34" charset="0"/>
              </a:rPr>
              <a:t>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82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83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84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85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85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85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86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87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88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88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88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89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90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93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93</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94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95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95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96   </a:t>
            </a: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r>
              <a:rPr lang="en-GB" sz="2800" dirty="0">
                <a:effectLst/>
                <a:latin typeface="Calibri" panose="020F0502020204030204" pitchFamily="34" charset="0"/>
                <a:ea typeface="Calibri" panose="020F0502020204030204" pitchFamily="34" charset="0"/>
                <a:cs typeface="Calibri" panose="020F0502020204030204" pitchFamily="34" charset="0"/>
              </a:rPr>
              <a:t>97</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548224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0CB827-9B79-45FA-AF69-901F4D13F09F}"/>
              </a:ext>
            </a:extLst>
          </p:cNvPr>
          <p:cNvSpPr>
            <a:spLocks noGrp="1"/>
          </p:cNvSpPr>
          <p:nvPr>
            <p:ph idx="1"/>
          </p:nvPr>
        </p:nvSpPr>
        <p:spPr>
          <a:xfrm>
            <a:off x="1066800" y="776377"/>
            <a:ext cx="10058400" cy="5176367"/>
          </a:xfrm>
        </p:spPr>
        <p:txBody>
          <a:bodyPr/>
          <a:lstStyle/>
          <a:p>
            <a:pPr marL="0" indent="0">
              <a:lnSpc>
                <a:spcPct val="107000"/>
              </a:lnSpc>
              <a:spcBef>
                <a:spcPts val="0"/>
              </a:spcBef>
              <a:spcAft>
                <a:spcPts val="800"/>
              </a:spcAft>
              <a:buNone/>
            </a:pPr>
            <a:r>
              <a:rPr lang="en-GB" sz="3200" dirty="0">
                <a:effectLst/>
                <a:latin typeface="Calibri" panose="020F0502020204030204" pitchFamily="34" charset="0"/>
                <a:ea typeface="Calibri" panose="020F0502020204030204" pitchFamily="34" charset="0"/>
                <a:cs typeface="Calibri" panose="020F0502020204030204" pitchFamily="34" charset="0"/>
              </a:rPr>
              <a:t>Range (R) = 97 – 53 = 44</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GB" sz="3200"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r>
              <a:rPr lang="en-GB" sz="3200" dirty="0">
                <a:effectLst/>
                <a:latin typeface="Calibri" panose="020F0502020204030204" pitchFamily="34" charset="0"/>
                <a:ea typeface="Calibri" panose="020F0502020204030204" pitchFamily="34" charset="0"/>
                <a:cs typeface="Calibri" panose="020F0502020204030204" pitchFamily="34" charset="0"/>
              </a:rPr>
              <a:t>Number of classes (k) = 1 + 3.322 X log</a:t>
            </a:r>
            <a:r>
              <a:rPr lang="en-GB" sz="3200" baseline="-25000" dirty="0">
                <a:effectLst/>
                <a:latin typeface="Calibri" panose="020F0502020204030204" pitchFamily="34" charset="0"/>
                <a:ea typeface="Calibri" panose="020F0502020204030204" pitchFamily="34" charset="0"/>
                <a:cs typeface="Calibri" panose="020F0502020204030204" pitchFamily="34" charset="0"/>
              </a:rPr>
              <a:t>10</a:t>
            </a:r>
            <a:r>
              <a:rPr lang="en-GB" sz="3200" dirty="0">
                <a:effectLst/>
                <a:latin typeface="Calibri" panose="020F0502020204030204" pitchFamily="34" charset="0"/>
                <a:ea typeface="Calibri" panose="020F0502020204030204" pitchFamily="34" charset="0"/>
                <a:cs typeface="Calibri" panose="020F0502020204030204" pitchFamily="34" charset="0"/>
              </a:rPr>
              <a:t> 80 = 7.3221</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GB" sz="3200"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r>
              <a:rPr lang="en-GB" sz="3200" dirty="0">
                <a:effectLst/>
                <a:latin typeface="Calibri" panose="020F0502020204030204" pitchFamily="34" charset="0"/>
                <a:ea typeface="Calibri" panose="020F0502020204030204" pitchFamily="34" charset="0"/>
                <a:cs typeface="Calibri" panose="020F0502020204030204" pitchFamily="34" charset="0"/>
              </a:rPr>
              <a:t>Class size (h) = Range/Number of classes = 44/ 7.3221 </a:t>
            </a:r>
          </a:p>
          <a:p>
            <a:pPr marL="0" marR="0" indent="0">
              <a:lnSpc>
                <a:spcPct val="107000"/>
              </a:lnSpc>
              <a:spcBef>
                <a:spcPts val="0"/>
              </a:spcBef>
              <a:spcAft>
                <a:spcPts val="800"/>
              </a:spcAft>
              <a:buNone/>
            </a:pPr>
            <a:r>
              <a:rPr lang="en-GB" sz="3200" dirty="0">
                <a:effectLst/>
                <a:latin typeface="Calibri" panose="020F0502020204030204" pitchFamily="34" charset="0"/>
                <a:ea typeface="Calibri" panose="020F0502020204030204" pitchFamily="34" charset="0"/>
                <a:cs typeface="Calibri" panose="020F0502020204030204" pitchFamily="34" charset="0"/>
              </a:rPr>
              <a:t>= 6.009 ≈ 6</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146923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D4F43302-17D7-41B7-B97A-C1BA6663D2F1}"/>
              </a:ext>
            </a:extLst>
          </p:cNvPr>
          <p:cNvGraphicFramePr>
            <a:graphicFrameLocks noGrp="1"/>
          </p:cNvGraphicFramePr>
          <p:nvPr>
            <p:ph idx="1"/>
            <p:extLst>
              <p:ext uri="{D42A27DB-BD31-4B8C-83A1-F6EECF244321}">
                <p14:modId xmlns:p14="http://schemas.microsoft.com/office/powerpoint/2010/main" val="3636382707"/>
              </p:ext>
            </p:extLst>
          </p:nvPr>
        </p:nvGraphicFramePr>
        <p:xfrm>
          <a:off x="845389" y="776377"/>
          <a:ext cx="10696754" cy="5300930"/>
        </p:xfrm>
        <a:graphic>
          <a:graphicData uri="http://schemas.openxmlformats.org/drawingml/2006/table">
            <a:tbl>
              <a:tblPr firstRow="1" firstCol="1" bandRow="1">
                <a:tableStyleId>{FABFCF23-3B69-468F-B69F-88F6DE6A72F2}</a:tableStyleId>
              </a:tblPr>
              <a:tblGrid>
                <a:gridCol w="2232367">
                  <a:extLst>
                    <a:ext uri="{9D8B030D-6E8A-4147-A177-3AD203B41FA5}">
                      <a16:colId xmlns:a16="http://schemas.microsoft.com/office/drawing/2014/main" val="404469115"/>
                    </a:ext>
                  </a:extLst>
                </a:gridCol>
                <a:gridCol w="2771855">
                  <a:extLst>
                    <a:ext uri="{9D8B030D-6E8A-4147-A177-3AD203B41FA5}">
                      <a16:colId xmlns:a16="http://schemas.microsoft.com/office/drawing/2014/main" val="3347851896"/>
                    </a:ext>
                  </a:extLst>
                </a:gridCol>
                <a:gridCol w="2530014">
                  <a:extLst>
                    <a:ext uri="{9D8B030D-6E8A-4147-A177-3AD203B41FA5}">
                      <a16:colId xmlns:a16="http://schemas.microsoft.com/office/drawing/2014/main" val="2289788349"/>
                    </a:ext>
                  </a:extLst>
                </a:gridCol>
                <a:gridCol w="3162518">
                  <a:extLst>
                    <a:ext uri="{9D8B030D-6E8A-4147-A177-3AD203B41FA5}">
                      <a16:colId xmlns:a16="http://schemas.microsoft.com/office/drawing/2014/main" val="3352502139"/>
                    </a:ext>
                  </a:extLst>
                </a:gridCol>
              </a:tblGrid>
              <a:tr h="972596">
                <a:tc>
                  <a:txBody>
                    <a:bodyPr/>
                    <a:lstStyle/>
                    <a:p>
                      <a:pPr marL="0" marR="0" algn="ctr">
                        <a:lnSpc>
                          <a:spcPct val="107000"/>
                        </a:lnSpc>
                        <a:spcBef>
                          <a:spcPts val="0"/>
                        </a:spcBef>
                        <a:spcAft>
                          <a:spcPts val="0"/>
                        </a:spcAft>
                      </a:pPr>
                      <a:r>
                        <a:rPr lang="en-GB" sz="2200" dirty="0">
                          <a:effectLst/>
                        </a:rPr>
                        <a:t>Grade</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Absolute</a:t>
                      </a:r>
                      <a:endParaRPr lang="en-US" sz="2200" dirty="0">
                        <a:effectLst/>
                      </a:endParaRPr>
                    </a:p>
                    <a:p>
                      <a:pPr marL="0" marR="0" algn="ctr">
                        <a:lnSpc>
                          <a:spcPct val="107000"/>
                        </a:lnSpc>
                        <a:spcBef>
                          <a:spcPts val="0"/>
                        </a:spcBef>
                        <a:spcAft>
                          <a:spcPts val="0"/>
                        </a:spcAft>
                      </a:pPr>
                      <a:r>
                        <a:rPr lang="en-GB" sz="2200" dirty="0">
                          <a:effectLst/>
                        </a:rPr>
                        <a:t>frequency (f)</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Relative frequency</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Percentage frequency</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02312901"/>
                  </a:ext>
                </a:extLst>
              </a:tr>
              <a:tr h="539054">
                <a:tc>
                  <a:txBody>
                    <a:bodyPr/>
                    <a:lstStyle/>
                    <a:p>
                      <a:pPr marL="0" marR="0" algn="ctr">
                        <a:lnSpc>
                          <a:spcPct val="107000"/>
                        </a:lnSpc>
                        <a:spcBef>
                          <a:spcPts val="0"/>
                        </a:spcBef>
                        <a:spcAft>
                          <a:spcPts val="0"/>
                        </a:spcAft>
                      </a:pPr>
                      <a:r>
                        <a:rPr lang="en-GB" sz="2200" dirty="0">
                          <a:effectLst/>
                        </a:rPr>
                        <a:t>52 – 58</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2</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0.025</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2.5</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20834114"/>
                  </a:ext>
                </a:extLst>
              </a:tr>
              <a:tr h="473660">
                <a:tc>
                  <a:txBody>
                    <a:bodyPr/>
                    <a:lstStyle/>
                    <a:p>
                      <a:pPr marL="0" marR="0" algn="ctr">
                        <a:lnSpc>
                          <a:spcPct val="107000"/>
                        </a:lnSpc>
                        <a:spcBef>
                          <a:spcPts val="0"/>
                        </a:spcBef>
                        <a:spcAft>
                          <a:spcPts val="0"/>
                        </a:spcAft>
                      </a:pPr>
                      <a:r>
                        <a:rPr lang="en-GB" sz="2200">
                          <a:effectLst/>
                        </a:rPr>
                        <a:t>58 – 64</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12</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0.15</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15</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56343083"/>
                  </a:ext>
                </a:extLst>
              </a:tr>
              <a:tr h="473660">
                <a:tc>
                  <a:txBody>
                    <a:bodyPr/>
                    <a:lstStyle/>
                    <a:p>
                      <a:pPr marL="0" marR="0" algn="ctr">
                        <a:lnSpc>
                          <a:spcPct val="107000"/>
                        </a:lnSpc>
                        <a:spcBef>
                          <a:spcPts val="0"/>
                        </a:spcBef>
                        <a:spcAft>
                          <a:spcPts val="0"/>
                        </a:spcAft>
                      </a:pPr>
                      <a:r>
                        <a:rPr lang="en-GB" sz="2200">
                          <a:effectLst/>
                        </a:rPr>
                        <a:t>64 – 70</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a:effectLst/>
                        </a:rPr>
                        <a:t>10</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0.125</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12.5</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4603135"/>
                  </a:ext>
                </a:extLst>
              </a:tr>
              <a:tr h="473660">
                <a:tc>
                  <a:txBody>
                    <a:bodyPr/>
                    <a:lstStyle/>
                    <a:p>
                      <a:pPr marL="0" marR="0" algn="ctr">
                        <a:lnSpc>
                          <a:spcPct val="107000"/>
                        </a:lnSpc>
                        <a:spcBef>
                          <a:spcPts val="0"/>
                        </a:spcBef>
                        <a:spcAft>
                          <a:spcPts val="0"/>
                        </a:spcAft>
                      </a:pPr>
                      <a:r>
                        <a:rPr lang="en-GB" sz="2200">
                          <a:effectLst/>
                        </a:rPr>
                        <a:t>70 – 76</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a:effectLst/>
                        </a:rPr>
                        <a:t>19</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0.2375</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23.75</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1443314"/>
                  </a:ext>
                </a:extLst>
              </a:tr>
              <a:tr h="473660">
                <a:tc>
                  <a:txBody>
                    <a:bodyPr/>
                    <a:lstStyle/>
                    <a:p>
                      <a:pPr marL="0" marR="0" algn="ctr">
                        <a:lnSpc>
                          <a:spcPct val="107000"/>
                        </a:lnSpc>
                        <a:spcBef>
                          <a:spcPts val="0"/>
                        </a:spcBef>
                        <a:spcAft>
                          <a:spcPts val="0"/>
                        </a:spcAft>
                      </a:pPr>
                      <a:r>
                        <a:rPr lang="en-GB" sz="2200">
                          <a:effectLst/>
                        </a:rPr>
                        <a:t>76 – 82</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a:effectLst/>
                        </a:rPr>
                        <a:t>16</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a:effectLst/>
                        </a:rPr>
                        <a:t>0.20</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20</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40651195"/>
                  </a:ext>
                </a:extLst>
              </a:tr>
              <a:tr h="473660">
                <a:tc>
                  <a:txBody>
                    <a:bodyPr/>
                    <a:lstStyle/>
                    <a:p>
                      <a:pPr marL="0" marR="0" algn="ctr">
                        <a:lnSpc>
                          <a:spcPct val="107000"/>
                        </a:lnSpc>
                        <a:spcBef>
                          <a:spcPts val="0"/>
                        </a:spcBef>
                        <a:spcAft>
                          <a:spcPts val="0"/>
                        </a:spcAft>
                      </a:pPr>
                      <a:r>
                        <a:rPr lang="en-GB" sz="2200">
                          <a:effectLst/>
                        </a:rPr>
                        <a:t>82 – 88</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a:effectLst/>
                        </a:rPr>
                        <a:t>9</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a:effectLst/>
                        </a:rPr>
                        <a:t>0.1125</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11.25</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2351792"/>
                  </a:ext>
                </a:extLst>
              </a:tr>
              <a:tr h="473660">
                <a:tc>
                  <a:txBody>
                    <a:bodyPr/>
                    <a:lstStyle/>
                    <a:p>
                      <a:pPr marL="0" marR="0" algn="ctr">
                        <a:lnSpc>
                          <a:spcPct val="107000"/>
                        </a:lnSpc>
                        <a:spcBef>
                          <a:spcPts val="0"/>
                        </a:spcBef>
                        <a:spcAft>
                          <a:spcPts val="0"/>
                        </a:spcAft>
                      </a:pPr>
                      <a:r>
                        <a:rPr lang="en-GB" sz="2200">
                          <a:effectLst/>
                        </a:rPr>
                        <a:t>88 – 94</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a:effectLst/>
                        </a:rPr>
                        <a:t>7</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a:effectLst/>
                        </a:rPr>
                        <a:t>0.0875</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8.75</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21806466"/>
                  </a:ext>
                </a:extLst>
              </a:tr>
              <a:tr h="473660">
                <a:tc>
                  <a:txBody>
                    <a:bodyPr/>
                    <a:lstStyle/>
                    <a:p>
                      <a:pPr marL="0" marR="0" algn="ctr">
                        <a:lnSpc>
                          <a:spcPct val="107000"/>
                        </a:lnSpc>
                        <a:spcBef>
                          <a:spcPts val="0"/>
                        </a:spcBef>
                        <a:spcAft>
                          <a:spcPts val="0"/>
                        </a:spcAft>
                      </a:pPr>
                      <a:r>
                        <a:rPr lang="en-GB" sz="2200">
                          <a:effectLst/>
                        </a:rPr>
                        <a:t>94 – 100</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a:effectLst/>
                        </a:rPr>
                        <a:t>5</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a:effectLst/>
                        </a:rPr>
                        <a:t>0.0625</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dirty="0">
                          <a:effectLst/>
                        </a:rPr>
                        <a:t>6.25</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94061838"/>
                  </a:ext>
                </a:extLst>
              </a:tr>
              <a:tr h="473660">
                <a:tc>
                  <a:txBody>
                    <a:bodyPr/>
                    <a:lstStyle/>
                    <a:p>
                      <a:pPr marL="0" marR="0" algn="ctr">
                        <a:lnSpc>
                          <a:spcPct val="107000"/>
                        </a:lnSpc>
                        <a:spcBef>
                          <a:spcPts val="0"/>
                        </a:spcBef>
                        <a:spcAft>
                          <a:spcPts val="0"/>
                        </a:spcAft>
                      </a:pPr>
                      <a:r>
                        <a:rPr lang="en-GB" sz="2200">
                          <a:effectLst/>
                        </a:rPr>
                        <a:t>Total</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b="1" dirty="0">
                          <a:effectLst/>
                        </a:rPr>
                        <a:t>80</a:t>
                      </a:r>
                      <a:endParaRPr lang="en-US" sz="2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b="1" dirty="0">
                          <a:effectLst/>
                        </a:rPr>
                        <a:t>1</a:t>
                      </a:r>
                      <a:endParaRPr lang="en-US" sz="2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200" b="1" dirty="0">
                          <a:effectLst/>
                        </a:rPr>
                        <a:t>100</a:t>
                      </a:r>
                      <a:endParaRPr lang="en-US" sz="2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80308350"/>
                  </a:ext>
                </a:extLst>
              </a:tr>
            </a:tbl>
          </a:graphicData>
        </a:graphic>
      </p:graphicFrame>
    </p:spTree>
    <p:extLst>
      <p:ext uri="{BB962C8B-B14F-4D97-AF65-F5344CB8AC3E}">
        <p14:creationId xmlns:p14="http://schemas.microsoft.com/office/powerpoint/2010/main" val="10681767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FIVE">
      <a:dk1>
        <a:sysClr val="windowText" lastClr="000000"/>
      </a:dk1>
      <a:lt1>
        <a:sysClr val="window" lastClr="FFFFFF"/>
      </a:lt1>
      <a:dk2>
        <a:srgbClr val="505046"/>
      </a:dk2>
      <a:lt2>
        <a:srgbClr val="F5F6F4"/>
      </a:lt2>
      <a:accent1>
        <a:srgbClr val="57903F"/>
      </a:accent1>
      <a:accent2>
        <a:srgbClr val="F03F2B"/>
      </a:accent2>
      <a:accent3>
        <a:srgbClr val="3488A0"/>
      </a:accent3>
      <a:accent4>
        <a:srgbClr val="F8D22F"/>
      </a:accent4>
      <a:accent5>
        <a:srgbClr val="5CC6D6"/>
      </a:accent5>
      <a:accent6>
        <a:srgbClr val="B8D233"/>
      </a:accent6>
      <a:hlink>
        <a:srgbClr val="00B0F0"/>
      </a:hlink>
      <a:folHlink>
        <a:srgbClr val="B2B2B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Original 5_01_Win32" id="{77344C68-A3F1-476B-8680-97D7F429B46B}" vid="{89780073-58E8-4DFF-BF29-BA99F805284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CDB58277-F8DF-46FF-84EC-EF41B835E69F}">
  <ds:schemaRefs>
    <ds:schemaRef ds:uri="http://schemas.microsoft.com/sharepoint/v3/contenttype/forms"/>
  </ds:schemaRefs>
</ds:datastoreItem>
</file>

<file path=customXml/itemProps2.xml><?xml version="1.0" encoding="utf-8"?>
<ds:datastoreItem xmlns:ds="http://schemas.openxmlformats.org/officeDocument/2006/customXml" ds:itemID="{2D276E62-80A3-44DD-9BCC-97ED2B99B5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37651BA-F45C-4845-9AB3-E0A65B39F5E1}">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{797505BB-CC9C-4B7F-A2A5-9ADD4F4C4B13}tf78438558_win32</Template>
  <TotalTime>121</TotalTime>
  <Words>1500</Words>
  <Application>Microsoft Office PowerPoint</Application>
  <PresentationFormat>Widescreen</PresentationFormat>
  <Paragraphs>284</Paragraphs>
  <Slides>17</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6" baseType="lpstr">
      <vt:lpstr>Arial</vt:lpstr>
      <vt:lpstr>Calibri</vt:lpstr>
      <vt:lpstr>Century Gothic</vt:lpstr>
      <vt:lpstr>Garamond</vt:lpstr>
      <vt:lpstr>Symbol</vt:lpstr>
      <vt:lpstr>Times New Roman</vt:lpstr>
      <vt:lpstr>Wingdings</vt:lpstr>
      <vt:lpstr>SavonVTI</vt:lpstr>
      <vt:lpstr>Equation</vt:lpstr>
      <vt:lpstr>Presentation of data</vt:lpstr>
      <vt:lpstr>Presentation of data</vt:lpstr>
      <vt:lpstr>Frequency Distribution or Table</vt:lpstr>
      <vt:lpstr>PowerPoint Presentation</vt:lpstr>
      <vt:lpstr>Categorical Frequency Distribution: A frequency distribution in which the data is only nominal or ordinal. A categorical frequency distribution represents data that can be placed in specific categories, such as gender, hair colour, blood group type etc.</vt:lpstr>
      <vt:lpstr>Cross tabulation of gender vs age group</vt:lpstr>
      <vt:lpstr>Ungrouped frequency distribution</vt:lpstr>
      <vt:lpstr>PowerPoint Presentation</vt:lpstr>
      <vt:lpstr>PowerPoint Presentation</vt:lpstr>
      <vt:lpstr>Grouped Frequency Distribution</vt:lpstr>
      <vt:lpstr>Terminology used in grouped frequency distribution</vt:lpstr>
      <vt:lpstr>Inclusive vs Exclusive class</vt:lpstr>
      <vt:lpstr>Steps in forming class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of data</dc:title>
  <dc:creator>Santosh Chhatkuli</dc:creator>
  <cp:lastModifiedBy>Santosh Chhatkuli</cp:lastModifiedBy>
  <cp:revision>36</cp:revision>
  <dcterms:created xsi:type="dcterms:W3CDTF">2020-08-27T13:20:23Z</dcterms:created>
  <dcterms:modified xsi:type="dcterms:W3CDTF">2024-05-23T16:19:25Z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